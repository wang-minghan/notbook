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e15c01305b67fd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b0f2bfc6cd137fdb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23750" t="0" r="23750" b="0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0962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44805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086475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24900" y="2286000"/>
            <a:ext cx="1619250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28625" y="1762125"/>
            <a:ext cx="11334750" cy="4095750"/>
          </a:xfrm>
          <a:prstGeom prst="roundRect">
            <a:avLst>
              <a:gd name="adj" fmla="val 279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Rectangle 11"/>
            <p:cNvSpPr/>
            <p:nvPr/>
          </p:nvSpPr>
          <p:spPr>
            <a:xfrm>
              <a:off x="2286000" y="19526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Rectangle 15"/>
            <p:cNvSpPr/>
            <p:nvPr/>
          </p:nvSpPr>
          <p:spPr>
            <a:xfrm>
              <a:off x="2286000" y="319087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Rectangle 19"/>
            <p:cNvSpPr/>
            <p:nvPr/>
          </p:nvSpPr>
          <p:spPr>
            <a:xfrm>
              <a:off x="2286000" y="4429125"/>
              <a:ext cx="7620000" cy="876300"/>
            </a:xfrm>
            <a:prstGeom prst="roundRect">
              <a:avLst>
                <a:gd name="adj" fmla="val 19565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1524000" y="2381250"/>
            <a:ext cx="9144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095500" y="3286125"/>
            <a:ext cx="8001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667000" y="4191000"/>
            <a:ext cx="6858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238500" y="5095875"/>
            <a:ext cx="5715000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组织图表达责任传递，不把岗位名单误当成治理机制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429000" y="2571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2667000" y="0"/>
                </a:moveTo>
                <a:lnTo>
                  <a:pt x="2667000" y="476250"/>
                </a:lnTo>
                <a:moveTo>
                  <a:pt x="0" y="1143000"/>
                </a:moveTo>
                <a:lnTo>
                  <a:pt x="0" y="1524000"/>
                </a:lnTo>
                <a:moveTo>
                  <a:pt x="2667000" y="1143000"/>
                </a:moveTo>
                <a:lnTo>
                  <a:pt x="2667000" y="1524000"/>
                </a:lnTo>
                <a:moveTo>
                  <a:pt x="5334000" y="1143000"/>
                </a:moveTo>
                <a:lnTo>
                  <a:pt x="5334000" y="15240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4572000" y="1952625"/>
            <a:ext cx="3048000" cy="685800"/>
            <a:chOff x="4572000" y="1952625"/>
            <a:chExt cx="3048000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572000" y="1952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71201" y="2125028"/>
              <a:ext cx="1049598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治理与重大决策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74860" y="2306479"/>
              <a:ext cx="2242280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最高管理层（待确认）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2907" y="3095625"/>
            <a:ext cx="3166186" cy="685800"/>
            <a:chOff x="4512907" y="3095625"/>
            <a:chExt cx="3166186" cy="685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572000" y="3095625"/>
              <a:ext cx="3048000" cy="685800"/>
            </a:xfrm>
            <a:prstGeom prst="roundRect">
              <a:avLst>
                <a:gd name="adj" fmla="val 19444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422783" y="3258502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经营统筹与资源配置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2907" y="3449479"/>
              <a:ext cx="3166186" cy="30803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总经理 / 经营负责人（待确认）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3000" y="4333875"/>
            <a:ext cx="2857500" cy="847439"/>
            <a:chOff x="11430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11430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22695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职能管理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66180" y="4714875"/>
              <a:ext cx="241113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营运部 / 采购 / 行政财务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3643" y="4990624"/>
              <a:ext cx="1716214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承接制度、资源和跨部门接口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67250" y="4333875"/>
            <a:ext cx="2857500" cy="847439"/>
            <a:chOff x="466725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466725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579382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0385" y="4714875"/>
              <a:ext cx="1531229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品质 / 技术工程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2266" y="4990624"/>
              <a:ext cx="184746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专业结论、风险识别和放行建议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91500" y="4333875"/>
            <a:ext cx="2857500" cy="847439"/>
            <a:chOff x="8191500" y="4333875"/>
            <a:chExt cx="2857500" cy="847439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8191500" y="4333875"/>
              <a:ext cx="28575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9318079" y="4506278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现场执行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32720" y="4714875"/>
              <a:ext cx="1775060" cy="29337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生产 / 仓储 / 物流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27770" y="4990624"/>
              <a:ext cx="158496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按受控版本执行并反馈记录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1143000" y="5810250"/>
            <a:ext cx="9906000" cy="45720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350522" y="5966460"/>
            <a:ext cx="54909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责任向下承接 · 风险向上升级 · 组织名称与最终权限以正式授权文件为准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94145"/>
            <a:ext cx="34201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实线＝责任传递 虚线＝信息反馈 黄色/橙色＝待确认或授权事项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477000" y="2143125"/>
            <a:ext cx="49530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每个部门统一写清定位、输入、输出、权限和接口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5271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主要责任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关键输入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关键输出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权限边界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升级对象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00250"/>
            <a:ext cx="7239000" cy="3333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00250"/>
            <a:ext cx="7239000" cy="552450"/>
          </a:xfrm>
          <a:prstGeom prst="roundRect">
            <a:avLst>
              <a:gd name="adj" fmla="val 24138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53125" y="2762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905375" y="3333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05375" y="39052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000875" y="4476750"/>
              <a:ext cx="476250" cy="38100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8667750" y="2000250"/>
            <a:ext cx="2667000" cy="3333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9566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事项×授权层级：具体权限以正式授权文件为准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952625"/>
            <a:ext cx="8572500" cy="371475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50773" y="2100739"/>
            <a:ext cx="163495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建议矩阵（待确认）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857250" y="2428875"/>
            <a:ext cx="8191500" cy="2438400"/>
            <a:chOff x="857250" y="2428875"/>
            <a:chExt cx="8191500" cy="2438400"/>
          </a:xfrm>
        </p:grpSpPr>
        <p:sp>
          <p:nvSpPr>
            <p:cNvPr id="10" name="Rectangle 10"/>
            <p:cNvSpPr/>
            <p:nvPr/>
          </p:nvSpPr>
          <p:spPr>
            <a:xfrm>
              <a:off x="857250" y="2428875"/>
              <a:ext cx="2476500" cy="4572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333750" y="2428875"/>
              <a:ext cx="1476375" cy="4572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4810125" y="2428875"/>
              <a:ext cx="1476375" cy="4572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2428875"/>
              <a:ext cx="1476375" cy="4572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62875" y="2428875"/>
              <a:ext cx="1285875" cy="457200"/>
            </a:xfrm>
            <a:prstGeom prst="rect">
              <a:avLst/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38338" y="2593181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事项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16917" y="2593181"/>
              <a:ext cx="700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经办/执行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6388" y="2593181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62762" y="2593181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批准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16716" y="2593181"/>
              <a:ext cx="7686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待确认层级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857250" y="2886075"/>
              <a:ext cx="8191500" cy="1981200"/>
              <a:chOff x="857250" y="2886075"/>
              <a:chExt cx="8191500" cy="19812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57250" y="2886075"/>
                <a:ext cx="2476500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3333750" y="28860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810125" y="28860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286500" y="28860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762875" y="2886075"/>
                <a:ext cx="1285875" cy="495300"/>
              </a:xfrm>
              <a:prstGeom prst="rect">
                <a:avLst/>
              </a:prstGeom>
              <a:solidFill>
                <a:srgbClr val="FFFBF7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745242" y="3069431"/>
                <a:ext cx="7005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合同/订单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017454" y="30694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93830" y="30694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970204" y="30694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68164" y="306943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87519"/>
                    </a:solidFill>
                    <a:latin typeface="Arial"/>
                    <a:ea typeface="Microsoft YaHei"/>
                    <a:cs typeface="Arial"/>
                  </a:rPr>
                  <a:t>待确认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57250" y="3381375"/>
                <a:ext cx="2476500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3333750" y="33813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810125" y="33813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286500" y="33813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762875" y="3381375"/>
                <a:ext cx="1285875" cy="495300"/>
              </a:xfrm>
              <a:prstGeom prst="rect">
                <a:avLst/>
              </a:prstGeom>
              <a:solidFill>
                <a:srgbClr val="FFFBF7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745242" y="3564731"/>
                <a:ext cx="7005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采购/付款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017454" y="35647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R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493830" y="35647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970204" y="35647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A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68164" y="356473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87519"/>
                    </a:solidFill>
                    <a:latin typeface="Arial"/>
                    <a:ea typeface="Microsoft YaHei"/>
                    <a:cs typeface="Arial"/>
                  </a:rPr>
                  <a:t>待确认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57250" y="3876675"/>
                <a:ext cx="2476500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3333750" y="38766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810125" y="38766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6286500" y="38766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762875" y="3876675"/>
                <a:ext cx="1285875" cy="495300"/>
              </a:xfrm>
              <a:prstGeom prst="rect">
                <a:avLst/>
              </a:prstGeom>
              <a:solidFill>
                <a:srgbClr val="FFFBF7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786890" y="4060031"/>
                <a:ext cx="6172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质量放行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017454" y="40600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R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493830" y="40600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C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970204" y="40600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A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8164" y="406003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87519"/>
                    </a:solidFill>
                    <a:latin typeface="Arial"/>
                    <a:ea typeface="Microsoft YaHei"/>
                    <a:cs typeface="Arial"/>
                  </a:rPr>
                  <a:t>待确认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57250" y="4371975"/>
                <a:ext cx="2476500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3333750" y="43719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4810125" y="43719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6286500" y="4371975"/>
                <a:ext cx="1476375" cy="495300"/>
              </a:xfrm>
              <a:prstGeom prst="rect">
                <a:avLst/>
              </a:prstGeom>
              <a:solidFill>
                <a:srgbClr val="FBFCFE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7762875" y="4371975"/>
                <a:ext cx="1285875" cy="495300"/>
              </a:xfrm>
              <a:prstGeom prst="rect">
                <a:avLst/>
              </a:prstGeom>
              <a:solidFill>
                <a:srgbClr val="FFFBF7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593794" y="4555331"/>
                <a:ext cx="10034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000000"/>
                    </a:solidFill>
                    <a:latin typeface="Arial"/>
                    <a:ea typeface="Microsoft YaHei"/>
                    <a:cs typeface="Arial"/>
                  </a:rPr>
                  <a:t>文件发布/异常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017454" y="45553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R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493830" y="45553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970204" y="4555331"/>
                <a:ext cx="994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A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8164" y="4555331"/>
                <a:ext cx="46577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rgbClr val="A87519"/>
                    </a:solidFill>
                    <a:latin typeface="Arial"/>
                    <a:ea typeface="Microsoft YaHei"/>
                    <a:cs typeface="Arial"/>
                  </a:rPr>
                  <a:t>待确认</a:t>
                </a:r>
              </a:p>
            </p:txBody>
          </p:sp>
        </p:grpSp>
      </p:grpSp>
      <p:sp>
        <p:nvSpPr>
          <p:cNvPr id="62" name="Rectangle 62"/>
          <p:cNvSpPr/>
          <p:nvPr/>
        </p:nvSpPr>
        <p:spPr>
          <a:xfrm>
            <a:off x="9525000" y="2095500"/>
            <a:ext cx="2095500" cy="2381250"/>
          </a:xfrm>
          <a:prstGeom prst="roundRect">
            <a:avLst>
              <a:gd name="adj" fmla="val 6364"/>
            </a:avLst>
          </a:prstGeom>
          <a:solidFill>
            <a:srgbClr val="FFF7DF"/>
          </a:solidFill>
          <a:ln w="9525">
            <a:solidFill>
              <a:srgbClr val="D79A2B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756267" y="2283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校准规则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757029" y="2680335"/>
            <a:ext cx="11814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一项事项一个 A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757029" y="3061335"/>
            <a:ext cx="8400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负责执行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757029" y="3442335"/>
            <a:ext cx="11558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C/I 不替代授权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757029" y="3823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层级待正式确认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381125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714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381750" y="14763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096250" y="285750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429250" y="4333875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Rectangle 40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8546" y="439102"/>
            <a:ext cx="10871454" cy="932879"/>
            <a:chOff x="558546" y="439102"/>
            <a:chExt cx="10871454" cy="932879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39102"/>
              <a:ext cx="1939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PROCESS GOVERNANCE / 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8546" y="696278"/>
              <a:ext cx="7595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订单到交付总流程：把客户承诺变成可交付计划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404" y="1137285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流程重点不是“谁来做”，而是每个承诺都有确认、授权、记录和关闭证据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524000" cy="4000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17410" y="60102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治理流程示例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695450"/>
            <a:ext cx="1143000" cy="2571750"/>
            <a:chOff x="571500" y="1695450"/>
            <a:chExt cx="1143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954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809" y="18883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客户 / 业务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2098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8755" y="2402681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7241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809" y="291703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生产 / 品质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323850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9" y="3431381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采购 / 仓储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3752850"/>
              <a:ext cx="1143000" cy="514350"/>
            </a:xfrm>
            <a:prstGeom prst="roundRect">
              <a:avLst>
                <a:gd name="adj" fmla="val 18519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9735" y="3945731"/>
              <a:ext cx="806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授权管理层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57375" y="1695450"/>
            <a:ext cx="9572625" cy="2571750"/>
            <a:chOff x="1857375" y="1695450"/>
            <a:chExt cx="9572625" cy="2571750"/>
          </a:xfrm>
        </p:grpSpPr>
        <p:sp>
          <p:nvSpPr>
            <p:cNvPr id="21" name="Rectangle 21"/>
            <p:cNvSpPr/>
            <p:nvPr/>
          </p:nvSpPr>
          <p:spPr>
            <a:xfrm>
              <a:off x="1857375" y="1695450"/>
              <a:ext cx="9572625" cy="5143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57375" y="2209800"/>
              <a:ext cx="9572625" cy="5143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57375" y="2724150"/>
              <a:ext cx="9572625" cy="5143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57375" y="3238500"/>
              <a:ext cx="9572625" cy="5143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57375" y="3752850"/>
              <a:ext cx="9572625" cy="514350"/>
            </a:xfrm>
            <a:prstGeom prst="rect">
              <a:avLst/>
            </a:prstGeom>
            <a:solidFill>
              <a:srgbClr val="FFFDF5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857375" y="16954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857500" y="1952625"/>
            <a:ext cx="8286750" cy="2057400"/>
            <a:chOff x="2857500" y="1952625"/>
            <a:chExt cx="8286750" cy="2057400"/>
          </a:xfrm>
        </p:grpSpPr>
        <p:sp>
          <p:nvSpPr>
            <p:cNvPr id="28" name="Freeform 28"/>
            <p:cNvSpPr/>
            <p:nvPr/>
          </p:nvSpPr>
          <p:spPr>
            <a:xfrm>
              <a:off x="2857500" y="19526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1500" y="24669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05500" y="298132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429500" y="3495675"/>
              <a:ext cx="476250" cy="514350"/>
            </a:xfrm>
            <a:custGeom>
              <a:avLst/>
              <a:gdLst/>
              <a:ahLst/>
              <a:cxnLst/>
              <a:rect l="l" t="t" r="r" b="b"/>
              <a:pathLst>
                <a:path w="476250" h="514350">
                  <a:moveTo>
                    <a:pt x="0" y="0"/>
                  </a:moveTo>
                  <a:lnTo>
                    <a:pt x="285750" y="0"/>
                  </a:lnTo>
                  <a:lnTo>
                    <a:pt x="285750" y="514350"/>
                  </a:lnTo>
                  <a:lnTo>
                    <a:pt x="476250" y="5143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953500" y="29813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72750" y="1952625"/>
              <a:ext cx="571500" cy="1028700"/>
            </a:xfrm>
            <a:custGeom>
              <a:avLst/>
              <a:gdLst/>
              <a:ahLst/>
              <a:cxnLst/>
              <a:rect l="l" t="t" r="r" b="b"/>
              <a:pathLst>
                <a:path w="571500" h="1028700">
                  <a:moveTo>
                    <a:pt x="0" y="1028700"/>
                  </a:moveTo>
                  <a:lnTo>
                    <a:pt x="285750" y="1028700"/>
                  </a:lnTo>
                  <a:lnTo>
                    <a:pt x="285750" y="0"/>
                  </a:lnTo>
                  <a:lnTo>
                    <a:pt x="571500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2000250" y="1781175"/>
            <a:ext cx="9429750" cy="2400300"/>
            <a:chOff x="2000250" y="1781175"/>
            <a:chExt cx="9429750" cy="2400300"/>
          </a:xfrm>
        </p:grpSpPr>
        <p:grpSp>
          <p:nvGrpSpPr>
            <p:cNvPr id="37" name="Group 37"/>
            <p:cNvGrpSpPr/>
            <p:nvPr/>
          </p:nvGrpSpPr>
          <p:grpSpPr>
            <a:xfrm>
              <a:off x="2000250" y="1781175"/>
              <a:ext cx="857250" cy="342900"/>
              <a:chOff x="2000250" y="1781175"/>
              <a:chExt cx="8572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000250" y="1781175"/>
                <a:ext cx="8572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126704" y="1886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需求进入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3332826" y="2295525"/>
              <a:ext cx="1049598" cy="342900"/>
              <a:chOff x="3332826" y="2295525"/>
              <a:chExt cx="1049598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8" name="Rectangle 38"/>
              <p:cNvSpPr/>
              <p:nvPr/>
            </p:nvSpPr>
            <p:spPr>
              <a:xfrm>
                <a:off x="3333750" y="22955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332826" y="2401252"/>
                <a:ext cx="1049598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信息完整性检查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857750" y="2809875"/>
              <a:ext cx="1047750" cy="342900"/>
              <a:chOff x="485775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1" name="Rectangle 41"/>
              <p:cNvSpPr/>
              <p:nvPr/>
            </p:nvSpPr>
            <p:spPr>
              <a:xfrm>
                <a:off x="485775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0524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跨部门评审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81750" y="3324225"/>
              <a:ext cx="1047750" cy="342900"/>
              <a:chOff x="6381750" y="332422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4" name="Rectangle 44"/>
              <p:cNvSpPr/>
              <p:nvPr/>
            </p:nvSpPr>
            <p:spPr>
              <a:xfrm>
                <a:off x="6381750" y="332422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03454" y="3429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资源确认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905750" y="3838575"/>
              <a:ext cx="1047750" cy="342900"/>
              <a:chOff x="7905750" y="38385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905750" y="38385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27454" y="39443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承诺批准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25000" y="2809875"/>
              <a:ext cx="1047750" cy="342900"/>
              <a:chOff x="9525000" y="2809875"/>
              <a:chExt cx="1047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0" name="Rectangle 50"/>
              <p:cNvSpPr/>
              <p:nvPr/>
            </p:nvSpPr>
            <p:spPr>
              <a:xfrm>
                <a:off x="9525000" y="2809875"/>
                <a:ext cx="1047750" cy="342900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 w="19050">
                <a:solidFill>
                  <a:srgbClr val="7657B8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672495" y="2915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执行与交付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1144250" y="1781175"/>
              <a:ext cx="285750" cy="342900"/>
              <a:chOff x="11144250" y="1781175"/>
              <a:chExt cx="285750" cy="3429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3" name="Rectangle 53"/>
              <p:cNvSpPr/>
              <p:nvPr/>
            </p:nvSpPr>
            <p:spPr>
              <a:xfrm>
                <a:off x="11144250" y="1781175"/>
                <a:ext cx="285750" cy="342900"/>
              </a:xfrm>
              <a:prstGeom prst="roundRect">
                <a:avLst>
                  <a:gd name="adj" fmla="val 30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1227790" y="18545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✓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75" y="4181475"/>
            <a:ext cx="4429125" cy="1212532"/>
            <a:chOff x="5667375" y="4181475"/>
            <a:chExt cx="4429125" cy="1212532"/>
          </a:xfrm>
        </p:grpSpPr>
        <p:sp>
          <p:nvSpPr>
            <p:cNvPr id="57" name="Freeform 57"/>
            <p:cNvSpPr/>
            <p:nvPr/>
          </p:nvSpPr>
          <p:spPr>
            <a:xfrm>
              <a:off x="7810500" y="4476750"/>
              <a:ext cx="1238250" cy="666750"/>
            </a:xfrm>
            <a:custGeom>
              <a:avLst/>
              <a:gdLst/>
              <a:ahLst/>
              <a:cxnLst/>
              <a:rect l="l" t="t" r="r" b="b"/>
              <a:pathLst>
                <a:path w="1238250" h="666750">
                  <a:moveTo>
                    <a:pt x="619125" y="0"/>
                  </a:moveTo>
                  <a:lnTo>
                    <a:pt x="1238250" y="333375"/>
                  </a:lnTo>
                  <a:lnTo>
                    <a:pt x="619125" y="666750"/>
                  </a:lnTo>
                  <a:lnTo>
                    <a:pt x="0" y="33337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D79A2B"/>
              </a:solidFill>
            </a:ln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58" name="TextBox 58"/>
            <p:cNvSpPr txBox="1"/>
            <p:nvPr/>
          </p:nvSpPr>
          <p:spPr>
            <a:xfrm>
              <a:off x="8053245" y="46586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条件满足？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63957" y="4844891"/>
              <a:ext cx="9313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质量 / 交期 / 资源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429625" y="4181475"/>
              <a:ext cx="9525" cy="295275"/>
            </a:xfrm>
            <a:custGeom>
              <a:avLst/>
              <a:gdLst/>
              <a:ahLst/>
              <a:cxnLst/>
              <a:rect l="l" t="t" r="r" b="b"/>
              <a:pathLst>
                <a:path w="9525" h="295275">
                  <a:moveTo>
                    <a:pt x="0" y="0"/>
                  </a:moveTo>
                  <a:lnTo>
                    <a:pt x="0" y="295275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9048750" y="4181475"/>
              <a:ext cx="1047750" cy="628650"/>
            </a:xfrm>
            <a:custGeom>
              <a:avLst/>
              <a:gdLst/>
              <a:ahLst/>
              <a:cxnLst/>
              <a:rect l="l" t="t" r="r" b="b"/>
              <a:pathLst>
                <a:path w="1047750" h="628650">
                  <a:moveTo>
                    <a:pt x="0" y="628650"/>
                  </a:moveTo>
                  <a:lnTo>
                    <a:pt x="1047750" y="628650"/>
                  </a:lnTo>
                  <a:lnTo>
                    <a:pt x="1047750" y="295275"/>
                  </a:lnTo>
                  <a:lnTo>
                    <a:pt x="1000125" y="295275"/>
                  </a:lnTo>
                  <a:lnTo>
                    <a:pt x="1000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  <a:tailEnd type="triangle" w="lg" len="lg"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10688" y="4636770"/>
              <a:ext cx="1367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67375" y="4810125"/>
              <a:ext cx="2143125" cy="333375"/>
            </a:xfrm>
            <a:custGeom>
              <a:avLst/>
              <a:gdLst/>
              <a:ahLst/>
              <a:cxnLst/>
              <a:rect l="l" t="t" r="r" b="b"/>
              <a:pathLst>
                <a:path w="2143125" h="333375">
                  <a:moveTo>
                    <a:pt x="2143125" y="0"/>
                  </a:moveTo>
                  <a:lnTo>
                    <a:pt x="1428750" y="0"/>
                  </a:lnTo>
                  <a:lnTo>
                    <a:pt x="1428750" y="333375"/>
                  </a:lnTo>
                  <a:lnTo>
                    <a:pt x="285750" y="333375"/>
                  </a:lnTo>
                  <a:lnTo>
                    <a:pt x="285750" y="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8988" y="5217795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否：形成风险清单并升级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19750"/>
            <a:ext cx="10858500" cy="666750"/>
            <a:chOff x="571500" y="5619750"/>
            <a:chExt cx="10858500" cy="666750"/>
          </a:xfrm>
        </p:grpSpPr>
        <p:sp>
          <p:nvSpPr>
            <p:cNvPr id="66" name="Rectangle 66"/>
            <p:cNvSpPr/>
            <p:nvPr/>
          </p:nvSpPr>
          <p:spPr>
            <a:xfrm>
              <a:off x="571500" y="5619750"/>
              <a:ext cx="108585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3247" y="5781199"/>
              <a:ext cx="11124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每一步都留下什么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2381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979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订单 / 需求记录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0005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342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评审结论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6197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36475" y="5847874"/>
              <a:ext cx="995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受控版本 / 任务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23900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672788" y="58478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交付证据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858250" y="5743575"/>
              <a:ext cx="1428750" cy="323850"/>
            </a:xfrm>
            <a:prstGeom prst="roundRect">
              <a:avLst>
                <a:gd name="adj" fmla="val 50000"/>
              </a:avLst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12793" y="5847874"/>
              <a:ext cx="719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关闭 / 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566738" y="6475095"/>
            <a:ext cx="39956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虚线＝异常升级 橙色＝授权节点 底部＝管理证据链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Rectangle 10"/>
              <p:cNvSpPr/>
              <p:nvPr/>
            </p:nvSpPr>
            <p:spPr>
              <a:xfrm>
                <a:off x="1190625" y="26193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366712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Rectangle 20"/>
              <p:cNvSpPr/>
              <p:nvPr/>
            </p:nvSpPr>
            <p:spPr>
              <a:xfrm>
                <a:off x="6429375" y="1381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Rectangle 25"/>
              <p:cNvSpPr/>
              <p:nvPr/>
            </p:nvSpPr>
            <p:spPr>
              <a:xfrm>
                <a:off x="8334375" y="280987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Rectangle 30"/>
              <p:cNvSpPr/>
              <p:nvPr/>
            </p:nvSpPr>
            <p:spPr>
              <a:xfrm>
                <a:off x="5810250" y="4429125"/>
                <a:ext cx="2095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Rectangle 8"/>
              <p:cNvSpPr/>
              <p:nvPr/>
            </p:nvSpPr>
            <p:spPr>
              <a:xfrm>
                <a:off x="8572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Rectangle 14"/>
              <p:cNvSpPr/>
              <p:nvPr/>
            </p:nvSpPr>
            <p:spPr>
              <a:xfrm>
                <a:off x="3714750" y="2571750"/>
                <a:ext cx="209550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Rectangle 26"/>
              <p:cNvSpPr/>
              <p:nvPr/>
            </p:nvSpPr>
            <p:spPr>
              <a:xfrm>
                <a:off x="9429750" y="2571750"/>
                <a:ext cx="2000250" cy="952500"/>
              </a:xfrm>
              <a:prstGeom prst="roundRect">
                <a:avLst>
                  <a:gd name="adj" fmla="val 18000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Rectangle 33"/>
              <p:cNvSpPr/>
              <p:nvPr/>
            </p:nvSpPr>
            <p:spPr>
              <a:xfrm>
                <a:off x="4000500" y="4810125"/>
                <a:ext cx="2190750" cy="685800"/>
              </a:xfrm>
              <a:prstGeom prst="roundRect">
                <a:avLst>
                  <a:gd name="adj" fmla="val 25000"/>
                </a:avLst>
              </a:pr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Rectangle 39"/>
          <p:cNvSpPr/>
          <p:nvPr/>
        </p:nvSpPr>
        <p:spPr>
          <a:xfrm>
            <a:off x="1143000" y="5905500"/>
            <a:ext cx="9906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001250" y="457200"/>
              <a:ext cx="1428750" cy="3810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25908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337185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4152900"/>
              <a:ext cx="1428750" cy="781050"/>
            </a:xfrm>
            <a:prstGeom prst="roundRect">
              <a:avLst>
                <a:gd name="adj" fmla="val 14634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Rectangle 35"/>
              <p:cNvSpPr/>
              <p:nvPr/>
            </p:nvSpPr>
            <p:spPr>
              <a:xfrm>
                <a:off x="2381250" y="1971675"/>
                <a:ext cx="10001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Rectangle 39"/>
              <p:cNvSpPr/>
              <p:nvPr/>
            </p:nvSpPr>
            <p:spPr>
              <a:xfrm>
                <a:off x="4000500" y="27527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Rectangle 43"/>
              <p:cNvSpPr/>
              <p:nvPr/>
            </p:nvSpPr>
            <p:spPr>
              <a:xfrm>
                <a:off x="5905500" y="35337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Rectangle 47"/>
              <p:cNvSpPr/>
              <p:nvPr/>
            </p:nvSpPr>
            <p:spPr>
              <a:xfrm>
                <a:off x="7810500" y="431482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Rectangle 51"/>
              <p:cNvSpPr/>
              <p:nvPr/>
            </p:nvSpPr>
            <p:spPr>
              <a:xfrm>
                <a:off x="9715500" y="1971675"/>
                <a:ext cx="128587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10858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38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286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91375" y="5829300"/>
              <a:ext cx="1714500" cy="304800"/>
            </a:xfrm>
            <a:prstGeom prst="roundRect">
              <a:avLst>
                <a:gd name="adj" fmla="val 50000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620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2857500" y="2476500"/>
              <a:ext cx="171450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953000" y="2381250"/>
              <a:ext cx="2286000" cy="971550"/>
            </a:xfrm>
            <a:prstGeom prst="roundRect">
              <a:avLst>
                <a:gd name="adj" fmla="val 13725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10001250" y="2476500"/>
              <a:ext cx="1428750" cy="781050"/>
            </a:xfrm>
            <a:prstGeom prst="roundRect">
              <a:avLst>
                <a:gd name="adj" fmla="val 17073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2190750" y="4762500"/>
            <a:ext cx="3048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4762500"/>
            <a:ext cx="3429000" cy="666750"/>
          </a:xfrm>
          <a:prstGeom prst="roundRect">
            <a:avLst>
              <a:gd name="adj" fmla="val 20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52500" y="5905500"/>
            <a:ext cx="102870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客户问题统一入口，处理、验证和回复形成闭环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095500" y="2047875"/>
            <a:ext cx="8001000" cy="2381250"/>
          </a:xfrm>
          <a:custGeom>
            <a:avLst/>
            <a:gdLst/>
            <a:ahLst/>
            <a:cxnLst/>
            <a:rect l="l" t="t" r="r" b="b"/>
            <a:pathLst>
              <a:path w="8001000" h="2381250">
                <a:moveTo>
                  <a:pt x="0" y="1190625"/>
                </a:moveTo>
                <a:cubicBezTo>
                  <a:pt x="0" y="285750"/>
                  <a:pt x="2000250" y="0"/>
                  <a:pt x="4000500" y="0"/>
                </a:cubicBezTo>
                <a:cubicBezTo>
                  <a:pt x="6000750" y="0"/>
                  <a:pt x="8001000" y="285750"/>
                  <a:pt x="8001000" y="1190625"/>
                </a:cubicBezTo>
                <a:cubicBezTo>
                  <a:pt x="8001000" y="2095500"/>
                  <a:pt x="6000750" y="2381250"/>
                  <a:pt x="4000500" y="2381250"/>
                </a:cubicBezTo>
                <a:cubicBezTo>
                  <a:pt x="2000250" y="2381250"/>
                  <a:pt x="0" y="2095500"/>
                  <a:pt x="0" y="1190625"/>
                </a:cubicBezTo>
              </a:path>
            </a:pathLst>
          </a:custGeom>
          <a:noFill/>
          <a:ln w="28575">
            <a:solidFill>
              <a:srgbClr val="D7E0E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952500" y="1762125"/>
            <a:ext cx="9715500" cy="3152775"/>
            <a:chOff x="952500" y="1762125"/>
            <a:chExt cx="9715500" cy="3152775"/>
          </a:xfrm>
        </p:grpSpPr>
        <p:sp>
          <p:nvSpPr>
            <p:cNvPr id="9" name="Rectangle 9"/>
            <p:cNvSpPr/>
            <p:nvPr/>
          </p:nvSpPr>
          <p:spPr>
            <a:xfrm>
              <a:off x="952500" y="2781300"/>
              <a:ext cx="1809750" cy="914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3529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接收分级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7312" y="3296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入口｜影响判定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81375" y="1762125"/>
              <a:ext cx="1809750" cy="914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64168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临时措施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6188" y="22774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隔离｜遏制风险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572250" y="1762125"/>
              <a:ext cx="1809750" cy="914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55043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06387" y="22774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事实｜根因｜证据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58250" y="2781300"/>
              <a:ext cx="1809750" cy="914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104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纠正措施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92387" y="3296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72250" y="4000500"/>
              <a:ext cx="1809750" cy="914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5043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6387" y="4515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有效性｜复发控制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381375" y="4000500"/>
              <a:ext cx="1809750" cy="914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4168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客户回复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6188" y="4515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结论｜关闭证据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5191125" y="4457700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2095500" y="3695700"/>
            <a:ext cx="1285875" cy="762000"/>
          </a:xfrm>
          <a:custGeom>
            <a:avLst/>
            <a:gdLst/>
            <a:ahLst/>
            <a:cxnLst/>
            <a:rect l="l" t="t" r="r" b="b"/>
            <a:pathLst>
              <a:path w="1285875" h="762000">
                <a:moveTo>
                  <a:pt x="1285875" y="762000"/>
                </a:moveTo>
                <a:cubicBezTo>
                  <a:pt x="381000" y="762000"/>
                  <a:pt x="0" y="3048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850773" y="5434489"/>
            <a:ext cx="4398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未验证或重复发生：回到原因分析/纠正措施，不直接关闭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Rectangle 8"/>
            <p:cNvSpPr/>
            <p:nvPr/>
          </p:nvSpPr>
          <p:spPr>
            <a:xfrm>
              <a:off x="571500" y="1952625"/>
              <a:ext cx="6572250" cy="3524250"/>
            </a:xfrm>
            <a:prstGeom prst="roundRect">
              <a:avLst>
                <a:gd name="adj" fmla="val 5946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Rectangle 11"/>
              <p:cNvSpPr/>
              <p:nvPr/>
            </p:nvSpPr>
            <p:spPr>
              <a:xfrm>
                <a:off x="1000125" y="3143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Rectangle 15"/>
              <p:cNvSpPr/>
              <p:nvPr/>
            </p:nvSpPr>
            <p:spPr>
              <a:xfrm>
                <a:off x="2714625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Rectangle 19"/>
              <p:cNvSpPr/>
              <p:nvPr/>
            </p:nvSpPr>
            <p:spPr>
              <a:xfrm>
                <a:off x="4572000" y="2381250"/>
                <a:ext cx="16192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Rectangle 23"/>
              <p:cNvSpPr/>
              <p:nvPr/>
            </p:nvSpPr>
            <p:spPr>
              <a:xfrm>
                <a:off x="3810000" y="4095750"/>
                <a:ext cx="1809750" cy="781050"/>
              </a:xfrm>
              <a:prstGeom prst="roundRect">
                <a:avLst>
                  <a:gd name="adj" fmla="val 19512"/>
                </a:avLst>
              </a:pr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572375" y="1952625"/>
              <a:ext cx="4048125" cy="3524250"/>
            </a:xfrm>
            <a:prstGeom prst="roundRect">
              <a:avLst>
                <a:gd name="adj" fmla="val 5946"/>
              </a:avLst>
            </a:pr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8549" t="0" r="8549" b="0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2171700"/>
            <a:ext cx="2476500" cy="1809750"/>
          </a:xfrm>
          <a:prstGeom prst="roundRect">
            <a:avLst>
              <a:gd name="adj" fmla="val 9474"/>
            </a:avLst>
          </a:pr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4095750" y="2095500"/>
            <a:ext cx="3048000" cy="1952625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953000" y="381000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8001000" y="2171700"/>
            <a:ext cx="2857500" cy="1809750"/>
          </a:xfrm>
          <a:prstGeom prst="roundRect">
            <a:avLst>
              <a:gd name="adj" fmla="val 9474"/>
            </a:avLst>
          </a:pr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5286375"/>
            <a:ext cx="10096500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3812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4767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5722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Rectangle 40"/>
          <p:cNvSpPr/>
          <p:nvPr/>
        </p:nvSpPr>
        <p:spPr>
          <a:xfrm>
            <a:off x="8667750" y="54673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Rectangle 9"/>
            <p:cNvSpPr/>
            <p:nvPr/>
          </p:nvSpPr>
          <p:spPr>
            <a:xfrm>
              <a:off x="1381125" y="2714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714750" y="204787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286375" y="3476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0" y="204787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91625" y="2714625"/>
              <a:ext cx="1619250" cy="666750"/>
            </a:xfrm>
            <a:prstGeom prst="roundRect">
              <a:avLst>
                <a:gd name="adj" fmla="val 20000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8810625" y="4476750"/>
            <a:ext cx="2381250" cy="952500"/>
          </a:xfrm>
          <a:prstGeom prst="roundRect">
            <a:avLst>
              <a:gd name="adj" fmla="val 16000"/>
            </a:avLst>
          </a:pr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Rectangle 29"/>
          <p:cNvSpPr/>
          <p:nvPr/>
        </p:nvSpPr>
        <p:spPr>
          <a:xfrm>
            <a:off x="666750" y="5572125"/>
            <a:ext cx="104775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Rectangle 24"/>
          <p:cNvSpPr/>
          <p:nvPr/>
        </p:nvSpPr>
        <p:spPr>
          <a:xfrm>
            <a:off x="9525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8100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67500" y="3667125"/>
            <a:ext cx="2381250" cy="11430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334500" y="2000250"/>
            <a:ext cx="200025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Rectangle 10"/>
            <p:cNvSpPr/>
            <p:nvPr/>
          </p:nvSpPr>
          <p:spPr>
            <a:xfrm>
              <a:off x="952500" y="45243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39528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0" y="33813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81750" y="2809875"/>
              <a:ext cx="1619250" cy="590550"/>
            </a:xfrm>
            <a:prstGeom prst="roundRect">
              <a:avLst>
                <a:gd name="adj" fmla="val 19355"/>
              </a:avLst>
            </a:pr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857250" y="5429250"/>
            <a:ext cx="74295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572500" y="2476500"/>
            <a:ext cx="25717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57250" y="2476500"/>
            <a:ext cx="2571750" cy="1047750"/>
          </a:xfrm>
          <a:prstGeom prst="roundRect">
            <a:avLst>
              <a:gd name="adj" fmla="val 1454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66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 · INFORMATION ACCESS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资料先分级，权限按需批准，使用可留痕，变化时及时回收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资料分级漏斗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2428875"/>
            <a:ext cx="2857500" cy="2047875"/>
          </a:xfrm>
          <a:custGeom>
            <a:avLst/>
            <a:gdLst/>
            <a:ahLst/>
            <a:cxnLst/>
            <a:rect l="l" t="t" r="r" b="b"/>
            <a:pathLst>
              <a:path w="2857500" h="2047875">
                <a:moveTo>
                  <a:pt x="0" y="0"/>
                </a:moveTo>
                <a:lnTo>
                  <a:pt x="2857500" y="0"/>
                </a:lnTo>
                <a:lnTo>
                  <a:pt x="2286000" y="2047875"/>
                </a:lnTo>
                <a:lnTo>
                  <a:pt x="571500" y="2047875"/>
                </a:ln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35227" y="2672239"/>
            <a:ext cx="13015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客户 / 公司资料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" y="3069431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图纸 · 报价 · 工艺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778" y="34028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 · 人事 · 经营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634" y="3934778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按敏感度 / 业务需要分级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05250" y="3333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4857750" y="2190750"/>
            <a:ext cx="2952750" cy="238125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54795" y="2426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角色权限控制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286375" y="2857500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FFF2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4062" y="2982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申请：为何需要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3412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0" name="Rectangle 20"/>
          <p:cNvSpPr/>
          <p:nvPr/>
        </p:nvSpPr>
        <p:spPr>
          <a:xfrm>
            <a:off x="5286375" y="3476625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34062" y="3601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批准：最小权限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3838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3" name="Rectangle 23"/>
          <p:cNvSpPr/>
          <p:nvPr/>
        </p:nvSpPr>
        <p:spPr>
          <a:xfrm>
            <a:off x="5286375" y="4095750"/>
            <a:ext cx="2095500" cy="361950"/>
          </a:xfrm>
          <a:prstGeom prst="roundRect">
            <a:avLst>
              <a:gd name="adj" fmla="val 50000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34062" y="4220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使用：访问留痕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3333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190750"/>
            <a:ext cx="2762250" cy="2381250"/>
          </a:xfrm>
          <a:prstGeom prst="roundRect">
            <a:avLst>
              <a:gd name="adj" fmla="val 7200"/>
            </a:avLst>
          </a:pr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9707" y="2426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回收与上报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5410" y="28789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岗位变化 → 权限复核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95410" y="32123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离岗 → 权限回收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5410" y="35456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异常访问 → 上报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95410" y="38790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客户要求 → 重新确认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34125" y="4572000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3619500" y="0"/>
                </a:moveTo>
                <a:lnTo>
                  <a:pt x="36195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6643224" y="5220652"/>
            <a:ext cx="30013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 / 离岗触发回收，不等待下一次例行复核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5619750"/>
            <a:ext cx="105727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11804" y="5763578"/>
            <a:ext cx="48731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底部矩阵只表达“可见 / 不可见 / 需审批”，具体岗位权限以正式授权文件为准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75095"/>
            <a:ext cx="39411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蓝色＝资料分级 橙色＝权限批准 青绿色＝留痕/回收 红色虚线＝异常回收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Rectangle 11"/>
            <p:cNvSpPr/>
            <p:nvPr/>
          </p:nvSpPr>
          <p:spPr>
            <a:xfrm>
              <a:off x="952500" y="2095500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953500" y="2095500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2500" y="4333875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953500" y="4333875"/>
              <a:ext cx="2286000" cy="857250"/>
            </a:xfrm>
            <a:prstGeom prst="roundRect">
              <a:avLst>
                <a:gd name="adj" fmla="val 17778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81500" y="5905500"/>
            <a:ext cx="34290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193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先定义指标口径，再由管理层看趋势、风险和需要决策的事项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1833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示意模板｜数值、目标和责任人待确认后填入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2000" y="2333625"/>
            <a:ext cx="10668000" cy="2619375"/>
            <a:chOff x="762000" y="2333625"/>
            <a:chExt cx="10668000" cy="2619375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2333625"/>
              <a:ext cx="3333750" cy="1143000"/>
              <a:chOff x="762000" y="2333625"/>
              <a:chExt cx="3333750" cy="1143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2333625"/>
                <a:ext cx="33337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28575">
                <a:solidFill>
                  <a:srgbClr val="2F6BFF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92505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9441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9441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429125" y="2333625"/>
              <a:ext cx="3333750" cy="1143000"/>
              <a:chOff x="4429125" y="2333625"/>
              <a:chExt cx="3333750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429125" y="2333625"/>
                <a:ext cx="33337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28575">
                <a:solidFill>
                  <a:srgbClr val="7657B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59630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质量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61535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1535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096250" y="2333625"/>
              <a:ext cx="3333750" cy="1143000"/>
              <a:chOff x="8096250" y="2333625"/>
              <a:chExt cx="3333750" cy="1143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096250" y="2333625"/>
                <a:ext cx="33337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28575">
                <a:solidFill>
                  <a:srgbClr val="1C9C8C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6755" y="2505075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采购/库存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2866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2866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3810000"/>
              <a:ext cx="3333750" cy="1143000"/>
              <a:chOff x="762000" y="3810000"/>
              <a:chExt cx="3333750" cy="1143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" y="3810000"/>
                <a:ext cx="33337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28575">
                <a:solidFill>
                  <a:srgbClr val="C56A2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92505" y="3981450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现金/成本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441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441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429125" y="3810000"/>
              <a:ext cx="3333750" cy="1143000"/>
              <a:chOff x="4429125" y="3810000"/>
              <a:chExt cx="3333750" cy="1143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429125" y="3810000"/>
                <a:ext cx="33337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28575">
                <a:solidFill>
                  <a:srgbClr val="A87519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59630" y="3981450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61535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61535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96250" y="3810000"/>
              <a:ext cx="3333750" cy="1143000"/>
              <a:chOff x="8096250" y="3810000"/>
              <a:chExt cx="3333750" cy="11430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096250" y="3810000"/>
                <a:ext cx="3333750" cy="1143000"/>
              </a:xfrm>
              <a:prstGeom prst="roundRect">
                <a:avLst>
                  <a:gd name="adj" fmla="val 11667"/>
                </a:avLst>
              </a:prstGeom>
              <a:solidFill>
                <a:srgbClr val="FFFFFF"/>
              </a:solidFill>
              <a:ln w="28575">
                <a:solidFill>
                  <a:srgbClr val="D95C5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26755" y="3981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整改闭环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2866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2866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风险登记与升级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风险等级决定响应、升级和关闭路径；具体阈值待确认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02767" y="1902142"/>
            <a:ext cx="214140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风险热力图｜概率 × 影响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88293" y="2381250"/>
            <a:ext cx="2870826" cy="1997011"/>
            <a:chOff x="288293" y="2381250"/>
            <a:chExt cx="2870826" cy="1997011"/>
          </a:xfrm>
        </p:grpSpPr>
        <p:sp>
          <p:nvSpPr>
            <p:cNvPr id="9" name="Rectangle 9"/>
            <p:cNvSpPr/>
            <p:nvPr/>
          </p:nvSpPr>
          <p:spPr>
            <a:xfrm>
              <a:off x="1143000" y="2381250"/>
              <a:ext cx="666750" cy="523875"/>
            </a:xfrm>
            <a:prstGeom prst="rect">
              <a:avLst/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809750" y="2381250"/>
              <a:ext cx="666750" cy="523875"/>
            </a:xfrm>
            <a:prstGeom prst="rect">
              <a:avLst/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76500" y="2381250"/>
              <a:ext cx="666750" cy="523875"/>
            </a:xfrm>
            <a:prstGeom prst="rect">
              <a:avLst/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43000" y="2905125"/>
              <a:ext cx="666750" cy="523875"/>
            </a:xfrm>
            <a:prstGeom prst="rect">
              <a:avLst/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809750" y="2905125"/>
              <a:ext cx="666750" cy="523875"/>
            </a:xfrm>
            <a:prstGeom prst="rect">
              <a:avLst/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76500" y="2905125"/>
              <a:ext cx="666750" cy="523875"/>
            </a:xfrm>
            <a:prstGeom prst="rect">
              <a:avLst/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43000" y="3429000"/>
              <a:ext cx="666750" cy="523875"/>
            </a:xfrm>
            <a:prstGeom prst="rect">
              <a:avLst/>
            </a:prstGeom>
            <a:solidFill>
              <a:srgbClr val="FFF7D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09750" y="3429000"/>
              <a:ext cx="666750" cy="523875"/>
            </a:xfrm>
            <a:prstGeom prst="rect">
              <a:avLst/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476500" y="3429000"/>
              <a:ext cx="666750" cy="523875"/>
            </a:xfrm>
            <a:prstGeom prst="rect">
              <a:avLst/>
            </a:prstGeom>
            <a:solidFill>
              <a:srgbClr val="FFF0F0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43000" y="2381250"/>
              <a:ext cx="2000250" cy="1571625"/>
            </a:xfrm>
            <a:custGeom>
              <a:avLst/>
              <a:gdLst/>
              <a:ahLst/>
              <a:cxnLst/>
              <a:rect l="l" t="t" r="r" b="b"/>
              <a:pathLst>
                <a:path w="2000250" h="1571625">
                  <a:moveTo>
                    <a:pt x="0" y="1571625"/>
                  </a:moveTo>
                  <a:lnTo>
                    <a:pt x="2000250" y="1571625"/>
                  </a:lnTo>
                  <a:moveTo>
                    <a:pt x="0" y="0"/>
                  </a:moveTo>
                  <a:lnTo>
                    <a:pt x="0" y="15716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D7E0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37791" y="41729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影响（低 → 高）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 rot="-5400000">
              <a:off x="288293" y="2630491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概率（低 → 高）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3714750" y="2333625"/>
            <a:ext cx="3714750" cy="171450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3993642" y="2521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登记字段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94404" y="291846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风险事项｜原因｜影响｜责任人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994404" y="325183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等级｜预警阈值｜应对措施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994404" y="35852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状态｜证据｜复核日期：待确认</a:t>
            </a:r>
          </a:p>
        </p:txBody>
      </p:sp>
      <p:sp>
        <p:nvSpPr>
          <p:cNvPr id="27" name="Freeform 27"/>
          <p:cNvSpPr/>
          <p:nvPr/>
        </p:nvSpPr>
        <p:spPr>
          <a:xfrm>
            <a:off x="7810500" y="3190875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D95C5C"/>
            </a:solidFill>
            <a:tailEnd type="triangle" w="lg" len="lg"/>
          </a:ln>
        </p:spPr>
      </p:sp>
      <p:sp>
        <p:nvSpPr>
          <p:cNvPr id="28" name="Rectangle 28"/>
          <p:cNvSpPr/>
          <p:nvPr/>
        </p:nvSpPr>
        <p:spPr>
          <a:xfrm>
            <a:off x="8858250" y="2333625"/>
            <a:ext cx="2381250" cy="1714500"/>
          </a:xfrm>
          <a:prstGeom prst="roundRect">
            <a:avLst>
              <a:gd name="adj" fmla="val 7778"/>
            </a:avLst>
          </a:prstGeom>
          <a:solidFill>
            <a:srgbClr val="FFF0F0"/>
          </a:solidFill>
          <a:ln w="28575">
            <a:solidFill>
              <a:srgbClr val="D95C5C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660369" y="25212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升级路径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19691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达到阈值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38919" y="32518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责任人上报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2950" y="3585210"/>
            <a:ext cx="12318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管理层决策/关闭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3148" y="5005864"/>
            <a:ext cx="4398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黄色/红色区域仅为示意分级；不得视为已批准的风险阈值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9541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发现—处置—上报—调查—整改—验证，现场与管理层共同承接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381250"/>
            <a:ext cx="10668000" cy="2952750"/>
            <a:chOff x="666750" y="2381250"/>
            <a:chExt cx="10668000" cy="2952750"/>
          </a:xfrm>
        </p:grpSpPr>
        <p:sp>
          <p:nvSpPr>
            <p:cNvPr id="8" name="Rectangle 8"/>
            <p:cNvSpPr/>
            <p:nvPr/>
          </p:nvSpPr>
          <p:spPr>
            <a:xfrm>
              <a:off x="666750" y="2381250"/>
              <a:ext cx="161925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671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6765" y="2982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日常检查/事件触发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71750" y="2381250"/>
              <a:ext cx="161925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现场处置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1090" y="2982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先控制人身/环境风险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76750" y="2381250"/>
              <a:ext cx="161925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03 逐级上报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2982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按分级要求报告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0" y="2381250"/>
              <a:ext cx="161925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2603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责任调查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6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事实、原因、证据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572500" y="2381250"/>
              <a:ext cx="161925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246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05 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措施、责任、记录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4286250"/>
              <a:ext cx="180975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8788" y="4561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验证关闭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0265" y="4887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效果确认/复发控制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2905125"/>
            <a:ext cx="8143875" cy="1381125"/>
          </a:xfrm>
          <a:custGeom>
            <a:avLst/>
            <a:gdLst/>
            <a:ahLst/>
            <a:cxnLst/>
            <a:rect l="l" t="t" r="r" b="b"/>
            <a:pathLst>
              <a:path w="8143875" h="13811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381500" y="0"/>
                </a:lnTo>
                <a:moveTo>
                  <a:pt x="6000750" y="0"/>
                </a:moveTo>
                <a:lnTo>
                  <a:pt x="6286500" y="0"/>
                </a:lnTo>
                <a:moveTo>
                  <a:pt x="7096125" y="523875"/>
                </a:moveTo>
                <a:lnTo>
                  <a:pt x="7096125" y="1381125"/>
                </a:lnTo>
                <a:lnTo>
                  <a:pt x="8143875" y="1381125"/>
                </a:lnTo>
              </a:path>
            </a:pathLst>
          </a:custGeom>
          <a:noFill/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7048500" y="3429000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2476500" y="1381125"/>
                </a:moveTo>
                <a:lnTo>
                  <a:pt x="762000" y="1381125"/>
                </a:lnTo>
                <a:cubicBezTo>
                  <a:pt x="190500" y="1381125"/>
                  <a:pt x="0" y="6667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29" name="TextBox 29"/>
          <p:cNvSpPr txBox="1"/>
          <p:nvPr/>
        </p:nvSpPr>
        <p:spPr>
          <a:xfrm>
            <a:off x="7328154" y="4966335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未通过/复发：再调查或升级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775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响应级别、通知时限和责任岗位：待确认，以正式应急文件为准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按过程检查证据，再由管理评审形成决策和改进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857250" y="2667000"/>
            <a:ext cx="10572750" cy="1047750"/>
            <a:chOff x="857250" y="2667000"/>
            <a:chExt cx="10572750" cy="1047750"/>
          </a:xfrm>
        </p:grpSpPr>
        <p:sp>
          <p:nvSpPr>
            <p:cNvPr id="8" name="Rectangle 8"/>
            <p:cNvSpPr/>
            <p:nvPr/>
          </p:nvSpPr>
          <p:spPr>
            <a:xfrm>
              <a:off x="857250" y="2667000"/>
              <a:ext cx="171450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3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制定计划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范围｜过程｜证据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143250" y="2667000"/>
              <a:ext cx="171450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9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02 过程检查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9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现场｜记录｜访谈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429250" y="2667000"/>
              <a:ext cx="171450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35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03 发现分级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5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事实｜风险｜整改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715250" y="2667000"/>
              <a:ext cx="171450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1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管理评审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01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输入｜决策｜资源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001250" y="2667000"/>
              <a:ext cx="142875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65963" y="294179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跟踪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589" y="3268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关闭证据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571750" y="3190875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571500" y="0"/>
                </a:lnTo>
                <a:moveTo>
                  <a:pt x="2286000" y="0"/>
                </a:moveTo>
                <a:lnTo>
                  <a:pt x="2857500" y="0"/>
                </a:lnTo>
                <a:moveTo>
                  <a:pt x="4572000" y="0"/>
                </a:moveTo>
                <a:lnTo>
                  <a:pt x="5143500" y="0"/>
                </a:lnTo>
                <a:moveTo>
                  <a:pt x="6858000" y="0"/>
                </a:moveTo>
                <a:lnTo>
                  <a:pt x="74295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5" name="Freeform 25"/>
          <p:cNvSpPr/>
          <p:nvPr/>
        </p:nvSpPr>
        <p:spPr>
          <a:xfrm>
            <a:off x="1714500" y="3714750"/>
            <a:ext cx="9001125" cy="1238250"/>
          </a:xfrm>
          <a:custGeom>
            <a:avLst/>
            <a:gdLst/>
            <a:ahLst/>
            <a:cxnLst/>
            <a:rect l="l" t="t" r="r" b="b"/>
            <a:pathLst>
              <a:path w="9001125" h="1238250">
                <a:moveTo>
                  <a:pt x="9001125" y="0"/>
                </a:moveTo>
                <a:cubicBezTo>
                  <a:pt x="9001125" y="1047750"/>
                  <a:pt x="666750" y="123825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6" name="TextBox 26"/>
          <p:cNvSpPr txBox="1"/>
          <p:nvPr/>
        </p:nvSpPr>
        <p:spPr>
          <a:xfrm>
            <a:off x="4375023" y="4815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跟踪结果进入下一轮检查与评审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55854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管理评审输入、输出和频次：待确认，以正式机制为准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571750"/>
            <a:ext cx="10953750" cy="1095375"/>
            <a:chOff x="666750" y="2571750"/>
            <a:chExt cx="10953750" cy="1095375"/>
          </a:xfrm>
        </p:grpSpPr>
        <p:sp>
          <p:nvSpPr>
            <p:cNvPr id="8" name="Rectangle 8"/>
            <p:cNvSpPr/>
            <p:nvPr/>
          </p:nvSpPr>
          <p:spPr>
            <a:xfrm>
              <a:off x="666750" y="2571750"/>
              <a:ext cx="1619250" cy="1095375"/>
            </a:xfrm>
            <a:prstGeom prst="roundRect">
              <a:avLst>
                <a:gd name="adj" fmla="val 13913"/>
              </a:avLst>
            </a:pr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发现登记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事实｜证据｜来源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71750" y="2571750"/>
              <a:ext cx="1619250" cy="1095375"/>
            </a:xfrm>
            <a:prstGeom prst="roundRect">
              <a:avLst>
                <a:gd name="adj" fmla="val 13913"/>
              </a:avLst>
            </a:pr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分级升级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风险｜责任｜期限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76750" y="2571750"/>
              <a:ext cx="1619250" cy="1095375"/>
            </a:xfrm>
            <a:prstGeom prst="roundRect">
              <a:avLst>
                <a:gd name="adj" fmla="val 13913"/>
              </a:avLst>
            </a:pr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31918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根因｜复发控制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81750" y="2571750"/>
              <a:ext cx="1619250" cy="1095375"/>
            </a:xfrm>
            <a:prstGeom prst="roundRect">
              <a:avLst>
                <a:gd name="adj" fmla="val 13913"/>
              </a:avLst>
            </a:pr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制定措施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86750" y="2571750"/>
              <a:ext cx="1619250" cy="1095375"/>
            </a:xfrm>
            <a:prstGeom prst="roundRect">
              <a:avLst>
                <a:gd name="adj" fmla="val 13913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4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6988" y="3191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证据｜有效性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191750" y="2571750"/>
              <a:ext cx="1428750" cy="1095375"/>
            </a:xfrm>
            <a:prstGeom prst="roundRect">
              <a:avLst>
                <a:gd name="adj" fmla="val 13913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56463" y="28465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47414" y="31918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批准｜留痕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3114675"/>
            <a:ext cx="7905750" cy="9525"/>
          </a:xfrm>
          <a:custGeom>
            <a:avLst/>
            <a:gdLst/>
            <a:ahLst/>
            <a:cxnLst/>
            <a:rect l="l" t="t" r="r" b="b"/>
            <a:pathLst>
              <a:path w="7905750" h="95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095750" y="0"/>
                </a:lnTo>
                <a:moveTo>
                  <a:pt x="5715000" y="0"/>
                </a:moveTo>
                <a:lnTo>
                  <a:pt x="6000750" y="0"/>
                </a:lnTo>
                <a:moveTo>
                  <a:pt x="7620000" y="0"/>
                </a:moveTo>
                <a:lnTo>
                  <a:pt x="79057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8" name="Freeform 28"/>
          <p:cNvSpPr/>
          <p:nvPr/>
        </p:nvSpPr>
        <p:spPr>
          <a:xfrm>
            <a:off x="3381375" y="3667125"/>
            <a:ext cx="6810375" cy="1524000"/>
          </a:xfrm>
          <a:custGeom>
            <a:avLst/>
            <a:gdLst/>
            <a:ahLst/>
            <a:cxnLst/>
            <a:rect l="l" t="t" r="r" b="b"/>
            <a:pathLst>
              <a:path w="6810375" h="1524000">
                <a:moveTo>
                  <a:pt x="6810375" y="0"/>
                </a:moveTo>
                <a:cubicBezTo>
                  <a:pt x="6429375" y="1190625"/>
                  <a:pt x="1381125" y="15240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9" name="TextBox 29"/>
          <p:cNvSpPr txBox="1"/>
          <p:nvPr/>
        </p:nvSpPr>
        <p:spPr>
          <a:xfrm>
            <a:off x="4946523" y="4815364"/>
            <a:ext cx="32912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验证失败/逾期/复发：再升级，不直接关闭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5854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责任岗位、整改期限和关闭权限：待确认，以正式授权文件为准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1047750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Rectangle 13"/>
            <p:cNvSpPr/>
            <p:nvPr/>
          </p:nvSpPr>
          <p:spPr>
            <a:xfrm>
              <a:off x="4048125" y="185737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Rectangle 17"/>
            <p:cNvSpPr/>
            <p:nvPr/>
          </p:nvSpPr>
          <p:spPr>
            <a:xfrm>
              <a:off x="7191375" y="2667000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048125" y="4238625"/>
              <a:ext cx="2333625" cy="1066800"/>
            </a:xfrm>
            <a:prstGeom prst="roundRect">
              <a:avLst>
                <a:gd name="adj" fmla="val 16071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906000" y="2190750"/>
            <a:ext cx="1428750" cy="2571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6829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 RACI 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先用关键事项校准责任，再扩展到完整矩阵（示例，最终以正式授权为准）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952625"/>
            <a:ext cx="7905750" cy="342900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571500" y="1952625"/>
            <a:ext cx="7905750" cy="495300"/>
            <a:chOff x="571500" y="1952625"/>
            <a:chExt cx="7905750" cy="495300"/>
          </a:xfrm>
        </p:grpSpPr>
        <p:sp>
          <p:nvSpPr>
            <p:cNvPr id="9" name="Rectangle 9"/>
            <p:cNvSpPr/>
            <p:nvPr/>
          </p:nvSpPr>
          <p:spPr>
            <a:xfrm>
              <a:off x="571500" y="1952625"/>
              <a:ext cx="7905750" cy="495300"/>
            </a:xfrm>
            <a:prstGeom prst="rect">
              <a:avLst/>
            </a:prstGeom>
            <a:solidFill>
              <a:srgbClr val="EAF0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0745" y="21455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关键事项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866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241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技术/工程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658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品质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18372" y="215360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生产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1639" y="2153602"/>
              <a:ext cx="685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采购/仓储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9163" y="2153602"/>
              <a:ext cx="455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管理层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1952625"/>
            <a:ext cx="7905750" cy="3429000"/>
            <a:chOff x="571500" y="1952625"/>
            <a:chExt cx="7905750" cy="3429000"/>
          </a:xfrm>
        </p:grpSpPr>
        <p:sp>
          <p:nvSpPr>
            <p:cNvPr id="18" name="Line 18"/>
            <p:cNvSpPr/>
            <p:nvPr/>
          </p:nvSpPr>
          <p:spPr>
            <a:xfrm>
              <a:off x="571500" y="24479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29337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" y="341947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71500" y="390525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71500" y="4391025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71500" y="4876800"/>
              <a:ext cx="7905750" cy="9525"/>
            </a:xfrm>
            <a:custGeom>
              <a:avLst/>
              <a:gdLst/>
              <a:ahLst/>
              <a:cxnLst/>
              <a:rect l="l" t="t" r="r" b="b"/>
              <a:pathLst>
                <a:path w="7905750" h="9525">
                  <a:moveTo>
                    <a:pt x="0" y="0"/>
                  </a:moveTo>
                  <a:lnTo>
                    <a:pt x="79057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38125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04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000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953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9055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858000" y="195262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041" y="26393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9041" y="3125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技术变更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041" y="3610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采购验收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041" y="4096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质量放行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9041" y="45824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客诉关闭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041" y="5068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付款批准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571750" y="2571750"/>
            <a:ext cx="4953000" cy="2724531"/>
            <a:chOff x="2571750" y="2571750"/>
            <a:chExt cx="4953000" cy="2724531"/>
          </a:xfrm>
        </p:grpSpPr>
        <p:sp>
          <p:nvSpPr>
            <p:cNvPr id="37" name="Rectangle 37"/>
            <p:cNvSpPr/>
            <p:nvPr/>
          </p:nvSpPr>
          <p:spPr>
            <a:xfrm>
              <a:off x="25717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06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1432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783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957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30868" y="26327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53250" y="25717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0771" y="2632710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43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278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957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308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048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3368" y="3118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953250" y="30575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10771" y="3118485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00750" y="354330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58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953250" y="354330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2EC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88368" y="36042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048250" y="402907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833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095750" y="402907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30868" y="40900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095750" y="45148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230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333750" y="4514850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468868" y="457581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43750" y="50006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FFF2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788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191250" y="5000625"/>
              <a:ext cx="381000" cy="266700"/>
            </a:xfrm>
            <a:prstGeom prst="roundRect">
              <a:avLst>
                <a:gd name="adj" fmla="val 21429"/>
              </a:avLst>
            </a:prstGeom>
            <a:solidFill>
              <a:srgbClr val="EAF7F4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26368" y="50615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</p:grpSp>
      <p:sp>
        <p:nvSpPr>
          <p:cNvPr id="70" name="Rectangle 70"/>
          <p:cNvSpPr/>
          <p:nvPr/>
        </p:nvSpPr>
        <p:spPr>
          <a:xfrm>
            <a:off x="8858250" y="1952625"/>
            <a:ext cx="2571750" cy="34290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564795" y="21878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三条使用规则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185910" y="2736056"/>
            <a:ext cx="2291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A · 每行一个最终负责/批准主体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5910" y="3307556"/>
            <a:ext cx="1403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 · 对执行结果负责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5910" y="3879056"/>
            <a:ext cx="22037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C / I · 参与或知会，不能替代A</a:t>
            </a:r>
          </a:p>
        </p:txBody>
      </p:sp>
      <p:sp>
        <p:nvSpPr>
          <p:cNvPr id="75" name="Rectangle 75"/>
          <p:cNvSpPr/>
          <p:nvPr/>
        </p:nvSpPr>
        <p:spPr>
          <a:xfrm>
            <a:off x="9191625" y="4524375"/>
            <a:ext cx="1905000" cy="457200"/>
          </a:xfrm>
          <a:prstGeom prst="roundRect">
            <a:avLst>
              <a:gd name="adj" fmla="val 25000"/>
            </a:avLst>
          </a:prstGeom>
          <a:solidFill>
            <a:srgbClr val="FFF7DF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396698" y="46967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待确认：最终授权边界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66166" y="6077902"/>
            <a:ext cx="62956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图例：A＝Accountable 最终负责/批准 R＝Responsible 执行 C＝Consulted 征询 I＝Informed 知会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66738" y="647509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示例矩阵仅用于校准责任逻辑，不代表公司已正式发布的授权文件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33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管理体系证据链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制度要求必须经过责任承接、流程执行和记录复核，形成可追溯链条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571750"/>
            <a:ext cx="10620375" cy="1000125"/>
            <a:chOff x="666750" y="2571750"/>
            <a:chExt cx="10620375" cy="1000125"/>
          </a:xfrm>
        </p:grpSpPr>
        <p:sp>
          <p:nvSpPr>
            <p:cNvPr id="8" name="Rectangle 8"/>
            <p:cNvSpPr/>
            <p:nvPr/>
          </p:nvSpPr>
          <p:spPr>
            <a:xfrm>
              <a:off x="666750" y="2571750"/>
              <a:ext cx="1571625" cy="1000125"/>
            </a:xfrm>
            <a:prstGeom prst="roundRect">
              <a:avLst>
                <a:gd name="adj" fmla="val 15238"/>
              </a:avLst>
            </a:pr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8138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要求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79541" y="3153728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原则/制度条款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428875" y="2571750"/>
              <a:ext cx="1571625" cy="1000125"/>
            </a:xfrm>
            <a:prstGeom prst="roundRect">
              <a:avLst>
                <a:gd name="adj" fmla="val 15238"/>
              </a:avLst>
            </a:pr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60263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02 责任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2795" y="3153728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岗位/接口/权限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91000" y="2571750"/>
              <a:ext cx="1571625" cy="1000125"/>
            </a:xfrm>
            <a:prstGeom prst="roundRect">
              <a:avLst>
                <a:gd name="adj" fmla="val 15238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2388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03 流程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74467" y="315372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步骤/控制点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953125" y="2571750"/>
              <a:ext cx="1571625" cy="1000125"/>
            </a:xfrm>
            <a:prstGeom prst="roundRect">
              <a:avLst>
                <a:gd name="adj" fmla="val 15238"/>
              </a:avLst>
            </a:pr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4513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表单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56369" y="3153728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输入/输出/记录项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15250" y="2571750"/>
              <a:ext cx="1571625" cy="1000125"/>
            </a:xfrm>
            <a:prstGeom prst="roundRect">
              <a:avLst>
                <a:gd name="adj" fmla="val 15238"/>
              </a:avLst>
            </a:pr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6638" y="2817971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28041" y="3153728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执行证据/留痕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477375" y="2571750"/>
              <a:ext cx="1809750" cy="1000125"/>
            </a:xfrm>
            <a:prstGeom prst="roundRect">
              <a:avLst>
                <a:gd name="adj" fmla="val 15238"/>
              </a:avLst>
            </a:prstGeom>
            <a:solidFill>
              <a:srgbClr val="FFFFFF"/>
            </a:solidFill>
            <a:ln w="28575">
              <a:solidFill>
                <a:srgbClr val="A87519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31163" y="2817971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06 复核改进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75120" y="3153728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检查/评审/改进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38375" y="3067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190500" y="0"/>
                </a:lnTo>
                <a:moveTo>
                  <a:pt x="1762125" y="0"/>
                </a:moveTo>
                <a:lnTo>
                  <a:pt x="1952625" y="0"/>
                </a:lnTo>
                <a:moveTo>
                  <a:pt x="3524250" y="0"/>
                </a:moveTo>
                <a:lnTo>
                  <a:pt x="3714750" y="0"/>
                </a:lnTo>
                <a:moveTo>
                  <a:pt x="5286375" y="0"/>
                </a:moveTo>
                <a:lnTo>
                  <a:pt x="5476875" y="0"/>
                </a:lnTo>
                <a:moveTo>
                  <a:pt x="7048500" y="0"/>
                </a:moveTo>
                <a:lnTo>
                  <a:pt x="72390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8" name="Freeform 28"/>
          <p:cNvSpPr/>
          <p:nvPr/>
        </p:nvSpPr>
        <p:spPr>
          <a:xfrm>
            <a:off x="1447800" y="3571875"/>
            <a:ext cx="8934450" cy="1381125"/>
          </a:xfrm>
          <a:custGeom>
            <a:avLst/>
            <a:gdLst/>
            <a:ahLst/>
            <a:cxnLst/>
            <a:rect l="l" t="t" r="r" b="b"/>
            <a:pathLst>
              <a:path w="8934450" h="1381125">
                <a:moveTo>
                  <a:pt x="8934450" y="0"/>
                </a:moveTo>
                <a:cubicBezTo>
                  <a:pt x="8839200" y="1190625"/>
                  <a:pt x="266700" y="1381125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9" name="TextBox 29"/>
          <p:cNvSpPr txBox="1"/>
          <p:nvPr/>
        </p:nvSpPr>
        <p:spPr>
          <a:xfrm>
            <a:off x="4232148" y="4767739"/>
            <a:ext cx="39606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复核结果反向验证要求是否有效，并进入下一轮改进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58546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具体文件编号、责任岗位和记录保存要求：待确认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76200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76200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Rectangle 21"/>
            <p:cNvSpPr/>
            <p:nvPr/>
          </p:nvSpPr>
          <p:spPr>
            <a:xfrm>
              <a:off x="4524375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4524375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8286750" y="1952625"/>
              <a:ext cx="3143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Rectangle 31"/>
            <p:cNvSpPr/>
            <p:nvPr/>
          </p:nvSpPr>
          <p:spPr>
            <a:xfrm>
              <a:off x="8286750" y="1952625"/>
              <a:ext cx="3143250" cy="114300"/>
            </a:xfrm>
            <a:prstGeom prst="roundRect">
              <a:avLst>
                <a:gd name="adj" fmla="val 50000"/>
              </a:avLst>
            </a:pr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1619250" y="5000625"/>
            <a:ext cx="8953500" cy="552450"/>
          </a:xfrm>
          <a:prstGeom prst="roundRect">
            <a:avLst>
              <a:gd name="adj" fmla="val 500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57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91250" y="2095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191250" y="2095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57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857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30480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191250" y="30480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7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57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495300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191250" y="4000500"/>
            <a:ext cx="76200" cy="723900"/>
          </a:xfrm>
          <a:prstGeom prst="roundRect">
            <a:avLst>
              <a:gd name="adj" fmla="val 50000"/>
            </a:avLst>
          </a:pr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2047875"/>
            <a:ext cx="485775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2047875"/>
            <a:ext cx="485775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2026-10-08T08:53:31Z</dcterms:created>
  <dcterms:modified xsi:type="dcterms:W3CDTF">2026-10-08T08:53:31Z</dcterms:modified>
  <cp:category/>
  <cp:contentStatus/>
</cp:coreProperties>
</file>