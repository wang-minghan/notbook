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  <Relationship Id="rId4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_rels/notesSlide2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4.xml"/>
</Relationships>
</file>

<file path=ppt/notesSlides/_rels/notesSlide2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5.xml"/>
</Relationships>
</file>

<file path=ppt/notesSlides/_rels/notesSlide2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6.xml"/>
</Relationships>
</file>

<file path=ppt/notesSlides/_rels/notesSlide2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7.xml"/>
</Relationships>
</file>

<file path=ppt/notesSlides/_rels/notesSlide2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8.xml"/>
</Relationships>
</file>

<file path=ppt/notesSlides/_rels/notesSlide2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9.xml"/>
</Relationships>
</file>

<file path=ppt/notesSlides/_rels/notesSlide3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0.xml"/>
</Relationships>
</file>

<file path=ppt/notesSlides/_rels/notesSlide3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1.xml"/>
</Relationships>
</file>

<file path=ppt/notesSlides/_rels/notesSlide3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2.xml"/>
</Relationships>
</file>

<file path=ppt/notesSlides/_rels/notesSlide3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3.xml"/>
</Relationships>
</file>

<file path=ppt/notesSlides/_rels/notesSlide3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4.xml"/>
</Relationships>
</file>

<file path=ppt/notesSlides/_rels/notesSlide3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5.xml"/>
</Relationships>
</file>

<file path=ppt/notesSlides/_rels/notesSlide3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本页围绕“公司治理与部门协同管理体系”展开。重点不是介绍概念本身，而是说明鑫犇如何把责任、流程和证据组织起来，让客户能够理解并验证我们的管理方式。下一页将继续把这一方法落到具体治理场景。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本页围绕“文件定位与适用范围”展开。重点不是介绍概念本身，而是说明鑫犇如何把责任、流程和证据组织起来，让客户能够理解并验证我们的管理方式。下一页将继续把这一方法落到具体治理场景。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本页围绕“管理体系三层架构”展开。重点不是介绍概念本身，而是说明鑫犇如何把责任、流程和证据组织起来，让客户能够理解并验证我们的管理方式。下一页将继续把这一方法落到具体治理场景。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本页围绕“管理原则”展开。重点不是介绍概念本身，而是说明鑫犇如何把责任、流程和证据组织起来，让客户能够理解并验证我们的管理方式。下一页将继续把这一方法落到具体治理场景。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本页围绕“制度文件层级”展开。重点不是介绍概念本身，而是说明鑫犇如何把责任、流程和证据组织起来，让客户能够理解并验证我们的管理方式。下一页将继续把这一方法落到具体治理场景。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本页围绕“组织架构与决策边界”展开。重点不是介绍概念本身，而是说明鑫犇如何把责任、流程和证据组织起来，让客户能够理解并验证我们的管理方式。下一页将继续把这一方法落到具体治理场景。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本页围绕“决策与经营职责”展开。重点不是介绍概念本身，而是说明鑫犇如何把责任、流程和证据组织起来，让客户能够理解并验证我们的管理方式。下一页将继续把这一方法落到具体治理场景。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本页围绕“部门职责地图”展开。重点不是介绍概念本身，而是说明鑫犇如何把责任、流程和证据组织起来，让客户能够理解并验证我们的管理方式。下一页将继续把这一方法落到具体治理场景。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本页围绕“岗位责任与替代机制”展开。重点不是介绍概念本身，而是说明鑫犇如何把责任、流程和证据组织起来，让客户能够理解并验证我们的管理方式。下一页将继续把这一方法落到具体治理场景。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本页围绕“RACI责任规则”展开。重点不是介绍概念本身，而是说明鑫犇如何把责任、流程和证据组织起来，让客户能够理解并验证我们的管理方式。下一页将继续把这一方法落到具体治理场景。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本页围绕“授权审批矩阵”展开。重点不是介绍概念本身，而是说明鑫犇如何把责任、流程和证据组织起来，让客户能够理解并验证我们的管理方式。下一页将继续把这一方法落到具体治理场景。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本页围绕“越权与职责冲突处理”展开。重点不是介绍概念本身，而是说明鑫犇如何把责任、流程和证据组织起来，让客户能够理解并验证我们的管理方式。下一页将继续把这一方法落到具体治理场景。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本页围绕“订单到交付总流程”展开。重点不是介绍概念本身，而是说明鑫犇如何把责任、流程和证据组织起来，让客户能够理解并验证我们的管理方式。下一页将继续把这一方法落到具体治理场景。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本页围绕“订单与变更控制”展开。重点不是介绍概念本身，而是说明鑫犇如何把责任、流程和证据组织起来，让客户能够理解并验证我们的管理方式。下一页将继续把这一方法落到具体治理场景。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本页围绕“生产计划与任务下达”展开。重点不是介绍概念本身，而是说明鑫犇如何把责任、流程和证据组织起来，让客户能够理解并验证我们的管理方式。下一页将继续把这一方法落到具体治理场景。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本页围绕“采购到付款”展开。重点不是介绍概念本身，而是说明鑫犇如何把责任、流程和证据组织起来，让客户能够理解并验证我们的管理方式。下一页将继续把这一方法落到具体治理场景。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本页围绕“质量异常与放行”展开。重点不是介绍概念本身，而是说明鑫犇如何把责任、流程和证据组织起来，让客户能够理解并验证我们的管理方式。下一页将继续把这一方法落到具体治理场景。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本页围绕“客诉与纠正措施”展开。重点不是介绍概念本身，而是说明鑫犇如何把责任、流程和证据组织起来，让客户能够理解并验证我们的管理方式。下一页将继续把这一方法落到具体治理场景。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本页围绕“模具、设备与关键资源”展开。重点不是介绍概念本身，而是说明鑫犇如何把责任、流程和证据组织起来，让客户能够理解并验证我们的管理方式。下一页将继续把这一方法落到具体治理场景。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本页围绕“跨部门交接标准”展开。重点不是介绍概念本身，而是说明鑫犇如何把责任、流程和证据组织起来，让客户能够理解并验证我们的管理方式。下一页将继续把这一方法落到具体治理场景。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本页围绕“文件编制与版本控制”展开。重点不是介绍概念本身，而是说明鑫犇如何把责任、流程和证据组织起来，让客户能够理解并验证我们的管理方式。下一页将继续把这一方法落到具体治理场景。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本页围绕“记录与档案生命周期”展开。重点不是介绍概念本身，而是说明鑫犇如何把责任、流程和证据组织起来，让客户能够理解并验证我们的管理方式。下一页将继续把这一方法落到具体治理场景。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本页围绕“人员能力与岗位授权”展开。重点不是介绍概念本身，而是说明鑫犇如何把责任、流程和证据组织起来，让客户能够理解并验证我们的管理方式。下一页将继续把这一方法落到具体治理场景。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本页围绕“客户资料与信息权限”展开。重点不是介绍概念本身，而是说明鑫犇如何把责任、流程和证据组织起来，让客户能够理解并验证我们的管理方式。下一页将继续把这一方法落到具体治理场景。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本页围绕“经营会议与管理闭环”展开。重点不是介绍概念本身，而是说明鑫犇如何把责任、流程和证据组织起来，让客户能够理解并验证我们的管理方式。下一页将继续把这一方法落到具体治理场景。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本页围绕“管理指标看板”展开。重点不是介绍概念本身，而是说明鑫犇如何把责任、流程和证据组织起来，让客户能够理解并验证我们的管理方式。下一页将继续把这一方法落到具体治理场景。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本页围绕“风险登记与升级”展开。重点不是介绍概念本身，而是说明鑫犇如何把责任、流程和证据组织起来，让客户能够理解并验证我们的管理方式。下一页将继续把这一方法落到具体治理场景。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本页围绕“安全、环保与应急”展开。重点不是介绍概念本身，而是说明鑫犇如何把责任、流程和证据组织起来，让客户能够理解并验证我们的管理方式。下一页将继续把这一方法落到具体治理场景。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本页围绕“内部检查与管理评审”展开。重点不是介绍概念本身，而是说明鑫犇如何把责任、流程和证据组织起来，让客户能够理解并验证我们的管理方式。下一页将继续把这一方法落到具体治理场景。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本页围绕“不符合项与整改关闭”展开。重点不是介绍概念本身，而是说明鑫犇如何把责任、流程和证据组织起来，让客户能够理解并验证我们的管理方式。下一页将继续把这一方法落到具体治理场景。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本页围绕“PDCA持续改进”展开。重点不是介绍概念本身，而是说明鑫犇如何把责任、流程和证据组织起来，让客户能够理解并验证我们的管理方式。下一页将继续把这一方法落到具体治理场景。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本页围绕“部门协同RACI示例”展开。重点不是介绍概念本身，而是说明鑫犇如何把责任、流程和证据组织起来，让客户能够理解并验证我们的管理方式。下一页将继续把这一方法落到具体治理场景。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本页围绕“管理体系证据链”展开。重点不是介绍概念本身，而是说明鑫犇如何把责任、流程和证据组织起来，让客户能够理解并验证我们的管理方式。下一页将继续把这一方法落到具体治理场景。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本页围绕“90天落地路线”展开。重点不是介绍概念本身，而是说明鑫犇如何把责任、流程和证据组织起来，让客户能够理解并验证我们的管理方式。下一页将继续把这一方法落到具体治理场景。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本页围绕“待确认事项清单”展开。重点不是介绍概念本身，而是说明鑫犇如何把责任、流程和证据组织起来，让客户能够理解并验证我们的管理方式。下一页将继续把这一方法落到具体治理场景。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本页围绕“附件与另册文件”展开。重点不是介绍概念本身，而是说明鑫犇如何把责任、流程和证据组织起来，让客户能够理解并验证我们的管理方式。下一页将继续把这一方法落到具体治理场景。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f2cea7521e72097.jp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1e3229a8e2335edd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2bde6058845307ff.jp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3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4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5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6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8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9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0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1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2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3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4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5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3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0"/>
            <a:ext cx="600075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6191250" y="0"/>
            <a:ext cx="6000750" cy="6858000"/>
          </a:xfrm>
          <a:prstGeom prst="rect">
            <a:avLst/>
          </a:prstGeom>
          <a:solidFill>
            <a:srgbClr val="F7F9FC">
              <a:alpha val="55000"/>
            </a:srgbClr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7048500" cy="6858000"/>
          </a:xfrm>
          <a:prstGeom prst="rect">
            <a:avLst/>
          </a:prstGeom>
          <a:solidFill>
            <a:srgbClr val="F7F9FC">
              <a:alpha val="9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59892" y="806768"/>
            <a:ext cx="18989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XINBEN ELECTRONICS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7700" y="1718310"/>
            <a:ext cx="3260903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47700" y="2527935"/>
            <a:ext cx="4066604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与管理方法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5320" y="3567112"/>
            <a:ext cx="577786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让客户看见一家制造企业如何被可靠地管理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4381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476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658368" y="4774882"/>
            <a:ext cx="38188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公司治理与部门协同管理体系｜V3.0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9130" y="53149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惠州市鑫犇电子有限公司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892" y="6045518"/>
            <a:ext cx="41353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文件定位与适用范围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4599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本文件规定治理边界和跨部门协同，不替代部门SOP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66687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0962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50743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1564" y="275272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公司层治理</a:t>
            </a:r>
          </a:p>
        </p:txBody>
      </p:sp>
      <p:sp>
        <p:nvSpPr>
          <p:cNvPr id="12" name="Line 12"/>
          <p:cNvSpPr/>
          <p:nvPr/>
        </p:nvSpPr>
        <p:spPr>
          <a:xfrm>
            <a:off x="4305300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344805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414586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826002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部门接口</a:t>
            </a:r>
          </a:p>
        </p:txBody>
      </p:sp>
      <p:sp>
        <p:nvSpPr>
          <p:cNvPr id="16" name="Line 16"/>
          <p:cNvSpPr/>
          <p:nvPr/>
        </p:nvSpPr>
        <p:spPr>
          <a:xfrm>
            <a:off x="6943725" y="2514600"/>
            <a:ext cx="1876425" cy="9525"/>
          </a:xfrm>
          <a:custGeom>
            <a:avLst/>
            <a:gdLst/>
            <a:ahLst/>
            <a:cxnLst/>
            <a:rect l="l" t="t" r="r" b="b"/>
            <a:pathLst>
              <a:path w="1876425" h="9525">
                <a:moveTo>
                  <a:pt x="0" y="0"/>
                </a:moveTo>
                <a:lnTo>
                  <a:pt x="1876425" y="0"/>
                </a:lnTo>
              </a:path>
            </a:pathLst>
          </a:custGeom>
          <a:noFill/>
          <a:ln w="38100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6086475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6784289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64427" y="27527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8724900" y="2286000"/>
            <a:ext cx="1619250" cy="1000125"/>
          </a:xfrm>
          <a:custGeom>
            <a:avLst/>
            <a:gdLst/>
            <a:ahLst/>
            <a:cxnLst/>
            <a:rect l="l" t="t" r="r" b="b"/>
            <a:pathLst>
              <a:path w="1619250" h="1000125">
                <a:moveTo>
                  <a:pt x="133350" y="0"/>
                </a:moveTo>
                <a:lnTo>
                  <a:pt x="1485900" y="0"/>
                </a:lnTo>
                <a:cubicBezTo>
                  <a:pt x="1559547" y="0"/>
                  <a:pt x="1619250" y="59703"/>
                  <a:pt x="1619250" y="133350"/>
                </a:cubicBezTo>
                <a:lnTo>
                  <a:pt x="1619250" y="866775"/>
                </a:lnTo>
                <a:cubicBezTo>
                  <a:pt x="1619250" y="940422"/>
                  <a:pt x="1559547" y="1000125"/>
                  <a:pt x="1485900" y="1000125"/>
                </a:cubicBezTo>
                <a:lnTo>
                  <a:pt x="133350" y="1000125"/>
                </a:lnTo>
                <a:cubicBezTo>
                  <a:pt x="59703" y="1000125"/>
                  <a:pt x="0" y="940422"/>
                  <a:pt x="0" y="866775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1C9C8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422714" y="246411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E27A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90826" y="27527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执行文件另册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8106" y="4282440"/>
            <a:ext cx="75300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规范字段：目的｜适用范围｜责任｜输入｜步骤｜输出｜记录｜控制点</a:t>
            </a:r>
          </a:p>
        </p:txBody>
      </p:sp>
      <p:sp>
        <p:nvSpPr>
          <p:cNvPr id="24" name="Freeform 24"/>
          <p:cNvSpPr/>
          <p:nvPr/>
        </p:nvSpPr>
        <p:spPr>
          <a:xfrm>
            <a:off x="428625" y="1762125"/>
            <a:ext cx="11334750" cy="4095750"/>
          </a:xfrm>
          <a:custGeom>
            <a:avLst/>
            <a:gdLst/>
            <a:ahLst/>
            <a:cxnLst/>
            <a:rect l="l" t="t" r="r" b="b"/>
            <a:pathLst>
              <a:path w="11334750" h="4095750">
                <a:moveTo>
                  <a:pt x="114300" y="0"/>
                </a:moveTo>
                <a:lnTo>
                  <a:pt x="11220450" y="0"/>
                </a:lnTo>
                <a:cubicBezTo>
                  <a:pt x="11283576" y="0"/>
                  <a:pt x="11334750" y="51174"/>
                  <a:pt x="11334750" y="114300"/>
                </a:cubicBezTo>
                <a:lnTo>
                  <a:pt x="11334750" y="3981450"/>
                </a:lnTo>
                <a:cubicBezTo>
                  <a:pt x="11334750" y="4044576"/>
                  <a:pt x="11283576" y="4095750"/>
                  <a:pt x="11220450" y="4095750"/>
                </a:cubicBezTo>
                <a:lnTo>
                  <a:pt x="114300" y="4095750"/>
                </a:lnTo>
                <a:cubicBezTo>
                  <a:pt x="51174" y="4095750"/>
                  <a:pt x="0" y="4044576"/>
                  <a:pt x="0" y="3981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7F9FC"/>
          </a:solidFill>
          <a:ln w="9525">
            <a:solidFill>
              <a:srgbClr val="D7E0EA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857375"/>
            <a:ext cx="11144250" cy="390525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03 / GOVERNANCE ARCHITECTURE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25175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管理体系三层架构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8188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治理要求向下落到责任、流程和证据，再由结果和风险向上反馈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096000" y="2571750"/>
            <a:ext cx="9525" cy="1714500"/>
          </a:xfrm>
          <a:custGeom>
            <a:avLst/>
            <a:gdLst/>
            <a:ahLst/>
            <a:cxnLst/>
            <a:rect l="l" t="t" r="r" b="b"/>
            <a:pathLst>
              <a:path w="9525" h="1714500">
                <a:moveTo>
                  <a:pt x="0" y="0"/>
                </a:moveTo>
                <a:lnTo>
                  <a:pt x="0" y="285750"/>
                </a:lnTo>
                <a:moveTo>
                  <a:pt x="0" y="1428750"/>
                </a:moveTo>
                <a:lnTo>
                  <a:pt x="0" y="17145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7810500" y="238125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>
                <a:moveTo>
                  <a:pt x="2000250" y="2857500"/>
                </a:moveTo>
                <a:cubicBezTo>
                  <a:pt x="2857500" y="2857500"/>
                  <a:pt x="2857500" y="0"/>
                  <a:pt x="0" y="0"/>
                </a:cubicBezTo>
              </a:path>
            </a:pathLst>
          </a:custGeom>
          <a:noFill/>
          <a:ln w="38100">
            <a:solidFill>
              <a:srgbClr val="1C9C8C"/>
            </a:solidFill>
            <a:custDash>
              <a:ds d="250000" sp="175000"/>
            </a:custDash>
            <a:tailEnd type="triangle" w="lg" len="lg"/>
          </a:ln>
        </p:spPr>
      </p:sp>
      <p:sp>
        <p:nvSpPr>
          <p:cNvPr id="10" name="TextBox 10"/>
          <p:cNvSpPr txBox="1"/>
          <p:nvPr/>
        </p:nvSpPr>
        <p:spPr>
          <a:xfrm>
            <a:off x="10091166" y="3744278"/>
            <a:ext cx="1494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结果、风险、改进反馈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86000" y="1952625"/>
            <a:ext cx="7620000" cy="876300"/>
            <a:chOff x="2286000" y="19526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1" name="Freeform 11"/>
            <p:cNvSpPr/>
            <p:nvPr/>
          </p:nvSpPr>
          <p:spPr>
            <a:xfrm>
              <a:off x="2286000" y="19526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5721491" y="2099786"/>
              <a:ext cx="749017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治理层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22141" y="244221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方向与目标 · 组织权责 · 授权审批 · 重大风险 · 监督改进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286000" y="3190875"/>
            <a:ext cx="7620000" cy="876300"/>
            <a:chOff x="2286000" y="319087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5" name="Freeform 15"/>
            <p:cNvSpPr/>
            <p:nvPr/>
          </p:nvSpPr>
          <p:spPr>
            <a:xfrm>
              <a:off x="2286000" y="319087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5477661" y="333803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部门协同层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22141" y="3680460"/>
              <a:ext cx="4147718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订单到交付 · 变更控制 · 资源协同 · 异常升级 · 会议闭环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286000" y="4429125"/>
            <a:ext cx="7620000" cy="876300"/>
            <a:chOff x="2286000" y="4429125"/>
            <a:chExt cx="7620000" cy="87630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9" name="Freeform 19"/>
            <p:cNvSpPr/>
            <p:nvPr/>
          </p:nvSpPr>
          <p:spPr>
            <a:xfrm>
              <a:off x="2286000" y="4429125"/>
              <a:ext cx="7620000" cy="876300"/>
            </a:xfrm>
            <a:custGeom>
              <a:avLst/>
              <a:gdLst/>
              <a:ahLst/>
              <a:cxnLst/>
              <a:rect l="l" t="t" r="r" b="b"/>
              <a:pathLst>
                <a:path w="7620000" h="876300">
                  <a:moveTo>
                    <a:pt x="171450" y="0"/>
                  </a:moveTo>
                  <a:lnTo>
                    <a:pt x="7448550" y="0"/>
                  </a:lnTo>
                  <a:cubicBezTo>
                    <a:pt x="7543239" y="0"/>
                    <a:pt x="7620000" y="76761"/>
                    <a:pt x="7620000" y="171450"/>
                  </a:cubicBezTo>
                  <a:lnTo>
                    <a:pt x="7620000" y="704850"/>
                  </a:lnTo>
                  <a:cubicBezTo>
                    <a:pt x="7620000" y="799539"/>
                    <a:pt x="7543239" y="876300"/>
                    <a:pt x="7448550" y="876300"/>
                  </a:cubicBezTo>
                  <a:lnTo>
                    <a:pt x="171450" y="876300"/>
                  </a:lnTo>
                  <a:cubicBezTo>
                    <a:pt x="76761" y="876300"/>
                    <a:pt x="0" y="799539"/>
                    <a:pt x="0" y="7048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5477661" y="4576286"/>
              <a:ext cx="1236678" cy="33737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执行文件层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956304" y="4918710"/>
              <a:ext cx="4279392" cy="234696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制度程序 · SOP · 检验/点检方法 · 表单台账 · 过程记录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2759269" y="6050756"/>
            <a:ext cx="66734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本PPT正文聚焦治理层与部门协同层；执行文件层作为另册文件管理，不在此展开操作步骤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6738" y="6494145"/>
            <a:ext cx="3916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向下：要求具体化 向上：结果可见化 未发布内容以“拟建立/待确认”为准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172669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管理原则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权责清晰、授权经营、过程受控、异常升级、记录可追溯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权责清晰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授权经营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过程受控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异常必升级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记录可追溯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持续改进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制度文件层级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2348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从治理原则到执行记录，层级不同、控制对象不同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49768"/>
            <a:ext cx="344854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控制关系：上层定义边界，下层承接执行</a:t>
            </a:r>
          </a:p>
        </p:txBody>
      </p:sp>
      <p:sp>
        <p:nvSpPr>
          <p:cNvPr id="9" name="Freeform 9"/>
          <p:cNvSpPr/>
          <p:nvPr/>
        </p:nvSpPr>
        <p:spPr>
          <a:xfrm>
            <a:off x="6096000" y="2381250"/>
            <a:ext cx="9525" cy="3048000"/>
          </a:xfrm>
          <a:custGeom>
            <a:avLst/>
            <a:gdLst/>
            <a:ahLst/>
            <a:cxnLst/>
            <a:rect l="l" t="t" r="r" b="b"/>
            <a:pathLst>
              <a:path w="9525" h="3048000">
                <a:moveTo>
                  <a:pt x="0" y="0"/>
                </a:moveTo>
                <a:lnTo>
                  <a:pt x="0" y="304800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10" name="Freeform 10"/>
          <p:cNvSpPr/>
          <p:nvPr/>
        </p:nvSpPr>
        <p:spPr>
          <a:xfrm>
            <a:off x="1524000" y="2381250"/>
            <a:ext cx="9144000" cy="666750"/>
          </a:xfrm>
          <a:custGeom>
            <a:avLst/>
            <a:gdLst/>
            <a:ahLst/>
            <a:cxnLst/>
            <a:rect l="l" t="t" r="r" b="b"/>
            <a:pathLst>
              <a:path w="9144000" h="666750">
                <a:moveTo>
                  <a:pt x="133350" y="0"/>
                </a:moveTo>
                <a:lnTo>
                  <a:pt x="9010650" y="0"/>
                </a:lnTo>
                <a:cubicBezTo>
                  <a:pt x="9084297" y="0"/>
                  <a:pt x="9144000" y="59703"/>
                  <a:pt x="9144000" y="133350"/>
                </a:cubicBezTo>
                <a:lnTo>
                  <a:pt x="9144000" y="533400"/>
                </a:lnTo>
                <a:cubicBezTo>
                  <a:pt x="9144000" y="607047"/>
                  <a:pt x="9084297" y="666750"/>
                  <a:pt x="9010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991868" y="26222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治理原则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5642" y="2654618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战略｜权责｜授权｜风险边界</a:t>
            </a:r>
          </a:p>
        </p:txBody>
      </p:sp>
      <p:sp>
        <p:nvSpPr>
          <p:cNvPr id="13" name="Freeform 13"/>
          <p:cNvSpPr/>
          <p:nvPr/>
        </p:nvSpPr>
        <p:spPr>
          <a:xfrm>
            <a:off x="2095500" y="3286125"/>
            <a:ext cx="8001000" cy="666750"/>
          </a:xfrm>
          <a:custGeom>
            <a:avLst/>
            <a:gdLst/>
            <a:ahLst/>
            <a:cxnLst/>
            <a:rect l="l" t="t" r="r" b="b"/>
            <a:pathLst>
              <a:path w="8001000" h="666750">
                <a:moveTo>
                  <a:pt x="133350" y="0"/>
                </a:moveTo>
                <a:lnTo>
                  <a:pt x="7867650" y="0"/>
                </a:lnTo>
                <a:cubicBezTo>
                  <a:pt x="7941297" y="0"/>
                  <a:pt x="8001000" y="59703"/>
                  <a:pt x="8001000" y="133350"/>
                </a:cubicBezTo>
                <a:lnTo>
                  <a:pt x="8001000" y="533400"/>
                </a:lnTo>
                <a:cubicBezTo>
                  <a:pt x="8001000" y="607047"/>
                  <a:pt x="7941297" y="666750"/>
                  <a:pt x="7867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2563368" y="35271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管理制度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36642" y="3559492"/>
            <a:ext cx="419366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人事｜合同｜采购｜生产｜品质｜财务｜安全｜信息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67000" y="4191000"/>
            <a:ext cx="6858000" cy="666750"/>
          </a:xfrm>
          <a:custGeom>
            <a:avLst/>
            <a:gdLst/>
            <a:ahLst/>
            <a:cxnLst/>
            <a:rect l="l" t="t" r="r" b="b"/>
            <a:pathLst>
              <a:path w="6858000" h="666750">
                <a:moveTo>
                  <a:pt x="133350" y="0"/>
                </a:moveTo>
                <a:lnTo>
                  <a:pt x="6724650" y="0"/>
                </a:lnTo>
                <a:cubicBezTo>
                  <a:pt x="6798297" y="0"/>
                  <a:pt x="6858000" y="59703"/>
                  <a:pt x="6858000" y="133350"/>
                </a:cubicBezTo>
                <a:lnTo>
                  <a:pt x="6858000" y="533400"/>
                </a:lnTo>
                <a:cubicBezTo>
                  <a:pt x="6858000" y="607047"/>
                  <a:pt x="6798297" y="666750"/>
                  <a:pt x="672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3134868" y="4431982"/>
            <a:ext cx="174178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流程程序 / 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3892" y="4464368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步骤、控制点、岗位接口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38500" y="5095875"/>
            <a:ext cx="5715000" cy="666750"/>
          </a:xfrm>
          <a:custGeom>
            <a:avLst/>
            <a:gdLst/>
            <a:ahLst/>
            <a:cxnLst/>
            <a:rect l="l" t="t" r="r" b="b"/>
            <a:pathLst>
              <a:path w="5715000" h="666750">
                <a:moveTo>
                  <a:pt x="133350" y="0"/>
                </a:moveTo>
                <a:lnTo>
                  <a:pt x="5581650" y="0"/>
                </a:lnTo>
                <a:cubicBezTo>
                  <a:pt x="5655297" y="0"/>
                  <a:pt x="5715000" y="59703"/>
                  <a:pt x="5715000" y="133350"/>
                </a:cubicBezTo>
                <a:lnTo>
                  <a:pt x="5715000" y="533400"/>
                </a:lnTo>
                <a:cubicBezTo>
                  <a:pt x="5715000" y="607047"/>
                  <a:pt x="5655297" y="666750"/>
                  <a:pt x="5581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3706368" y="5336858"/>
            <a:ext cx="195256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表单 / 台账 / 记录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65392" y="5369242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执行证据与追溯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570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06 / GOVERNANCE · ORGANIZATION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组织架构与决策边界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正式组织树表达归属；专业汇报与重大决策另以接口机制说明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428750" y="2324100"/>
            <a:ext cx="9334500" cy="1409700"/>
          </a:xfrm>
          <a:custGeom>
            <a:avLst/>
            <a:gdLst/>
            <a:ahLst/>
            <a:cxnLst/>
            <a:rect l="l" t="t" r="r" b="b"/>
            <a:pathLst>
              <a:path w="9334500" h="1409700">
                <a:moveTo>
                  <a:pt x="4667250" y="0"/>
                </a:moveTo>
                <a:lnTo>
                  <a:pt x="4667250" y="304800"/>
                </a:lnTo>
                <a:moveTo>
                  <a:pt x="4667250" y="914400"/>
                </a:moveTo>
                <a:lnTo>
                  <a:pt x="4667250" y="1152525"/>
                </a:lnTo>
                <a:moveTo>
                  <a:pt x="0" y="1152525"/>
                </a:moveTo>
                <a:lnTo>
                  <a:pt x="9334500" y="1152525"/>
                </a:lnTo>
                <a:moveTo>
                  <a:pt x="0" y="1152525"/>
                </a:moveTo>
                <a:lnTo>
                  <a:pt x="0" y="1409700"/>
                </a:lnTo>
                <a:moveTo>
                  <a:pt x="2333625" y="1152525"/>
                </a:moveTo>
                <a:lnTo>
                  <a:pt x="2333625" y="1409700"/>
                </a:lnTo>
                <a:moveTo>
                  <a:pt x="4667250" y="1152525"/>
                </a:moveTo>
                <a:lnTo>
                  <a:pt x="4667250" y="1409700"/>
                </a:lnTo>
                <a:moveTo>
                  <a:pt x="7000875" y="1152525"/>
                </a:moveTo>
                <a:lnTo>
                  <a:pt x="7000875" y="1409700"/>
                </a:lnTo>
                <a:moveTo>
                  <a:pt x="9334500" y="1152525"/>
                </a:moveTo>
                <a:lnTo>
                  <a:pt x="9334500" y="1409700"/>
                </a:lnTo>
              </a:path>
            </a:pathLst>
          </a:custGeom>
          <a:noFill/>
          <a:ln w="28575">
            <a:solidFill>
              <a:srgbClr val="9AA9BA"/>
            </a:solidFill>
            <a:tailEnd type="triangle" w="lg" len="lg"/>
          </a:ln>
        </p:spPr>
      </p:sp>
      <p:grpSp>
        <p:nvGrpSpPr>
          <p:cNvPr id="11" name="Group 11"/>
          <p:cNvGrpSpPr/>
          <p:nvPr/>
        </p:nvGrpSpPr>
        <p:grpSpPr>
          <a:xfrm>
            <a:off x="4333875" y="1809750"/>
            <a:ext cx="3524250" cy="533400"/>
            <a:chOff x="4333875" y="1809750"/>
            <a:chExt cx="3524250" cy="5334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Rectangle 9"/>
            <p:cNvSpPr/>
            <p:nvPr/>
          </p:nvSpPr>
          <p:spPr>
            <a:xfrm>
              <a:off x="4333875" y="1809750"/>
              <a:ext cx="3524250" cy="533400"/>
            </a:xfrm>
            <a:prstGeom prst="roundRect">
              <a:avLst>
                <a:gd name="adj" fmla="val 25000"/>
              </a:avLst>
            </a:pr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4804858" y="1965008"/>
              <a:ext cx="2582285" cy="322707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惠州市鑫犇电子有限公司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14875" y="2647950"/>
            <a:ext cx="2762250" cy="594551"/>
            <a:chOff x="4714875" y="2647950"/>
            <a:chExt cx="2762250" cy="594551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2" name="Rectangle 12"/>
            <p:cNvSpPr/>
            <p:nvPr/>
          </p:nvSpPr>
          <p:spPr>
            <a:xfrm>
              <a:off x="4714875" y="2647950"/>
              <a:ext cx="2762250" cy="590550"/>
            </a:xfrm>
            <a:prstGeom prst="roundRect">
              <a:avLst>
                <a:gd name="adj" fmla="val 22581"/>
              </a:avLst>
            </a:pr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5793829" y="2782252"/>
              <a:ext cx="60434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公司层级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64011" y="2978468"/>
              <a:ext cx="1463977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董事长 ｜ 总经理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23875" y="3752850"/>
            <a:ext cx="1809750" cy="1143000"/>
            <a:chOff x="523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6" name="Rectangle 16"/>
            <p:cNvSpPr/>
            <p:nvPr/>
          </p:nvSpPr>
          <p:spPr>
            <a:xfrm>
              <a:off x="523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200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生产部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661" y="41809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工程技术组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93939" y="4390549"/>
              <a:ext cx="869623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冲压/清洗车间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5661" y="460009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模具维修组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619375" y="3752850"/>
            <a:ext cx="1809750" cy="1143000"/>
            <a:chOff x="2619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2619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296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品质部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191161" y="4200049"/>
              <a:ext cx="66617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制程巡检组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59906" y="4447699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成品出货检验组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56013" y="46843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质量判断独立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714875" y="3752850"/>
            <a:ext cx="1809750" cy="1143000"/>
            <a:chOff x="4714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8" name="Rectangle 28"/>
            <p:cNvSpPr/>
            <p:nvPr/>
          </p:nvSpPr>
          <p:spPr>
            <a:xfrm>
              <a:off x="4714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5391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营运部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201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业务组 采购组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417915" y="4447699"/>
              <a:ext cx="403670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仓储组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90934" y="468439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订单与供应协同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810375" y="3752850"/>
            <a:ext cx="1809750" cy="1143000"/>
            <a:chOff x="68103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68103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74872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行政部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2968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人事组 后勤组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286434" y="4474845"/>
              <a:ext cx="857631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人员与综合保障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05875" y="3752850"/>
            <a:ext cx="1809750" cy="1143000"/>
            <a:chOff x="8905875" y="3752850"/>
            <a:chExt cx="1809750" cy="11430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39" name="Rectangle 39"/>
            <p:cNvSpPr/>
            <p:nvPr/>
          </p:nvSpPr>
          <p:spPr>
            <a:xfrm>
              <a:off x="8905875" y="3752850"/>
              <a:ext cx="1809750" cy="1143000"/>
            </a:xfrm>
            <a:prstGeom prst="roundRect">
              <a:avLst>
                <a:gd name="adj" fmla="val 11667"/>
              </a:avLst>
            </a:pr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40" name="TextBox 40"/>
            <p:cNvSpPr txBox="1"/>
            <p:nvPr/>
          </p:nvSpPr>
          <p:spPr>
            <a:xfrm>
              <a:off x="9582788" y="3925252"/>
              <a:ext cx="45592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财务部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392345" y="4200049"/>
              <a:ext cx="836809" cy="190690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会计组 出纳组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60776" y="4474845"/>
              <a:ext cx="1099947" cy="176212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资金与核算职责分离</a:t>
              </a:r>
            </a:p>
          </p:txBody>
        </p:sp>
      </p:grpSp>
      <p:sp>
        <p:nvSpPr>
          <p:cNvPr id="44" name="Rectangle 44"/>
          <p:cNvSpPr/>
          <p:nvPr/>
        </p:nvSpPr>
        <p:spPr>
          <a:xfrm>
            <a:off x="1143000" y="5572125"/>
            <a:ext cx="9906000" cy="552450"/>
          </a:xfrm>
          <a:prstGeom prst="roundRect">
            <a:avLst>
              <a:gd name="adj" fmla="val 48276"/>
            </a:avLst>
          </a:prstGeom>
          <a:solidFill>
            <a:srgbClr val="EAF7F4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3534041" y="5688806"/>
            <a:ext cx="512391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实线＝组织归属 虚线＝专业汇报/信息升级 董事长与总经理同属公司层级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19078" y="5922645"/>
            <a:ext cx="25538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金额权限、特殊放行和时限以正式授权文件为准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6738" y="6494145"/>
            <a:ext cx="551307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依据：鑫犇电子_公司组织架构与职责矩阵模板.xlsx；本页为 OneDrive 项目修正版草稿，未覆盖基线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07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决策与经营职责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08381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战略监督与日常经营衔接，但不混淆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2F6BFF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6477000" y="2143125"/>
            <a:ext cx="4953000" cy="2857500"/>
          </a:xfrm>
          <a:custGeom>
            <a:avLst/>
            <a:gdLst/>
            <a:ahLst/>
            <a:cxnLst/>
            <a:rect l="l" t="t" r="r" b="b"/>
            <a:pathLst>
              <a:path w="4953000" h="28575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2724150"/>
                </a:lnTo>
                <a:cubicBezTo>
                  <a:pt x="4953000" y="2797797"/>
                  <a:pt x="4893297" y="2857500"/>
                  <a:pt x="4819650" y="2857500"/>
                </a:cubicBezTo>
                <a:lnTo>
                  <a:pt x="133350" y="2857500"/>
                </a:lnTo>
                <a:cubicBezTo>
                  <a:pt x="59703" y="2857500"/>
                  <a:pt x="0" y="2797797"/>
                  <a:pt x="0" y="27241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7A21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4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左侧：治理定位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9618" y="2441258"/>
            <a:ext cx="1649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27A21"/>
                </a:solidFill>
                <a:latin typeface="Arial"/>
                <a:ea typeface="Microsoft YaHei"/>
                <a:cs typeface="Arial"/>
              </a:rPr>
              <a:t>右侧：客户感知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3094" y="29327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重大方向和风险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8094" y="2932748"/>
            <a:ext cx="415432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经营目标和资源｜跨部门裁决｜部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48094" y="3313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门结果责任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5119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08 / GOVERNANCE · INTERFACE 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部门职责地图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0203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以五个正式一级部门呈现关键输入、输出与协同接口；班组归属按受控组织矩阵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5715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66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0" name="Line 10"/>
          <p:cNvSpPr/>
          <p:nvPr/>
        </p:nvSpPr>
        <p:spPr>
          <a:xfrm>
            <a:off x="7429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719138" y="2522220"/>
            <a:ext cx="206921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输入：订单评审、物料齐套、质量要求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188970"/>
            <a:ext cx="177237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输出：生产任务与产量/异常记录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9138" y="3855720"/>
            <a:ext cx="17057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接口：品质判定；营运交期协同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519612"/>
            <a:ext cx="21752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工程技术组 / 冲压车间 / 模具维修组 / 清洗车间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8003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5454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7" name="Line 17"/>
          <p:cNvSpPr/>
          <p:nvPr/>
        </p:nvSpPr>
        <p:spPr>
          <a:xfrm>
            <a:off x="29718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947988" y="2522220"/>
            <a:ext cx="18935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输入：来料、首件/制程、成品待检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798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输出：检验记录、不合格处置、客诉闭环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4798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接口：独立质量判断；向营运/生产反馈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47988" y="4519612"/>
            <a:ext cx="13372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制程巡检组 / 成品出货检验组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0292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7743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4" name="Line 24"/>
          <p:cNvSpPr/>
          <p:nvPr/>
        </p:nvSpPr>
        <p:spPr>
          <a:xfrm>
            <a:off x="52006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176838" y="25222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输入：客户订单、产能/质量意见、需求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176838" y="3188970"/>
            <a:ext cx="249932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输出：订单评审、采购订单、出入库/交付协同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176838" y="38557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接口：业务、采购、仓储分工执行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76838" y="4519612"/>
            <a:ext cx="115043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业务组 / 采购组 / 仓储组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25805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00318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行政部</a:t>
            </a:r>
          </a:p>
        </p:txBody>
      </p:sp>
      <p:sp>
        <p:nvSpPr>
          <p:cNvPr id="31" name="Line 31"/>
          <p:cNvSpPr/>
          <p:nvPr/>
        </p:nvSpPr>
        <p:spPr>
          <a:xfrm>
            <a:off x="742950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7405688" y="2522220"/>
            <a:ext cx="1826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输入：用工需求、制度与后勤事项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405688" y="3188970"/>
            <a:ext cx="194805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输出：人事档案、入离职与后勤记录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405688" y="3855720"/>
            <a:ext cx="15300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接口：跨部门人员/保障协同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0568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人事组 / 后勤组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486900" y="1809750"/>
            <a:ext cx="2076450" cy="3257550"/>
          </a:xfrm>
          <a:prstGeom prst="roundRect">
            <a:avLst>
              <a:gd name="adj" fmla="val 6422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0232031" y="1997392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38" name="Line 38"/>
          <p:cNvSpPr/>
          <p:nvPr/>
        </p:nvSpPr>
        <p:spPr>
          <a:xfrm>
            <a:off x="9658350" y="2286000"/>
            <a:ext cx="1733550" cy="9525"/>
          </a:xfrm>
          <a:custGeom>
            <a:avLst/>
            <a:gdLst/>
            <a:ahLst/>
            <a:cxnLst/>
            <a:rect l="l" t="t" r="r" b="b"/>
            <a:pathLst>
              <a:path w="1733550" h="9525">
                <a:moveTo>
                  <a:pt x="0" y="0"/>
                </a:moveTo>
                <a:lnTo>
                  <a:pt x="173355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34538" y="2522220"/>
            <a:ext cx="237816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输入：业务单据、费用/付款申请、经营数据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34538" y="3188970"/>
            <a:ext cx="21903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输出：会计凭证、报表、资金与付款记录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4538" y="3855720"/>
            <a:ext cx="21358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接口：财务审核/执行；审批依授权边界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34538" y="4519612"/>
            <a:ext cx="7314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会计组 / 出纳组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286375"/>
            <a:ext cx="11049000" cy="742950"/>
          </a:xfrm>
          <a:prstGeom prst="roundRect">
            <a:avLst>
              <a:gd name="adj" fmla="val 15385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2844500" y="5439728"/>
            <a:ext cx="65029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正式事实：五部门及下属组织名称/归属依受控矩阵；输入输出为职责地图摘要，不替代SOP。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26744" y="5704999"/>
            <a:ext cx="493851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待确认边界：具体时限、金额阈值、岗位替代与例外授权以正式制度/授权文件为准。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66738" y="6494145"/>
            <a:ext cx="361425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依据：受控组织矩阵、review_report.md；OneDrive 修正版草稿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09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岗位责任与替代机制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346748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岗位变更、兼岗和离岗必须保持责任连续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岗位目的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核心职责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关键权限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能力确认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替代岗位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权限回收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17435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10 / GOVERNANCE · RACI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56159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RACI责任规则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2744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一项事项只能有一个A；不能用“大家负责”替代授权和结果责任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00250"/>
            <a:ext cx="7239000" cy="3333750"/>
          </a:xfrm>
          <a:custGeom>
            <a:avLst/>
            <a:gdLst/>
            <a:ahLst/>
            <a:cxnLst/>
            <a:rect l="l" t="t" r="r" b="b"/>
            <a:pathLst>
              <a:path w="7239000" h="33337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3200400"/>
                </a:lnTo>
                <a:cubicBezTo>
                  <a:pt x="7239000" y="3274047"/>
                  <a:pt x="7179297" y="3333750"/>
                  <a:pt x="7105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00250"/>
            <a:ext cx="7239000" cy="552450"/>
          </a:xfrm>
          <a:custGeom>
            <a:avLst/>
            <a:gdLst/>
            <a:ahLst/>
            <a:cxnLst/>
            <a:rect l="l" t="t" r="r" b="b"/>
            <a:pathLst>
              <a:path w="7239000" h="55245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419100"/>
                </a:lnTo>
                <a:cubicBezTo>
                  <a:pt x="7239000" y="492747"/>
                  <a:pt x="7179297" y="552450"/>
                  <a:pt x="7105650" y="552450"/>
                </a:cubicBezTo>
                <a:lnTo>
                  <a:pt x="133350" y="552450"/>
                </a:lnTo>
                <a:cubicBezTo>
                  <a:pt x="59703" y="552450"/>
                  <a:pt x="0" y="492747"/>
                  <a:pt x="0" y="4191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36904" y="2213610"/>
            <a:ext cx="8857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事项 / 角色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35222" y="22136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5151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品质/工程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99266" y="2213610"/>
            <a:ext cx="783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生产/仓储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08851" y="22136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经营负责人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37285" y="2888456"/>
            <a:ext cx="1003411" cy="1934528"/>
            <a:chOff x="1137285" y="2888456"/>
            <a:chExt cx="1003411" cy="1934528"/>
          </a:xfrm>
        </p:grpSpPr>
        <p:sp>
          <p:nvSpPr>
            <p:cNvPr id="15" name="TextBox 15"/>
            <p:cNvSpPr txBox="1"/>
            <p:nvPr/>
          </p:nvSpPr>
          <p:spPr>
            <a:xfrm>
              <a:off x="1137285" y="28884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订单评审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7285" y="3459956"/>
              <a:ext cx="10034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技术/图纸变更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4031456"/>
              <a:ext cx="9201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质量异常处置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7285" y="4602956"/>
              <a:ext cx="6172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出货放行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57250" y="2000250"/>
            <a:ext cx="7239000" cy="3333750"/>
            <a:chOff x="857250" y="2000250"/>
            <a:chExt cx="7239000" cy="3333750"/>
          </a:xfrm>
        </p:grpSpPr>
        <p:sp>
          <p:nvSpPr>
            <p:cNvPr id="20" name="Line 20"/>
            <p:cNvSpPr/>
            <p:nvPr/>
          </p:nvSpPr>
          <p:spPr>
            <a:xfrm>
              <a:off x="857250" y="2552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857250" y="3124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" y="3695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57250" y="42672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857250" y="48387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14750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6196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566737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6715125" y="2000250"/>
              <a:ext cx="9525" cy="3333750"/>
            </a:xfrm>
            <a:custGeom>
              <a:avLst/>
              <a:gdLst/>
              <a:ahLst/>
              <a:cxnLst/>
              <a:rect l="l" t="t" r="r" b="b"/>
              <a:pathLst>
                <a:path w="9525" h="3333750">
                  <a:moveTo>
                    <a:pt x="0" y="0"/>
                  </a:moveTo>
                  <a:lnTo>
                    <a:pt x="0" y="333375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033445" y="2762250"/>
            <a:ext cx="3443680" cy="2095500"/>
            <a:chOff x="4033445" y="2762250"/>
            <a:chExt cx="3443680" cy="2095500"/>
          </a:xfrm>
        </p:grpSpPr>
        <p:sp>
          <p:nvSpPr>
            <p:cNvPr id="30" name="TextBox 30"/>
            <p:cNvSpPr txBox="1"/>
            <p:nvPr/>
          </p:nvSpPr>
          <p:spPr>
            <a:xfrm>
              <a:off x="40334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0811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53125" y="2762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12894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76695" y="2864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34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05375" y="3333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08119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28945" y="3435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01898" y="34356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334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905375" y="39052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08119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128945" y="40071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01898" y="4007168"/>
              <a:ext cx="742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526173"/>
                  </a:solidFill>
                  <a:latin typeface="Arial"/>
                  <a:ea typeface="Arial"/>
                  <a:cs typeface="Arial"/>
                </a:rPr>
                <a:t>I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334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0811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2894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R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000875" y="447675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76200" y="0"/>
                  </a:moveTo>
                  <a:lnTo>
                    <a:pt x="400050" y="0"/>
                  </a:lnTo>
                  <a:cubicBezTo>
                    <a:pt x="442134" y="0"/>
                    <a:pt x="476250" y="34116"/>
                    <a:pt x="476250" y="76200"/>
                  </a:cubicBezTo>
                  <a:lnTo>
                    <a:pt x="476250" y="304800"/>
                  </a:lnTo>
                  <a:cubicBezTo>
                    <a:pt x="476250" y="346884"/>
                    <a:pt x="442134" y="381000"/>
                    <a:pt x="400050" y="381000"/>
                  </a:cubicBezTo>
                  <a:lnTo>
                    <a:pt x="76200" y="381000"/>
                  </a:lnTo>
                  <a:cubicBezTo>
                    <a:pt x="34116" y="381000"/>
                    <a:pt x="0" y="346884"/>
                    <a:pt x="0" y="304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76695" y="457866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8667750" y="2000250"/>
            <a:ext cx="2667000" cy="3333750"/>
          </a:xfrm>
          <a:custGeom>
            <a:avLst/>
            <a:gdLst/>
            <a:ahLst/>
            <a:cxnLst/>
            <a:rect l="l" t="t" r="r" b="b"/>
            <a:pathLst>
              <a:path w="2667000" h="3333750">
                <a:moveTo>
                  <a:pt x="133350" y="0"/>
                </a:moveTo>
                <a:lnTo>
                  <a:pt x="2533650" y="0"/>
                </a:lnTo>
                <a:cubicBezTo>
                  <a:pt x="2607297" y="0"/>
                  <a:pt x="2667000" y="59703"/>
                  <a:pt x="2667000" y="133350"/>
                </a:cubicBezTo>
                <a:lnTo>
                  <a:pt x="2667000" y="3200400"/>
                </a:lnTo>
                <a:cubicBezTo>
                  <a:pt x="2667000" y="3274047"/>
                  <a:pt x="2607297" y="3333750"/>
                  <a:pt x="2533650" y="3333750"/>
                </a:cubicBezTo>
                <a:lnTo>
                  <a:pt x="133350" y="3333750"/>
                </a:lnTo>
                <a:cubicBezTo>
                  <a:pt x="59703" y="3333750"/>
                  <a:pt x="0" y="3274047"/>
                  <a:pt x="0" y="3200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9569577" y="226695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判定规则</a:t>
            </a:r>
          </a:p>
        </p:txBody>
      </p:sp>
      <p:sp>
        <p:nvSpPr>
          <p:cNvPr id="53" name="Ellipse 53"/>
          <p:cNvSpPr/>
          <p:nvPr/>
        </p:nvSpPr>
        <p:spPr>
          <a:xfrm>
            <a:off x="8905875" y="2809875"/>
            <a:ext cx="285750" cy="285750"/>
          </a:xfrm>
          <a:prstGeom prst="ellipse">
            <a:avLst/>
          </a:prstGeom>
          <a:solidFill>
            <a:srgbClr val="FFF2E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8986445" y="286416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328785" y="288845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批准 / 结果责任</a:t>
            </a:r>
          </a:p>
        </p:txBody>
      </p:sp>
      <p:sp>
        <p:nvSpPr>
          <p:cNvPr id="56" name="Ellipse 56"/>
          <p:cNvSpPr/>
          <p:nvPr/>
        </p:nvSpPr>
        <p:spPr>
          <a:xfrm>
            <a:off x="8905875" y="3333750"/>
            <a:ext cx="285750" cy="285750"/>
          </a:xfrm>
          <a:prstGeom prst="ellipse">
            <a:avLst/>
          </a:prstGeom>
          <a:solidFill>
            <a:srgbClr val="EAF0FF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986445" y="3388042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328785" y="341233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 / 交付结果</a:t>
            </a:r>
          </a:p>
        </p:txBody>
      </p:sp>
      <p:sp>
        <p:nvSpPr>
          <p:cNvPr id="59" name="Ellipse 59"/>
          <p:cNvSpPr/>
          <p:nvPr/>
        </p:nvSpPr>
        <p:spPr>
          <a:xfrm>
            <a:off x="8905875" y="3857625"/>
            <a:ext cx="285750" cy="285750"/>
          </a:xfrm>
          <a:prstGeom prst="ellipse">
            <a:avLst/>
          </a:prstGeom>
          <a:solidFill>
            <a:srgbClr val="F2EC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8986445" y="3911918"/>
            <a:ext cx="124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7657B8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8785" y="39362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会签 / 专业意见</a:t>
            </a:r>
          </a:p>
        </p:txBody>
      </p:sp>
      <p:sp>
        <p:nvSpPr>
          <p:cNvPr id="62" name="Ellipse 62"/>
          <p:cNvSpPr/>
          <p:nvPr/>
        </p:nvSpPr>
        <p:spPr>
          <a:xfrm>
            <a:off x="8905875" y="4381500"/>
            <a:ext cx="285750" cy="285750"/>
          </a:xfrm>
          <a:prstGeom prst="ellipse">
            <a:avLst/>
          </a:prstGeom>
          <a:solidFill>
            <a:srgbClr val="F7F9FC"/>
          </a:solidFill>
          <a:ln w="9525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9011648" y="4435792"/>
            <a:ext cx="742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b="1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28785" y="44600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知会 / 信息同步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011888" y="4942999"/>
            <a:ext cx="197872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示例，最终角色以公司确认版为准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66738" y="6494145"/>
            <a:ext cx="335074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橙色A必须唯一；若无明确A，事项不得默认通过或自行承诺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15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11 / GOVERNANCE · APPROVAL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460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授权审批矩阵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655990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事项分拆呈现经办、专业复核/咨询与批准；C仅表示事前咨询，不代表复核或审批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666750" y="1762125"/>
            <a:ext cx="24765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545168" y="1914049"/>
            <a:ext cx="7196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来源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337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40737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经办 R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429250" y="1762125"/>
            <a:ext cx="1905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884100" y="1914049"/>
            <a:ext cx="9952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专业复核 / 咨询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524750" y="1762125"/>
            <a:ext cx="152400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074291" y="1914049"/>
            <a:ext cx="4249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批准 A</a:t>
            </a:r>
          </a:p>
        </p:txBody>
      </p:sp>
      <p:sp>
        <p:nvSpPr>
          <p:cNvPr id="16" name="Rectangle 16"/>
          <p:cNvSpPr/>
          <p:nvPr/>
        </p:nvSpPr>
        <p:spPr>
          <a:xfrm>
            <a:off x="9239250" y="1762125"/>
            <a:ext cx="2381250" cy="400050"/>
          </a:xfrm>
          <a:prstGeom prst="roundRect">
            <a:avLst>
              <a:gd name="adj" fmla="val 1428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080379" y="1914049"/>
            <a:ext cx="69899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待确认边界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66750" y="22383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57238" y="23874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订单评审｜RACI-004</a:t>
            </a:r>
          </a:p>
        </p:txBody>
      </p:sp>
      <p:sp>
        <p:nvSpPr>
          <p:cNvPr id="20" name="Rectangle 20"/>
          <p:cNvSpPr/>
          <p:nvPr/>
        </p:nvSpPr>
        <p:spPr>
          <a:xfrm>
            <a:off x="33337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3424238" y="2387441"/>
            <a:ext cx="21196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生产、品质、工程技术、业务、采购、仓储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429250" y="22383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5519738" y="2387441"/>
            <a:ext cx="12475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专业输入（C按原矩阵）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524750" y="22383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615238" y="23874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239250" y="22383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29738" y="23874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订单承诺例外权限待确认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66750" y="29241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7238" y="3073241"/>
            <a:ext cx="13833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采购寻源下单｜RACI-005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3337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3424238" y="3073241"/>
            <a:ext cx="12312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业务组、采购组、仓储组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429250" y="29241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519738" y="30732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生产/品质/财务咨询（C）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524750" y="29241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615238" y="30732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36" name="Rectangle 36"/>
          <p:cNvSpPr/>
          <p:nvPr/>
        </p:nvSpPr>
        <p:spPr>
          <a:xfrm>
            <a:off x="9239250" y="29241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329738" y="3073241"/>
            <a:ext cx="14533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金额阈值、供应商例外待确认</a:t>
            </a:r>
          </a:p>
        </p:txBody>
      </p:sp>
      <p:sp>
        <p:nvSpPr>
          <p:cNvPr id="38" name="Rectangle 38"/>
          <p:cNvSpPr/>
          <p:nvPr/>
        </p:nvSpPr>
        <p:spPr>
          <a:xfrm>
            <a:off x="666750" y="36099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757238" y="3759041"/>
            <a:ext cx="113694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来料检验｜RACI-011</a:t>
            </a:r>
          </a:p>
        </p:txBody>
      </p:sp>
      <p:sp>
        <p:nvSpPr>
          <p:cNvPr id="40" name="Rectangle 40"/>
          <p:cNvSpPr/>
          <p:nvPr/>
        </p:nvSpPr>
        <p:spPr>
          <a:xfrm>
            <a:off x="33337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424238" y="3759041"/>
            <a:ext cx="786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429250" y="36099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5519738" y="3759041"/>
            <a:ext cx="149397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营运部/采购/仓储咨询（C）</a:t>
            </a:r>
          </a:p>
        </p:txBody>
      </p:sp>
      <p:sp>
        <p:nvSpPr>
          <p:cNvPr id="44" name="Rectangle 44"/>
          <p:cNvSpPr/>
          <p:nvPr/>
        </p:nvSpPr>
        <p:spPr>
          <a:xfrm>
            <a:off x="7524750" y="36099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615238" y="37590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9239250" y="36099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329738" y="3759041"/>
            <a:ext cx="12922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特采/让步放行权限待确认</a:t>
            </a:r>
          </a:p>
        </p:txBody>
      </p:sp>
      <p:sp>
        <p:nvSpPr>
          <p:cNvPr id="48" name="Rectangle 48"/>
          <p:cNvSpPr/>
          <p:nvPr/>
        </p:nvSpPr>
        <p:spPr>
          <a:xfrm>
            <a:off x="666750" y="4295775"/>
            <a:ext cx="24765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57238" y="4444841"/>
            <a:ext cx="150659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付款与费用审批｜RACI-015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3337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3424238" y="4444841"/>
            <a:ext cx="34271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429250" y="4295775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5519738" y="4444841"/>
            <a:ext cx="137662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生产/品质/营运咨询（C）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524750" y="4295775"/>
            <a:ext cx="152400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615238" y="4444841"/>
            <a:ext cx="3593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56" name="Rectangle 56"/>
          <p:cNvSpPr/>
          <p:nvPr/>
        </p:nvSpPr>
        <p:spPr>
          <a:xfrm>
            <a:off x="9239250" y="4295775"/>
            <a:ext cx="2381250" cy="590550"/>
          </a:xfrm>
          <a:prstGeom prst="roundRect">
            <a:avLst>
              <a:gd name="adj" fmla="val 9677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329738" y="4444841"/>
            <a:ext cx="162547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金额分级、超限/替代批准待确认</a:t>
            </a:r>
          </a:p>
        </p:txBody>
      </p:sp>
      <p:sp>
        <p:nvSpPr>
          <p:cNvPr id="58" name="Rectangle 58"/>
          <p:cNvSpPr/>
          <p:nvPr/>
        </p:nvSpPr>
        <p:spPr>
          <a:xfrm>
            <a:off x="666750" y="5191125"/>
            <a:ext cx="11049000" cy="80010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300435" y="5363528"/>
            <a:ext cx="578162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授权事实：仅列受控RACI明确的A/R；C=事前咨询（双向专业输入），不是“复核”。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787621" y="5638324"/>
            <a:ext cx="480725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边界：金额权限、付款分级、特殊放行及代理/替代批准人均待正式授权文件确认。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66738" y="6494145"/>
            <a:ext cx="499574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审批角色与RACI参与语义分栏；具体复核岗位未由源矩阵明确的，不推定为既有批准权。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12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越权与职责冲突处理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76948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先暂停、再升级、后决定、留痕关闭；冲突不能沿着原路径继续推进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1381125" y="1476375"/>
            <a:ext cx="8810625" cy="3810000"/>
            <a:chOff x="1381125" y="1476375"/>
            <a:chExt cx="8810625" cy="3810000"/>
          </a:xfrm>
        </p:grpSpPr>
        <p:sp>
          <p:nvSpPr>
            <p:cNvPr id="8" name="Freeform 8"/>
            <p:cNvSpPr/>
            <p:nvPr/>
          </p:nvSpPr>
          <p:spPr>
            <a:xfrm>
              <a:off x="2381250" y="1952625"/>
              <a:ext cx="7429500" cy="2857500"/>
            </a:xfrm>
            <a:custGeom>
              <a:avLst/>
              <a:gdLst/>
              <a:ahLst/>
              <a:cxnLst/>
              <a:rect l="l" t="t" r="r" b="b"/>
              <a:pathLst>
                <a:path w="7429500" h="2857500">
                  <a:moveTo>
                    <a:pt x="0" y="952500"/>
                  </a:moveTo>
                  <a:cubicBezTo>
                    <a:pt x="0" y="285750"/>
                    <a:pt x="952500" y="0"/>
                    <a:pt x="1714500" y="0"/>
                  </a:cubicBezTo>
                  <a:lnTo>
                    <a:pt x="5715000" y="0"/>
                  </a:lnTo>
                  <a:cubicBezTo>
                    <a:pt x="6667500" y="0"/>
                    <a:pt x="7429500" y="523875"/>
                    <a:pt x="7429500" y="1381125"/>
                  </a:cubicBezTo>
                  <a:cubicBezTo>
                    <a:pt x="7429500" y="2286000"/>
                    <a:pt x="6667500" y="2857500"/>
                    <a:pt x="5715000" y="2857500"/>
                  </a:cubicBezTo>
                  <a:lnTo>
                    <a:pt x="1714500" y="2857500"/>
                  </a:lnTo>
                  <a:cubicBezTo>
                    <a:pt x="762000" y="2857500"/>
                    <a:pt x="0" y="2286000"/>
                    <a:pt x="0" y="1524000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381250" y="3476625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714500" y="1333500"/>
                  </a:moveTo>
                  <a:cubicBezTo>
                    <a:pt x="762000" y="133350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81125" y="2571750"/>
              <a:ext cx="2000250" cy="952500"/>
              <a:chOff x="1381125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381125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281862" y="27755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27A21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90641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发现冲突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5439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事实、授权、责任不一致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14750" y="1476375"/>
              <a:ext cx="2095500" cy="952500"/>
              <a:chOff x="3714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714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63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D95C5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87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暂停动作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035647" y="222837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先隔离，不继续越权执行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381750" y="1476375"/>
              <a:ext cx="2095500" cy="952500"/>
              <a:chOff x="6381750" y="14763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381750" y="14763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30112" y="1680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805B12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54660" y="19459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升级判定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33902" y="2228374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提交事实与影响范围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0" y="2857500"/>
              <a:ext cx="2095500" cy="952500"/>
              <a:chOff x="8096250" y="285750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096250" y="285750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044612" y="30613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669160" y="33270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授权决定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48402" y="3609499"/>
                <a:ext cx="1191197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明确责任与处理边界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429250" y="4333875"/>
              <a:ext cx="2095500" cy="952500"/>
              <a:chOff x="5429250" y="4333875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429250" y="4333875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377612" y="4537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002160" y="4803458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留痕关闭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684520" y="5085874"/>
                <a:ext cx="1584960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记录决定、验证结果和复盘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381375" y="3048000"/>
              <a:ext cx="333375" cy="9525"/>
            </a:xfrm>
            <a:custGeom>
              <a:avLst/>
              <a:gdLst/>
              <a:ahLst/>
              <a:cxnLst/>
              <a:rect l="l" t="t" r="r" b="b"/>
              <a:pathLst>
                <a:path w="333375" h="9525">
                  <a:moveTo>
                    <a:pt x="0" y="0"/>
                  </a:moveTo>
                  <a:lnTo>
                    <a:pt x="333375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810250" y="19526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477250" y="2428875"/>
              <a:ext cx="666750" cy="428625"/>
            </a:xfrm>
            <a:custGeom>
              <a:avLst/>
              <a:gdLst/>
              <a:ahLst/>
              <a:cxnLst/>
              <a:rect l="l" t="t" r="r" b="b"/>
              <a:pathLst>
                <a:path w="666750" h="428625">
                  <a:moveTo>
                    <a:pt x="0" y="0"/>
                  </a:moveTo>
                  <a:cubicBezTo>
                    <a:pt x="381000" y="142875"/>
                    <a:pt x="571500" y="285750"/>
                    <a:pt x="6667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334250" y="381000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381000" y="333375"/>
                    <a:pt x="0" y="523875"/>
                    <a:pt x="190500" y="762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</p:grpSp>
      <p:sp>
        <p:nvSpPr>
          <p:cNvPr id="40" name="Freeform 40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80221" y="6050756"/>
            <a:ext cx="583155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红色虚线＝退回或再升级 实线＝正常闭环 每次冲突必须留下事实、决定和验证证据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94145"/>
            <a:ext cx="291731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任何未确认的权限，不得在流程图中被表达为既成授权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64378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13｜订单到交付总流程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五泳道端到端流程：责任主体、交接、决策和异常回路分开表达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870585"/>
            <a:ext cx="430118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阅读方向：左→右；泳道表示责任主体，跨泳道连线表示交接</a:t>
            </a:r>
          </a:p>
        </p:txBody>
      </p:sp>
      <p:sp>
        <p:nvSpPr>
          <p:cNvPr id="6" name="Rectangle 6"/>
          <p:cNvSpPr/>
          <p:nvPr/>
        </p:nvSpPr>
        <p:spPr>
          <a:xfrm>
            <a:off x="495300" y="11430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95300" y="11430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0FF"/>
          </a:solidFill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927735" y="146113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</a:t>
            </a:r>
          </a:p>
        </p:txBody>
      </p:sp>
      <p:sp>
        <p:nvSpPr>
          <p:cNvPr id="9" name="Rectangle 9"/>
          <p:cNvSpPr/>
          <p:nvPr/>
        </p:nvSpPr>
        <p:spPr>
          <a:xfrm>
            <a:off x="495300" y="19240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495300" y="19240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EAF7F4"/>
          </a:solidFill>
          <a:ln w="9525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846963" y="22421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营运部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95300" y="27051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95300" y="27051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2ECFF"/>
          </a:solidFill>
          <a:ln w="9525">
            <a:solidFill>
              <a:srgbClr val="D7E0EA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721766" y="30232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技术/工程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95300" y="348615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95300" y="348615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7DF"/>
          </a:solidFill>
          <a:ln w="9525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6963" y="38042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生产部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95300" y="4267200"/>
            <a:ext cx="11201400" cy="7810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495300" y="4267200"/>
            <a:ext cx="1200150" cy="781050"/>
          </a:xfrm>
          <a:prstGeom prst="roundRect">
            <a:avLst>
              <a:gd name="adj" fmla="val 4878"/>
            </a:avLst>
          </a:prstGeom>
          <a:solidFill>
            <a:srgbClr val="FFF2E7"/>
          </a:solidFill>
          <a:ln w="9525">
            <a:solidFill>
              <a:srgbClr val="D7E0EA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21766" y="4585335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品质/仓储</a:t>
            </a:r>
          </a:p>
        </p:txBody>
      </p:sp>
      <p:sp>
        <p:nvSpPr>
          <p:cNvPr id="21" name="Rectangle 21"/>
          <p:cNvSpPr/>
          <p:nvPr/>
        </p:nvSpPr>
        <p:spPr>
          <a:xfrm>
            <a:off x="1857375" y="13049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2087071" y="14839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需求/图纸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2385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5031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需求确认</a:t>
            </a:r>
          </a:p>
        </p:txBody>
      </p:sp>
      <p:sp>
        <p:nvSpPr>
          <p:cNvPr id="25" name="Rectangle 25"/>
          <p:cNvSpPr/>
          <p:nvPr/>
        </p:nvSpPr>
        <p:spPr>
          <a:xfrm>
            <a:off x="4619625" y="28670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657B8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4884306" y="304609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工程评审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000750" y="36480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6230446" y="382714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排产/制造</a:t>
            </a:r>
          </a:p>
        </p:txBody>
      </p:sp>
      <p:sp>
        <p:nvSpPr>
          <p:cNvPr id="29" name="Rectangle 29"/>
          <p:cNvSpPr/>
          <p:nvPr/>
        </p:nvSpPr>
        <p:spPr>
          <a:xfrm>
            <a:off x="7381875" y="442912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611571" y="4608195"/>
            <a:ext cx="5883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检验/入库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2085975"/>
            <a:ext cx="104775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2F6BF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9027681" y="2265045"/>
            <a:ext cx="51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交付确认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05125" y="15335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34" name="Freeform 34"/>
          <p:cNvSpPr/>
          <p:nvPr/>
        </p:nvSpPr>
        <p:spPr>
          <a:xfrm>
            <a:off x="4286250" y="23145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5" name="Freeform 35"/>
          <p:cNvSpPr/>
          <p:nvPr/>
        </p:nvSpPr>
        <p:spPr>
          <a:xfrm>
            <a:off x="5667375" y="309562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36" name="Freeform 36"/>
          <p:cNvSpPr/>
          <p:nvPr/>
        </p:nvSpPr>
        <p:spPr>
          <a:xfrm>
            <a:off x="7048500" y="3876675"/>
            <a:ext cx="333375" cy="781050"/>
          </a:xfrm>
          <a:custGeom>
            <a:avLst/>
            <a:gdLst/>
            <a:ahLst/>
            <a:cxnLst/>
            <a:rect l="l" t="t" r="r" b="b"/>
            <a:pathLst>
              <a:path w="333375" h="781050">
                <a:moveTo>
                  <a:pt x="0" y="0"/>
                </a:moveTo>
                <a:cubicBezTo>
                  <a:pt x="190500" y="0"/>
                  <a:pt x="142875" y="781050"/>
                  <a:pt x="333375" y="781050"/>
                </a:cubicBez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7" name="Freeform 37"/>
          <p:cNvSpPr/>
          <p:nvPr/>
        </p:nvSpPr>
        <p:spPr>
          <a:xfrm>
            <a:off x="8429625" y="2314575"/>
            <a:ext cx="333375" cy="2343150"/>
          </a:xfrm>
          <a:custGeom>
            <a:avLst/>
            <a:gdLst/>
            <a:ahLst/>
            <a:cxnLst/>
            <a:rect l="l" t="t" r="r" b="b"/>
            <a:pathLst>
              <a:path w="333375" h="2343150">
                <a:moveTo>
                  <a:pt x="0" y="2343150"/>
                </a:moveTo>
                <a:cubicBezTo>
                  <a:pt x="190500" y="2343150"/>
                  <a:pt x="142875" y="0"/>
                  <a:pt x="333375" y="0"/>
                </a:cubicBez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8" name="Polygon 38"/>
          <p:cNvSpPr/>
          <p:nvPr/>
        </p:nvSpPr>
        <p:spPr>
          <a:xfrm>
            <a:off x="9525000" y="3638550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666750" h="666750">
                <a:moveTo>
                  <a:pt x="333375" y="0"/>
                </a:moveTo>
                <a:lnTo>
                  <a:pt x="666750" y="333375"/>
                </a:lnTo>
                <a:lnTo>
                  <a:pt x="333375" y="666750"/>
                </a:lnTo>
                <a:lnTo>
                  <a:pt x="0" y="33337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9690735" y="3813810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是否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646310" y="394716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放行?</a:t>
            </a:r>
          </a:p>
        </p:txBody>
      </p:sp>
      <p:sp>
        <p:nvSpPr>
          <p:cNvPr id="41" name="Freeform 41"/>
          <p:cNvSpPr/>
          <p:nvPr/>
        </p:nvSpPr>
        <p:spPr>
          <a:xfrm>
            <a:off x="9810750" y="2314575"/>
            <a:ext cx="47625" cy="1323975"/>
          </a:xfrm>
          <a:custGeom>
            <a:avLst/>
            <a:gdLst/>
            <a:ahLst/>
            <a:cxnLst/>
            <a:rect l="l" t="t" r="r" b="b"/>
            <a:pathLst>
              <a:path w="47625" h="1323975">
                <a:moveTo>
                  <a:pt x="0" y="0"/>
                </a:moveTo>
                <a:lnTo>
                  <a:pt x="47625" y="1323975"/>
                </a:lnTo>
              </a:path>
            </a:pathLst>
          </a:cu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42" name="Freeform 42"/>
          <p:cNvSpPr/>
          <p:nvPr/>
        </p:nvSpPr>
        <p:spPr>
          <a:xfrm>
            <a:off x="4000500" y="3876675"/>
            <a:ext cx="5524500" cy="1838325"/>
          </a:xfrm>
          <a:custGeom>
            <a:avLst/>
            <a:gdLst/>
            <a:ahLst/>
            <a:cxnLst/>
            <a:rect l="l" t="t" r="r" b="b"/>
            <a:pathLst>
              <a:path w="5524500" h="1838325">
                <a:moveTo>
                  <a:pt x="5524500" y="95250"/>
                </a:moveTo>
                <a:cubicBezTo>
                  <a:pt x="5048250" y="1409700"/>
                  <a:pt x="4095750" y="1838325"/>
                  <a:pt x="2190750" y="1838325"/>
                </a:cubicBezTo>
                <a:cubicBezTo>
                  <a:pt x="476250" y="1838325"/>
                  <a:pt x="0" y="1076325"/>
                  <a:pt x="95250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43" name="TextBox 43"/>
          <p:cNvSpPr txBox="1"/>
          <p:nvPr/>
        </p:nvSpPr>
        <p:spPr>
          <a:xfrm>
            <a:off x="7232904" y="5737860"/>
            <a:ext cx="39296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异常：隔离/补充资料/升级评审 → 回到工程或制造确认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10287000" y="1143000"/>
            <a:ext cx="14097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10423779" y="1251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证据节点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3779" y="148971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订单/图纸版本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423779" y="169926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评审记录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423779" y="1908810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检验记录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423779" y="2118360"/>
            <a:ext cx="12076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· 放行/交付记录</a:t>
            </a:r>
          </a:p>
        </p:txBody>
      </p:sp>
      <p:sp>
        <p:nvSpPr>
          <p:cNvPr id="50" name="Line 5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14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订单与变更控制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577650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口头变化必须转化为受控评审；批准、拒绝和旧版隔离都要有证据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41" name="Group 41"/>
          <p:cNvGrpSpPr/>
          <p:nvPr/>
        </p:nvGrpSpPr>
        <p:grpSpPr>
          <a:xfrm>
            <a:off x="1190625" y="1381125"/>
            <a:ext cx="9239250" cy="4095750"/>
            <a:chOff x="1190625" y="1381125"/>
            <a:chExt cx="9239250" cy="4095750"/>
          </a:xfrm>
        </p:grpSpPr>
        <p:sp>
          <p:nvSpPr>
            <p:cNvPr id="8" name="Freeform 8"/>
            <p:cNvSpPr/>
            <p:nvPr/>
          </p:nvSpPr>
          <p:spPr>
            <a:xfrm>
              <a:off x="2238375" y="1857375"/>
              <a:ext cx="7524750" cy="3095625"/>
            </a:xfrm>
            <a:custGeom>
              <a:avLst/>
              <a:gdLst/>
              <a:ahLst/>
              <a:cxnLst/>
              <a:rect l="l" t="t" r="r" b="b"/>
              <a:pathLst>
                <a:path w="7524750" h="3095625">
                  <a:moveTo>
                    <a:pt x="0" y="1000125"/>
                  </a:moveTo>
                  <a:cubicBezTo>
                    <a:pt x="0" y="238125"/>
                    <a:pt x="904875" y="0"/>
                    <a:pt x="1762125" y="0"/>
                  </a:cubicBezTo>
                  <a:lnTo>
                    <a:pt x="5381625" y="0"/>
                  </a:lnTo>
                  <a:cubicBezTo>
                    <a:pt x="6619875" y="0"/>
                    <a:pt x="7524750" y="666750"/>
                    <a:pt x="7524750" y="1571625"/>
                  </a:cubicBezTo>
                  <a:cubicBezTo>
                    <a:pt x="7524750" y="2476500"/>
                    <a:pt x="6619875" y="3095625"/>
                    <a:pt x="5381625" y="3095625"/>
                  </a:cubicBezTo>
                  <a:lnTo>
                    <a:pt x="1762125" y="3095625"/>
                  </a:lnTo>
                  <a:cubicBezTo>
                    <a:pt x="904875" y="3095625"/>
                    <a:pt x="0" y="2619375"/>
                    <a:pt x="0" y="1857375"/>
                  </a:cubicBezTo>
                </a:path>
              </a:pathLst>
            </a:custGeom>
            <a:noFill/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9" name="Freeform 9"/>
            <p:cNvSpPr/>
            <p:nvPr/>
          </p:nvSpPr>
          <p:spPr>
            <a:xfrm>
              <a:off x="2238375" y="3714750"/>
              <a:ext cx="1762125" cy="1238250"/>
            </a:xfrm>
            <a:custGeom>
              <a:avLst/>
              <a:gdLst/>
              <a:ahLst/>
              <a:cxnLst/>
              <a:rect l="l" t="t" r="r" b="b"/>
              <a:pathLst>
                <a:path w="1762125" h="1238250">
                  <a:moveTo>
                    <a:pt x="1762125" y="1238250"/>
                  </a:moveTo>
                  <a:cubicBezTo>
                    <a:pt x="809625" y="1238250"/>
                    <a:pt x="0" y="762000"/>
                    <a:pt x="0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2619375"/>
              <a:ext cx="2095500" cy="1047750"/>
              <a:chOff x="1190625" y="26193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0" name="Freeform 10"/>
              <p:cNvSpPr/>
              <p:nvPr/>
            </p:nvSpPr>
            <p:spPr>
              <a:xfrm>
                <a:off x="1190625" y="26193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2138987" y="28232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01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63535" y="30794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需求登记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577149" y="33713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来源、版本、影响范围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667125" y="1381125"/>
              <a:ext cx="2095500" cy="1047750"/>
              <a:chOff x="366712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366712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61548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0035" y="1841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影响评估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88022" y="2133124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交期、成本、质量、资源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429375" y="1381125"/>
              <a:ext cx="2095500" cy="1047750"/>
              <a:chOff x="6429375" y="1381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29375" y="1381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377737" y="1584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C56A25"/>
                    </a:solidFill>
                    <a:latin typeface="Arial"/>
                    <a:ea typeface="Arial"/>
                    <a:cs typeface="Arial"/>
                  </a:rPr>
                  <a:t>03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868178" y="1841182"/>
                <a:ext cx="1217894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 / 拒绝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15900" y="2133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授权节点，不默认通过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34375" y="2809875"/>
              <a:ext cx="2095500" cy="1047750"/>
              <a:chOff x="8334375" y="280987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5" name="Freeform 25"/>
              <p:cNvSpPr/>
              <p:nvPr/>
            </p:nvSpPr>
            <p:spPr>
              <a:xfrm>
                <a:off x="8334375" y="280987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19050">
                <a:solidFill>
                  <a:srgbClr val="7657B8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9282737" y="301371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7657B8"/>
                    </a:solidFill>
                    <a:latin typeface="Arial"/>
                    <a:ea typeface="Arial"/>
                    <a:cs typeface="Arial"/>
                  </a:rPr>
                  <a:t>04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907285" y="32699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更新版本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20900" y="356187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发布新版本并回收旧版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810250" y="4429125"/>
              <a:ext cx="2095500" cy="1047750"/>
              <a:chOff x="5810250" y="4429125"/>
              <a:chExt cx="2095500" cy="1047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0" name="Freeform 30"/>
              <p:cNvSpPr/>
              <p:nvPr/>
            </p:nvSpPr>
            <p:spPr>
              <a:xfrm>
                <a:off x="5810250" y="4429125"/>
                <a:ext cx="2095500" cy="1047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04775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876300"/>
                    </a:lnTo>
                    <a:cubicBezTo>
                      <a:pt x="2095500" y="970989"/>
                      <a:pt x="2018739" y="1047750"/>
                      <a:pt x="1924050" y="1047750"/>
                    </a:cubicBezTo>
                    <a:lnTo>
                      <a:pt x="171450" y="1047750"/>
                    </a:lnTo>
                    <a:cubicBezTo>
                      <a:pt x="76761" y="1047750"/>
                      <a:pt x="0" y="970989"/>
                      <a:pt x="0" y="87630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8612" y="4632960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05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383160" y="48891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验证关闭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96774" y="5181124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确认变更已生效并留痕</a:t>
                </a:r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3286125" y="3143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6" name="Freeform 36"/>
            <p:cNvSpPr/>
            <p:nvPr/>
          </p:nvSpPr>
          <p:spPr>
            <a:xfrm>
              <a:off x="5762625" y="1905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7" name="Freeform 37"/>
            <p:cNvSpPr/>
            <p:nvPr/>
          </p:nvSpPr>
          <p:spPr>
            <a:xfrm>
              <a:off x="8524875" y="2381250"/>
              <a:ext cx="857250" cy="428625"/>
            </a:xfrm>
            <a:custGeom>
              <a:avLst/>
              <a:gdLst/>
              <a:ahLst/>
              <a:cxnLst/>
              <a:rect l="l" t="t" r="r" b="b"/>
              <a:pathLst>
                <a:path w="857250" h="428625">
                  <a:moveTo>
                    <a:pt x="0" y="0"/>
                  </a:moveTo>
                  <a:cubicBezTo>
                    <a:pt x="523875" y="95250"/>
                    <a:pt x="809625" y="238125"/>
                    <a:pt x="857250" y="428625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8" name="Freeform 38"/>
            <p:cNvSpPr/>
            <p:nvPr/>
          </p:nvSpPr>
          <p:spPr>
            <a:xfrm>
              <a:off x="7572375" y="3857625"/>
              <a:ext cx="762000" cy="857250"/>
            </a:xfrm>
            <a:custGeom>
              <a:avLst/>
              <a:gdLst/>
              <a:ahLst/>
              <a:cxnLst/>
              <a:rect l="l" t="t" r="r" b="b"/>
              <a:pathLst>
                <a:path w="762000" h="857250">
                  <a:moveTo>
                    <a:pt x="762000" y="0"/>
                  </a:moveTo>
                  <a:cubicBezTo>
                    <a:pt x="428625" y="333375"/>
                    <a:pt x="0" y="571500"/>
                    <a:pt x="47625" y="85725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sp>
          <p:nvSpPr>
            <p:cNvPr id="39" name="Freeform 39"/>
            <p:cNvSpPr/>
            <p:nvPr/>
          </p:nvSpPr>
          <p:spPr>
            <a:xfrm>
              <a:off x="5667375" y="2381250"/>
              <a:ext cx="762000" cy="714375"/>
            </a:xfrm>
            <a:custGeom>
              <a:avLst/>
              <a:gdLst/>
              <a:ahLst/>
              <a:cxnLst/>
              <a:rect l="l" t="t" r="r" b="b"/>
              <a:pathLst>
                <a:path w="762000" h="714375">
                  <a:moveTo>
                    <a:pt x="762000" y="0"/>
                  </a:moveTo>
                  <a:cubicBezTo>
                    <a:pt x="381000" y="238125"/>
                    <a:pt x="142875" y="428625"/>
                    <a:pt x="0" y="714375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50000" sp="175000"/>
              </a:custDash>
              <a:tailEnd type="triangle" w="lg" len="lg"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328666" y="2791778"/>
              <a:ext cx="10213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拒绝 / 退回补充</a:t>
              </a:r>
            </a:p>
          </p:txBody>
        </p:sp>
      </p:grpSp>
      <p:sp>
        <p:nvSpPr>
          <p:cNvPr id="42" name="Freeform 42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458506" y="6050756"/>
            <a:ext cx="5274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变更不是“改一处文字”：必须评估影响、冻结版本、回收旧版，再验证关闭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6738" y="6494145"/>
            <a:ext cx="368061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红色虚线＝拒绝或退回 回环＝变更后仍需回到验证，而不是直达结束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生产计划与任务下达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653681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开工前确认产品、资源、交期和受控版本；条件不满足时必须回到补充与升级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8" name="Group 38"/>
          <p:cNvGrpSpPr/>
          <p:nvPr/>
        </p:nvGrpSpPr>
        <p:grpSpPr>
          <a:xfrm>
            <a:off x="857250" y="2333625"/>
            <a:ext cx="10572750" cy="3162300"/>
            <a:chOff x="857250" y="2333625"/>
            <a:chExt cx="10572750" cy="3162300"/>
          </a:xfrm>
        </p:grpSpPr>
        <p:grpSp>
          <p:nvGrpSpPr>
            <p:cNvPr id="12" name="Group 12"/>
            <p:cNvGrpSpPr/>
            <p:nvPr/>
          </p:nvGrpSpPr>
          <p:grpSpPr>
            <a:xfrm>
              <a:off x="857250" y="2571750"/>
              <a:ext cx="2000250" cy="952500"/>
              <a:chOff x="8572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8" name="Freeform 8"/>
              <p:cNvSpPr/>
              <p:nvPr/>
            </p:nvSpPr>
            <p:spPr>
              <a:xfrm>
                <a:off x="8572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627251" y="2775585"/>
                <a:ext cx="46024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INPUT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825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订单输入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0522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产品、数量、交期、版本</a:t>
                </a:r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57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714750" y="2571750"/>
              <a:ext cx="2095500" cy="952500"/>
              <a:chOff x="3714750" y="2571750"/>
              <a:chExt cx="209550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4" name="Freeform 14"/>
              <p:cNvSpPr/>
              <p:nvPr/>
            </p:nvSpPr>
            <p:spPr>
              <a:xfrm>
                <a:off x="3714750" y="2571750"/>
                <a:ext cx="209550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952500">
                    <a:moveTo>
                      <a:pt x="171450" y="0"/>
                    </a:moveTo>
                    <a:lnTo>
                      <a:pt x="1924050" y="0"/>
                    </a:lnTo>
                    <a:cubicBezTo>
                      <a:pt x="2018739" y="0"/>
                      <a:pt x="2095500" y="76761"/>
                      <a:pt x="2095500" y="171450"/>
                    </a:cubicBezTo>
                    <a:lnTo>
                      <a:pt x="2095500" y="781050"/>
                    </a:lnTo>
                    <a:cubicBezTo>
                      <a:pt x="2095500" y="875739"/>
                      <a:pt x="2018739" y="952500"/>
                      <a:pt x="192405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509973" y="2775585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1C9C8C"/>
                    </a:solidFill>
                    <a:latin typeface="Arial"/>
                    <a:ea typeface="Arial"/>
                    <a:cs typeface="Arial"/>
                  </a:rPr>
                  <a:t>CHECK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287660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035647" y="3323749"/>
                <a:ext cx="1453706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产能、物料、模具、人员</a:t>
                </a:r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5810250" y="3048000"/>
              <a:ext cx="809625" cy="9525"/>
            </a:xfrm>
            <a:custGeom>
              <a:avLst/>
              <a:gdLst/>
              <a:ahLst/>
              <a:cxnLst/>
              <a:rect l="l" t="t" r="r" b="b"/>
              <a:pathLst>
                <a:path w="809625" h="9525">
                  <a:moveTo>
                    <a:pt x="0" y="0"/>
                  </a:moveTo>
                  <a:lnTo>
                    <a:pt x="809625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477000" y="2333625"/>
              <a:ext cx="2095500" cy="1428750"/>
              <a:chOff x="6477000" y="2333625"/>
              <a:chExt cx="2095500" cy="14287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0" name="Freeform 20"/>
              <p:cNvSpPr/>
              <p:nvPr/>
            </p:nvSpPr>
            <p:spPr>
              <a:xfrm>
                <a:off x="6477000" y="2333625"/>
                <a:ext cx="209550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1428750">
                    <a:moveTo>
                      <a:pt x="1047750" y="0"/>
                    </a:moveTo>
                    <a:lnTo>
                      <a:pt x="2095500" y="714375"/>
                    </a:lnTo>
                    <a:lnTo>
                      <a:pt x="1047750" y="1428750"/>
                    </a:lnTo>
                    <a:lnTo>
                      <a:pt x="0" y="714375"/>
                    </a:lnTo>
                    <a:close/>
                  </a:path>
                </a:pathLst>
              </a:custGeom>
              <a:solidFill>
                <a:srgbClr val="FFF7DF"/>
              </a:solidFill>
              <a:ln w="28575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87064" y="28384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条件满足？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060406" y="313324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是否可按期执行</a:t>
                </a:r>
              </a:p>
            </p:txBody>
          </p:sp>
        </p:grpSp>
        <p:sp>
          <p:nvSpPr>
            <p:cNvPr id="24" name="Freeform 24"/>
            <p:cNvSpPr/>
            <p:nvPr/>
          </p:nvSpPr>
          <p:spPr>
            <a:xfrm>
              <a:off x="8572500" y="304800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solidFill>
              <a:srgbClr val="000000"/>
            </a:solidFill>
            <a:ln w="47625">
              <a:solidFill>
                <a:srgbClr val="8091A5"/>
              </a:solidFill>
              <a:tailEnd type="triangle" w="lg" len="lg"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900541" y="2791778"/>
              <a:ext cx="1590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429750" y="2571750"/>
              <a:ext cx="2000250" cy="952500"/>
              <a:chOff x="9429750" y="2571750"/>
              <a:chExt cx="2000250" cy="9525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6" name="Freeform 26"/>
              <p:cNvSpPr/>
              <p:nvPr/>
            </p:nvSpPr>
            <p:spPr>
              <a:xfrm>
                <a:off x="9429750" y="2571750"/>
                <a:ext cx="2000250" cy="952500"/>
              </a:xfrm>
              <a:custGeom>
                <a:avLst/>
                <a:gdLst/>
                <a:ahLst/>
                <a:cxnLst/>
                <a:rect l="l" t="t" r="r" b="b"/>
                <a:pathLst>
                  <a:path w="2000250" h="952500">
                    <a:moveTo>
                      <a:pt x="171450" y="0"/>
                    </a:moveTo>
                    <a:lnTo>
                      <a:pt x="1828800" y="0"/>
                    </a:lnTo>
                    <a:cubicBezTo>
                      <a:pt x="1923489" y="0"/>
                      <a:pt x="2000250" y="76761"/>
                      <a:pt x="2000250" y="171450"/>
                    </a:cubicBezTo>
                    <a:lnTo>
                      <a:pt x="2000250" y="781050"/>
                    </a:lnTo>
                    <a:cubicBezTo>
                      <a:pt x="2000250" y="875739"/>
                      <a:pt x="1923489" y="952500"/>
                      <a:pt x="1828800" y="952500"/>
                    </a:cubicBezTo>
                    <a:lnTo>
                      <a:pt x="171450" y="952500"/>
                    </a:lnTo>
                    <a:cubicBezTo>
                      <a:pt x="76761" y="952500"/>
                      <a:pt x="0" y="875739"/>
                      <a:pt x="0" y="7810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078776" y="277558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2F6BFF"/>
                    </a:solidFill>
                    <a:latin typeface="Arial"/>
                    <a:ea typeface="Arial"/>
                    <a:cs typeface="Arial"/>
                  </a:rPr>
                  <a:t>RELEASE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955035" y="304133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任务发布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768650" y="33237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受控版本、责任、节点</a:t>
                </a:r>
              </a:p>
            </p:txBody>
          </p:sp>
        </p:grpSp>
        <p:sp>
          <p:nvSpPr>
            <p:cNvPr id="31" name="Freeform 31"/>
            <p:cNvSpPr/>
            <p:nvPr/>
          </p:nvSpPr>
          <p:spPr>
            <a:xfrm>
              <a:off x="4429125" y="3524250"/>
              <a:ext cx="3095625" cy="1762125"/>
            </a:xfrm>
            <a:custGeom>
              <a:avLst/>
              <a:gdLst/>
              <a:ahLst/>
              <a:cxnLst/>
              <a:rect l="l" t="t" r="r" b="b"/>
              <a:pathLst>
                <a:path w="3095625" h="1762125">
                  <a:moveTo>
                    <a:pt x="3095625" y="238125"/>
                  </a:moveTo>
                  <a:cubicBezTo>
                    <a:pt x="3095625" y="1238250"/>
                    <a:pt x="1381125" y="1762125"/>
                    <a:pt x="333375" y="762000"/>
                  </a:cubicBezTo>
                  <a:cubicBezTo>
                    <a:pt x="0" y="428625"/>
                    <a:pt x="47625" y="142875"/>
                    <a:pt x="333375" y="0"/>
                  </a:cubicBezTo>
                </a:path>
              </a:pathLst>
            </a:custGeom>
            <a:noFill/>
            <a:ln w="47625">
              <a:solidFill>
                <a:srgbClr val="D95C5C"/>
              </a:solidFill>
              <a:custDash>
                <a:ds d="240000" sp="160000"/>
              </a:custDash>
              <a:tailEnd type="triangle" w="lg" len="lg"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33541" y="4839652"/>
              <a:ext cx="268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否：形成风险清单，补充资源或升级承诺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000500" y="4810125"/>
              <a:ext cx="2190750" cy="685800"/>
              <a:chOff x="4000500" y="4810125"/>
              <a:chExt cx="2190750" cy="68580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33" name="Freeform 33"/>
              <p:cNvSpPr/>
              <p:nvPr/>
            </p:nvSpPr>
            <p:spPr>
              <a:xfrm>
                <a:off x="4000500" y="4810125"/>
                <a:ext cx="219075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90750" h="685800">
                    <a:moveTo>
                      <a:pt x="171450" y="0"/>
                    </a:moveTo>
                    <a:lnTo>
                      <a:pt x="2019300" y="0"/>
                    </a:lnTo>
                    <a:cubicBezTo>
                      <a:pt x="2113989" y="0"/>
                      <a:pt x="2190750" y="76761"/>
                      <a:pt x="2190750" y="171450"/>
                    </a:cubicBezTo>
                    <a:lnTo>
                      <a:pt x="2190750" y="514350"/>
                    </a:lnTo>
                    <a:cubicBezTo>
                      <a:pt x="2190750" y="609039"/>
                      <a:pt x="2113989" y="685800"/>
                      <a:pt x="2019300" y="685800"/>
                    </a:cubicBezTo>
                    <a:lnTo>
                      <a:pt x="171450" y="685800"/>
                    </a:lnTo>
                    <a:cubicBezTo>
                      <a:pt x="76761" y="685800"/>
                      <a:pt x="0" y="609039"/>
                      <a:pt x="0" y="514350"/>
                    </a:cubicBezTo>
                    <a:lnTo>
                      <a:pt x="0" y="171450"/>
                    </a:lnTo>
                    <a:cubicBezTo>
                      <a:pt x="0" y="76761"/>
                      <a:pt x="76761" y="0"/>
                      <a:pt x="171450" y="0"/>
                    </a:cubicBezTo>
                    <a:close/>
                  </a:path>
                </a:pathLst>
              </a:custGeom>
              <a:solidFill>
                <a:srgbClr val="FFF0F0"/>
              </a:solidFill>
              <a:ln w="19050">
                <a:solidFill>
                  <a:srgbClr val="D95C5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69966" y="4961096"/>
                <a:ext cx="1051818" cy="27870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反馈 / 升级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727638" y="5217795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不得直接开工</a:t>
                </a:r>
              </a:p>
            </p:txBody>
          </p:sp>
        </p:grpSp>
        <p:sp>
          <p:nvSpPr>
            <p:cNvPr id="37" name="Freeform 37"/>
            <p:cNvSpPr/>
            <p:nvPr/>
          </p:nvSpPr>
          <p:spPr>
            <a:xfrm>
              <a:off x="3143250" y="3048000"/>
              <a:ext cx="857250" cy="2105025"/>
            </a:xfrm>
            <a:custGeom>
              <a:avLst/>
              <a:gdLst/>
              <a:ahLst/>
              <a:cxnLst/>
              <a:rect l="l" t="t" r="r" b="b"/>
              <a:pathLst>
                <a:path w="857250" h="2105025">
                  <a:moveTo>
                    <a:pt x="857250" y="2105025"/>
                  </a:moveTo>
                  <a:cubicBezTo>
                    <a:pt x="95250" y="1714500"/>
                    <a:pt x="0" y="571500"/>
                    <a:pt x="571500" y="0"/>
                  </a:cubicBezTo>
                </a:path>
              </a:pathLst>
            </a:custGeom>
            <a:noFill/>
            <a:ln w="38100">
              <a:solidFill>
                <a:srgbClr val="D95C5C"/>
              </a:solidFill>
              <a:custDash>
                <a:ds d="225000" sp="175000"/>
              </a:custDash>
              <a:tailEnd type="triangle" w="lg" len="lg"/>
            </a:ln>
          </p:spPr>
        </p:sp>
      </p:grpSp>
      <p:sp>
        <p:nvSpPr>
          <p:cNvPr id="39" name="Freeform 39"/>
          <p:cNvSpPr/>
          <p:nvPr/>
        </p:nvSpPr>
        <p:spPr>
          <a:xfrm>
            <a:off x="1143000" y="5905500"/>
            <a:ext cx="9906000" cy="419100"/>
          </a:xfrm>
          <a:custGeom>
            <a:avLst/>
            <a:gdLst/>
            <a:ahLst/>
            <a:cxnLst/>
            <a:rect l="l" t="t" r="r" b="b"/>
            <a:pathLst>
              <a:path w="9906000" h="419100">
                <a:moveTo>
                  <a:pt x="209550" y="0"/>
                </a:moveTo>
                <a:lnTo>
                  <a:pt x="9696450" y="0"/>
                </a:lnTo>
                <a:cubicBezTo>
                  <a:pt x="9812181" y="0"/>
                  <a:pt x="9906000" y="93819"/>
                  <a:pt x="9906000" y="209550"/>
                </a:cubicBezTo>
                <a:lnTo>
                  <a:pt x="9906000" y="209550"/>
                </a:lnTo>
                <a:cubicBezTo>
                  <a:pt x="9906000" y="325281"/>
                  <a:pt x="9812181" y="419100"/>
                  <a:pt x="9696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3657281" y="6050756"/>
            <a:ext cx="487743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实线＝正常放行 红色虚线＝资源不足或风险升级 菱形＝开工决策闸口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352310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任务发布前必须完成能力确认；交期承诺不能绕过资源与版本检查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57022" y="457200"/>
            <a:ext cx="10872978" cy="988028"/>
            <a:chOff x="557022" y="457200"/>
            <a:chExt cx="10872978" cy="988028"/>
          </a:xfrm>
        </p:grpSpPr>
        <p:sp>
          <p:nvSpPr>
            <p:cNvPr id="4" name="TextBox 4"/>
            <p:cNvSpPr txBox="1"/>
            <p:nvPr/>
          </p:nvSpPr>
          <p:spPr>
            <a:xfrm>
              <a:off x="566166" y="477202"/>
              <a:ext cx="3154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16 / GOVERNANCE · SEGREGATION OF DUTIES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22" y="721042"/>
              <a:ext cx="687741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采购到付款：职责分离，资料相互核对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5023" y="1195864"/>
              <a:ext cx="44756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采购申请、下单、收货、对账和付款不由同一角色单独完成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0001250" y="457200"/>
              <a:ext cx="1428750" cy="381000"/>
            </a:xfrm>
            <a:custGeom>
              <a:avLst/>
              <a:gdLst/>
              <a:ahLst/>
              <a:cxnLst/>
              <a:rect l="l" t="t" r="r" b="b"/>
              <a:pathLst>
                <a:path w="1428750" h="381000">
                  <a:moveTo>
                    <a:pt x="190500" y="0"/>
                  </a:moveTo>
                  <a:lnTo>
                    <a:pt x="1238250" y="0"/>
                  </a:lnTo>
                  <a:cubicBezTo>
                    <a:pt x="1343460" y="0"/>
                    <a:pt x="1428750" y="85290"/>
                    <a:pt x="1428750" y="190500"/>
                  </a:cubicBezTo>
                  <a:lnTo>
                    <a:pt x="1428750" y="190500"/>
                  </a:lnTo>
                  <a:cubicBezTo>
                    <a:pt x="1428750" y="295710"/>
                    <a:pt x="1343460" y="381000"/>
                    <a:pt x="1238250" y="381000"/>
                  </a:cubicBezTo>
                  <a:lnTo>
                    <a:pt x="190500" y="381000"/>
                  </a:lnTo>
                  <a:cubicBezTo>
                    <a:pt x="85290" y="381000"/>
                    <a:pt x="0" y="295710"/>
                    <a:pt x="0" y="1905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265035" y="59150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职责分离示例</a:t>
              </a:r>
            </a:p>
          </p:txBody>
        </p:sp>
      </p:grpSp>
      <p:sp>
        <p:nvSpPr>
          <p:cNvPr id="10" name="Line 10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571500" y="1809750"/>
            <a:ext cx="1428750" cy="3124200"/>
            <a:chOff x="571500" y="1809750"/>
            <a:chExt cx="1428750" cy="3124200"/>
          </a:xfrm>
        </p:grpSpPr>
        <p:sp>
          <p:nvSpPr>
            <p:cNvPr id="11" name="Freeform 11"/>
            <p:cNvSpPr/>
            <p:nvPr/>
          </p:nvSpPr>
          <p:spPr>
            <a:xfrm>
              <a:off x="571500" y="18097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62120" y="2012156"/>
              <a:ext cx="647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需求部门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8218" y="22745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提出与验收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71500" y="25908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91174" y="27932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采购 / 营运部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8218" y="30556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询价与下单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337185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0684" y="3574256"/>
              <a:ext cx="8303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仓储 / 收货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8218" y="383667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数量与状态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571500" y="41529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14300" y="0"/>
                  </a:moveTo>
                  <a:lnTo>
                    <a:pt x="1314450" y="0"/>
                  </a:lnTo>
                  <a:cubicBezTo>
                    <a:pt x="1377576" y="0"/>
                    <a:pt x="1428750" y="51174"/>
                    <a:pt x="1428750" y="114300"/>
                  </a:cubicBezTo>
                  <a:lnTo>
                    <a:pt x="1428750" y="666750"/>
                  </a:lnTo>
                  <a:cubicBezTo>
                    <a:pt x="1428750" y="729876"/>
                    <a:pt x="1377576" y="781050"/>
                    <a:pt x="1314450" y="781050"/>
                  </a:cubicBezTo>
                  <a:lnTo>
                    <a:pt x="114300" y="781050"/>
                  </a:lnTo>
                  <a:cubicBezTo>
                    <a:pt x="51174" y="781050"/>
                    <a:pt x="0" y="729876"/>
                    <a:pt x="0" y="666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91174" y="4355306"/>
              <a:ext cx="9894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财务 / 授权人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8218" y="4617720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核对与付款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190750" y="1809750"/>
            <a:ext cx="9239250" cy="3124200"/>
            <a:chOff x="2190750" y="1809750"/>
            <a:chExt cx="9239250" cy="3124200"/>
          </a:xfrm>
        </p:grpSpPr>
        <p:sp>
          <p:nvSpPr>
            <p:cNvPr id="24" name="Rectangle 24"/>
            <p:cNvSpPr/>
            <p:nvPr/>
          </p:nvSpPr>
          <p:spPr>
            <a:xfrm>
              <a:off x="2190750" y="1809750"/>
              <a:ext cx="9239250" cy="781050"/>
            </a:xfrm>
            <a:prstGeom prst="rect">
              <a:avLst/>
            </a:prstGeom>
            <a:solidFill>
              <a:srgbClr val="FBFCFE"/>
            </a:solidFill>
            <a:ln w="9525">
              <a:solidFill>
                <a:srgbClr val="E1E7F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190750" y="2590800"/>
              <a:ext cx="9239250" cy="781050"/>
            </a:xfrm>
            <a:prstGeom prst="rect">
              <a:avLst/>
            </a:prstGeom>
            <a:solidFill>
              <a:srgbClr val="F8FCFB"/>
            </a:solidFill>
            <a:ln w="9525">
              <a:solidFill>
                <a:srgbClr val="E1E7F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2190750" y="3371850"/>
              <a:ext cx="9239250" cy="781050"/>
            </a:xfrm>
            <a:prstGeom prst="rect">
              <a:avLst/>
            </a:prstGeom>
            <a:solidFill>
              <a:srgbClr val="FFFBF7"/>
            </a:solidFill>
            <a:ln w="9525">
              <a:solidFill>
                <a:srgbClr val="E1E7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190750" y="4152900"/>
              <a:ext cx="9239250" cy="781050"/>
            </a:xfrm>
            <a:prstGeom prst="rect">
              <a:avLst/>
            </a:prstGeom>
            <a:solidFill>
              <a:srgbClr val="FBF9FF"/>
            </a:solidFill>
            <a:ln w="9525">
              <a:solidFill>
                <a:srgbClr val="E1E7F0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2190750" y="1809750"/>
              <a:ext cx="9525" cy="3124200"/>
            </a:xfrm>
            <a:custGeom>
              <a:avLst/>
              <a:gdLst/>
              <a:ahLst/>
              <a:cxnLst/>
              <a:rect l="l" t="t" r="r" b="b"/>
              <a:pathLst>
                <a:path w="9525" h="3124200">
                  <a:moveTo>
                    <a:pt x="0" y="0"/>
                  </a:moveTo>
                  <a:lnTo>
                    <a:pt x="0" y="3124200"/>
                  </a:lnTo>
                </a:path>
              </a:pathLst>
            </a:custGeom>
            <a:noFill/>
            <a:ln w="19050">
              <a:solidFill>
                <a:srgbClr val="D5DDE8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3381375" y="2200275"/>
            <a:ext cx="6334125" cy="2343150"/>
            <a:chOff x="3381375" y="2200275"/>
            <a:chExt cx="6334125" cy="2343150"/>
          </a:xfrm>
        </p:grpSpPr>
        <p:sp>
          <p:nvSpPr>
            <p:cNvPr id="30" name="Freeform 30"/>
            <p:cNvSpPr/>
            <p:nvPr/>
          </p:nvSpPr>
          <p:spPr>
            <a:xfrm>
              <a:off x="3381375" y="22002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5286375" y="298132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191375" y="3762375"/>
              <a:ext cx="619125" cy="781050"/>
            </a:xfrm>
            <a:custGeom>
              <a:avLst/>
              <a:gdLst/>
              <a:ahLst/>
              <a:cxnLst/>
              <a:rect l="l" t="t" r="r" b="b"/>
              <a:pathLst>
                <a:path w="619125" h="781050">
                  <a:moveTo>
                    <a:pt x="0" y="0"/>
                  </a:moveTo>
                  <a:lnTo>
                    <a:pt x="333375" y="0"/>
                  </a:lnTo>
                  <a:lnTo>
                    <a:pt x="333375" y="781050"/>
                  </a:lnTo>
                  <a:lnTo>
                    <a:pt x="619125" y="78105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9096375" y="2200275"/>
              <a:ext cx="619125" cy="2343150"/>
            </a:xfrm>
            <a:custGeom>
              <a:avLst/>
              <a:gdLst/>
              <a:ahLst/>
              <a:cxnLst/>
              <a:rect l="l" t="t" r="r" b="b"/>
              <a:pathLst>
                <a:path w="619125" h="2343150">
                  <a:moveTo>
                    <a:pt x="0" y="2343150"/>
                  </a:moveTo>
                  <a:lnTo>
                    <a:pt x="333375" y="2343150"/>
                  </a:lnTo>
                  <a:lnTo>
                    <a:pt x="333375" y="0"/>
                  </a:lnTo>
                  <a:lnTo>
                    <a:pt x="619125" y="0"/>
                  </a:lnTo>
                </a:path>
              </a:pathLst>
            </a:custGeom>
            <a:noFill/>
            <a:ln w="23812">
              <a:solidFill>
                <a:srgbClr val="6B7A90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2381250" y="1971675"/>
            <a:ext cx="8620125" cy="2800350"/>
            <a:chOff x="2381250" y="1971675"/>
            <a:chExt cx="8620125" cy="2800350"/>
          </a:xfrm>
        </p:grpSpPr>
        <p:grpSp>
          <p:nvGrpSpPr>
            <p:cNvPr id="38" name="Group 38"/>
            <p:cNvGrpSpPr/>
            <p:nvPr/>
          </p:nvGrpSpPr>
          <p:grpSpPr>
            <a:xfrm>
              <a:off x="2381250" y="1971675"/>
              <a:ext cx="1000125" cy="457200"/>
              <a:chOff x="2381250" y="1971675"/>
              <a:chExt cx="100012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5" name="Freeform 35"/>
              <p:cNvSpPr/>
              <p:nvPr/>
            </p:nvSpPr>
            <p:spPr>
              <a:xfrm>
                <a:off x="2381250" y="1971675"/>
                <a:ext cx="100012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457200">
                    <a:moveTo>
                      <a:pt x="95250" y="0"/>
                    </a:moveTo>
                    <a:lnTo>
                      <a:pt x="904875" y="0"/>
                    </a:lnTo>
                    <a:cubicBezTo>
                      <a:pt x="957480" y="0"/>
                      <a:pt x="1000125" y="42645"/>
                      <a:pt x="1000125" y="95250"/>
                    </a:cubicBezTo>
                    <a:lnTo>
                      <a:pt x="1000125" y="361950"/>
                    </a:lnTo>
                    <a:cubicBezTo>
                      <a:pt x="1000125" y="414555"/>
                      <a:pt x="957480" y="457200"/>
                      <a:pt x="90487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2F6BFF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95963" y="20664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采购申请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94134" y="22540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需求与规格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000500" y="2752725"/>
              <a:ext cx="1285875" cy="457200"/>
              <a:chOff x="4000500" y="27527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39" name="Freeform 39"/>
              <p:cNvSpPr/>
              <p:nvPr/>
            </p:nvSpPr>
            <p:spPr>
              <a:xfrm>
                <a:off x="4000500" y="27527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4278843" y="284749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询价 / 下单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300728" y="3035141"/>
                <a:ext cx="675894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供应商与价格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905500" y="3533775"/>
              <a:ext cx="1285875" cy="457200"/>
              <a:chOff x="5905500" y="35337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3" name="Freeform 43"/>
              <p:cNvSpPr/>
              <p:nvPr/>
            </p:nvSpPr>
            <p:spPr>
              <a:xfrm>
                <a:off x="5905500" y="35337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C56A25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183843" y="36285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收货 / 入库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261259" y="381619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数量与状态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810500" y="4314825"/>
              <a:ext cx="1285875" cy="457200"/>
              <a:chOff x="7810500" y="431482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47" name="Freeform 47"/>
              <p:cNvSpPr/>
              <p:nvPr/>
            </p:nvSpPr>
            <p:spPr>
              <a:xfrm>
                <a:off x="7810500" y="431482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8168088" y="440959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付款审批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66259" y="4597241"/>
                <a:ext cx="564832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805B12"/>
                    </a:solidFill>
                    <a:latin typeface="Arial"/>
                    <a:ea typeface="Microsoft YaHei"/>
                    <a:cs typeface="Arial"/>
                  </a:rPr>
                  <a:t>按授权执行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9715500" y="1971675"/>
              <a:ext cx="1285875" cy="457200"/>
              <a:chOff x="9715500" y="1971675"/>
              <a:chExt cx="1285875" cy="457200"/>
            </a:xfrm>
            <a:effectLst>
              <a:outerShdw blurRad="57150" dist="19050" dir="5400000" algn="ctr" rotWithShape="0">
                <a:srgbClr val="000000">
                  <a:alpha val="9000"/>
                </a:srgbClr>
              </a:outerShdw>
            </a:effectLst>
          </p:grpSpPr>
          <p:sp>
            <p:nvSpPr>
              <p:cNvPr id="51" name="Freeform 51"/>
              <p:cNvSpPr/>
              <p:nvPr/>
            </p:nvSpPr>
            <p:spPr>
              <a:xfrm>
                <a:off x="9715500" y="1971675"/>
                <a:ext cx="1285875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1285875" h="457200">
                    <a:moveTo>
                      <a:pt x="95250" y="0"/>
                    </a:moveTo>
                    <a:lnTo>
                      <a:pt x="1190625" y="0"/>
                    </a:lnTo>
                    <a:cubicBezTo>
                      <a:pt x="1243230" y="0"/>
                      <a:pt x="1285875" y="42645"/>
                      <a:pt x="1285875" y="95250"/>
                    </a:cubicBezTo>
                    <a:lnTo>
                      <a:pt x="1285875" y="361950"/>
                    </a:lnTo>
                    <a:cubicBezTo>
                      <a:pt x="1285875" y="414555"/>
                      <a:pt x="1243230" y="457200"/>
                      <a:pt x="1190625" y="457200"/>
                    </a:cubicBezTo>
                    <a:lnTo>
                      <a:pt x="95250" y="457200"/>
                    </a:lnTo>
                    <a:cubicBezTo>
                      <a:pt x="42645" y="457200"/>
                      <a:pt x="0" y="414555"/>
                      <a:pt x="0" y="36195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993843" y="2066449"/>
                <a:ext cx="719665" cy="19069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对账 / 关闭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126790" y="22540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ctr" rotWithShape="0">
                  <a:srgbClr val="000000">
                    <a:alpha val="90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资料归档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71500" y="3990975"/>
            <a:ext cx="10858500" cy="2276475"/>
            <a:chOff x="571500" y="3990975"/>
            <a:chExt cx="10858500" cy="2276475"/>
          </a:xfrm>
        </p:grpSpPr>
        <p:sp>
          <p:nvSpPr>
            <p:cNvPr id="56" name="Freeform 56"/>
            <p:cNvSpPr/>
            <p:nvPr/>
          </p:nvSpPr>
          <p:spPr>
            <a:xfrm>
              <a:off x="4238625" y="3990975"/>
              <a:ext cx="2305050" cy="1228725"/>
            </a:xfrm>
            <a:custGeom>
              <a:avLst/>
              <a:gdLst/>
              <a:ahLst/>
              <a:cxnLst/>
              <a:rect l="l" t="t" r="r" b="b"/>
              <a:pathLst>
                <a:path w="2305050" h="1228725">
                  <a:moveTo>
                    <a:pt x="2305050" y="0"/>
                  </a:moveTo>
                  <a:lnTo>
                    <a:pt x="2305050" y="1228725"/>
                  </a:lnTo>
                  <a:lnTo>
                    <a:pt x="0" y="1228725"/>
                  </a:lnTo>
                  <a:lnTo>
                    <a:pt x="0" y="1228725"/>
                  </a:lnTo>
                </a:path>
              </a:pathLst>
            </a:custGeom>
            <a:noFill/>
            <a:ln w="23812">
              <a:solidFill>
                <a:srgbClr val="D95C5C"/>
              </a:solidFill>
              <a:custDash>
                <a:ds d="280000" sp="200000"/>
              </a:custDash>
              <a:tailEnd type="triangle" w="lg" len="lg"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757738" y="5313045"/>
              <a:ext cx="27192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95C5C"/>
                  </a:solidFill>
                  <a:latin typeface="Arial"/>
                  <a:ea typeface="Microsoft YaHei"/>
                  <a:cs typeface="Arial"/>
                </a:rPr>
                <a:t>数量 / 质量 / 价格不一致：暂停付款并退回核对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571500" y="5715000"/>
              <a:ext cx="10858500" cy="552450"/>
            </a:xfrm>
            <a:custGeom>
              <a:avLst/>
              <a:gdLst/>
              <a:ahLst/>
              <a:cxnLst/>
              <a:rect l="l" t="t" r="r" b="b"/>
              <a:pathLst>
                <a:path w="10858500" h="552450">
                  <a:moveTo>
                    <a:pt x="133350" y="0"/>
                  </a:moveTo>
                  <a:lnTo>
                    <a:pt x="10725150" y="0"/>
                  </a:lnTo>
                  <a:cubicBezTo>
                    <a:pt x="10798797" y="0"/>
                    <a:pt x="10858500" y="59703"/>
                    <a:pt x="10858500" y="133350"/>
                  </a:cubicBezTo>
                  <a:lnTo>
                    <a:pt x="10858500" y="419100"/>
                  </a:lnTo>
                  <a:cubicBezTo>
                    <a:pt x="10858500" y="492747"/>
                    <a:pt x="10798797" y="552450"/>
                    <a:pt x="10725150" y="552450"/>
                  </a:cubicBezTo>
                  <a:lnTo>
                    <a:pt x="133350" y="552450"/>
                  </a:lnTo>
                  <a:cubicBezTo>
                    <a:pt x="59703" y="552450"/>
                    <a:pt x="0" y="492747"/>
                    <a:pt x="0" y="4191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CE4E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14197" y="5847874"/>
              <a:ext cx="166371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至少形成三类相互核对资料</a:t>
              </a:r>
            </a:p>
          </p:txBody>
        </p:sp>
        <p:sp>
          <p:nvSpPr>
            <p:cNvPr id="60" name="Freeform 60"/>
            <p:cNvSpPr/>
            <p:nvPr/>
          </p:nvSpPr>
          <p:spPr>
            <a:xfrm>
              <a:off x="338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0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77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申请 / 订单资料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5286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84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收货 / 入库资料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91375" y="5829300"/>
              <a:ext cx="1714500" cy="304800"/>
            </a:xfrm>
            <a:custGeom>
              <a:avLst/>
              <a:gdLst/>
              <a:ahLst/>
              <a:cxnLst/>
              <a:rect l="l" t="t" r="r" b="b"/>
              <a:pathLst>
                <a:path w="1714500" h="30480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152400"/>
                  </a:lnTo>
                  <a:cubicBezTo>
                    <a:pt x="1714500" y="236568"/>
                    <a:pt x="1646268" y="304800"/>
                    <a:pt x="1562100" y="304800"/>
                  </a:cubicBezTo>
                  <a:lnTo>
                    <a:pt x="152400" y="304800"/>
                  </a:lnTo>
                  <a:cubicBezTo>
                    <a:pt x="68232" y="304800"/>
                    <a:pt x="0" y="236568"/>
                    <a:pt x="0" y="1524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89066" y="5932170"/>
              <a:ext cx="91911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发票 / 付款资料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66738" y="6494145"/>
            <a:ext cx="584328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图例：实线＝正常路径 红色虚线＝异常退回 橙色/紫色＝受控节点；具体金额与审批权限以正式授权文件为准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17842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17 / QUALITY GOVERNANCE · DECISION FLOW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质量异常与放行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30396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先隔离和判断，再决定处置；交期压力不能替代质量授权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1619250" y="2857500"/>
            <a:ext cx="8953500" cy="9525"/>
          </a:xfrm>
          <a:custGeom>
            <a:avLst/>
            <a:gdLst/>
            <a:ahLst/>
            <a:cxnLst/>
            <a:rect l="l" t="t" r="r" b="b"/>
            <a:pathLst>
              <a:path w="8953500" h="9525">
                <a:moveTo>
                  <a:pt x="0" y="0"/>
                </a:moveTo>
                <a:lnTo>
                  <a:pt x="1238250" y="0"/>
                </a:lnTo>
                <a:moveTo>
                  <a:pt x="2571750" y="0"/>
                </a:moveTo>
                <a:lnTo>
                  <a:pt x="3810000" y="0"/>
                </a:lnTo>
                <a:moveTo>
                  <a:pt x="5143500" y="0"/>
                </a:moveTo>
                <a:lnTo>
                  <a:pt x="6381750" y="0"/>
                </a:lnTo>
                <a:moveTo>
                  <a:pt x="7715250" y="0"/>
                </a:moveTo>
                <a:lnTo>
                  <a:pt x="8953500" y="0"/>
                </a:lnTo>
              </a:path>
            </a:pathLst>
          </a:custGeom>
          <a:noFill/>
          <a:ln w="28575">
            <a:solidFill>
              <a:srgbClr val="8091A5"/>
            </a:solidFill>
            <a:tailEnd type="triangle" w="lg" len="lg"/>
          </a:ln>
        </p:spPr>
      </p:sp>
      <p:sp>
        <p:nvSpPr>
          <p:cNvPr id="9" name="Freeform 9"/>
          <p:cNvSpPr/>
          <p:nvPr/>
        </p:nvSpPr>
        <p:spPr>
          <a:xfrm>
            <a:off x="3714750" y="3429000"/>
            <a:ext cx="5810250" cy="1476375"/>
          </a:xfrm>
          <a:custGeom>
            <a:avLst/>
            <a:gdLst/>
            <a:ahLst/>
            <a:cxnLst/>
            <a:rect l="l" t="t" r="r" b="b"/>
            <a:pathLst>
              <a:path w="5810250" h="1476375">
                <a:moveTo>
                  <a:pt x="2381250" y="0"/>
                </a:moveTo>
                <a:lnTo>
                  <a:pt x="2381250" y="1047750"/>
                </a:lnTo>
                <a:lnTo>
                  <a:pt x="0" y="1047750"/>
                </a:lnTo>
                <a:lnTo>
                  <a:pt x="0" y="1476375"/>
                </a:lnTo>
                <a:moveTo>
                  <a:pt x="5048250" y="0"/>
                </a:moveTo>
                <a:lnTo>
                  <a:pt x="5048250" y="1047750"/>
                </a:lnTo>
                <a:lnTo>
                  <a:pt x="5810250" y="1047750"/>
                </a:lnTo>
                <a:lnTo>
                  <a:pt x="5810250" y="147637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grpSp>
        <p:nvGrpSpPr>
          <p:cNvPr id="13" name="Group 13"/>
          <p:cNvGrpSpPr/>
          <p:nvPr/>
        </p:nvGrpSpPr>
        <p:grpSpPr>
          <a:xfrm>
            <a:off x="762000" y="2476500"/>
            <a:ext cx="1714500" cy="781050"/>
            <a:chOff x="7620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0" name="Freeform 10"/>
            <p:cNvSpPr/>
            <p:nvPr/>
          </p:nvSpPr>
          <p:spPr>
            <a:xfrm>
              <a:off x="7620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187577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发现异常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9591" y="2952274"/>
              <a:ext cx="109931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 / 客诉 / 检验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57500" y="2476500"/>
            <a:ext cx="1714500" cy="781050"/>
            <a:chOff x="2857500" y="2476500"/>
            <a:chExt cx="171450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4" name="Freeform 14"/>
            <p:cNvSpPr/>
            <p:nvPr/>
          </p:nvSpPr>
          <p:spPr>
            <a:xfrm>
              <a:off x="2857500" y="2476500"/>
              <a:ext cx="1714500" cy="781050"/>
            </a:xfrm>
            <a:custGeom>
              <a:avLst/>
              <a:gdLst/>
              <a:ahLst/>
              <a:cxnLst/>
              <a:rect l="l" t="t" r="r" b="b"/>
              <a:pathLst>
                <a:path w="1714500" h="781050">
                  <a:moveTo>
                    <a:pt x="133350" y="0"/>
                  </a:moveTo>
                  <a:lnTo>
                    <a:pt x="1581150" y="0"/>
                  </a:lnTo>
                  <a:cubicBezTo>
                    <a:pt x="1654797" y="0"/>
                    <a:pt x="1714500" y="59703"/>
                    <a:pt x="1714500" y="133350"/>
                  </a:cubicBezTo>
                  <a:lnTo>
                    <a:pt x="1714500" y="647700"/>
                  </a:lnTo>
                  <a:cubicBezTo>
                    <a:pt x="1714500" y="721347"/>
                    <a:pt x="1654797" y="781050"/>
                    <a:pt x="158115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177064" y="2647950"/>
              <a:ext cx="1075372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隔离与标识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50406" y="2952274"/>
              <a:ext cx="928688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防止误用、误发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3000" y="2381250"/>
            <a:ext cx="2286000" cy="971550"/>
            <a:chOff x="4953000" y="2381250"/>
            <a:chExt cx="2286000" cy="9715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18" name="Freeform 18"/>
            <p:cNvSpPr/>
            <p:nvPr/>
          </p:nvSpPr>
          <p:spPr>
            <a:xfrm>
              <a:off x="4953000" y="2381250"/>
              <a:ext cx="2286000" cy="971550"/>
            </a:xfrm>
            <a:custGeom>
              <a:avLst/>
              <a:gdLst/>
              <a:ahLst/>
              <a:cxnLst/>
              <a:rect l="l" t="t" r="r" b="b"/>
              <a:pathLst>
                <a:path w="2286000" h="971550">
                  <a:moveTo>
                    <a:pt x="133350" y="0"/>
                  </a:moveTo>
                  <a:lnTo>
                    <a:pt x="2152650" y="0"/>
                  </a:lnTo>
                  <a:cubicBezTo>
                    <a:pt x="2226297" y="0"/>
                    <a:pt x="2286000" y="59703"/>
                    <a:pt x="2286000" y="133350"/>
                  </a:cubicBezTo>
                  <a:lnTo>
                    <a:pt x="2286000" y="838200"/>
                  </a:lnTo>
                  <a:cubicBezTo>
                    <a:pt x="2286000" y="911847"/>
                    <a:pt x="2226297" y="971550"/>
                    <a:pt x="2152650" y="971550"/>
                  </a:cubicBezTo>
                  <a:lnTo>
                    <a:pt x="133350" y="971550"/>
                  </a:lnTo>
                  <a:cubicBezTo>
                    <a:pt x="59703" y="971550"/>
                    <a:pt x="0" y="911847"/>
                    <a:pt x="0" y="8382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5664327" y="2562225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专业判断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69147" y="2876074"/>
              <a:ext cx="1453706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确认影响范围、原因方向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5905500" y="3219450"/>
              <a:ext cx="381000" cy="114300"/>
            </a:xfrm>
            <a:custGeom>
              <a:avLst/>
              <a:gdLst/>
              <a:ahLst/>
              <a:cxnLst/>
              <a:rect l="l" t="t" r="r" b="b"/>
              <a:pathLst>
                <a:path w="381000" h="114300">
                  <a:moveTo>
                    <a:pt x="0" y="0"/>
                  </a:moveTo>
                  <a:lnTo>
                    <a:pt x="190500" y="114300"/>
                  </a:lnTo>
                  <a:lnTo>
                    <a:pt x="381000" y="0"/>
                  </a:lnTo>
                </a:path>
              </a:pathLst>
            </a:custGeom>
            <a:noFill/>
            <a:ln w="9525">
              <a:solidFill>
                <a:srgbClr val="7657B8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</p:grpSp>
      <p:grpSp>
        <p:nvGrpSpPr>
          <p:cNvPr id="26" name="Group 26"/>
          <p:cNvGrpSpPr/>
          <p:nvPr/>
        </p:nvGrpSpPr>
        <p:grpSpPr>
          <a:xfrm>
            <a:off x="8096250" y="2238375"/>
            <a:ext cx="1333500" cy="1238250"/>
            <a:chOff x="8096250" y="2238375"/>
            <a:chExt cx="1333500" cy="12382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3" name="Freeform 23"/>
            <p:cNvSpPr/>
            <p:nvPr/>
          </p:nvSpPr>
          <p:spPr>
            <a:xfrm>
              <a:off x="8096250" y="2238375"/>
              <a:ext cx="1333500" cy="1238250"/>
            </a:xfrm>
            <a:custGeom>
              <a:avLst/>
              <a:gdLst/>
              <a:ahLst/>
              <a:cxnLst/>
              <a:rect l="l" t="t" r="r" b="b"/>
              <a:pathLst>
                <a:path w="1333500" h="1238250">
                  <a:moveTo>
                    <a:pt x="666750" y="0"/>
                  </a:moveTo>
                  <a:lnTo>
                    <a:pt x="1333500" y="619125"/>
                  </a:lnTo>
                  <a:lnTo>
                    <a:pt x="666750" y="1238250"/>
                  </a:lnTo>
                  <a:lnTo>
                    <a:pt x="0" y="619125"/>
                  </a:lnTo>
                  <a:close/>
                </a:path>
              </a:pathLst>
            </a:custGeom>
            <a:solidFill>
              <a:srgbClr val="FFF7DF"/>
            </a:solidFill>
            <a:ln w="19050">
              <a:solidFill>
                <a:srgbClr val="A87519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4" name="TextBox 24"/>
            <p:cNvSpPr txBox="1"/>
            <p:nvPr/>
          </p:nvSpPr>
          <p:spPr>
            <a:xfrm>
              <a:off x="8305967" y="2681764"/>
              <a:ext cx="914067" cy="2493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05B12"/>
                  </a:solidFill>
                  <a:latin typeface="Arial"/>
                  <a:ea typeface="Microsoft YaHei"/>
                  <a:cs typeface="Arial"/>
                </a:rPr>
                <a:t>可否放行？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94764" y="2931795"/>
              <a:ext cx="736473" cy="176212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依据受控标准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01250" y="2476500"/>
            <a:ext cx="1428750" cy="781050"/>
            <a:chOff x="10001250" y="2476500"/>
            <a:chExt cx="1428750" cy="781050"/>
          </a:xfrm>
          <a:effectLst>
            <a:outerShdw blurRad="57150" dist="19050" dir="5400000" algn="ctr" rotWithShape="0">
              <a:srgbClr val="AAB7C6">
                <a:alpha val="18000"/>
              </a:srgbClr>
            </a:outerShdw>
          </a:effectLst>
        </p:grpSpPr>
        <p:sp>
          <p:nvSpPr>
            <p:cNvPr id="27" name="Freeform 27"/>
            <p:cNvSpPr/>
            <p:nvPr/>
          </p:nvSpPr>
          <p:spPr>
            <a:xfrm>
              <a:off x="10001250" y="2476500"/>
              <a:ext cx="1428750" cy="781050"/>
            </a:xfrm>
            <a:custGeom>
              <a:avLst/>
              <a:gdLst/>
              <a:ahLst/>
              <a:cxnLst/>
              <a:rect l="l" t="t" r="r" b="b"/>
              <a:pathLst>
                <a:path w="1428750" h="781050">
                  <a:moveTo>
                    <a:pt x="133350" y="0"/>
                  </a:moveTo>
                  <a:lnTo>
                    <a:pt x="1295400" y="0"/>
                  </a:lnTo>
                  <a:cubicBezTo>
                    <a:pt x="1369047" y="0"/>
                    <a:pt x="1428750" y="59703"/>
                    <a:pt x="1428750" y="133350"/>
                  </a:cubicBezTo>
                  <a:lnTo>
                    <a:pt x="1428750" y="647700"/>
                  </a:lnTo>
                  <a:cubicBezTo>
                    <a:pt x="1428750" y="721347"/>
                    <a:pt x="1369047" y="781050"/>
                    <a:pt x="1295400" y="781050"/>
                  </a:cubicBezTo>
                  <a:lnTo>
                    <a:pt x="133350" y="781050"/>
                  </a:lnTo>
                  <a:cubicBezTo>
                    <a:pt x="59703" y="781050"/>
                    <a:pt x="0" y="721347"/>
                    <a:pt x="0" y="6477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</p:sp>
        <p:sp>
          <p:nvSpPr>
            <p:cNvPr id="28" name="TextBox 28"/>
            <p:cNvSpPr txBox="1"/>
            <p:nvPr/>
          </p:nvSpPr>
          <p:spPr>
            <a:xfrm>
              <a:off x="10283952" y="2647950"/>
              <a:ext cx="863346" cy="29337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验证关闭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0027" y="2952274"/>
              <a:ext cx="1191197" cy="19069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AAB7C6">
                  <a:alpha val="18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记录结果与复发控制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2190750" y="4762500"/>
            <a:ext cx="3048000" cy="666750"/>
          </a:xfrm>
          <a:custGeom>
            <a:avLst/>
            <a:gdLst/>
            <a:ahLst/>
            <a:cxnLst/>
            <a:rect l="l" t="t" r="r" b="b"/>
            <a:pathLst>
              <a:path w="3048000" h="666750">
                <a:moveTo>
                  <a:pt x="133350" y="0"/>
                </a:moveTo>
                <a:lnTo>
                  <a:pt x="2914650" y="0"/>
                </a:lnTo>
                <a:cubicBezTo>
                  <a:pt x="2988297" y="0"/>
                  <a:pt x="3048000" y="59703"/>
                  <a:pt x="3048000" y="133350"/>
                </a:cubicBezTo>
                <a:lnTo>
                  <a:pt x="3048000" y="533400"/>
                </a:lnTo>
                <a:cubicBezTo>
                  <a:pt x="3048000" y="607047"/>
                  <a:pt x="2988297" y="666750"/>
                  <a:pt x="2914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2849185" y="49025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否：继续隔离并升级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6643" y="5162074"/>
            <a:ext cx="171621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形成异常单、风险和处置责任</a:t>
            </a:r>
          </a:p>
        </p:txBody>
      </p:sp>
      <p:sp>
        <p:nvSpPr>
          <p:cNvPr id="34" name="Freeform 34"/>
          <p:cNvSpPr/>
          <p:nvPr/>
        </p:nvSpPr>
        <p:spPr>
          <a:xfrm>
            <a:off x="7810500" y="4762500"/>
            <a:ext cx="3429000" cy="666750"/>
          </a:xfrm>
          <a:custGeom>
            <a:avLst/>
            <a:gdLst/>
            <a:ahLst/>
            <a:cxnLst/>
            <a:rect l="l" t="t" r="r" b="b"/>
            <a:pathLst>
              <a:path w="3429000" h="666750">
                <a:moveTo>
                  <a:pt x="133350" y="0"/>
                </a:moveTo>
                <a:lnTo>
                  <a:pt x="3295650" y="0"/>
                </a:lnTo>
                <a:cubicBezTo>
                  <a:pt x="3369297" y="0"/>
                  <a:pt x="3429000" y="59703"/>
                  <a:pt x="3429000" y="133350"/>
                </a:cubicBezTo>
                <a:lnTo>
                  <a:pt x="3429000" y="533400"/>
                </a:lnTo>
                <a:cubicBezTo>
                  <a:pt x="3429000" y="607047"/>
                  <a:pt x="3369297" y="666750"/>
                  <a:pt x="3295650" y="666750"/>
                </a:cubicBezTo>
                <a:lnTo>
                  <a:pt x="133350" y="666750"/>
                </a:lnTo>
                <a:cubicBezTo>
                  <a:pt x="59703" y="666750"/>
                  <a:pt x="0" y="607047"/>
                  <a:pt x="0" y="53340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8468611" y="4902518"/>
            <a:ext cx="21127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授权不清：不得自行放行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8756" y="5162074"/>
            <a:ext cx="237248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提交有权负责人确认（权限待公司确认）</a:t>
            </a:r>
          </a:p>
        </p:txBody>
      </p:sp>
      <p:sp>
        <p:nvSpPr>
          <p:cNvPr id="37" name="Freeform 37"/>
          <p:cNvSpPr/>
          <p:nvPr/>
        </p:nvSpPr>
        <p:spPr>
          <a:xfrm>
            <a:off x="952500" y="5905500"/>
            <a:ext cx="10287000" cy="419100"/>
          </a:xfrm>
          <a:custGeom>
            <a:avLst/>
            <a:gdLst/>
            <a:ahLst/>
            <a:cxnLst/>
            <a:rect l="l" t="t" r="r" b="b"/>
            <a:pathLst>
              <a:path w="10287000" h="419100">
                <a:moveTo>
                  <a:pt x="209550" y="0"/>
                </a:moveTo>
                <a:lnTo>
                  <a:pt x="10077450" y="0"/>
                </a:lnTo>
                <a:cubicBezTo>
                  <a:pt x="10193181" y="0"/>
                  <a:pt x="10287000" y="93819"/>
                  <a:pt x="10287000" y="209550"/>
                </a:cubicBezTo>
                <a:lnTo>
                  <a:pt x="10287000" y="209550"/>
                </a:lnTo>
                <a:cubicBezTo>
                  <a:pt x="10287000" y="325281"/>
                  <a:pt x="10193181" y="419100"/>
                  <a:pt x="10077450" y="419100"/>
                </a:cubicBezTo>
                <a:lnTo>
                  <a:pt x="209550" y="419100"/>
                </a:lnTo>
                <a:cubicBezTo>
                  <a:pt x="93819" y="419100"/>
                  <a:pt x="0" y="325281"/>
                  <a:pt x="0" y="209550"/>
                </a:cubicBezTo>
                <a:lnTo>
                  <a:pt x="0" y="209550"/>
                </a:lnTo>
                <a:cubicBezTo>
                  <a:pt x="0" y="93819"/>
                  <a:pt x="93819" y="0"/>
                  <a:pt x="2095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3088785" y="6050756"/>
            <a:ext cx="60144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证据：异常记录 · 隔离标识 · 判断依据 · 处置批准 · 验证结果 · 客户沟通（如适用）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66738" y="6494145"/>
            <a:ext cx="45650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实线＝正常控制路径 虚线红线＝拒绝、隔离或升级 放行最终权限以正式授权文件为准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客诉与纠正措施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客户问题统一入口，处理、验证和回复形成闭环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095500" y="2047875"/>
            <a:ext cx="8001000" cy="2381250"/>
          </a:xfrm>
          <a:custGeom>
            <a:avLst/>
            <a:gdLst/>
            <a:ahLst/>
            <a:cxnLst/>
            <a:rect l="l" t="t" r="r" b="b"/>
            <a:pathLst>
              <a:path w="8001000" h="2381250">
                <a:moveTo>
                  <a:pt x="0" y="1190625"/>
                </a:moveTo>
                <a:cubicBezTo>
                  <a:pt x="0" y="285750"/>
                  <a:pt x="2000250" y="0"/>
                  <a:pt x="4000500" y="0"/>
                </a:cubicBezTo>
                <a:cubicBezTo>
                  <a:pt x="6000750" y="0"/>
                  <a:pt x="8001000" y="285750"/>
                  <a:pt x="8001000" y="1190625"/>
                </a:cubicBezTo>
                <a:cubicBezTo>
                  <a:pt x="8001000" y="2095500"/>
                  <a:pt x="6000750" y="2381250"/>
                  <a:pt x="4000500" y="2381250"/>
                </a:cubicBezTo>
                <a:cubicBezTo>
                  <a:pt x="2000250" y="2381250"/>
                  <a:pt x="0" y="2095500"/>
                  <a:pt x="0" y="1190625"/>
                </a:cubicBezTo>
              </a:path>
            </a:pathLst>
          </a:custGeom>
          <a:noFill/>
          <a:ln w="28575">
            <a:solidFill>
              <a:srgbClr val="D7E0EA"/>
            </a:solidFill>
          </a:ln>
        </p:spPr>
      </p:sp>
      <p:grpSp>
        <p:nvGrpSpPr>
          <p:cNvPr id="27" name="Group 27"/>
          <p:cNvGrpSpPr/>
          <p:nvPr/>
        </p:nvGrpSpPr>
        <p:grpSpPr>
          <a:xfrm>
            <a:off x="952500" y="1762125"/>
            <a:ext cx="9715500" cy="3152775"/>
            <a:chOff x="952500" y="1762125"/>
            <a:chExt cx="9715500" cy="3152775"/>
          </a:xfrm>
        </p:grpSpPr>
        <p:sp>
          <p:nvSpPr>
            <p:cNvPr id="9" name="Freeform 9"/>
            <p:cNvSpPr/>
            <p:nvPr/>
          </p:nvSpPr>
          <p:spPr>
            <a:xfrm>
              <a:off x="95250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3529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接收分级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7312" y="32966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入口｜影响判定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381375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64168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临时措施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6188" y="22774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隔离｜遏制风险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572250" y="1762125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955043" y="1978342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06387" y="22774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事实｜根因｜证据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858250" y="27813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41043" y="29975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纠正措施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192387" y="3296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6572250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55043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06387" y="4515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有效性｜复发控制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381375" y="4000500"/>
              <a:ext cx="1809750" cy="914400"/>
            </a:xfrm>
            <a:custGeom>
              <a:avLst/>
              <a:gdLst/>
              <a:ahLst/>
              <a:cxnLst/>
              <a:rect l="l" t="t" r="r" b="b"/>
              <a:pathLst>
                <a:path w="1809750" h="91440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762000"/>
                  </a:lnTo>
                  <a:cubicBezTo>
                    <a:pt x="1809750" y="846168"/>
                    <a:pt x="1741518" y="914400"/>
                    <a:pt x="1657350" y="914400"/>
                  </a:cubicBezTo>
                  <a:lnTo>
                    <a:pt x="152400" y="914400"/>
                  </a:lnTo>
                  <a:cubicBezTo>
                    <a:pt x="68232" y="914400"/>
                    <a:pt x="0" y="846168"/>
                    <a:pt x="0" y="7620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64168" y="4216718"/>
              <a:ext cx="10441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客户回复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86188" y="451580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结论｜关闭证据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5191125" y="4457700"/>
            <a:ext cx="1381125" cy="9525"/>
          </a:xfrm>
          <a:custGeom>
            <a:avLst/>
            <a:gdLst/>
            <a:ahLst/>
            <a:cxnLst/>
            <a:rect l="l" t="t" r="r" b="b"/>
            <a:pathLst>
              <a:path w="1381125" h="9525">
                <a:moveTo>
                  <a:pt x="0" y="0"/>
                </a:moveTo>
                <a:lnTo>
                  <a:pt x="1381125" y="0"/>
                </a:lnTo>
              </a:path>
            </a:pathLst>
          </a:custGeom>
          <a:solidFill>
            <a:srgbClr val="000000"/>
          </a:solidFill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2095500" y="3695700"/>
            <a:ext cx="1285875" cy="762000"/>
          </a:xfrm>
          <a:custGeom>
            <a:avLst/>
            <a:gdLst/>
            <a:ahLst/>
            <a:cxnLst/>
            <a:rect l="l" t="t" r="r" b="b"/>
            <a:pathLst>
              <a:path w="1285875" h="762000">
                <a:moveTo>
                  <a:pt x="1285875" y="762000"/>
                </a:moveTo>
                <a:cubicBezTo>
                  <a:pt x="381000" y="762000"/>
                  <a:pt x="0" y="3048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30" name="TextBox 30"/>
          <p:cNvSpPr txBox="1"/>
          <p:nvPr/>
        </p:nvSpPr>
        <p:spPr>
          <a:xfrm>
            <a:off x="850773" y="5434489"/>
            <a:ext cx="439836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未验证或重复发生：回到原因分析/纠正措施，不直接关闭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19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427101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模具、设备与关键资源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6184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治理层规定状态、责任、批准和履历，不规定维修动作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33" name="Group 33"/>
          <p:cNvGrpSpPr/>
          <p:nvPr/>
        </p:nvGrpSpPr>
        <p:grpSpPr>
          <a:xfrm>
            <a:off x="571500" y="1952625"/>
            <a:ext cx="11049000" cy="3524250"/>
            <a:chOff x="571500" y="1952625"/>
            <a:chExt cx="11049000" cy="3524250"/>
          </a:xfrm>
        </p:grpSpPr>
        <p:sp>
          <p:nvSpPr>
            <p:cNvPr id="8" name="Freeform 8"/>
            <p:cNvSpPr/>
            <p:nvPr/>
          </p:nvSpPr>
          <p:spPr>
            <a:xfrm>
              <a:off x="571500" y="1952625"/>
              <a:ext cx="6572250" cy="3524250"/>
            </a:xfrm>
            <a:custGeom>
              <a:avLst/>
              <a:gdLst/>
              <a:ahLst/>
              <a:cxnLst/>
              <a:rect l="l" t="t" r="r" b="b"/>
              <a:pathLst>
                <a:path w="6572250" h="3524250">
                  <a:moveTo>
                    <a:pt x="209550" y="0"/>
                  </a:moveTo>
                  <a:lnTo>
                    <a:pt x="6362700" y="0"/>
                  </a:lnTo>
                  <a:cubicBezTo>
                    <a:pt x="6478431" y="0"/>
                    <a:pt x="6572250" y="93819"/>
                    <a:pt x="6572250" y="209550"/>
                  </a:cubicBezTo>
                  <a:lnTo>
                    <a:pt x="6572250" y="3314700"/>
                  </a:lnTo>
                  <a:cubicBezTo>
                    <a:pt x="6572250" y="3430431"/>
                    <a:pt x="6478431" y="3524250"/>
                    <a:pt x="6362700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D7E0EA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9" name="TextBox 9"/>
            <p:cNvSpPr txBox="1"/>
            <p:nvPr/>
          </p:nvSpPr>
          <p:spPr>
            <a:xfrm>
              <a:off x="898398" y="2195989"/>
              <a:ext cx="14547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关键资源状态闭环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1666875" y="2571750"/>
              <a:ext cx="4810125" cy="1952625"/>
            </a:xfrm>
            <a:custGeom>
              <a:avLst/>
              <a:gdLst/>
              <a:ahLst/>
              <a:cxnLst/>
              <a:rect l="l" t="t" r="r" b="b"/>
              <a:pathLst>
                <a:path w="4810125" h="1952625">
                  <a:moveTo>
                    <a:pt x="0" y="762000"/>
                  </a:moveTo>
                  <a:cubicBezTo>
                    <a:pt x="0" y="142875"/>
                    <a:pt x="666750" y="0"/>
                    <a:pt x="1285875" y="0"/>
                  </a:cubicBezTo>
                  <a:lnTo>
                    <a:pt x="3476625" y="0"/>
                  </a:lnTo>
                  <a:cubicBezTo>
                    <a:pt x="4286250" y="0"/>
                    <a:pt x="4810125" y="428625"/>
                    <a:pt x="4810125" y="952500"/>
                  </a:cubicBezTo>
                  <a:cubicBezTo>
                    <a:pt x="4810125" y="1524000"/>
                    <a:pt x="4286250" y="1952625"/>
                    <a:pt x="3476625" y="1952625"/>
                  </a:cubicBezTo>
                  <a:lnTo>
                    <a:pt x="1285875" y="1952625"/>
                  </a:lnTo>
                  <a:cubicBezTo>
                    <a:pt x="666750" y="1952625"/>
                    <a:pt x="0" y="1571625"/>
                    <a:pt x="0" y="1143000"/>
                  </a:cubicBezTo>
                </a:path>
              </a:pathLst>
            </a:custGeom>
            <a:noFill/>
            <a:ln w="38100">
              <a:solidFill>
                <a:srgbClr val="8091A5"/>
              </a:solidFill>
              <a:tailEnd type="triangle" w="lg" len="lg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00125" y="3143250"/>
              <a:ext cx="1619250" cy="781050"/>
              <a:chOff x="1000125" y="3143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1" name="Freeform 11"/>
              <p:cNvSpPr/>
              <p:nvPr/>
            </p:nvSpPr>
            <p:spPr>
              <a:xfrm>
                <a:off x="1000125" y="3143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0FF"/>
              </a:solidFill>
              <a:ln w="19050">
                <a:solidFill>
                  <a:srgbClr val="2F6BFF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378077" y="3314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登记建档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32427" y="3598545"/>
                <a:ext cx="754647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编号 / 责任人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714625" y="2381250"/>
              <a:ext cx="1619250" cy="781050"/>
              <a:chOff x="2714625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5" name="Freeform 15"/>
              <p:cNvSpPr/>
              <p:nvPr/>
            </p:nvSpPr>
            <p:spPr>
              <a:xfrm>
                <a:off x="2714625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EAF7F4"/>
              </a:solidFill>
              <a:ln w="19050">
                <a:solidFill>
                  <a:srgbClr val="1C9C8C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3092577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状态评估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016682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可用 / 待修 / 封存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4572000" y="2381250"/>
              <a:ext cx="1619250" cy="781050"/>
              <a:chOff x="4572000" y="2381250"/>
              <a:chExt cx="16192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19" name="Freeform 19"/>
              <p:cNvSpPr/>
              <p:nvPr/>
            </p:nvSpPr>
            <p:spPr>
              <a:xfrm>
                <a:off x="4572000" y="2381250"/>
                <a:ext cx="16192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619250" h="781050">
                    <a:moveTo>
                      <a:pt x="152400" y="0"/>
                    </a:moveTo>
                    <a:lnTo>
                      <a:pt x="1466850" y="0"/>
                    </a:lnTo>
                    <a:cubicBezTo>
                      <a:pt x="1551018" y="0"/>
                      <a:pt x="1619250" y="68232"/>
                      <a:pt x="1619250" y="152400"/>
                    </a:cubicBezTo>
                    <a:lnTo>
                      <a:pt x="1619250" y="628650"/>
                    </a:lnTo>
                    <a:cubicBezTo>
                      <a:pt x="1619250" y="712818"/>
                      <a:pt x="1551018" y="781050"/>
                      <a:pt x="14668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2E7"/>
              </a:solidFill>
              <a:ln w="19050">
                <a:solidFill>
                  <a:srgbClr val="C56A25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9952" y="25527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批准使用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74057" y="2836545"/>
                <a:ext cx="1015136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责任 / 条件 / 期限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4095750"/>
              <a:ext cx="1809750" cy="781050"/>
              <a:chOff x="3810000" y="4095750"/>
              <a:chExt cx="1809750" cy="781050"/>
            </a:xfrm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grpSpPr>
          <p:sp>
            <p:nvSpPr>
              <p:cNvPr id="23" name="Freeform 23"/>
              <p:cNvSpPr/>
              <p:nvPr/>
            </p:nvSpPr>
            <p:spPr>
              <a:xfrm>
                <a:off x="3810000" y="4095750"/>
                <a:ext cx="1809750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1809750" h="781050">
                    <a:moveTo>
                      <a:pt x="152400" y="0"/>
                    </a:moveTo>
                    <a:lnTo>
                      <a:pt x="1657350" y="0"/>
                    </a:lnTo>
                    <a:cubicBezTo>
                      <a:pt x="1741518" y="0"/>
                      <a:pt x="1809750" y="68232"/>
                      <a:pt x="1809750" y="152400"/>
                    </a:cubicBezTo>
                    <a:lnTo>
                      <a:pt x="1809750" y="628650"/>
                    </a:lnTo>
                    <a:cubicBezTo>
                      <a:pt x="1809750" y="712818"/>
                      <a:pt x="1741518" y="781050"/>
                      <a:pt x="1657350" y="781050"/>
                    </a:cubicBezTo>
                    <a:lnTo>
                      <a:pt x="152400" y="781050"/>
                    </a:lnTo>
                    <a:cubicBezTo>
                      <a:pt x="68232" y="781050"/>
                      <a:pt x="0" y="712818"/>
                      <a:pt x="0" y="62865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F7DF"/>
              </a:solidFill>
              <a:ln w="19050">
                <a:solidFill>
                  <a:srgbClr val="D79A2B"/>
                </a:solidFill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283202" y="426720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履历更新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86149" y="4551045"/>
                <a:ext cx="1257452" cy="17621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76200" dist="28575" dir="5400000" algn="ctr" rotWithShape="0">
                  <a:srgbClr val="AAB7C6">
                    <a:alpha val="16500"/>
                  </a:srgbClr>
                </a:outerShdw>
              </a:effectLst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维修 / 点检 / 变更证据</a:t>
                </a:r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899160" y="5069681"/>
              <a:ext cx="349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治理字段：目的｜责任｜输入｜输出｜记录｜控制点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7572375" y="1952625"/>
              <a:ext cx="4048125" cy="3524250"/>
            </a:xfrm>
            <a:custGeom>
              <a:avLst/>
              <a:gdLst/>
              <a:ahLst/>
              <a:cxnLst/>
              <a:rect l="l" t="t" r="r" b="b"/>
              <a:pathLst>
                <a:path w="4048125" h="3524250">
                  <a:moveTo>
                    <a:pt x="209550" y="0"/>
                  </a:moveTo>
                  <a:lnTo>
                    <a:pt x="3838575" y="0"/>
                  </a:lnTo>
                  <a:cubicBezTo>
                    <a:pt x="3954306" y="0"/>
                    <a:pt x="4048125" y="93819"/>
                    <a:pt x="4048125" y="209550"/>
                  </a:cubicBezTo>
                  <a:lnTo>
                    <a:pt x="4048125" y="3314700"/>
                  </a:lnTo>
                  <a:cubicBezTo>
                    <a:pt x="4048125" y="3430431"/>
                    <a:pt x="3954306" y="3524250"/>
                    <a:pt x="3838575" y="3524250"/>
                  </a:cubicBezTo>
                  <a:lnTo>
                    <a:pt x="209550" y="3524250"/>
                  </a:lnTo>
                  <a:cubicBezTo>
                    <a:pt x="93819" y="3524250"/>
                    <a:pt x="0" y="3430431"/>
                    <a:pt x="0" y="331470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1F2D3D"/>
            </a:solidFill>
            <a:ln>
              <a:noFill/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15250" y="2095500"/>
              <a:ext cx="3762375" cy="257175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715250" y="2095500"/>
              <a:ext cx="3762375" cy="2571750"/>
            </a:xfrm>
            <a:prstGeom prst="rect">
              <a:avLst/>
            </a:prstGeom>
            <a:solidFill>
              <a:srgbClr val="1F2D3D">
                <a:alpha val="12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944993" y="4822508"/>
              <a:ext cx="21391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模具不是“设备清单”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947660" y="5136356"/>
              <a:ext cx="3343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9AA9BA"/>
                  </a:solidFill>
                  <a:latin typeface="Arial"/>
                  <a:ea typeface="Microsoft YaHei"/>
                  <a:cs typeface="Arial"/>
                </a:rPr>
                <a:t>而是有状态、有责任、有批准、有履历的关键资源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78637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20 / GOVERNANCE · HANDOFF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84890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跨部门交接标准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00769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交接完成不是“发出去了”，而是输入完整、责任明确、输出可验证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762000" y="2171700"/>
            <a:ext cx="2476500" cy="1809750"/>
          </a:xfrm>
          <a:custGeom>
            <a:avLst/>
            <a:gdLst/>
            <a:ahLst/>
            <a:cxnLst/>
            <a:rect l="l" t="t" r="r" b="b"/>
            <a:pathLst>
              <a:path w="2476500" h="1809750">
                <a:moveTo>
                  <a:pt x="171450" y="0"/>
                </a:moveTo>
                <a:lnTo>
                  <a:pt x="2305050" y="0"/>
                </a:lnTo>
                <a:cubicBezTo>
                  <a:pt x="2399739" y="0"/>
                  <a:pt x="2476500" y="76761"/>
                  <a:pt x="2476500" y="171450"/>
                </a:cubicBezTo>
                <a:lnTo>
                  <a:pt x="2476500" y="1638300"/>
                </a:lnTo>
                <a:cubicBezTo>
                  <a:pt x="2476500" y="1732989"/>
                  <a:pt x="2399739" y="1809750"/>
                  <a:pt x="2305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111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交出方 · 输入包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84529" y="2775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受控版本 / 图纸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84529" y="30803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数量、状态、期限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4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责任人与异常说明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4529" y="3689985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输出验收标准</a:t>
            </a:r>
          </a:p>
        </p:txBody>
      </p:sp>
      <p:sp>
        <p:nvSpPr>
          <p:cNvPr id="14" name="Freeform 14"/>
          <p:cNvSpPr/>
          <p:nvPr/>
        </p:nvSpPr>
        <p:spPr>
          <a:xfrm>
            <a:off x="323850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095750" y="2095500"/>
            <a:ext cx="3048000" cy="1952625"/>
          </a:xfrm>
          <a:custGeom>
            <a:avLst/>
            <a:gdLst/>
            <a:ahLst/>
            <a:cxnLst/>
            <a:rect l="l" t="t" r="r" b="b"/>
            <a:pathLst>
              <a:path w="3048000" h="1952625">
                <a:moveTo>
                  <a:pt x="171450" y="0"/>
                </a:moveTo>
                <a:lnTo>
                  <a:pt x="2876550" y="0"/>
                </a:lnTo>
                <a:cubicBezTo>
                  <a:pt x="2971239" y="0"/>
                  <a:pt x="3048000" y="76761"/>
                  <a:pt x="3048000" y="171450"/>
                </a:cubicBezTo>
                <a:lnTo>
                  <a:pt x="3048000" y="1781175"/>
                </a:lnTo>
                <a:cubicBezTo>
                  <a:pt x="3048000" y="1875864"/>
                  <a:pt x="2971239" y="1952625"/>
                  <a:pt x="2876550" y="1952625"/>
                </a:cubicBezTo>
                <a:lnTo>
                  <a:pt x="171450" y="1952625"/>
                </a:lnTo>
                <a:cubicBezTo>
                  <a:pt x="76761" y="1952625"/>
                  <a:pt x="0" y="1875864"/>
                  <a:pt x="0" y="1781175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108948" y="2303621"/>
            <a:ext cx="1021604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2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完整性闸口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272796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01 资料齐全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565904" y="3013710"/>
            <a:ext cx="88453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02 版本一致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565904" y="329946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03 责任与期限明确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65904" y="3585210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04 接收标准可判断</a:t>
            </a:r>
          </a:p>
        </p:txBody>
      </p:sp>
      <p:sp>
        <p:nvSpPr>
          <p:cNvPr id="21" name="Freeform 21"/>
          <p:cNvSpPr/>
          <p:nvPr/>
        </p:nvSpPr>
        <p:spPr>
          <a:xfrm>
            <a:off x="4953000" y="3810000"/>
            <a:ext cx="1333500" cy="266700"/>
          </a:xfrm>
          <a:custGeom>
            <a:avLst/>
            <a:gdLst/>
            <a:ahLst/>
            <a:cxnLst/>
            <a:rect l="l" t="t" r="r" b="b"/>
            <a:pathLst>
              <a:path w="1333500" h="266700">
                <a:moveTo>
                  <a:pt x="133350" y="0"/>
                </a:moveTo>
                <a:lnTo>
                  <a:pt x="1200150" y="0"/>
                </a:lnTo>
                <a:cubicBezTo>
                  <a:pt x="1273797" y="0"/>
                  <a:pt x="1333500" y="59703"/>
                  <a:pt x="1333500" y="133350"/>
                </a:cubicBezTo>
                <a:lnTo>
                  <a:pt x="1333500" y="133350"/>
                </a:lnTo>
                <a:cubicBezTo>
                  <a:pt x="1333500" y="206997"/>
                  <a:pt x="1273797" y="266700"/>
                  <a:pt x="1200150" y="266700"/>
                </a:cubicBezTo>
                <a:lnTo>
                  <a:pt x="133350" y="266700"/>
                </a:lnTo>
                <a:cubicBezTo>
                  <a:pt x="59703" y="266700"/>
                  <a:pt x="0" y="206997"/>
                  <a:pt x="0" y="1333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01345" y="3895249"/>
            <a:ext cx="83680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确认后才放行</a:t>
            </a:r>
          </a:p>
        </p:txBody>
      </p:sp>
      <p:sp>
        <p:nvSpPr>
          <p:cNvPr id="23" name="Freeform 23"/>
          <p:cNvSpPr/>
          <p:nvPr/>
        </p:nvSpPr>
        <p:spPr>
          <a:xfrm>
            <a:off x="7143750" y="3076575"/>
            <a:ext cx="857250" cy="9525"/>
          </a:xfrm>
          <a:custGeom>
            <a:avLst/>
            <a:gdLst/>
            <a:ahLst/>
            <a:cxnLst/>
            <a:rect l="l" t="t" r="r" b="b"/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8001000" y="2171700"/>
            <a:ext cx="2857500" cy="1809750"/>
          </a:xfrm>
          <a:custGeom>
            <a:avLst/>
            <a:gdLst/>
            <a:ahLst/>
            <a:cxnLst/>
            <a:rect l="l" t="t" r="r" b="b"/>
            <a:pathLst>
              <a:path w="2857500" h="1809750">
                <a:moveTo>
                  <a:pt x="171450" y="0"/>
                </a:moveTo>
                <a:lnTo>
                  <a:pt x="2686050" y="0"/>
                </a:lnTo>
                <a:cubicBezTo>
                  <a:pt x="2780739" y="0"/>
                  <a:pt x="2857500" y="76761"/>
                  <a:pt x="2857500" y="171450"/>
                </a:cubicBezTo>
                <a:lnTo>
                  <a:pt x="2857500" y="1638300"/>
                </a:lnTo>
                <a:cubicBezTo>
                  <a:pt x="2857500" y="1732989"/>
                  <a:pt x="2780739" y="1809750"/>
                  <a:pt x="268605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740697" y="2368868"/>
            <a:ext cx="13781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接收方 · 验收包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3529" y="27755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接收确认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3529" y="30803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差异 / 缺项记录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23529" y="33851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任务进入受控状态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23529" y="3689985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异常升级责任明确</a:t>
            </a:r>
          </a:p>
        </p:txBody>
      </p:sp>
      <p:sp>
        <p:nvSpPr>
          <p:cNvPr id="30" name="Freeform 30"/>
          <p:cNvSpPr/>
          <p:nvPr/>
        </p:nvSpPr>
        <p:spPr>
          <a:xfrm>
            <a:off x="2000250" y="3981450"/>
            <a:ext cx="3619500" cy="685800"/>
          </a:xfrm>
          <a:custGeom>
            <a:avLst/>
            <a:gdLst/>
            <a:ahLst/>
            <a:cxnLst/>
            <a:rect l="l" t="t" r="r" b="b"/>
            <a:pathLst>
              <a:path w="3619500" h="685800">
                <a:moveTo>
                  <a:pt x="3619500" y="66675"/>
                </a:moveTo>
                <a:lnTo>
                  <a:pt x="3619500" y="685800"/>
                </a:lnTo>
                <a:lnTo>
                  <a:pt x="0" y="68580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1804610" y="4450556"/>
            <a:ext cx="40107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D95C5C"/>
                </a:solidFill>
                <a:latin typeface="Arial"/>
                <a:ea typeface="Microsoft YaHei"/>
                <a:cs typeface="Arial"/>
              </a:rPr>
              <a:t>缺项 / 版本不一致：退回交出方，不得直接进入下一部门</a:t>
            </a:r>
          </a:p>
        </p:txBody>
      </p:sp>
      <p:sp>
        <p:nvSpPr>
          <p:cNvPr id="32" name="Freeform 32"/>
          <p:cNvSpPr/>
          <p:nvPr/>
        </p:nvSpPr>
        <p:spPr>
          <a:xfrm>
            <a:off x="762000" y="5286375"/>
            <a:ext cx="10096500" cy="628650"/>
          </a:xfrm>
          <a:custGeom>
            <a:avLst/>
            <a:gdLst/>
            <a:ahLst/>
            <a:cxnLst/>
            <a:rect l="l" t="t" r="r" b="b"/>
            <a:pathLst>
              <a:path w="10096500" h="628650">
                <a:moveTo>
                  <a:pt x="152400" y="0"/>
                </a:moveTo>
                <a:lnTo>
                  <a:pt x="9944100" y="0"/>
                </a:lnTo>
                <a:cubicBezTo>
                  <a:pt x="10028268" y="0"/>
                  <a:pt x="10096500" y="68232"/>
                  <a:pt x="10096500" y="152400"/>
                </a:cubicBezTo>
                <a:lnTo>
                  <a:pt x="10096500" y="476250"/>
                </a:lnTo>
                <a:cubicBezTo>
                  <a:pt x="10096500" y="560418"/>
                  <a:pt x="10028268" y="628650"/>
                  <a:pt x="9944100" y="628650"/>
                </a:cubicBezTo>
                <a:lnTo>
                  <a:pt x="152400" y="628650"/>
                </a:lnTo>
                <a:cubicBezTo>
                  <a:pt x="68232" y="628650"/>
                  <a:pt x="0" y="560418"/>
                  <a:pt x="0" y="4762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41654" y="5537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交接证据</a:t>
            </a:r>
          </a:p>
        </p:txBody>
      </p:sp>
      <p:sp>
        <p:nvSpPr>
          <p:cNvPr id="34" name="Freeform 34"/>
          <p:cNvSpPr/>
          <p:nvPr/>
        </p:nvSpPr>
        <p:spPr>
          <a:xfrm>
            <a:off x="2381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0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2746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交接清单 / 版本号</a:t>
            </a:r>
          </a:p>
        </p:txBody>
      </p:sp>
      <p:sp>
        <p:nvSpPr>
          <p:cNvPr id="36" name="Freeform 36"/>
          <p:cNvSpPr/>
          <p:nvPr/>
        </p:nvSpPr>
        <p:spPr>
          <a:xfrm>
            <a:off x="4476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776183" y="556212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接收确认 / 差异记录</a:t>
            </a:r>
          </a:p>
        </p:txBody>
      </p:sp>
      <p:sp>
        <p:nvSpPr>
          <p:cNvPr id="38" name="Freeform 38"/>
          <p:cNvSpPr/>
          <p:nvPr/>
        </p:nvSpPr>
        <p:spPr>
          <a:xfrm>
            <a:off x="65722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937310" y="556212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责任人 / 截止日期</a:t>
            </a:r>
          </a:p>
        </p:txBody>
      </p:sp>
      <p:sp>
        <p:nvSpPr>
          <p:cNvPr id="40" name="Freeform 40"/>
          <p:cNvSpPr/>
          <p:nvPr/>
        </p:nvSpPr>
        <p:spPr>
          <a:xfrm>
            <a:off x="8667750" y="5467350"/>
            <a:ext cx="1809750" cy="285750"/>
          </a:xfrm>
          <a:custGeom>
            <a:avLst/>
            <a:gdLst/>
            <a:ahLst/>
            <a:cxnLst/>
            <a:rect l="l" t="t" r="r" b="b"/>
            <a:pathLst>
              <a:path w="1809750" h="285750">
                <a:moveTo>
                  <a:pt x="142875" y="0"/>
                </a:moveTo>
                <a:lnTo>
                  <a:pt x="1666875" y="0"/>
                </a:lnTo>
                <a:cubicBezTo>
                  <a:pt x="1745783" y="0"/>
                  <a:pt x="1809750" y="63967"/>
                  <a:pt x="1809750" y="142875"/>
                </a:cubicBezTo>
                <a:lnTo>
                  <a:pt x="1809750" y="142875"/>
                </a:lnTo>
                <a:cubicBezTo>
                  <a:pt x="1809750" y="221783"/>
                  <a:pt x="1745783" y="285750"/>
                  <a:pt x="1666875" y="285750"/>
                </a:cubicBezTo>
                <a:lnTo>
                  <a:pt x="142875" y="285750"/>
                </a:lnTo>
                <a:cubicBezTo>
                  <a:pt x="63967" y="285750"/>
                  <a:pt x="0" y="221783"/>
                  <a:pt x="0" y="142875"/>
                </a:cubicBezTo>
                <a:lnTo>
                  <a:pt x="0" y="142875"/>
                </a:lnTo>
                <a:cubicBezTo>
                  <a:pt x="0" y="63967"/>
                  <a:pt x="63967" y="0"/>
                  <a:pt x="142875" y="0"/>
                </a:cubicBezTo>
                <a:close/>
              </a:path>
            </a:pathLst>
          </a:custGeom>
          <a:solidFill>
            <a:srgbClr val="FFF0F0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9173908" y="5562124"/>
            <a:ext cx="7974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异常升级记录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87446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图例：蓝色＝输入 橙色＝完整性闸口 青绿色＝验收 红色虚线＝缺项退回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039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21 / GOVERNANCE · DOCUMENT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文件编制与版本控制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29308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新版本必须可追溯，旧版本必须被隔离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2190750" y="1952625"/>
            <a:ext cx="7810500" cy="2190750"/>
          </a:xfrm>
          <a:custGeom>
            <a:avLst/>
            <a:gdLst/>
            <a:ahLst/>
            <a:cxnLst/>
            <a:rect l="l" t="t" r="r" b="b"/>
            <a:pathLst>
              <a:path w="7810500" h="2190750">
                <a:moveTo>
                  <a:pt x="0" y="1095375"/>
                </a:moveTo>
                <a:cubicBezTo>
                  <a:pt x="0" y="142875"/>
                  <a:pt x="1524000" y="0"/>
                  <a:pt x="2286000" y="619125"/>
                </a:cubicBezTo>
                <a:cubicBezTo>
                  <a:pt x="2952750" y="1143000"/>
                  <a:pt x="3143250" y="1762125"/>
                  <a:pt x="3905250" y="1762125"/>
                </a:cubicBezTo>
                <a:cubicBezTo>
                  <a:pt x="4667250" y="1762125"/>
                  <a:pt x="4857750" y="1143000"/>
                  <a:pt x="5524500" y="619125"/>
                </a:cubicBezTo>
                <a:cubicBezTo>
                  <a:pt x="6286500" y="0"/>
                  <a:pt x="7810500" y="142875"/>
                  <a:pt x="7810500" y="1095375"/>
                </a:cubicBezTo>
                <a:cubicBezTo>
                  <a:pt x="7810500" y="2047875"/>
                  <a:pt x="6286500" y="2190750"/>
                  <a:pt x="5524500" y="1571625"/>
                </a:cubicBezTo>
                <a:cubicBezTo>
                  <a:pt x="4857750" y="1047750"/>
                  <a:pt x="4667250" y="428625"/>
                  <a:pt x="3905250" y="428625"/>
                </a:cubicBezTo>
                <a:cubicBezTo>
                  <a:pt x="3143250" y="428625"/>
                  <a:pt x="2952750" y="1047750"/>
                  <a:pt x="2286000" y="1571625"/>
                </a:cubicBezTo>
                <a:cubicBezTo>
                  <a:pt x="1524000" y="2190750"/>
                  <a:pt x="0" y="2047875"/>
                  <a:pt x="0" y="1095375"/>
                </a:cubicBezTo>
                <a:close/>
              </a:path>
            </a:pathLst>
          </a:cu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4" name="Group 24"/>
          <p:cNvGrpSpPr/>
          <p:nvPr/>
        </p:nvGrpSpPr>
        <p:grpSpPr>
          <a:xfrm>
            <a:off x="1381125" y="2047875"/>
            <a:ext cx="9429750" cy="2095500"/>
            <a:chOff x="1381125" y="2047875"/>
            <a:chExt cx="9429750" cy="2095500"/>
          </a:xfrm>
        </p:grpSpPr>
        <p:sp>
          <p:nvSpPr>
            <p:cNvPr id="9" name="Freeform 9"/>
            <p:cNvSpPr/>
            <p:nvPr/>
          </p:nvSpPr>
          <p:spPr>
            <a:xfrm>
              <a:off x="13811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5033" y="28708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起草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2514" y="3122295"/>
              <a:ext cx="7364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需求与版本号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371475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348658" y="22040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评审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7729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专业意见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286375" y="3476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750662" y="36328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批准发布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848921" y="388429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受控清单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858000" y="204787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237476" y="220408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执行与培训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20546" y="24555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使用记录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191625" y="2714625"/>
              <a:ext cx="1619250" cy="666750"/>
            </a:xfrm>
            <a:custGeom>
              <a:avLst/>
              <a:gdLst/>
              <a:ahLst/>
              <a:cxnLst/>
              <a:rect l="l" t="t" r="r" b="b"/>
              <a:pathLst>
                <a:path w="1619250" h="666750">
                  <a:moveTo>
                    <a:pt x="133350" y="0"/>
                  </a:moveTo>
                  <a:lnTo>
                    <a:pt x="1485900" y="0"/>
                  </a:lnTo>
                  <a:cubicBezTo>
                    <a:pt x="1559547" y="0"/>
                    <a:pt x="1619250" y="59703"/>
                    <a:pt x="1619250" y="133350"/>
                  </a:cubicBezTo>
                  <a:lnTo>
                    <a:pt x="1619250" y="533400"/>
                  </a:lnTo>
                  <a:cubicBezTo>
                    <a:pt x="1619250" y="607047"/>
                    <a:pt x="1559547" y="666750"/>
                    <a:pt x="1485900" y="666750"/>
                  </a:cubicBezTo>
                  <a:lnTo>
                    <a:pt x="133350" y="666750"/>
                  </a:lnTo>
                  <a:cubicBezTo>
                    <a:pt x="59703" y="666750"/>
                    <a:pt x="0" y="607047"/>
                    <a:pt x="0" y="5334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558379" y="2870835"/>
              <a:ext cx="8857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复审 / 修订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93592" y="312229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触发新版本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8810625" y="4476750"/>
            <a:ext cx="2381250" cy="952500"/>
          </a:xfrm>
          <a:custGeom>
            <a:avLst/>
            <a:gdLst/>
            <a:ahLst/>
            <a:cxnLst/>
            <a:rect l="l" t="t" r="r" b="b"/>
            <a:pathLst>
              <a:path w="2381250" h="9525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800100"/>
                </a:lnTo>
                <a:cubicBezTo>
                  <a:pt x="2381250" y="884268"/>
                  <a:pt x="2313018" y="952500"/>
                  <a:pt x="2228850" y="952500"/>
                </a:cubicBezTo>
                <a:lnTo>
                  <a:pt x="152400" y="952500"/>
                </a:lnTo>
                <a:cubicBezTo>
                  <a:pt x="68232" y="952500"/>
                  <a:pt x="0" y="884268"/>
                  <a:pt x="0" y="800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0F0"/>
          </a:solidFill>
          <a:ln w="19050">
            <a:solidFill>
              <a:srgbClr val="D95C5C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9260366" y="4672489"/>
            <a:ext cx="1481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旧版本隔离 / 作废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30512" y="498252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回收、标识、留痕</a:t>
            </a:r>
          </a:p>
        </p:txBody>
      </p:sp>
      <p:sp>
        <p:nvSpPr>
          <p:cNvPr id="28" name="Freeform 28"/>
          <p:cNvSpPr/>
          <p:nvPr/>
        </p:nvSpPr>
        <p:spPr>
          <a:xfrm>
            <a:off x="8477250" y="2714625"/>
            <a:ext cx="333375" cy="1762125"/>
          </a:xfrm>
          <a:custGeom>
            <a:avLst/>
            <a:gdLst/>
            <a:ahLst/>
            <a:cxnLst/>
            <a:rect l="l" t="t" r="r" b="b"/>
            <a:pathLst>
              <a:path w="333375" h="1762125">
                <a:moveTo>
                  <a:pt x="0" y="0"/>
                </a:moveTo>
                <a:lnTo>
                  <a:pt x="0" y="1762125"/>
                </a:lnTo>
                <a:lnTo>
                  <a:pt x="333375" y="17621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666750" y="5572125"/>
            <a:ext cx="10477500" cy="457200"/>
          </a:xfrm>
          <a:custGeom>
            <a:avLst/>
            <a:gdLst/>
            <a:ahLst/>
            <a:cxnLst/>
            <a:rect l="l" t="t" r="r" b="b"/>
            <a:pathLst>
              <a:path w="10477500" h="457200">
                <a:moveTo>
                  <a:pt x="228600" y="0"/>
                </a:moveTo>
                <a:lnTo>
                  <a:pt x="10248900" y="0"/>
                </a:lnTo>
                <a:cubicBezTo>
                  <a:pt x="10375152" y="0"/>
                  <a:pt x="10477500" y="102348"/>
                  <a:pt x="10477500" y="228600"/>
                </a:cubicBezTo>
                <a:lnTo>
                  <a:pt x="10477500" y="228600"/>
                </a:lnTo>
                <a:cubicBezTo>
                  <a:pt x="10477500" y="354852"/>
                  <a:pt x="10375152" y="457200"/>
                  <a:pt x="10248900" y="457200"/>
                </a:cubicBezTo>
                <a:lnTo>
                  <a:pt x="228600" y="457200"/>
                </a:lnTo>
                <a:cubicBezTo>
                  <a:pt x="102348" y="457200"/>
                  <a:pt x="0" y="354852"/>
                  <a:pt x="0" y="228600"/>
                </a:cubicBez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3658362" y="5736431"/>
            <a:ext cx="44942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证据：版本清单 · 审批记录 · 发布通知 · 培训记录 · 旧版回收记录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738" y="6475095"/>
            <a:ext cx="331713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主环＝受控文件生命周期 红色分支＝旧版隔离，不回流主流程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902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22 / GOVERNANCE · RECORD TRACEABILITY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记录与档案生命周期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1323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记录要能形成、找到、看懂，并在到期时有依据地处置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65960"/>
            <a:ext cx="43799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形成 → 审核 → 编码归档 → 权限保存 → 检索借阅 → 到期处置</a:t>
            </a:r>
          </a:p>
        </p:txBody>
      </p:sp>
      <p:sp>
        <p:nvSpPr>
          <p:cNvPr id="9" name="Line 9"/>
          <p:cNvSpPr/>
          <p:nvPr/>
        </p:nvSpPr>
        <p:spPr>
          <a:xfrm>
            <a:off x="1047750" y="2714625"/>
            <a:ext cx="7620000" cy="1"/>
          </a:xfrm>
          <a:prstGeom prst="line">
            <a:avLst/>
          </a:prstGeom>
          <a:noFill/>
          <a:ln w="47625">
            <a:solidFill>
              <a:srgbClr val="2F6BFF"/>
            </a:solidFill>
            <a:tailEnd type="triangle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38200" y="2314575"/>
            <a:ext cx="8420100" cy="800100"/>
            <a:chOff x="838200" y="2314575"/>
            <a:chExt cx="8420100" cy="800100"/>
          </a:xfrm>
        </p:grpSpPr>
        <p:sp>
          <p:nvSpPr>
            <p:cNvPr id="10" name="Ellipse 10"/>
            <p:cNvSpPr/>
            <p:nvPr/>
          </p:nvSpPr>
          <p:spPr>
            <a:xfrm>
              <a:off x="838200" y="2314575"/>
              <a:ext cx="800100" cy="800100"/>
            </a:xfrm>
            <a:prstGeom prst="ellipse">
              <a:avLst/>
            </a:prstGeom>
            <a:solidFill>
              <a:srgbClr val="EAF0FF"/>
            </a:solidFill>
            <a:ln w="19050">
              <a:solidFill>
                <a:srgbClr val="2F6BFF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形成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2362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586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审核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3886200" y="2314575"/>
              <a:ext cx="800100" cy="8001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110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归档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410200" y="2314575"/>
              <a:ext cx="800100" cy="800100"/>
            </a:xfrm>
            <a:prstGeom prst="ellipse">
              <a:avLst/>
            </a:pr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保存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934200" y="2314575"/>
              <a:ext cx="800100" cy="800100"/>
            </a:xfrm>
            <a:prstGeom prst="ellipse">
              <a:avLst/>
            </a:pr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58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458200" y="2314575"/>
              <a:ext cx="800100" cy="800100"/>
            </a:xfrm>
            <a:prstGeom prst="ellipse">
              <a:avLst/>
            </a:prstGeom>
            <a:solidFill>
              <a:srgbClr val="FFF7DF"/>
            </a:solidFill>
            <a:ln w="19050">
              <a:solidFill>
                <a:srgbClr val="A87519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82533" y="264223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A87519"/>
                  </a:solidFill>
                  <a:latin typeface="Arial"/>
                  <a:ea typeface="Microsoft YaHei"/>
                  <a:cs typeface="Arial"/>
                </a:rPr>
                <a:t>处置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4286250" y="3143250"/>
            <a:ext cx="5715000" cy="762000"/>
          </a:xfrm>
          <a:custGeom>
            <a:avLst/>
            <a:gdLst/>
            <a:ahLst/>
            <a:cxnLst/>
            <a:rect l="l" t="t" r="r" b="b"/>
            <a:pathLst>
              <a:path w="5715000" h="762000">
                <a:moveTo>
                  <a:pt x="0" y="0"/>
                </a:moveTo>
                <a:lnTo>
                  <a:pt x="0" y="762000"/>
                </a:lnTo>
                <a:lnTo>
                  <a:pt x="5715000" y="76200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4" name="Freeform 24"/>
          <p:cNvSpPr/>
          <p:nvPr/>
        </p:nvSpPr>
        <p:spPr>
          <a:xfrm>
            <a:off x="952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776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档案分层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32916" y="417290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普通记录 · 受限记录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2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关键经营 / 质量记录</a:t>
            </a:r>
          </a:p>
        </p:txBody>
      </p:sp>
      <p:sp>
        <p:nvSpPr>
          <p:cNvPr id="28" name="Freeform 28"/>
          <p:cNvSpPr/>
          <p:nvPr/>
        </p:nvSpPr>
        <p:spPr>
          <a:xfrm>
            <a:off x="38100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2E7"/>
          </a:solidFill>
          <a:ln w="9525">
            <a:solidFill>
              <a:srgbClr val="C56A25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4543592" y="3862864"/>
            <a:ext cx="91406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权限与留痕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090416" y="4172902"/>
            <a:ext cx="10213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谁可看 · 谁借阅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904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访问记录 · 归还记录</a:t>
            </a:r>
          </a:p>
        </p:txBody>
      </p:sp>
      <p:sp>
        <p:nvSpPr>
          <p:cNvPr id="32" name="Freeform 32"/>
          <p:cNvSpPr/>
          <p:nvPr/>
        </p:nvSpPr>
        <p:spPr>
          <a:xfrm>
            <a:off x="6667500" y="3667125"/>
            <a:ext cx="2381250" cy="1143000"/>
          </a:xfrm>
          <a:custGeom>
            <a:avLst/>
            <a:gdLst/>
            <a:ahLst/>
            <a:cxnLst/>
            <a:rect l="l" t="t" r="r" b="b"/>
            <a:pathLst>
              <a:path w="2381250" h="1143000">
                <a:moveTo>
                  <a:pt x="152400" y="0"/>
                </a:moveTo>
                <a:lnTo>
                  <a:pt x="2228850" y="0"/>
                </a:lnTo>
                <a:cubicBezTo>
                  <a:pt x="2313018" y="0"/>
                  <a:pt x="2381250" y="68232"/>
                  <a:pt x="2381250" y="152400"/>
                </a:cubicBezTo>
                <a:lnTo>
                  <a:pt x="2381250" y="990600"/>
                </a:lnTo>
                <a:cubicBezTo>
                  <a:pt x="2381250" y="1074768"/>
                  <a:pt x="2313018" y="1143000"/>
                  <a:pt x="2228850" y="1143000"/>
                </a:cubicBezTo>
                <a:lnTo>
                  <a:pt x="152400" y="1143000"/>
                </a:lnTo>
                <a:cubicBezTo>
                  <a:pt x="68232" y="1143000"/>
                  <a:pt x="0" y="1074768"/>
                  <a:pt x="0" y="990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A87519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7491203" y="3862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到期决策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947916" y="4172902"/>
            <a:ext cx="11838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保留 / 延期 / 销毁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47916" y="4420552"/>
            <a:ext cx="130403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审批依据 · 处置留痕</a:t>
            </a:r>
          </a:p>
        </p:txBody>
      </p:sp>
      <p:sp>
        <p:nvSpPr>
          <p:cNvPr id="36" name="Freeform 36"/>
          <p:cNvSpPr/>
          <p:nvPr/>
        </p:nvSpPr>
        <p:spPr>
          <a:xfrm>
            <a:off x="9334500" y="2000250"/>
            <a:ext cx="2000250" cy="1809750"/>
          </a:xfrm>
          <a:custGeom>
            <a:avLst/>
            <a:gdLst/>
            <a:ahLst/>
            <a:cxnLst/>
            <a:rect l="l" t="t" r="r" b="b"/>
            <a:pathLst>
              <a:path w="2000250" h="1809750">
                <a:moveTo>
                  <a:pt x="171450" y="0"/>
                </a:moveTo>
                <a:lnTo>
                  <a:pt x="1828800" y="0"/>
                </a:lnTo>
                <a:cubicBezTo>
                  <a:pt x="1923489" y="0"/>
                  <a:pt x="2000250" y="76761"/>
                  <a:pt x="2000250" y="171450"/>
                </a:cubicBezTo>
                <a:lnTo>
                  <a:pt x="2000250" y="1638300"/>
                </a:lnTo>
                <a:cubicBezTo>
                  <a:pt x="2000250" y="1732989"/>
                  <a:pt x="1923489" y="1809750"/>
                  <a:pt x="1828800" y="1809750"/>
                </a:cubicBezTo>
                <a:lnTo>
                  <a:pt x="171450" y="1809750"/>
                </a:lnTo>
                <a:cubicBezTo>
                  <a:pt x="76761" y="1809750"/>
                  <a:pt x="0" y="1732989"/>
                  <a:pt x="0" y="16383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9850707" y="2235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可追溯标准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09785" y="2640806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有唯一标识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09785" y="2974181"/>
            <a:ext cx="10488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找得到原记录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709785" y="3307556"/>
            <a:ext cx="120029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看得到访问痕迹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709785" y="3640931"/>
            <a:ext cx="89739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✓ 处置有批准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475095"/>
            <a:ext cx="371696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主线＝记录时间轴 下方＝档案分层与权限控制 处置必须保留决策证据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648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23 / GOVERNANCE · COMPETENCE &amp; AUTHORIZATION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人员能力与岗位授权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培训不等于授权：能力确认是权限打开前的闸门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0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7657B8"/>
                </a:solidFill>
                <a:latin typeface="Arial"/>
                <a:ea typeface="Microsoft YaHei"/>
                <a:cs typeface="Arial"/>
              </a:rPr>
              <a:t>能力确认阶梯</a:t>
            </a:r>
          </a:p>
        </p:txBody>
      </p:sp>
      <p:sp>
        <p:nvSpPr>
          <p:cNvPr id="9" name="Freeform 9"/>
          <p:cNvSpPr/>
          <p:nvPr/>
        </p:nvSpPr>
        <p:spPr>
          <a:xfrm>
            <a:off x="1047750" y="3143250"/>
            <a:ext cx="7239000" cy="1714500"/>
          </a:xfrm>
          <a:custGeom>
            <a:avLst/>
            <a:gdLst/>
            <a:ahLst/>
            <a:cxnLst/>
            <a:rect l="l" t="t" r="r" b="b"/>
            <a:pathLst>
              <a:path w="7239000" h="1714500">
                <a:moveTo>
                  <a:pt x="0" y="1714500"/>
                </a:moveTo>
                <a:lnTo>
                  <a:pt x="1809750" y="1714500"/>
                </a:lnTo>
                <a:lnTo>
                  <a:pt x="1809750" y="1143000"/>
                </a:lnTo>
                <a:lnTo>
                  <a:pt x="3619500" y="1143000"/>
                </a:lnTo>
                <a:lnTo>
                  <a:pt x="3619500" y="571500"/>
                </a:lnTo>
                <a:lnTo>
                  <a:pt x="5429250" y="571500"/>
                </a:lnTo>
                <a:lnTo>
                  <a:pt x="5429250" y="0"/>
                </a:lnTo>
                <a:lnTo>
                  <a:pt x="7239000" y="0"/>
                </a:lnTo>
              </a:path>
            </a:pathLst>
          </a:custGeom>
          <a:noFill/>
          <a:ln w="47625">
            <a:solidFill>
              <a:srgbClr val="7657B8"/>
            </a:solidFill>
            <a:tailEnd type="triangle" w="lg" len="lg"/>
          </a:ln>
        </p:spPr>
      </p:sp>
      <p:grpSp>
        <p:nvGrpSpPr>
          <p:cNvPr id="18" name="Group 18"/>
          <p:cNvGrpSpPr/>
          <p:nvPr/>
        </p:nvGrpSpPr>
        <p:grpSpPr>
          <a:xfrm>
            <a:off x="952500" y="2809875"/>
            <a:ext cx="7048500" cy="2305050"/>
            <a:chOff x="952500" y="2809875"/>
            <a:chExt cx="7048500" cy="2305050"/>
          </a:xfrm>
        </p:grpSpPr>
        <p:sp>
          <p:nvSpPr>
            <p:cNvPr id="10" name="Freeform 10"/>
            <p:cNvSpPr/>
            <p:nvPr/>
          </p:nvSpPr>
          <p:spPr>
            <a:xfrm>
              <a:off x="952500" y="4524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75425" y="4739164"/>
              <a:ext cx="3733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培训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2762250" y="3952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2ECFF"/>
            </a:solidFill>
            <a:ln w="9525">
              <a:solidFill>
                <a:srgbClr val="7657B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204953" y="4167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能力确认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572000" y="33813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2E7"/>
            </a:solidFill>
            <a:ln w="952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14703" y="35961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岗位授权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81750" y="2809875"/>
              <a:ext cx="1619250" cy="590550"/>
            </a:xfrm>
            <a:custGeom>
              <a:avLst/>
              <a:gdLst/>
              <a:ahLst/>
              <a:cxnLst/>
              <a:rect l="l" t="t" r="r" b="b"/>
              <a:pathLst>
                <a:path w="1619250" h="590550">
                  <a:moveTo>
                    <a:pt x="114300" y="0"/>
                  </a:moveTo>
                  <a:lnTo>
                    <a:pt x="1504950" y="0"/>
                  </a:lnTo>
                  <a:cubicBezTo>
                    <a:pt x="1568076" y="0"/>
                    <a:pt x="1619250" y="51174"/>
                    <a:pt x="1619250" y="114300"/>
                  </a:cubicBezTo>
                  <a:lnTo>
                    <a:pt x="1619250" y="476250"/>
                  </a:lnTo>
                  <a:cubicBezTo>
                    <a:pt x="1619250" y="539376"/>
                    <a:pt x="1568076" y="590550"/>
                    <a:pt x="1504950" y="590550"/>
                  </a:cubicBezTo>
                  <a:lnTo>
                    <a:pt x="114300" y="590550"/>
                  </a:lnTo>
                  <a:cubicBezTo>
                    <a:pt x="51174" y="590550"/>
                    <a:pt x="0" y="539376"/>
                    <a:pt x="0" y="476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AF7F4"/>
            </a:solidFill>
            <a:ln w="9525">
              <a:solidFill>
                <a:srgbClr val="1C9C8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824453" y="302466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授权记录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857250" y="5429250"/>
            <a:ext cx="7429500" cy="495300"/>
          </a:xfrm>
          <a:custGeom>
            <a:avLst/>
            <a:gdLst/>
            <a:ahLst/>
            <a:cxnLst/>
            <a:rect l="l" t="t" r="r" b="b"/>
            <a:pathLst>
              <a:path w="7429500" h="495300">
                <a:moveTo>
                  <a:pt x="247650" y="0"/>
                </a:moveTo>
                <a:lnTo>
                  <a:pt x="7181850" y="0"/>
                </a:lnTo>
                <a:cubicBezTo>
                  <a:pt x="7318623" y="0"/>
                  <a:pt x="7429500" y="110877"/>
                  <a:pt x="7429500" y="247650"/>
                </a:cubicBezTo>
                <a:lnTo>
                  <a:pt x="7429500" y="247650"/>
                </a:lnTo>
                <a:cubicBezTo>
                  <a:pt x="7429500" y="384423"/>
                  <a:pt x="7318623" y="495300"/>
                  <a:pt x="7181850" y="495300"/>
                </a:cubicBezTo>
                <a:lnTo>
                  <a:pt x="247650" y="495300"/>
                </a:lnTo>
                <a:cubicBezTo>
                  <a:pt x="110877" y="495300"/>
                  <a:pt x="0" y="384423"/>
                  <a:pt x="0" y="2476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411944" y="5612606"/>
            <a:ext cx="43201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每一级都要有证据：培训记录 · 评价结果 · 授权批准 · 复核日期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85139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授权生命周期</a:t>
            </a:r>
          </a:p>
        </p:txBody>
      </p:sp>
      <p:sp>
        <p:nvSpPr>
          <p:cNvPr id="22" name="Freeform 22"/>
          <p:cNvSpPr/>
          <p:nvPr/>
        </p:nvSpPr>
        <p:spPr>
          <a:xfrm>
            <a:off x="8572500" y="2476500"/>
            <a:ext cx="2571750" cy="2381250"/>
          </a:xfrm>
          <a:custGeom>
            <a:avLst/>
            <a:gdLst/>
            <a:ahLst/>
            <a:cxnLst/>
            <a:rect l="l" t="t" r="r" b="b"/>
            <a:pathLst>
              <a:path w="2571750" h="2381250">
                <a:moveTo>
                  <a:pt x="171450" y="0"/>
                </a:moveTo>
                <a:lnTo>
                  <a:pt x="2400300" y="0"/>
                </a:lnTo>
                <a:cubicBezTo>
                  <a:pt x="2494989" y="0"/>
                  <a:pt x="2571750" y="76761"/>
                  <a:pt x="2571750" y="171450"/>
                </a:cubicBezTo>
                <a:lnTo>
                  <a:pt x="2571750" y="2209800"/>
                </a:lnTo>
                <a:cubicBezTo>
                  <a:pt x="2571750" y="2304489"/>
                  <a:pt x="2494989" y="2381250"/>
                  <a:pt x="2400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C9C8C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8858250" y="2857500"/>
            <a:ext cx="2000250" cy="1428750"/>
          </a:xfrm>
          <a:custGeom>
            <a:avLst/>
            <a:gdLst/>
            <a:ahLst/>
            <a:cxnLst/>
            <a:rect l="l" t="t" r="r" b="b"/>
            <a:pathLst>
              <a:path w="2000250" h="1428750">
                <a:moveTo>
                  <a:pt x="1000125" y="0"/>
                </a:moveTo>
                <a:cubicBezTo>
                  <a:pt x="1714500" y="0"/>
                  <a:pt x="2000250" y="476250"/>
                  <a:pt x="1714500" y="952500"/>
                </a:cubicBezTo>
                <a:cubicBezTo>
                  <a:pt x="1428750" y="1428750"/>
                  <a:pt x="571500" y="1428750"/>
                  <a:pt x="285750" y="952500"/>
                </a:cubicBezTo>
                <a:cubicBezTo>
                  <a:pt x="0" y="476250"/>
                  <a:pt x="285750" y="0"/>
                  <a:pt x="1000125" y="0"/>
                </a:cubicBezTo>
                <a:close/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4" name="TextBox 24"/>
          <p:cNvSpPr txBox="1"/>
          <p:nvPr/>
        </p:nvSpPr>
        <p:spPr>
          <a:xfrm>
            <a:off x="9428226" y="3204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维护与复核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24153" y="35933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复训 / 调岗 / 替代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74041" y="3974306"/>
            <a:ext cx="76866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失效时暂停</a:t>
            </a:r>
          </a:p>
        </p:txBody>
      </p:sp>
      <p:sp>
        <p:nvSpPr>
          <p:cNvPr id="27" name="Freeform 27"/>
          <p:cNvSpPr/>
          <p:nvPr/>
        </p:nvSpPr>
        <p:spPr>
          <a:xfrm>
            <a:off x="6667500" y="4857750"/>
            <a:ext cx="3190875" cy="428625"/>
          </a:xfrm>
          <a:custGeom>
            <a:avLst/>
            <a:gdLst/>
            <a:ahLst/>
            <a:cxnLst/>
            <a:rect l="l" t="t" r="r" b="b"/>
            <a:pathLst>
              <a:path w="3190875" h="428625">
                <a:moveTo>
                  <a:pt x="3190875" y="0"/>
                </a:moveTo>
                <a:lnTo>
                  <a:pt x="3190875" y="428625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073233" y="5077778"/>
            <a:ext cx="1665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离岗 / 不合格：回收权限</a:t>
            </a:r>
          </a:p>
        </p:txBody>
      </p:sp>
      <p:sp>
        <p:nvSpPr>
          <p:cNvPr id="29" name="Freeform 29"/>
          <p:cNvSpPr/>
          <p:nvPr/>
        </p:nvSpPr>
        <p:spPr>
          <a:xfrm>
            <a:off x="857250" y="2476500"/>
            <a:ext cx="2571750" cy="1047750"/>
          </a:xfrm>
          <a:custGeom>
            <a:avLst/>
            <a:gdLst/>
            <a:ahLst/>
            <a:cxnLst/>
            <a:rect l="l" t="t" r="r" b="b"/>
            <a:pathLst>
              <a:path w="2571750" h="1047750">
                <a:moveTo>
                  <a:pt x="152400" y="0"/>
                </a:moveTo>
                <a:lnTo>
                  <a:pt x="2419350" y="0"/>
                </a:lnTo>
                <a:cubicBezTo>
                  <a:pt x="2503518" y="0"/>
                  <a:pt x="2571750" y="68232"/>
                  <a:pt x="2571750" y="152400"/>
                </a:cubicBezTo>
                <a:lnTo>
                  <a:pt x="2571750" y="895350"/>
                </a:lnTo>
                <a:cubicBezTo>
                  <a:pt x="2571750" y="979518"/>
                  <a:pt x="2503518" y="1047750"/>
                  <a:pt x="2419350" y="1047750"/>
                </a:cubicBezTo>
                <a:lnTo>
                  <a:pt x="152400" y="1047750"/>
                </a:lnTo>
                <a:cubicBezTo>
                  <a:pt x="68232" y="1047750"/>
                  <a:pt x="0" y="979518"/>
                  <a:pt x="0" y="895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1776203" y="2719864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能力闸门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68814" y="3069431"/>
            <a:ext cx="154862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未确认能力 → 不得授权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紫色＝能力判断 橙色＝授权 青绿色＝有效维护 红色虚线＝暂停/回收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966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24 / GOVERNANCE · INFORMATION ACCESS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客户资料与信息权限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47560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资料先分级，权限按需批准，使用可留痕，变化时及时回收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142" y="1997392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资料分级漏斗</a:t>
            </a:r>
          </a:p>
        </p:txBody>
      </p:sp>
      <p:sp>
        <p:nvSpPr>
          <p:cNvPr id="9" name="Freeform 9"/>
          <p:cNvSpPr/>
          <p:nvPr/>
        </p:nvSpPr>
        <p:spPr>
          <a:xfrm>
            <a:off x="857250" y="2428875"/>
            <a:ext cx="2857500" cy="2047875"/>
          </a:xfrm>
          <a:custGeom>
            <a:avLst/>
            <a:gdLst/>
            <a:ahLst/>
            <a:cxnLst/>
            <a:rect l="l" t="t" r="r" b="b"/>
            <a:pathLst>
              <a:path w="2857500" h="2047875">
                <a:moveTo>
                  <a:pt x="0" y="0"/>
                </a:moveTo>
                <a:lnTo>
                  <a:pt x="2857500" y="0"/>
                </a:lnTo>
                <a:lnTo>
                  <a:pt x="2286000" y="2047875"/>
                </a:lnTo>
                <a:lnTo>
                  <a:pt x="571500" y="2047875"/>
                </a:lnTo>
                <a:close/>
              </a:path>
            </a:pathLst>
          </a:custGeom>
          <a:solidFill>
            <a:srgbClr val="EAF0FF"/>
          </a:solidFill>
          <a:ln w="19050">
            <a:solidFill>
              <a:srgbClr val="2F6BFF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635227" y="2672239"/>
            <a:ext cx="13015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客户 / 公司资料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" y="3069431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图纸 · 报价 · 工艺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51778" y="3402806"/>
            <a:ext cx="126844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质量 · 人事 · 经营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634" y="3934778"/>
            <a:ext cx="158673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按敏感度 / 业务需要分级</a:t>
            </a:r>
          </a:p>
        </p:txBody>
      </p:sp>
      <p:sp>
        <p:nvSpPr>
          <p:cNvPr id="14" name="Freeform 14"/>
          <p:cNvSpPr/>
          <p:nvPr/>
        </p:nvSpPr>
        <p:spPr>
          <a:xfrm>
            <a:off x="3905250" y="333375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38100">
            <a:solidFill>
              <a:srgbClr val="2F6BFF"/>
            </a:solidFill>
            <a:tailEnd type="triangle" w="lg" len="lg"/>
          </a:ln>
        </p:spPr>
      </p:sp>
      <p:sp>
        <p:nvSpPr>
          <p:cNvPr id="15" name="Freeform 15"/>
          <p:cNvSpPr/>
          <p:nvPr/>
        </p:nvSpPr>
        <p:spPr>
          <a:xfrm>
            <a:off x="4857750" y="2190750"/>
            <a:ext cx="2952750" cy="2381250"/>
          </a:xfrm>
          <a:custGeom>
            <a:avLst/>
            <a:gdLst/>
            <a:ahLst/>
            <a:cxnLst/>
            <a:rect l="l" t="t" r="r" b="b"/>
            <a:pathLst>
              <a:path w="2952750" h="2381250">
                <a:moveTo>
                  <a:pt x="171450" y="0"/>
                </a:moveTo>
                <a:lnTo>
                  <a:pt x="2781300" y="0"/>
                </a:lnTo>
                <a:cubicBezTo>
                  <a:pt x="2875989" y="0"/>
                  <a:pt x="2952750" y="76761"/>
                  <a:pt x="2952750" y="171450"/>
                </a:cubicBezTo>
                <a:lnTo>
                  <a:pt x="2952750" y="2209800"/>
                </a:lnTo>
                <a:cubicBezTo>
                  <a:pt x="2952750" y="2304489"/>
                  <a:pt x="2875989" y="2381250"/>
                  <a:pt x="27813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5754795" y="2426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角色权限控制</a:t>
            </a:r>
          </a:p>
        </p:txBody>
      </p:sp>
      <p:sp>
        <p:nvSpPr>
          <p:cNvPr id="17" name="Freeform 17"/>
          <p:cNvSpPr/>
          <p:nvPr/>
        </p:nvSpPr>
        <p:spPr>
          <a:xfrm>
            <a:off x="5286375" y="285750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2E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834062" y="29822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C56A25"/>
                </a:solidFill>
                <a:latin typeface="Arial"/>
                <a:ea typeface="Microsoft YaHei"/>
                <a:cs typeface="Arial"/>
              </a:rPr>
              <a:t>申请：为何需要</a:t>
            </a:r>
          </a:p>
        </p:txBody>
      </p:sp>
      <p:sp>
        <p:nvSpPr>
          <p:cNvPr id="19" name="Freeform 19"/>
          <p:cNvSpPr/>
          <p:nvPr/>
        </p:nvSpPr>
        <p:spPr>
          <a:xfrm>
            <a:off x="6334125" y="3219450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0" name="Freeform 20"/>
          <p:cNvSpPr/>
          <p:nvPr/>
        </p:nvSpPr>
        <p:spPr>
          <a:xfrm>
            <a:off x="5286375" y="3476625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FFF7D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5834062" y="360140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批准：最小权限</a:t>
            </a:r>
          </a:p>
        </p:txBody>
      </p:sp>
      <p:sp>
        <p:nvSpPr>
          <p:cNvPr id="22" name="Freeform 22"/>
          <p:cNvSpPr/>
          <p:nvPr/>
        </p:nvSpPr>
        <p:spPr>
          <a:xfrm>
            <a:off x="6334125" y="3838575"/>
            <a:ext cx="9525" cy="209550"/>
          </a:xfrm>
          <a:custGeom>
            <a:avLst/>
            <a:gdLst/>
            <a:ahLst/>
            <a:cxnLst/>
            <a:rect l="l" t="t" r="r" b="b"/>
            <a:pathLst>
              <a:path w="9525" h="209550">
                <a:moveTo>
                  <a:pt x="0" y="0"/>
                </a:moveTo>
                <a:lnTo>
                  <a:pt x="0" y="209550"/>
                </a:lnTo>
              </a:path>
            </a:pathLst>
          </a:custGeom>
          <a:solidFill>
            <a:srgbClr val="000000"/>
          </a:solidFill>
          <a:ln w="19050">
            <a:solidFill>
              <a:srgbClr val="6B7A90"/>
            </a:solidFill>
            <a:tailEnd type="triangle" w="lg" len="lg"/>
          </a:ln>
        </p:spPr>
      </p:sp>
      <p:sp>
        <p:nvSpPr>
          <p:cNvPr id="23" name="Freeform 23"/>
          <p:cNvSpPr/>
          <p:nvPr/>
        </p:nvSpPr>
        <p:spPr>
          <a:xfrm>
            <a:off x="5286375" y="4095750"/>
            <a:ext cx="2095500" cy="361950"/>
          </a:xfrm>
          <a:custGeom>
            <a:avLst/>
            <a:gdLst/>
            <a:ahLst/>
            <a:cxnLst/>
            <a:rect l="l" t="t" r="r" b="b"/>
            <a:pathLst>
              <a:path w="2095500" h="361950">
                <a:moveTo>
                  <a:pt x="180975" y="0"/>
                </a:moveTo>
                <a:lnTo>
                  <a:pt x="1914525" y="0"/>
                </a:lnTo>
                <a:cubicBezTo>
                  <a:pt x="2014475" y="0"/>
                  <a:pt x="2095500" y="81025"/>
                  <a:pt x="2095500" y="180975"/>
                </a:cubicBezTo>
                <a:lnTo>
                  <a:pt x="2095500" y="180975"/>
                </a:lnTo>
                <a:cubicBezTo>
                  <a:pt x="2095500" y="280925"/>
                  <a:pt x="2014475" y="361950"/>
                  <a:pt x="1914525" y="361950"/>
                </a:cubicBezTo>
                <a:lnTo>
                  <a:pt x="180975" y="361950"/>
                </a:lnTo>
                <a:cubicBezTo>
                  <a:pt x="81025" y="361950"/>
                  <a:pt x="0" y="280925"/>
                  <a:pt x="0" y="180975"/>
                </a:cubicBezTo>
                <a:lnTo>
                  <a:pt x="0" y="180975"/>
                </a:lnTo>
                <a:cubicBezTo>
                  <a:pt x="0" y="81025"/>
                  <a:pt x="81025" y="0"/>
                  <a:pt x="180975" y="0"/>
                </a:cubicBezTo>
                <a:close/>
              </a:path>
            </a:pathLst>
          </a:custGeom>
          <a:solidFill>
            <a:srgbClr val="EAF7F4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5834062" y="42205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使用：访问留痕</a:t>
            </a:r>
          </a:p>
        </p:txBody>
      </p:sp>
      <p:sp>
        <p:nvSpPr>
          <p:cNvPr id="25" name="Freeform 25"/>
          <p:cNvSpPr/>
          <p:nvPr/>
        </p:nvSpPr>
        <p:spPr>
          <a:xfrm>
            <a:off x="7810500" y="3333750"/>
            <a:ext cx="762000" cy="9525"/>
          </a:xfrm>
          <a:custGeom>
            <a:avLst/>
            <a:gdLst/>
            <a:ahLst/>
            <a:cxnLst/>
            <a:rect l="l" t="t" r="r" b="b"/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/>
          <a:ln w="38100">
            <a:solidFill>
              <a:srgbClr val="1C9C8C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8572500" y="2190750"/>
            <a:ext cx="2762250" cy="2381250"/>
          </a:xfrm>
          <a:custGeom>
            <a:avLst/>
            <a:gdLst/>
            <a:ahLst/>
            <a:cxnLst/>
            <a:rect l="l" t="t" r="r" b="b"/>
            <a:pathLst>
              <a:path w="2762250" h="2381250">
                <a:moveTo>
                  <a:pt x="171450" y="0"/>
                </a:moveTo>
                <a:lnTo>
                  <a:pt x="2590800" y="0"/>
                </a:lnTo>
                <a:cubicBezTo>
                  <a:pt x="2685489" y="0"/>
                  <a:pt x="2762250" y="76761"/>
                  <a:pt x="2762250" y="171450"/>
                </a:cubicBezTo>
                <a:lnTo>
                  <a:pt x="2762250" y="2209800"/>
                </a:lnTo>
                <a:cubicBezTo>
                  <a:pt x="2762250" y="2304489"/>
                  <a:pt x="2685489" y="2381250"/>
                  <a:pt x="2590800" y="2381250"/>
                </a:cubicBezTo>
                <a:lnTo>
                  <a:pt x="171450" y="2381250"/>
                </a:lnTo>
                <a:cubicBezTo>
                  <a:pt x="76761" y="2381250"/>
                  <a:pt x="0" y="2304489"/>
                  <a:pt x="0" y="220980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EAF7F4"/>
          </a:solidFill>
          <a:ln w="19050">
            <a:solidFill>
              <a:srgbClr val="1C9C8C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469707" y="2426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回收与上报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95410" y="2878931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岗位变化 → 权限复核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995410" y="3212306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离岗 → 权限回收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5410" y="3545681"/>
            <a:ext cx="109428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异常访问 → 上报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995410" y="38790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客户要求 → 重新确认</a:t>
            </a:r>
          </a:p>
        </p:txBody>
      </p:sp>
      <p:sp>
        <p:nvSpPr>
          <p:cNvPr id="32" name="Freeform 32"/>
          <p:cNvSpPr/>
          <p:nvPr/>
        </p:nvSpPr>
        <p:spPr>
          <a:xfrm>
            <a:off x="6334125" y="4572000"/>
            <a:ext cx="3619500" cy="523875"/>
          </a:xfrm>
          <a:custGeom>
            <a:avLst/>
            <a:gdLst/>
            <a:ahLst/>
            <a:cxnLst/>
            <a:rect l="l" t="t" r="r" b="b"/>
            <a:pathLst>
              <a:path w="3619500" h="523875">
                <a:moveTo>
                  <a:pt x="3619500" y="0"/>
                </a:moveTo>
                <a:lnTo>
                  <a:pt x="3619500" y="523875"/>
                </a:lnTo>
                <a:lnTo>
                  <a:pt x="0" y="523875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3" name="TextBox 33"/>
          <p:cNvSpPr txBox="1"/>
          <p:nvPr/>
        </p:nvSpPr>
        <p:spPr>
          <a:xfrm>
            <a:off x="6643224" y="5220652"/>
            <a:ext cx="30013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异常 / 离岗触发回收，不等待下一次例行复核</a:t>
            </a:r>
          </a:p>
        </p:txBody>
      </p:sp>
      <p:sp>
        <p:nvSpPr>
          <p:cNvPr id="34" name="Freeform 34"/>
          <p:cNvSpPr/>
          <p:nvPr/>
        </p:nvSpPr>
        <p:spPr>
          <a:xfrm>
            <a:off x="762000" y="5619750"/>
            <a:ext cx="10572750" cy="400050"/>
          </a:xfrm>
          <a:custGeom>
            <a:avLst/>
            <a:gdLst/>
            <a:ahLst/>
            <a:cxnLst/>
            <a:rect l="l" t="t" r="r" b="b"/>
            <a:pathLst>
              <a:path w="10572750" h="400050">
                <a:moveTo>
                  <a:pt x="200025" y="0"/>
                </a:moveTo>
                <a:lnTo>
                  <a:pt x="10372725" y="0"/>
                </a:lnTo>
                <a:cubicBezTo>
                  <a:pt x="10483196" y="0"/>
                  <a:pt x="10572750" y="89554"/>
                  <a:pt x="10572750" y="200025"/>
                </a:cubicBezTo>
                <a:lnTo>
                  <a:pt x="10572750" y="200025"/>
                </a:lnTo>
                <a:cubicBezTo>
                  <a:pt x="10572750" y="310496"/>
                  <a:pt x="10483196" y="400050"/>
                  <a:pt x="10372725" y="400050"/>
                </a:cubicBezTo>
                <a:lnTo>
                  <a:pt x="200025" y="400050"/>
                </a:lnTo>
                <a:cubicBezTo>
                  <a:pt x="89554" y="400050"/>
                  <a:pt x="0" y="310496"/>
                  <a:pt x="0" y="200025"/>
                </a:cubicBezTo>
                <a:lnTo>
                  <a:pt x="0" y="200025"/>
                </a:lnTo>
                <a:cubicBezTo>
                  <a:pt x="0" y="89554"/>
                  <a:pt x="89554" y="0"/>
                  <a:pt x="2000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3611804" y="5763578"/>
            <a:ext cx="48731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底部矩阵只表达“可见 / 不可见 / 需审批”，具体岗位权限以正式授权文件为准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75095"/>
            <a:ext cx="39411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蓝色＝资料分级 橙色＝权限批准 青绿色＝留痕/回收 红色虚线＝异常回收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8177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25 / GOVERNANCE · MANAGEMENT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65460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经营会议与管理闭环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64724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会议不是终点：决定必须转化为责任、期限、验证和关闭证据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095875" y="2524125"/>
            <a:ext cx="2000250" cy="2000250"/>
          </a:xfrm>
          <a:prstGeom prst="ellipse">
            <a:avLst/>
          </a:prstGeom>
          <a:solidFill>
            <a:srgbClr val="EAF0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621160" y="32508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经营会议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413" y="361235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管理评审 / 决策中心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2500" y="2095500"/>
            <a:ext cx="10287000" cy="3095625"/>
            <a:chOff x="952500" y="2095500"/>
            <a:chExt cx="10287000" cy="3095625"/>
          </a:xfrm>
        </p:grpSpPr>
        <p:sp>
          <p:nvSpPr>
            <p:cNvPr id="11" name="Freeform 11"/>
            <p:cNvSpPr/>
            <p:nvPr/>
          </p:nvSpPr>
          <p:spPr>
            <a:xfrm>
              <a:off x="952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728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数据输入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304" y="2572702"/>
              <a:ext cx="20743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交付 · 质量 · 供应 · 现金 · 能力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8953500" y="209550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729578" y="2291239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会议输出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69905" y="2572702"/>
              <a:ext cx="20531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决定 · 责任人 · 期限 · 验收标准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952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28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跟踪验证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54086" y="4811078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按期检查结果与证据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953500" y="4333875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52400" y="0"/>
                  </a:moveTo>
                  <a:lnTo>
                    <a:pt x="2133600" y="0"/>
                  </a:lnTo>
                  <a:cubicBezTo>
                    <a:pt x="2217768" y="0"/>
                    <a:pt x="2286000" y="68232"/>
                    <a:pt x="2286000" y="152400"/>
                  </a:cubicBezTo>
                  <a:lnTo>
                    <a:pt x="2286000" y="704850"/>
                  </a:lnTo>
                  <a:cubicBezTo>
                    <a:pt x="2286000" y="789018"/>
                    <a:pt x="2217768" y="857250"/>
                    <a:pt x="2133600" y="857250"/>
                  </a:cubicBezTo>
                  <a:lnTo>
                    <a:pt x="152400" y="857250"/>
                  </a:lnTo>
                  <a:cubicBezTo>
                    <a:pt x="68232" y="857250"/>
                    <a:pt x="0" y="789018"/>
                    <a:pt x="0" y="7048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729578" y="4529614"/>
              <a:ext cx="7338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归档关闭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4485" y="4811078"/>
              <a:ext cx="1304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完成证据 · 复盘结论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323850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5" name="Freeform 25"/>
          <p:cNvSpPr/>
          <p:nvPr/>
        </p:nvSpPr>
        <p:spPr>
          <a:xfrm>
            <a:off x="7524750" y="2524125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0" y="0"/>
                </a:moveTo>
                <a:lnTo>
                  <a:pt x="1428750" y="0"/>
                </a:lnTo>
              </a:path>
            </a:pathLst>
          </a:cu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6" name="Freeform 26"/>
          <p:cNvSpPr/>
          <p:nvPr/>
        </p:nvSpPr>
        <p:spPr>
          <a:xfrm>
            <a:off x="752475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27" name="Freeform 27"/>
          <p:cNvSpPr/>
          <p:nvPr/>
        </p:nvSpPr>
        <p:spPr>
          <a:xfrm>
            <a:off x="3238500" y="4762500"/>
            <a:ext cx="1428750" cy="9525"/>
          </a:xfrm>
          <a:custGeom>
            <a:avLst/>
            <a:gdLst/>
            <a:ahLst/>
            <a:cxnLst/>
            <a:rect l="l" t="t" r="r" b="b"/>
            <a:pathLst>
              <a:path w="1428750" h="9525">
                <a:moveTo>
                  <a:pt x="1428750" y="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2095500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809625"/>
                </a:moveTo>
                <a:lnTo>
                  <a:pt x="0" y="0"/>
                </a:lnTo>
                <a:lnTo>
                  <a:pt x="3000375" y="0"/>
                </a:lnTo>
              </a:path>
            </a:pathLst>
          </a:cu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29" name="Freeform 29"/>
          <p:cNvSpPr/>
          <p:nvPr/>
        </p:nvSpPr>
        <p:spPr>
          <a:xfrm>
            <a:off x="7096125" y="3524250"/>
            <a:ext cx="3000375" cy="809625"/>
          </a:xfrm>
          <a:custGeom>
            <a:avLst/>
            <a:gdLst/>
            <a:ahLst/>
            <a:cxnLst/>
            <a:rect l="l" t="t" r="r" b="b"/>
            <a:pathLst>
              <a:path w="3000375" h="809625">
                <a:moveTo>
                  <a:pt x="0" y="0"/>
                </a:moveTo>
                <a:lnTo>
                  <a:pt x="3000375" y="0"/>
                </a:lnTo>
                <a:lnTo>
                  <a:pt x="3000375" y="809625"/>
                </a:lnTo>
              </a:path>
            </a:pathLst>
          </a:cu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30" name="Freeform 30"/>
          <p:cNvSpPr/>
          <p:nvPr/>
        </p:nvSpPr>
        <p:spPr>
          <a:xfrm>
            <a:off x="2095500" y="4762500"/>
            <a:ext cx="9144000" cy="952500"/>
          </a:xfrm>
          <a:custGeom>
            <a:avLst/>
            <a:gdLst/>
            <a:ahLst/>
            <a:cxnLst/>
            <a:rect l="l" t="t" r="r" b="b"/>
            <a:pathLst>
              <a:path w="9144000" h="952500">
                <a:moveTo>
                  <a:pt x="9144000" y="0"/>
                </a:moveTo>
                <a:lnTo>
                  <a:pt x="9144000" y="952500"/>
                </a:lnTo>
                <a:lnTo>
                  <a:pt x="0" y="952500"/>
                </a:lnTo>
                <a:lnTo>
                  <a:pt x="0" y="428625"/>
                </a:ln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31" name="TextBox 31"/>
          <p:cNvSpPr txBox="1"/>
          <p:nvPr/>
        </p:nvSpPr>
        <p:spPr>
          <a:xfrm>
            <a:off x="4795803" y="5525452"/>
            <a:ext cx="3743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未完成 / 验证不通过：红色升级，回到责任人和决策中心</a:t>
            </a:r>
          </a:p>
        </p:txBody>
      </p:sp>
      <p:sp>
        <p:nvSpPr>
          <p:cNvPr id="32" name="Freeform 32"/>
          <p:cNvSpPr/>
          <p:nvPr/>
        </p:nvSpPr>
        <p:spPr>
          <a:xfrm>
            <a:off x="4381500" y="5905500"/>
            <a:ext cx="3429000" cy="323850"/>
          </a:xfrm>
          <a:custGeom>
            <a:avLst/>
            <a:gdLst/>
            <a:ahLst/>
            <a:cxnLst/>
            <a:rect l="l" t="t" r="r" b="b"/>
            <a:pathLst>
              <a:path w="3429000" h="323850">
                <a:moveTo>
                  <a:pt x="161925" y="0"/>
                </a:moveTo>
                <a:lnTo>
                  <a:pt x="3267075" y="0"/>
                </a:lnTo>
                <a:cubicBezTo>
                  <a:pt x="3356504" y="0"/>
                  <a:pt x="3429000" y="72496"/>
                  <a:pt x="3429000" y="161925"/>
                </a:cubicBezTo>
                <a:lnTo>
                  <a:pt x="3429000" y="161925"/>
                </a:lnTo>
                <a:cubicBezTo>
                  <a:pt x="3429000" y="251354"/>
                  <a:pt x="3356504" y="323850"/>
                  <a:pt x="3267075" y="323850"/>
                </a:cubicBezTo>
                <a:lnTo>
                  <a:pt x="161925" y="323850"/>
                </a:lnTo>
                <a:cubicBezTo>
                  <a:pt x="72496" y="323850"/>
                  <a:pt x="0" y="251354"/>
                  <a:pt x="0" y="161925"/>
                </a:cubicBezTo>
                <a:lnTo>
                  <a:pt x="0" y="161925"/>
                </a:lnTo>
                <a:cubicBezTo>
                  <a:pt x="0" y="72496"/>
                  <a:pt x="72496" y="0"/>
                  <a:pt x="161925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CE4EE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5011479" y="6009799"/>
            <a:ext cx="216904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会议纪要 ≠ 关闭证据 关闭必须可验证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66738" y="6475095"/>
            <a:ext cx="369878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蓝色＝会议中心 青绿色＝输入/关闭 橙色＝决定 红色虚线＝逾期升级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57479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管理指标看板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193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先定义指标口径，再由管理层看趋势、风险和需要决策的事项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755904" y="191833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示意模板｜数值、目标和责任人待确认后填入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62000" y="2333625"/>
            <a:ext cx="10668000" cy="2619375"/>
            <a:chOff x="762000" y="2333625"/>
            <a:chExt cx="10668000" cy="2619375"/>
          </a:xfrm>
        </p:grpSpPr>
        <p:grpSp>
          <p:nvGrpSpPr>
            <p:cNvPr id="13" name="Group 13"/>
            <p:cNvGrpSpPr/>
            <p:nvPr/>
          </p:nvGrpSpPr>
          <p:grpSpPr>
            <a:xfrm>
              <a:off x="762000" y="2333625"/>
              <a:ext cx="3333750" cy="1143000"/>
              <a:chOff x="762000" y="2333625"/>
              <a:chExt cx="3333750" cy="1143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6200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2F6BFF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992505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交付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9441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9441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429125" y="2333625"/>
              <a:ext cx="3333750" cy="1143000"/>
              <a:chOff x="4429125" y="2333625"/>
              <a:chExt cx="3333750" cy="1143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4429125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7657B8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659630" y="2505075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质量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61535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1535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096250" y="2333625"/>
              <a:ext cx="3333750" cy="1143000"/>
              <a:chOff x="8096250" y="2333625"/>
              <a:chExt cx="3333750" cy="1143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096250" y="2333625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1C9C8C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326755" y="2505075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采购/库存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328660" y="28789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28660" y="3136106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762000" y="3810000"/>
              <a:ext cx="3333750" cy="1143000"/>
              <a:chOff x="762000" y="3810000"/>
              <a:chExt cx="3333750" cy="11430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76200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C56A25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92505" y="3981450"/>
                <a:ext cx="97996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现金/成本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441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9441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429125" y="3810000"/>
              <a:ext cx="3333750" cy="1143000"/>
              <a:chOff x="4429125" y="3810000"/>
              <a:chExt cx="3333750" cy="1143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429125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A87519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659630" y="3981450"/>
                <a:ext cx="4392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能力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61535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61535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96250" y="3810000"/>
              <a:ext cx="3333750" cy="1143000"/>
              <a:chOff x="8096250" y="3810000"/>
              <a:chExt cx="3333750" cy="1143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096250" y="3810000"/>
                <a:ext cx="333375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3333750" h="1143000">
                    <a:moveTo>
                      <a:pt x="133350" y="0"/>
                    </a:moveTo>
                    <a:lnTo>
                      <a:pt x="3200400" y="0"/>
                    </a:lnTo>
                    <a:cubicBezTo>
                      <a:pt x="3274047" y="0"/>
                      <a:pt x="3333750" y="59703"/>
                      <a:pt x="3333750" y="133350"/>
                    </a:cubicBezTo>
                    <a:lnTo>
                      <a:pt x="3333750" y="1009650"/>
                    </a:lnTo>
                    <a:cubicBezTo>
                      <a:pt x="3333750" y="1083297"/>
                      <a:pt x="3274047" y="1143000"/>
                      <a:pt x="3200400" y="1143000"/>
                    </a:cubicBezTo>
                    <a:lnTo>
                      <a:pt x="133350" y="1143000"/>
                    </a:lnTo>
                    <a:cubicBezTo>
                      <a:pt x="59703" y="1143000"/>
                      <a:pt x="0" y="1083297"/>
                      <a:pt x="0" y="1009650"/>
                    </a:cubicBezTo>
                    <a:lnTo>
                      <a:pt x="0" y="133350"/>
                    </a:lnTo>
                    <a:cubicBezTo>
                      <a:pt x="0" y="59703"/>
                      <a:pt x="59703" y="0"/>
                      <a:pt x="13335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D95C5C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326755" y="3981450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F2D3D"/>
                    </a:solidFill>
                    <a:latin typeface="Arial"/>
                    <a:ea typeface="Microsoft YaHei"/>
                    <a:cs typeface="Arial"/>
                  </a:rPr>
                  <a:t>整改闭环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28660" y="4355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指标口径：待确认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28660" y="4612481"/>
                <a:ext cx="22831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rgbClr val="526173"/>
                    </a:solidFill>
                    <a:latin typeface="Arial"/>
                    <a:ea typeface="Microsoft YaHei"/>
                    <a:cs typeface="Arial"/>
                  </a:rPr>
                  <a:t>目标｜实际｜趋势｜责任：待确认</a:t>
                </a:r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27｜风险登记与升级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风险点先定位，再按编号直接映射到触发等级和责任层级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704" y="110871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风险热力图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9704" y="1318260"/>
            <a:ext cx="183763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横轴：可能性 纵轴：影响</a:t>
            </a:r>
          </a:p>
        </p:txBody>
      </p:sp>
      <p:sp>
        <p:nvSpPr>
          <p:cNvPr id="7" name="Rectangle 7"/>
          <p:cNvSpPr/>
          <p:nvPr/>
        </p:nvSpPr>
        <p:spPr>
          <a:xfrm>
            <a:off x="876300" y="3352800"/>
            <a:ext cx="514350" cy="514350"/>
          </a:xfrm>
          <a:prstGeom prst="rect">
            <a:avLst/>
          </a:prstGeom>
          <a:solidFill>
            <a:srgbClr val="EAF7F4"/>
          </a:solidFill>
          <a:ln w="9525">
            <a:solidFill>
              <a:srgbClr val="FFFFFF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1390650" y="335280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1905000" y="33528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419350" y="33528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76300" y="2838450"/>
            <a:ext cx="514350" cy="514350"/>
          </a:xfrm>
          <a:prstGeom prst="rect">
            <a:avLst/>
          </a:prstGeom>
          <a:solidFill>
            <a:srgbClr val="FFF7DF"/>
          </a:solidFill>
          <a:ln w="9525">
            <a:solidFill>
              <a:srgbClr val="FFFFFF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1390650" y="283845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190500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2419350" y="28384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76300" y="2324100"/>
            <a:ext cx="514350" cy="514350"/>
          </a:xfrm>
          <a:prstGeom prst="rect">
            <a:avLst/>
          </a:prstGeom>
          <a:solidFill>
            <a:srgbClr val="FFF2E7"/>
          </a:solidFill>
          <a:ln w="9525">
            <a:solidFill>
              <a:srgbClr val="FFFFFF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3906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0500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19350" y="232410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763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3906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190500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2419350" y="1809750"/>
            <a:ext cx="514350" cy="514350"/>
          </a:xfrm>
          <a:prstGeom prst="rect">
            <a:avLst/>
          </a:prstGeom>
          <a:solidFill>
            <a:srgbClr val="FFF0F0"/>
          </a:solidFill>
          <a:ln w="9525">
            <a:solidFill>
              <a:srgbClr val="FFFFF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587932" y="3966210"/>
            <a:ext cx="6341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可能性 →</a:t>
            </a:r>
          </a:p>
        </p:txBody>
      </p:sp>
      <p:sp>
        <p:nvSpPr>
          <p:cNvPr id="24" name="TextBox 24"/>
          <p:cNvSpPr txBox="1"/>
          <p:nvPr/>
        </p:nvSpPr>
        <p:spPr>
          <a:xfrm rot="-5400000">
            <a:off x="180137" y="2740152"/>
            <a:ext cx="4725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影响 ↑</a:t>
            </a:r>
          </a:p>
        </p:txBody>
      </p:sp>
      <p:sp>
        <p:nvSpPr>
          <p:cNvPr id="25" name="Ellipse 25"/>
          <p:cNvSpPr/>
          <p:nvPr/>
        </p:nvSpPr>
        <p:spPr>
          <a:xfrm>
            <a:off x="1485900" y="2933700"/>
            <a:ext cx="323850" cy="323850"/>
          </a:xfrm>
          <a:prstGeom prst="ellipse">
            <a:avLst/>
          </a:prstGeom>
          <a:solidFill>
            <a:srgbClr val="A8751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453972" y="30041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27" name="Ellipse 27"/>
          <p:cNvSpPr/>
          <p:nvPr/>
        </p:nvSpPr>
        <p:spPr>
          <a:xfrm>
            <a:off x="2000250" y="2419350"/>
            <a:ext cx="323850" cy="32385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68322" y="248983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29" name="Ellipse 29"/>
          <p:cNvSpPr/>
          <p:nvPr/>
        </p:nvSpPr>
        <p:spPr>
          <a:xfrm>
            <a:off x="2514600" y="1905000"/>
            <a:ext cx="323850" cy="323850"/>
          </a:xfrm>
          <a:prstGeom prst="ellipse">
            <a:avLst/>
          </a:prstGeom>
          <a:solidFill>
            <a:srgbClr val="D95C5C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482672" y="1975485"/>
            <a:ext cx="38770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" y="4333875"/>
            <a:ext cx="23622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89254" y="442341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颜色仅表示风险等级分区；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9254" y="46139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正式阈值、时限和岗位待确认。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89254" y="480441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编号用于右侧责任映射。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524250" y="1143000"/>
            <a:ext cx="8096250" cy="457200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3803904" y="1375410"/>
            <a:ext cx="232227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风险编号 → 触发等级 → 责任层级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803904" y="16230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不使用长曲线推断；每个风险编号直接落到一条责任路径。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0" y="214312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A8751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057612" y="234553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R-01</a:t>
            </a:r>
          </a:p>
        </p:txBody>
      </p:sp>
      <p:sp>
        <p:nvSpPr>
          <p:cNvPr id="40" name="Line 40"/>
          <p:cNvSpPr/>
          <p:nvPr/>
        </p:nvSpPr>
        <p:spPr>
          <a:xfrm>
            <a:off x="4762500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1" name="Rectangle 41"/>
          <p:cNvSpPr/>
          <p:nvPr/>
        </p:nvSpPr>
        <p:spPr>
          <a:xfrm>
            <a:off x="5191125" y="214312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A87519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502935" y="2337435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低/中</a:t>
            </a:r>
          </a:p>
        </p:txBody>
      </p:sp>
      <p:sp>
        <p:nvSpPr>
          <p:cNvPr id="43" name="Line 43"/>
          <p:cNvSpPr/>
          <p:nvPr/>
        </p:nvSpPr>
        <p:spPr>
          <a:xfrm>
            <a:off x="6315075" y="2400300"/>
            <a:ext cx="333375" cy="1"/>
          </a:xfrm>
          <a:prstGeom prst="line">
            <a:avLst/>
          </a:prstGeom>
          <a:noFill/>
          <a:ln w="28575">
            <a:solidFill>
              <a:srgbClr val="A87519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6743700" y="214312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A87519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7253097" y="2337435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业务线自处置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953500" y="214312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9061704" y="2232660"/>
            <a:ext cx="195072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登记、设责任人、按期验证</a:t>
            </a:r>
          </a:p>
        </p:txBody>
      </p:sp>
      <p:sp>
        <p:nvSpPr>
          <p:cNvPr id="48" name="Rectangle 48"/>
          <p:cNvSpPr/>
          <p:nvPr/>
        </p:nvSpPr>
        <p:spPr>
          <a:xfrm>
            <a:off x="3810000" y="3048000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C56A2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4057612" y="3250406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R-02</a:t>
            </a:r>
          </a:p>
        </p:txBody>
      </p:sp>
      <p:sp>
        <p:nvSpPr>
          <p:cNvPr id="50" name="Line 50"/>
          <p:cNvSpPr/>
          <p:nvPr/>
        </p:nvSpPr>
        <p:spPr>
          <a:xfrm>
            <a:off x="4762500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5191125" y="3048000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C56A25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502935" y="3242310"/>
            <a:ext cx="4241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中/高</a:t>
            </a:r>
          </a:p>
        </p:txBody>
      </p:sp>
      <p:sp>
        <p:nvSpPr>
          <p:cNvPr id="53" name="Line 53"/>
          <p:cNvSpPr/>
          <p:nvPr/>
        </p:nvSpPr>
        <p:spPr>
          <a:xfrm>
            <a:off x="6315075" y="3305175"/>
            <a:ext cx="333375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54" name="Rectangle 54"/>
          <p:cNvSpPr/>
          <p:nvPr/>
        </p:nvSpPr>
        <p:spPr>
          <a:xfrm>
            <a:off x="6743700" y="3048000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C56A25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7253097" y="324231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职能部门复核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953500" y="3048000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61704" y="3137535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评估影响、设期限、必要时升级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0" y="3952875"/>
            <a:ext cx="876300" cy="514350"/>
          </a:xfrm>
          <a:prstGeom prst="roundRect">
            <a:avLst>
              <a:gd name="adj" fmla="val 14815"/>
            </a:avLst>
          </a:prstGeom>
          <a:solidFill>
            <a:srgbClr val="D95C5C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057612" y="4155281"/>
            <a:ext cx="38107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R-03</a:t>
            </a:r>
          </a:p>
        </p:txBody>
      </p:sp>
      <p:sp>
        <p:nvSpPr>
          <p:cNvPr id="60" name="Line 60"/>
          <p:cNvSpPr/>
          <p:nvPr/>
        </p:nvSpPr>
        <p:spPr>
          <a:xfrm>
            <a:off x="4762500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1" name="Rectangle 61"/>
          <p:cNvSpPr/>
          <p:nvPr/>
        </p:nvSpPr>
        <p:spPr>
          <a:xfrm>
            <a:off x="5191125" y="3952875"/>
            <a:ext cx="1047750" cy="514350"/>
          </a:xfrm>
          <a:prstGeom prst="roundRect">
            <a:avLst>
              <a:gd name="adj" fmla="val 14815"/>
            </a:avLst>
          </a:prstGeom>
          <a:solidFill>
            <a:srgbClr val="F7F9FC"/>
          </a:solidFill>
          <a:ln w="19050">
            <a:solidFill>
              <a:srgbClr val="D95C5C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5628132" y="4147185"/>
            <a:ext cx="173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高</a:t>
            </a:r>
          </a:p>
        </p:txBody>
      </p:sp>
      <p:sp>
        <p:nvSpPr>
          <p:cNvPr id="63" name="Line 63"/>
          <p:cNvSpPr/>
          <p:nvPr/>
        </p:nvSpPr>
        <p:spPr>
          <a:xfrm>
            <a:off x="6315075" y="4210050"/>
            <a:ext cx="333375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64" name="Rectangle 64"/>
          <p:cNvSpPr/>
          <p:nvPr/>
        </p:nvSpPr>
        <p:spPr>
          <a:xfrm>
            <a:off x="6743700" y="3952875"/>
            <a:ext cx="20002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D95C5C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333869" y="414718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管理层介入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953500" y="3952875"/>
            <a:ext cx="2333625" cy="514350"/>
          </a:xfrm>
          <a:prstGeom prst="roundRect">
            <a:avLst>
              <a:gd name="adj" fmla="val 14815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9061704" y="4042410"/>
            <a:ext cx="22738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决策资源、确认措施、监督关闭</a:t>
            </a:r>
          </a:p>
        </p:txBody>
      </p:sp>
      <p:sp>
        <p:nvSpPr>
          <p:cNvPr id="68" name="Freeform 68"/>
          <p:cNvSpPr/>
          <p:nvPr/>
        </p:nvSpPr>
        <p:spPr>
          <a:xfrm>
            <a:off x="5191125" y="4857750"/>
            <a:ext cx="3552825" cy="571500"/>
          </a:xfrm>
          <a:custGeom>
            <a:avLst/>
            <a:gdLst/>
            <a:ahLst/>
            <a:cxnLst/>
            <a:rect l="l" t="t" r="r" b="b"/>
            <a:pathLst>
              <a:path w="3552825" h="571500">
                <a:moveTo>
                  <a:pt x="3552825" y="0"/>
                </a:moveTo>
                <a:cubicBezTo>
                  <a:pt x="2905125" y="571500"/>
                  <a:pt x="714375" y="5715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69" name="TextBox 69"/>
          <p:cNvSpPr txBox="1"/>
          <p:nvPr/>
        </p:nvSpPr>
        <p:spPr>
          <a:xfrm>
            <a:off x="5528310" y="5490210"/>
            <a:ext cx="43738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95C5C"/>
                </a:solidFill>
                <a:latin typeface="Segoe UI"/>
                <a:ea typeface="Microsoft YaHei"/>
                <a:cs typeface="Segoe UI"/>
              </a:rPr>
              <a:t>验证失败：返回对应编号重新登记；验证通过：形成关闭证据</a:t>
            </a:r>
          </a:p>
        </p:txBody>
      </p:sp>
      <p:sp>
        <p:nvSpPr>
          <p:cNvPr id="70" name="Line 7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28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4229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安全、环保与应急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954191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发现—处置—上报—调查—整改—验证，现场与管理层共同承接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381250"/>
            <a:ext cx="10668000" cy="2952750"/>
            <a:chOff x="666750" y="2381250"/>
            <a:chExt cx="10668000" cy="2952750"/>
          </a:xfrm>
        </p:grpSpPr>
        <p:sp>
          <p:nvSpPr>
            <p:cNvPr id="8" name="Freeform 8"/>
            <p:cNvSpPr/>
            <p:nvPr/>
          </p:nvSpPr>
          <p:spPr>
            <a:xfrm>
              <a:off x="66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671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65" y="2982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日常检查/事件触发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现场处置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01090" y="2982278"/>
              <a:ext cx="1360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先控制人身/环境风险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03 逐级上报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298227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按分级要求报告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667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26038" y="2656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04 责任调查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06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事实、原因、证据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572500" y="238125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895350"/>
                  </a:lnTo>
                  <a:cubicBezTo>
                    <a:pt x="1619250" y="979518"/>
                    <a:pt x="1551018" y="1047750"/>
                    <a:pt x="14668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32463" y="26560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05 整改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1387" y="298227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措施、责任、记录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9525000" y="4286250"/>
              <a:ext cx="1809750" cy="1047750"/>
            </a:xfrm>
            <a:custGeom>
              <a:avLst/>
              <a:gdLst/>
              <a:ahLst/>
              <a:cxnLst/>
              <a:rect l="l" t="t" r="r" b="b"/>
              <a:pathLst>
                <a:path w="1809750" h="1047750">
                  <a:moveTo>
                    <a:pt x="152400" y="0"/>
                  </a:moveTo>
                  <a:lnTo>
                    <a:pt x="1657350" y="0"/>
                  </a:lnTo>
                  <a:cubicBezTo>
                    <a:pt x="1741518" y="0"/>
                    <a:pt x="1809750" y="68232"/>
                    <a:pt x="1809750" y="152400"/>
                  </a:cubicBezTo>
                  <a:lnTo>
                    <a:pt x="1809750" y="895350"/>
                  </a:lnTo>
                  <a:cubicBezTo>
                    <a:pt x="1809750" y="979518"/>
                    <a:pt x="1741518" y="1047750"/>
                    <a:pt x="1657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8788" y="45610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验证关闭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0265" y="4887278"/>
              <a:ext cx="1219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效果确认/复发控制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2905125"/>
            <a:ext cx="8143875" cy="1381125"/>
          </a:xfrm>
          <a:custGeom>
            <a:avLst/>
            <a:gdLst/>
            <a:ahLst/>
            <a:cxnLst/>
            <a:rect l="l" t="t" r="r" b="b"/>
            <a:pathLst>
              <a:path w="8143875" h="13811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381500" y="0"/>
                </a:lnTo>
                <a:moveTo>
                  <a:pt x="6000750" y="0"/>
                </a:moveTo>
                <a:lnTo>
                  <a:pt x="6286500" y="0"/>
                </a:lnTo>
                <a:moveTo>
                  <a:pt x="7096125" y="523875"/>
                </a:moveTo>
                <a:lnTo>
                  <a:pt x="7096125" y="1381125"/>
                </a:lnTo>
                <a:lnTo>
                  <a:pt x="8143875" y="1381125"/>
                </a:lnTo>
              </a:path>
            </a:pathLst>
          </a:custGeom>
          <a:noFill/>
          <a:ln w="38100">
            <a:solidFill>
              <a:srgbClr val="8091A5"/>
            </a:solidFill>
            <a:tailEnd type="triangle" w="lg" len="lg"/>
          </a:ln>
        </p:spPr>
      </p:sp>
      <p:sp>
        <p:nvSpPr>
          <p:cNvPr id="28" name="Freeform 28"/>
          <p:cNvSpPr/>
          <p:nvPr/>
        </p:nvSpPr>
        <p:spPr>
          <a:xfrm>
            <a:off x="7048500" y="3429000"/>
            <a:ext cx="2476500" cy="1381125"/>
          </a:xfrm>
          <a:custGeom>
            <a:avLst/>
            <a:gdLst/>
            <a:ahLst/>
            <a:cxnLst/>
            <a:rect l="l" t="t" r="r" b="b"/>
            <a:pathLst>
              <a:path w="2476500" h="1381125">
                <a:moveTo>
                  <a:pt x="2476500" y="1381125"/>
                </a:moveTo>
                <a:lnTo>
                  <a:pt x="762000" y="1381125"/>
                </a:lnTo>
                <a:cubicBezTo>
                  <a:pt x="190500" y="1381125"/>
                  <a:pt x="0" y="66675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lg" len="lg"/>
          </a:ln>
        </p:spPr>
      </p:sp>
      <p:sp>
        <p:nvSpPr>
          <p:cNvPr id="29" name="TextBox 29"/>
          <p:cNvSpPr txBox="1"/>
          <p:nvPr/>
        </p:nvSpPr>
        <p:spPr>
          <a:xfrm>
            <a:off x="7328154" y="4966335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未通过/复发：再调查或升级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7759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响应级别、通知时限和责任岗位：待确认，以正式应急文件为准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29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内部检查与管理评审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按过程检查证据，再由管理评审形成决策和改进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3" name="Group 23"/>
          <p:cNvGrpSpPr/>
          <p:nvPr/>
        </p:nvGrpSpPr>
        <p:grpSpPr>
          <a:xfrm>
            <a:off x="857250" y="2667000"/>
            <a:ext cx="10572750" cy="1047750"/>
            <a:chOff x="857250" y="2667000"/>
            <a:chExt cx="10572750" cy="1047750"/>
          </a:xfrm>
        </p:grpSpPr>
        <p:sp>
          <p:nvSpPr>
            <p:cNvPr id="8" name="Freeform 8"/>
            <p:cNvSpPr/>
            <p:nvPr/>
          </p:nvSpPr>
          <p:spPr>
            <a:xfrm>
              <a:off x="857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63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制定计划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43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范围｜过程｜证据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3143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49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02 过程检查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29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现场｜记录｜访谈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429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35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03 发现分级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15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事实｜风险｜整改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715250" y="2667000"/>
              <a:ext cx="1714500" cy="1047750"/>
            </a:xfrm>
            <a:custGeom>
              <a:avLst/>
              <a:gdLst/>
              <a:ahLst/>
              <a:cxnLst/>
              <a:rect l="l" t="t" r="r" b="b"/>
              <a:pathLst>
                <a:path w="1714500" h="1047750">
                  <a:moveTo>
                    <a:pt x="152400" y="0"/>
                  </a:moveTo>
                  <a:lnTo>
                    <a:pt x="1562100" y="0"/>
                  </a:lnTo>
                  <a:cubicBezTo>
                    <a:pt x="1646268" y="0"/>
                    <a:pt x="1714500" y="68232"/>
                    <a:pt x="1714500" y="152400"/>
                  </a:cubicBezTo>
                  <a:lnTo>
                    <a:pt x="1714500" y="895350"/>
                  </a:lnTo>
                  <a:cubicBezTo>
                    <a:pt x="1714500" y="979518"/>
                    <a:pt x="1646268" y="1047750"/>
                    <a:pt x="156210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21413" y="294179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管理评审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01762" y="32680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输入｜决策｜资源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001250" y="2667000"/>
              <a:ext cx="1428750" cy="1047750"/>
            </a:xfrm>
            <a:custGeom>
              <a:avLst/>
              <a:gdLst/>
              <a:ahLst/>
              <a:cxnLst/>
              <a:rect l="l" t="t" r="r" b="b"/>
              <a:pathLst>
                <a:path w="1428750" h="1047750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895350"/>
                  </a:lnTo>
                  <a:cubicBezTo>
                    <a:pt x="1428750" y="979518"/>
                    <a:pt x="1360518" y="1047750"/>
                    <a:pt x="1276350" y="1047750"/>
                  </a:cubicBezTo>
                  <a:lnTo>
                    <a:pt x="152400" y="1047750"/>
                  </a:lnTo>
                  <a:cubicBezTo>
                    <a:pt x="68232" y="1047750"/>
                    <a:pt x="0" y="979518"/>
                    <a:pt x="0" y="895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65963" y="294179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跟踪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7589" y="32680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关闭证据</a:t>
              </a:r>
            </a:p>
          </p:txBody>
        </p:sp>
      </p:grpSp>
      <p:sp>
        <p:nvSpPr>
          <p:cNvPr id="24" name="Freeform 24"/>
          <p:cNvSpPr/>
          <p:nvPr/>
        </p:nvSpPr>
        <p:spPr>
          <a:xfrm>
            <a:off x="2571750" y="3190875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571500" y="0"/>
                </a:lnTo>
                <a:moveTo>
                  <a:pt x="2286000" y="0"/>
                </a:moveTo>
                <a:lnTo>
                  <a:pt x="2857500" y="0"/>
                </a:lnTo>
                <a:moveTo>
                  <a:pt x="4572000" y="0"/>
                </a:moveTo>
                <a:lnTo>
                  <a:pt x="5143500" y="0"/>
                </a:lnTo>
                <a:moveTo>
                  <a:pt x="6858000" y="0"/>
                </a:moveTo>
                <a:lnTo>
                  <a:pt x="742950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5" name="Freeform 25"/>
          <p:cNvSpPr/>
          <p:nvPr/>
        </p:nvSpPr>
        <p:spPr>
          <a:xfrm>
            <a:off x="1714500" y="3714750"/>
            <a:ext cx="9001125" cy="1238250"/>
          </a:xfrm>
          <a:custGeom>
            <a:avLst/>
            <a:gdLst/>
            <a:ahLst/>
            <a:cxnLst/>
            <a:rect l="l" t="t" r="r" b="b"/>
            <a:pathLst>
              <a:path w="9001125" h="1238250">
                <a:moveTo>
                  <a:pt x="9001125" y="0"/>
                </a:moveTo>
                <a:cubicBezTo>
                  <a:pt x="9001125" y="1047750"/>
                  <a:pt x="666750" y="1238250"/>
                  <a:pt x="0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6" name="TextBox 26"/>
          <p:cNvSpPr txBox="1"/>
          <p:nvPr/>
        </p:nvSpPr>
        <p:spPr>
          <a:xfrm>
            <a:off x="4375023" y="4815364"/>
            <a:ext cx="241592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跟踪结果进入下一轮检查与评审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51154" y="558546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管理评审输入、输出和频次：待确认，以正式机制为准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30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384695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不符合项与整改关闭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04298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整改必须有原因、措施、期限、验证和复发控制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666750" y="2571750"/>
            <a:ext cx="10953750" cy="1095375"/>
            <a:chOff x="666750" y="2571750"/>
            <a:chExt cx="10953750" cy="1095375"/>
          </a:xfrm>
        </p:grpSpPr>
        <p:sp>
          <p:nvSpPr>
            <p:cNvPr id="8" name="Freeform 8"/>
            <p:cNvSpPr/>
            <p:nvPr/>
          </p:nvSpPr>
          <p:spPr>
            <a:xfrm>
              <a:off x="66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2F6BFF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2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01 发现登记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事实｜证据｜来源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57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D95C5C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3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B84747"/>
                  </a:solidFill>
                  <a:latin typeface="Arial"/>
                  <a:ea typeface="Microsoft YaHei"/>
                  <a:cs typeface="Arial"/>
                </a:rPr>
                <a:t>02 分级升级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1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风险｜责任｜期限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447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7657B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73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7657B8"/>
                  </a:solidFill>
                  <a:latin typeface="Arial"/>
                  <a:ea typeface="Microsoft YaHei"/>
                  <a:cs typeface="Arial"/>
                </a:rPr>
                <a:t>03 原因分析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86312" y="319182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根因｜复发控制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6381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C56A2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40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04 制定措施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0637" y="31918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责任｜期限｜记录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8286750" y="2571750"/>
              <a:ext cx="1619250" cy="1095375"/>
            </a:xfrm>
            <a:custGeom>
              <a:avLst/>
              <a:gdLst/>
              <a:ahLst/>
              <a:cxnLst/>
              <a:rect l="l" t="t" r="r" b="b"/>
              <a:pathLst>
                <a:path w="1619250" h="1095375">
                  <a:moveTo>
                    <a:pt x="152400" y="0"/>
                  </a:moveTo>
                  <a:lnTo>
                    <a:pt x="1466850" y="0"/>
                  </a:lnTo>
                  <a:cubicBezTo>
                    <a:pt x="1551018" y="0"/>
                    <a:pt x="1619250" y="68232"/>
                    <a:pt x="1619250" y="152400"/>
                  </a:cubicBezTo>
                  <a:lnTo>
                    <a:pt x="1619250" y="942975"/>
                  </a:lnTo>
                  <a:cubicBezTo>
                    <a:pt x="1619250" y="1027143"/>
                    <a:pt x="1551018" y="1095375"/>
                    <a:pt x="14668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45288" y="2846546"/>
              <a:ext cx="11021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05 效果验证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6988" y="3191828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证据｜有效性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191750" y="2571750"/>
              <a:ext cx="1428750" cy="1095375"/>
            </a:xfrm>
            <a:custGeom>
              <a:avLst/>
              <a:gdLst/>
              <a:ahLst/>
              <a:cxnLst/>
              <a:rect l="l" t="t" r="r" b="b"/>
              <a:pathLst>
                <a:path w="1428750" h="1095375">
                  <a:moveTo>
                    <a:pt x="152400" y="0"/>
                  </a:moveTo>
                  <a:lnTo>
                    <a:pt x="1276350" y="0"/>
                  </a:lnTo>
                  <a:cubicBezTo>
                    <a:pt x="1360518" y="0"/>
                    <a:pt x="1428750" y="68232"/>
                    <a:pt x="1428750" y="152400"/>
                  </a:cubicBezTo>
                  <a:lnTo>
                    <a:pt x="1428750" y="942975"/>
                  </a:lnTo>
                  <a:cubicBezTo>
                    <a:pt x="1428750" y="1027143"/>
                    <a:pt x="1360518" y="1095375"/>
                    <a:pt x="1276350" y="1095375"/>
                  </a:cubicBezTo>
                  <a:lnTo>
                    <a:pt x="152400" y="1095375"/>
                  </a:lnTo>
                  <a:cubicBezTo>
                    <a:pt x="68232" y="1095375"/>
                    <a:pt x="0" y="1027143"/>
                    <a:pt x="0" y="942975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1C9C8C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56463" y="2846546"/>
              <a:ext cx="6993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06 关闭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47414" y="3191828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批准｜留痕</a:t>
              </a:r>
            </a:p>
          </p:txBody>
        </p:sp>
      </p:grpSp>
      <p:sp>
        <p:nvSpPr>
          <p:cNvPr id="27" name="Freeform 27"/>
          <p:cNvSpPr/>
          <p:nvPr/>
        </p:nvSpPr>
        <p:spPr>
          <a:xfrm>
            <a:off x="2286000" y="3114675"/>
            <a:ext cx="7905750" cy="9525"/>
          </a:xfrm>
          <a:custGeom>
            <a:avLst/>
            <a:gdLst/>
            <a:ahLst/>
            <a:cxnLst/>
            <a:rect l="l" t="t" r="r" b="b"/>
            <a:pathLst>
              <a:path w="7905750" h="9525">
                <a:moveTo>
                  <a:pt x="0" y="0"/>
                </a:moveTo>
                <a:lnTo>
                  <a:pt x="285750" y="0"/>
                </a:lnTo>
                <a:moveTo>
                  <a:pt x="1905000" y="0"/>
                </a:moveTo>
                <a:lnTo>
                  <a:pt x="2190750" y="0"/>
                </a:lnTo>
                <a:moveTo>
                  <a:pt x="3810000" y="0"/>
                </a:moveTo>
                <a:lnTo>
                  <a:pt x="4095750" y="0"/>
                </a:lnTo>
                <a:moveTo>
                  <a:pt x="5715000" y="0"/>
                </a:moveTo>
                <a:lnTo>
                  <a:pt x="6000750" y="0"/>
                </a:lnTo>
                <a:moveTo>
                  <a:pt x="7620000" y="0"/>
                </a:moveTo>
                <a:lnTo>
                  <a:pt x="7905750" y="0"/>
                </a:lnTo>
              </a:path>
            </a:pathLst>
          </a:custGeom>
          <a:solidFill>
            <a:srgbClr val="000000"/>
          </a:solidFill>
          <a:ln w="38100">
            <a:solidFill>
              <a:srgbClr val="8091A5"/>
            </a:solidFill>
            <a:tailEnd type="triangle" w="med" len="lg"/>
          </a:ln>
        </p:spPr>
      </p:sp>
      <p:sp>
        <p:nvSpPr>
          <p:cNvPr id="28" name="Freeform 28"/>
          <p:cNvSpPr/>
          <p:nvPr/>
        </p:nvSpPr>
        <p:spPr>
          <a:xfrm>
            <a:off x="3381375" y="3667125"/>
            <a:ext cx="6810375" cy="1524000"/>
          </a:xfrm>
          <a:custGeom>
            <a:avLst/>
            <a:gdLst/>
            <a:ahLst/>
            <a:cxnLst/>
            <a:rect l="l" t="t" r="r" b="b"/>
            <a:pathLst>
              <a:path w="6810375" h="1524000">
                <a:moveTo>
                  <a:pt x="6810375" y="0"/>
                </a:moveTo>
                <a:cubicBezTo>
                  <a:pt x="6429375" y="1190625"/>
                  <a:pt x="1381125" y="1524000"/>
                  <a:pt x="0" y="0"/>
                </a:cubicBezTo>
              </a:path>
            </a:pathLst>
          </a:custGeom>
          <a:noFill/>
          <a:ln w="28575">
            <a:solidFill>
              <a:srgbClr val="D95C5C"/>
            </a:solidFill>
            <a:custDash>
              <a:ds d="300000" sp="233333"/>
            </a:custDash>
            <a:tailEnd type="triangle" w="med" len="lg"/>
          </a:ln>
        </p:spPr>
      </p:sp>
      <p:sp>
        <p:nvSpPr>
          <p:cNvPr id="29" name="TextBox 29"/>
          <p:cNvSpPr txBox="1"/>
          <p:nvPr/>
        </p:nvSpPr>
        <p:spPr>
          <a:xfrm>
            <a:off x="4946523" y="4815364"/>
            <a:ext cx="32912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B84747"/>
                </a:solidFill>
                <a:latin typeface="Arial"/>
                <a:ea typeface="Microsoft YaHei"/>
                <a:cs typeface="Arial"/>
              </a:rPr>
              <a:t>验证失败/逾期/复发：再升级，不直接关闭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0654" y="5585460"/>
            <a:ext cx="45354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A87519"/>
                </a:solidFill>
                <a:latin typeface="Arial"/>
                <a:ea typeface="Microsoft YaHei"/>
                <a:cs typeface="Arial"/>
              </a:rPr>
              <a:t>责任岗位、整改期限和关闭权限：待确认，以正式授权文件为准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34842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31 / CONTINUOUS IMPROVEMENT · CLOSED LOOP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66800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PDCA持续改进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499052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文件的价值不是增加表单，而是让问题不重复、让过程能力可提升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3254375" y="2047875"/>
            <a:ext cx="5683250" cy="2905125"/>
          </a:xfrm>
          <a:custGeom>
            <a:avLst/>
            <a:gdLst/>
            <a:ahLst/>
            <a:cxnLst/>
            <a:rect l="l" t="t" r="r" b="b"/>
            <a:pathLst>
              <a:path w="5683250" h="2905125">
                <a:moveTo>
                  <a:pt x="412750" y="714375"/>
                </a:moveTo>
                <a:cubicBezTo>
                  <a:pt x="1143000" y="174625"/>
                  <a:pt x="1952625" y="0"/>
                  <a:pt x="2841625" y="190500"/>
                </a:cubicBezTo>
                <a:cubicBezTo>
                  <a:pt x="3730625" y="0"/>
                  <a:pt x="4540250" y="174625"/>
                  <a:pt x="5270500" y="714375"/>
                </a:cubicBezTo>
                <a:cubicBezTo>
                  <a:pt x="5683250" y="1158875"/>
                  <a:pt x="5683250" y="1651000"/>
                  <a:pt x="5270500" y="2190750"/>
                </a:cubicBezTo>
                <a:cubicBezTo>
                  <a:pt x="4540250" y="2730500"/>
                  <a:pt x="3730625" y="2905125"/>
                  <a:pt x="2841625" y="2714625"/>
                </a:cubicBezTo>
                <a:cubicBezTo>
                  <a:pt x="1952625" y="2905125"/>
                  <a:pt x="1143000" y="2730500"/>
                  <a:pt x="412750" y="2190750"/>
                </a:cubicBezTo>
                <a:cubicBezTo>
                  <a:pt x="0" y="1651000"/>
                  <a:pt x="0" y="1158875"/>
                  <a:pt x="412750" y="714375"/>
                </a:cubicBezTo>
              </a:path>
            </a:pathLst>
          </a:custGeom>
          <a:noFill/>
          <a:ln w="76200">
            <a:solidFill>
              <a:srgbClr val="1C9C8C"/>
            </a:solidFill>
            <a:tailEnd type="triangle" w="lg" len="lg"/>
          </a:ln>
        </p:spPr>
      </p:sp>
      <p:grpSp>
        <p:nvGrpSpPr>
          <p:cNvPr id="12" name="Group 12"/>
          <p:cNvGrpSpPr/>
          <p:nvPr/>
        </p:nvGrpSpPr>
        <p:grpSpPr>
          <a:xfrm>
            <a:off x="1047750" y="2667000"/>
            <a:ext cx="2333625" cy="1066800"/>
            <a:chOff x="1047750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9" name="Freeform 9"/>
            <p:cNvSpPr/>
            <p:nvPr/>
          </p:nvSpPr>
          <p:spPr>
            <a:xfrm>
              <a:off x="1047750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0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904939" y="2872740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F6BFF"/>
                  </a:solidFill>
                  <a:latin typeface="Arial"/>
                  <a:ea typeface="Arial"/>
                  <a:cs typeface="Arial"/>
                </a:rPr>
                <a:t>PLAN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37048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目标 · 风险 · 责任 · 资源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048125" y="1857375"/>
            <a:ext cx="2333625" cy="1066800"/>
            <a:chOff x="4048125" y="185737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3" name="Freeform 13"/>
            <p:cNvSpPr/>
            <p:nvPr/>
          </p:nvSpPr>
          <p:spPr>
            <a:xfrm>
              <a:off x="4048125" y="185737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EAF7F4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5026289" y="2063115"/>
              <a:ext cx="367772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1C9C8C"/>
                  </a:solidFill>
                  <a:latin typeface="Arial"/>
                  <a:ea typeface="Arial"/>
                  <a:cs typeface="Arial"/>
                </a:rPr>
                <a:t>DO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47222" y="2421731"/>
              <a:ext cx="152590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按受控版本执行并留痕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191375" y="2667000"/>
            <a:ext cx="2333625" cy="1066800"/>
            <a:chOff x="7191375" y="2667000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17" name="Freeform 17"/>
            <p:cNvSpPr/>
            <p:nvPr/>
          </p:nvSpPr>
          <p:spPr>
            <a:xfrm>
              <a:off x="7191375" y="2667000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2ECFF"/>
            </a:solidFill>
            <a:ln w="19050">
              <a:solidFill>
                <a:srgbClr val="7657B8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7974635" y="2872740"/>
              <a:ext cx="75758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7657B8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0673" y="3231356"/>
              <a:ext cx="1745504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数据 · 结果 · 偏差 · 评审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48125" y="4238625"/>
            <a:ext cx="2333625" cy="1066800"/>
            <a:chOff x="4048125" y="4238625"/>
            <a:chExt cx="2333625" cy="1066800"/>
          </a:xfrm>
          <a:effectLst>
            <a:outerShdw blurRad="76200" dist="28575" dir="5400000" algn="ctr" rotWithShape="0">
              <a:srgbClr val="AAB7C6">
                <a:alpha val="1875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048125" y="4238625"/>
              <a:ext cx="2333625" cy="1066800"/>
            </a:xfrm>
            <a:custGeom>
              <a:avLst/>
              <a:gdLst/>
              <a:ahLst/>
              <a:cxnLst/>
              <a:rect l="l" t="t" r="r" b="b"/>
              <a:pathLst>
                <a:path w="2333625" h="1066800">
                  <a:moveTo>
                    <a:pt x="171450" y="0"/>
                  </a:moveTo>
                  <a:lnTo>
                    <a:pt x="2162175" y="0"/>
                  </a:lnTo>
                  <a:cubicBezTo>
                    <a:pt x="2256864" y="0"/>
                    <a:pt x="2333625" y="76761"/>
                    <a:pt x="2333625" y="171450"/>
                  </a:cubicBezTo>
                  <a:lnTo>
                    <a:pt x="2333625" y="895350"/>
                  </a:lnTo>
                  <a:cubicBezTo>
                    <a:pt x="2333625" y="990039"/>
                    <a:pt x="2256864" y="1066800"/>
                    <a:pt x="2162175" y="1066800"/>
                  </a:cubicBezTo>
                  <a:lnTo>
                    <a:pt x="171450" y="1066800"/>
                  </a:lnTo>
                  <a:cubicBezTo>
                    <a:pt x="76761" y="1066800"/>
                    <a:pt x="0" y="990039"/>
                    <a:pt x="0" y="895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2E7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</p:sp>
        <p:sp>
          <p:nvSpPr>
            <p:cNvPr id="22" name="TextBox 22"/>
            <p:cNvSpPr txBox="1"/>
            <p:nvPr/>
          </p:nvSpPr>
          <p:spPr>
            <a:xfrm>
              <a:off x="4979243" y="44443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56A25"/>
                  </a:solidFill>
                  <a:latin typeface="Arial"/>
                  <a:ea typeface="Arial"/>
                  <a:cs typeface="Arial"/>
                </a:rPr>
                <a:t>ACT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24505" y="4802981"/>
              <a:ext cx="1571339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875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纠正 · 标准化 · 再授权</a:t>
              </a:r>
            </a:p>
          </p:txBody>
        </p:sp>
      </p:grpSp>
      <p:sp>
        <p:nvSpPr>
          <p:cNvPr id="25" name="Ellipse 25"/>
          <p:cNvSpPr/>
          <p:nvPr/>
        </p:nvSpPr>
        <p:spPr>
          <a:xfrm>
            <a:off x="5372100" y="2705100"/>
            <a:ext cx="1447800" cy="1447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5707494" y="3188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管理闭环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2911" y="3485674"/>
            <a:ext cx="66617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决策有依据</a:t>
            </a:r>
          </a:p>
        </p:txBody>
      </p:sp>
      <p:sp>
        <p:nvSpPr>
          <p:cNvPr id="28" name="Freeform 28"/>
          <p:cNvSpPr/>
          <p:nvPr/>
        </p:nvSpPr>
        <p:spPr>
          <a:xfrm>
            <a:off x="9906000" y="2190750"/>
            <a:ext cx="1428750" cy="2571750"/>
          </a:xfrm>
          <a:custGeom>
            <a:avLst/>
            <a:gdLst/>
            <a:ahLst/>
            <a:cxnLst/>
            <a:rect l="l" t="t" r="r" b="b"/>
            <a:pathLst>
              <a:path w="1428750" h="2571750">
                <a:moveTo>
                  <a:pt x="152400" y="0"/>
                </a:moveTo>
                <a:lnTo>
                  <a:pt x="1276350" y="0"/>
                </a:lnTo>
                <a:cubicBezTo>
                  <a:pt x="1360518" y="0"/>
                  <a:pt x="1428750" y="68232"/>
                  <a:pt x="1428750" y="152400"/>
                </a:cubicBezTo>
                <a:lnTo>
                  <a:pt x="1428750" y="2419350"/>
                </a:lnTo>
                <a:cubicBezTo>
                  <a:pt x="1428750" y="2503518"/>
                  <a:pt x="1360518" y="2571750"/>
                  <a:pt x="1276350" y="2571750"/>
                </a:cubicBezTo>
                <a:lnTo>
                  <a:pt x="152400" y="2571750"/>
                </a:lnTo>
                <a:cubicBezTo>
                  <a:pt x="68232" y="2571750"/>
                  <a:pt x="0" y="2503518"/>
                  <a:pt x="0" y="241935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10275037" y="24136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闭环证据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61664" y="2839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目标与风险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332339" y="322040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执行记录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61664" y="3601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数据与评审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261664" y="3982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纠正与验证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61664" y="43634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标准化结果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5785" y="6069806"/>
            <a:ext cx="557712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适用场景：订单交付、质量异常、供应商表现、内部检查、客户投诉和管理评审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66738" y="6494145"/>
            <a:ext cx="39739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闭环不是单次改善报告；Act 的结果必须回到下一轮 Plan，形成受控更新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42569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32 / GOVERNANCE · RACI EXAMPLE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341289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部门协同RACI示例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567709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示例：依据受控矩阵选取六项活动；部门与执行班组分列，财务部明确纳入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381000" y="1752600"/>
            <a:ext cx="23812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320432" y="1930241"/>
            <a:ext cx="50238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事项 / ID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7622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9699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总经理</a:t>
            </a:r>
          </a:p>
        </p:txBody>
      </p:sp>
      <p:sp>
        <p:nvSpPr>
          <p:cNvPr id="12" name="Rectangle 12"/>
          <p:cNvSpPr/>
          <p:nvPr/>
        </p:nvSpPr>
        <p:spPr>
          <a:xfrm>
            <a:off x="35052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37128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生产部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2481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4558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品质部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9911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1987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营运部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340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9417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财务部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4770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5786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工程技术组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2199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746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冲压车间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9629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80645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模具维修组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7058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860536" y="1938338"/>
            <a:ext cx="4335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清洗车间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4488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9550479" y="1938338"/>
            <a:ext cx="5395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制程巡检组</a:t>
            </a:r>
          </a:p>
        </p:txBody>
      </p:sp>
      <p:sp>
        <p:nvSpPr>
          <p:cNvPr id="30" name="Rectangle 30"/>
          <p:cNvSpPr/>
          <p:nvPr/>
        </p:nvSpPr>
        <p:spPr>
          <a:xfrm>
            <a:off x="101917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187416" y="1938338"/>
            <a:ext cx="7516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成品出货检验组</a:t>
            </a:r>
          </a:p>
        </p:txBody>
      </p:sp>
      <p:sp>
        <p:nvSpPr>
          <p:cNvPr id="32" name="Rectangle 32"/>
          <p:cNvSpPr/>
          <p:nvPr/>
        </p:nvSpPr>
        <p:spPr>
          <a:xfrm>
            <a:off x="109347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11423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业务组</a:t>
            </a:r>
          </a:p>
        </p:txBody>
      </p:sp>
      <p:sp>
        <p:nvSpPr>
          <p:cNvPr id="34" name="Rectangle 34"/>
          <p:cNvSpPr/>
          <p:nvPr/>
        </p:nvSpPr>
        <p:spPr>
          <a:xfrm>
            <a:off x="1167765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1188534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采购组</a:t>
            </a:r>
          </a:p>
        </p:txBody>
      </p:sp>
      <p:sp>
        <p:nvSpPr>
          <p:cNvPr id="36" name="Rectangle 36"/>
          <p:cNvSpPr/>
          <p:nvPr/>
        </p:nvSpPr>
        <p:spPr>
          <a:xfrm>
            <a:off x="12420600" y="1752600"/>
            <a:ext cx="742950" cy="438150"/>
          </a:xfrm>
          <a:prstGeom prst="roundRect">
            <a:avLst>
              <a:gd name="adj" fmla="val 8696"/>
            </a:avLst>
          </a:prstGeom>
          <a:solidFill>
            <a:srgbClr val="EAF0FF"/>
          </a:solidFill>
          <a:ln w="19050">
            <a:solidFill>
              <a:srgbClr val="D7E0EA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12628293" y="1938338"/>
            <a:ext cx="3275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仓储组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22383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1214368" y="24241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订单评审｜004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7622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1079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5052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38316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2481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45746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46" name="Rectangle 46"/>
          <p:cNvSpPr/>
          <p:nvPr/>
        </p:nvSpPr>
        <p:spPr>
          <a:xfrm>
            <a:off x="49911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53175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7340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6079769" y="23998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4770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68034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52" name="Rectangle 52"/>
          <p:cNvSpPr/>
          <p:nvPr/>
        </p:nvSpPr>
        <p:spPr>
          <a:xfrm>
            <a:off x="72199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75483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4" name="Rectangle 54"/>
          <p:cNvSpPr/>
          <p:nvPr/>
        </p:nvSpPr>
        <p:spPr>
          <a:xfrm>
            <a:off x="79629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5" name="TextBox 55"/>
          <p:cNvSpPr txBox="1"/>
          <p:nvPr/>
        </p:nvSpPr>
        <p:spPr>
          <a:xfrm>
            <a:off x="82912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7058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0342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4488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977718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0" name="Rectangle 60"/>
          <p:cNvSpPr/>
          <p:nvPr/>
        </p:nvSpPr>
        <p:spPr>
          <a:xfrm>
            <a:off x="101917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10520134" y="23998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62" name="Rectangle 62"/>
          <p:cNvSpPr/>
          <p:nvPr/>
        </p:nvSpPr>
        <p:spPr>
          <a:xfrm>
            <a:off x="109347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112611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4" name="Rectangle 64"/>
          <p:cNvSpPr/>
          <p:nvPr/>
        </p:nvSpPr>
        <p:spPr>
          <a:xfrm>
            <a:off x="1167765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1200412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2420600" y="22383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2747077" y="23998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81000" y="27336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1108355" y="2919412"/>
            <a:ext cx="9265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采购寻源下单｜005</a:t>
            </a:r>
          </a:p>
        </p:txBody>
      </p:sp>
      <p:sp>
        <p:nvSpPr>
          <p:cNvPr id="70" name="Rectangle 70"/>
          <p:cNvSpPr/>
          <p:nvPr/>
        </p:nvSpPr>
        <p:spPr>
          <a:xfrm>
            <a:off x="27622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3107969" y="28951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72" name="Rectangle 72"/>
          <p:cNvSpPr/>
          <p:nvPr/>
        </p:nvSpPr>
        <p:spPr>
          <a:xfrm>
            <a:off x="35052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83358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4" name="Rectangle 74"/>
          <p:cNvSpPr/>
          <p:nvPr/>
        </p:nvSpPr>
        <p:spPr>
          <a:xfrm>
            <a:off x="42481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45765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76" name="Rectangle 76"/>
          <p:cNvSpPr/>
          <p:nvPr/>
        </p:nvSpPr>
        <p:spPr>
          <a:xfrm>
            <a:off x="49911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53175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8" name="Rectangle 78"/>
          <p:cNvSpPr/>
          <p:nvPr/>
        </p:nvSpPr>
        <p:spPr>
          <a:xfrm>
            <a:off x="57340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6062434" y="28951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68074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2" name="Rectangle 82"/>
          <p:cNvSpPr/>
          <p:nvPr/>
        </p:nvSpPr>
        <p:spPr>
          <a:xfrm>
            <a:off x="72199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75503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4" name="Rectangle 84"/>
          <p:cNvSpPr/>
          <p:nvPr/>
        </p:nvSpPr>
        <p:spPr>
          <a:xfrm>
            <a:off x="79629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2933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6" name="Rectangle 86"/>
          <p:cNvSpPr/>
          <p:nvPr/>
        </p:nvSpPr>
        <p:spPr>
          <a:xfrm>
            <a:off x="87058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90362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88" name="Rectangle 88"/>
          <p:cNvSpPr/>
          <p:nvPr/>
        </p:nvSpPr>
        <p:spPr>
          <a:xfrm>
            <a:off x="94488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977922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0" name="Rectangle 90"/>
          <p:cNvSpPr/>
          <p:nvPr/>
        </p:nvSpPr>
        <p:spPr>
          <a:xfrm>
            <a:off x="101917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522177" y="28951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92" name="Rectangle 92"/>
          <p:cNvSpPr/>
          <p:nvPr/>
        </p:nvSpPr>
        <p:spPr>
          <a:xfrm>
            <a:off x="109347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112611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4" name="Rectangle 94"/>
          <p:cNvSpPr/>
          <p:nvPr/>
        </p:nvSpPr>
        <p:spPr>
          <a:xfrm>
            <a:off x="1167765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1200412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6" name="Rectangle 96"/>
          <p:cNvSpPr/>
          <p:nvPr/>
        </p:nvSpPr>
        <p:spPr>
          <a:xfrm>
            <a:off x="12420600" y="27336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2747077" y="28951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98" name="Rectangle 98"/>
          <p:cNvSpPr/>
          <p:nvPr/>
        </p:nvSpPr>
        <p:spPr>
          <a:xfrm>
            <a:off x="381000" y="32289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1214368" y="3414712"/>
            <a:ext cx="7145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来料检验｜011</a:t>
            </a:r>
          </a:p>
        </p:txBody>
      </p:sp>
      <p:sp>
        <p:nvSpPr>
          <p:cNvPr id="100" name="Rectangle 100"/>
          <p:cNvSpPr/>
          <p:nvPr/>
        </p:nvSpPr>
        <p:spPr>
          <a:xfrm>
            <a:off x="27622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30926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02" name="Rectangle 102"/>
          <p:cNvSpPr/>
          <p:nvPr/>
        </p:nvSpPr>
        <p:spPr>
          <a:xfrm>
            <a:off x="35052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3850919" y="33904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04" name="Rectangle 104"/>
          <p:cNvSpPr/>
          <p:nvPr/>
        </p:nvSpPr>
        <p:spPr>
          <a:xfrm>
            <a:off x="42481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45746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Rectangle 106"/>
          <p:cNvSpPr/>
          <p:nvPr/>
        </p:nvSpPr>
        <p:spPr>
          <a:xfrm>
            <a:off x="49911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7" name="TextBox 107"/>
          <p:cNvSpPr txBox="1"/>
          <p:nvPr/>
        </p:nvSpPr>
        <p:spPr>
          <a:xfrm>
            <a:off x="53194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8" name="Rectangle 108"/>
          <p:cNvSpPr/>
          <p:nvPr/>
        </p:nvSpPr>
        <p:spPr>
          <a:xfrm>
            <a:off x="57340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09" name="TextBox 109"/>
          <p:cNvSpPr txBox="1"/>
          <p:nvPr/>
        </p:nvSpPr>
        <p:spPr>
          <a:xfrm>
            <a:off x="60644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0" name="Rectangle 110"/>
          <p:cNvSpPr/>
          <p:nvPr/>
        </p:nvSpPr>
        <p:spPr>
          <a:xfrm>
            <a:off x="64770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1" name="TextBox 111"/>
          <p:cNvSpPr txBox="1"/>
          <p:nvPr/>
        </p:nvSpPr>
        <p:spPr>
          <a:xfrm>
            <a:off x="68074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2" name="Rectangle 112"/>
          <p:cNvSpPr/>
          <p:nvPr/>
        </p:nvSpPr>
        <p:spPr>
          <a:xfrm>
            <a:off x="72199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3" name="TextBox 113"/>
          <p:cNvSpPr txBox="1"/>
          <p:nvPr/>
        </p:nvSpPr>
        <p:spPr>
          <a:xfrm>
            <a:off x="75503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4" name="Rectangle 114"/>
          <p:cNvSpPr/>
          <p:nvPr/>
        </p:nvSpPr>
        <p:spPr>
          <a:xfrm>
            <a:off x="79629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82933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6" name="Rectangle 116"/>
          <p:cNvSpPr/>
          <p:nvPr/>
        </p:nvSpPr>
        <p:spPr>
          <a:xfrm>
            <a:off x="87058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7" name="TextBox 117"/>
          <p:cNvSpPr txBox="1"/>
          <p:nvPr/>
        </p:nvSpPr>
        <p:spPr>
          <a:xfrm>
            <a:off x="903627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94488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9779227" y="33904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20" name="Rectangle 120"/>
          <p:cNvSpPr/>
          <p:nvPr/>
        </p:nvSpPr>
        <p:spPr>
          <a:xfrm>
            <a:off x="101917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1" name="TextBox 121"/>
          <p:cNvSpPr txBox="1"/>
          <p:nvPr/>
        </p:nvSpPr>
        <p:spPr>
          <a:xfrm>
            <a:off x="10518227" y="33904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22" name="Rectangle 122"/>
          <p:cNvSpPr/>
          <p:nvPr/>
        </p:nvSpPr>
        <p:spPr>
          <a:xfrm>
            <a:off x="109347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3" name="TextBox 123"/>
          <p:cNvSpPr txBox="1"/>
          <p:nvPr/>
        </p:nvSpPr>
        <p:spPr>
          <a:xfrm>
            <a:off x="112630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1167765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1200603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6" name="Rectangle 126"/>
          <p:cNvSpPr/>
          <p:nvPr/>
        </p:nvSpPr>
        <p:spPr>
          <a:xfrm>
            <a:off x="12420600" y="32289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27" name="TextBox 127"/>
          <p:cNvSpPr txBox="1"/>
          <p:nvPr/>
        </p:nvSpPr>
        <p:spPr>
          <a:xfrm>
            <a:off x="12748984" y="33904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8" name="Rectangle 128"/>
          <p:cNvSpPr/>
          <p:nvPr/>
        </p:nvSpPr>
        <p:spPr>
          <a:xfrm>
            <a:off x="381000" y="37242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29" name="TextBox 129"/>
          <p:cNvSpPr txBox="1"/>
          <p:nvPr/>
        </p:nvSpPr>
        <p:spPr>
          <a:xfrm>
            <a:off x="949335" y="3910012"/>
            <a:ext cx="124457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成品包装与出货放行｜006</a:t>
            </a:r>
          </a:p>
        </p:txBody>
      </p:sp>
      <p:sp>
        <p:nvSpPr>
          <p:cNvPr id="130" name="Rectangle 130"/>
          <p:cNvSpPr/>
          <p:nvPr/>
        </p:nvSpPr>
        <p:spPr>
          <a:xfrm>
            <a:off x="27622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1" name="TextBox 131"/>
          <p:cNvSpPr txBox="1"/>
          <p:nvPr/>
        </p:nvSpPr>
        <p:spPr>
          <a:xfrm>
            <a:off x="31079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32" name="Rectangle 132"/>
          <p:cNvSpPr/>
          <p:nvPr/>
        </p:nvSpPr>
        <p:spPr>
          <a:xfrm>
            <a:off x="35052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3" name="TextBox 133"/>
          <p:cNvSpPr txBox="1"/>
          <p:nvPr/>
        </p:nvSpPr>
        <p:spPr>
          <a:xfrm>
            <a:off x="3833584" y="38857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4" name="Rectangle 134"/>
          <p:cNvSpPr/>
          <p:nvPr/>
        </p:nvSpPr>
        <p:spPr>
          <a:xfrm>
            <a:off x="42481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5" name="TextBox 135"/>
          <p:cNvSpPr txBox="1"/>
          <p:nvPr/>
        </p:nvSpPr>
        <p:spPr>
          <a:xfrm>
            <a:off x="45746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6" name="Rectangle 136"/>
          <p:cNvSpPr/>
          <p:nvPr/>
        </p:nvSpPr>
        <p:spPr>
          <a:xfrm>
            <a:off x="49911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7" name="TextBox 137"/>
          <p:cNvSpPr txBox="1"/>
          <p:nvPr/>
        </p:nvSpPr>
        <p:spPr>
          <a:xfrm>
            <a:off x="53175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Rectangle 138"/>
          <p:cNvSpPr/>
          <p:nvPr/>
        </p:nvSpPr>
        <p:spPr>
          <a:xfrm>
            <a:off x="57340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39" name="TextBox 139"/>
          <p:cNvSpPr txBox="1"/>
          <p:nvPr/>
        </p:nvSpPr>
        <p:spPr>
          <a:xfrm>
            <a:off x="6079769" y="3885724"/>
            <a:ext cx="5151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40" name="Rectangle 140"/>
          <p:cNvSpPr/>
          <p:nvPr/>
        </p:nvSpPr>
        <p:spPr>
          <a:xfrm>
            <a:off x="64770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1" name="TextBox 141"/>
          <p:cNvSpPr txBox="1"/>
          <p:nvPr/>
        </p:nvSpPr>
        <p:spPr>
          <a:xfrm>
            <a:off x="68074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2" name="Rectangle 142"/>
          <p:cNvSpPr/>
          <p:nvPr/>
        </p:nvSpPr>
        <p:spPr>
          <a:xfrm>
            <a:off x="72199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3" name="TextBox 143"/>
          <p:cNvSpPr txBox="1"/>
          <p:nvPr/>
        </p:nvSpPr>
        <p:spPr>
          <a:xfrm>
            <a:off x="75503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4" name="Rectangle 144"/>
          <p:cNvSpPr/>
          <p:nvPr/>
        </p:nvSpPr>
        <p:spPr>
          <a:xfrm>
            <a:off x="79629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5" name="TextBox 145"/>
          <p:cNvSpPr txBox="1"/>
          <p:nvPr/>
        </p:nvSpPr>
        <p:spPr>
          <a:xfrm>
            <a:off x="829332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6" name="Rectangle 146"/>
          <p:cNvSpPr/>
          <p:nvPr/>
        </p:nvSpPr>
        <p:spPr>
          <a:xfrm>
            <a:off x="87058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7" name="TextBox 147"/>
          <p:cNvSpPr txBox="1"/>
          <p:nvPr/>
        </p:nvSpPr>
        <p:spPr>
          <a:xfrm>
            <a:off x="9036277" y="38857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8" name="Rectangle 148"/>
          <p:cNvSpPr/>
          <p:nvPr/>
        </p:nvSpPr>
        <p:spPr>
          <a:xfrm>
            <a:off x="94488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49" name="TextBox 149"/>
          <p:cNvSpPr txBox="1"/>
          <p:nvPr/>
        </p:nvSpPr>
        <p:spPr>
          <a:xfrm>
            <a:off x="97752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0" name="Rectangle 150"/>
          <p:cNvSpPr/>
          <p:nvPr/>
        </p:nvSpPr>
        <p:spPr>
          <a:xfrm>
            <a:off x="101917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1" name="TextBox 151"/>
          <p:cNvSpPr txBox="1"/>
          <p:nvPr/>
        </p:nvSpPr>
        <p:spPr>
          <a:xfrm>
            <a:off x="105182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2" name="Rectangle 152"/>
          <p:cNvSpPr/>
          <p:nvPr/>
        </p:nvSpPr>
        <p:spPr>
          <a:xfrm>
            <a:off x="109347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3" name="TextBox 153"/>
          <p:cNvSpPr txBox="1"/>
          <p:nvPr/>
        </p:nvSpPr>
        <p:spPr>
          <a:xfrm>
            <a:off x="112611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4" name="Rectangle 154"/>
          <p:cNvSpPr/>
          <p:nvPr/>
        </p:nvSpPr>
        <p:spPr>
          <a:xfrm>
            <a:off x="1167765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5" name="TextBox 155"/>
          <p:cNvSpPr txBox="1"/>
          <p:nvPr/>
        </p:nvSpPr>
        <p:spPr>
          <a:xfrm>
            <a:off x="1200412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6" name="Rectangle 156"/>
          <p:cNvSpPr/>
          <p:nvPr/>
        </p:nvSpPr>
        <p:spPr>
          <a:xfrm>
            <a:off x="12420600" y="37242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57" name="TextBox 157"/>
          <p:cNvSpPr txBox="1"/>
          <p:nvPr/>
        </p:nvSpPr>
        <p:spPr>
          <a:xfrm>
            <a:off x="12747077" y="38857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58" name="Rectangle 158"/>
          <p:cNvSpPr/>
          <p:nvPr/>
        </p:nvSpPr>
        <p:spPr>
          <a:xfrm>
            <a:off x="381000" y="42195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59" name="TextBox 159"/>
          <p:cNvSpPr txBox="1"/>
          <p:nvPr/>
        </p:nvSpPr>
        <p:spPr>
          <a:xfrm>
            <a:off x="1055349" y="44053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付款与费用审批｜015</a:t>
            </a:r>
          </a:p>
        </p:txBody>
      </p:sp>
      <p:sp>
        <p:nvSpPr>
          <p:cNvPr id="160" name="Rectangle 160"/>
          <p:cNvSpPr/>
          <p:nvPr/>
        </p:nvSpPr>
        <p:spPr>
          <a:xfrm>
            <a:off x="27622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1" name="TextBox 161"/>
          <p:cNvSpPr txBox="1"/>
          <p:nvPr/>
        </p:nvSpPr>
        <p:spPr>
          <a:xfrm>
            <a:off x="30887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62" name="Rectangle 162"/>
          <p:cNvSpPr/>
          <p:nvPr/>
        </p:nvSpPr>
        <p:spPr>
          <a:xfrm>
            <a:off x="35052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3" name="TextBox 163"/>
          <p:cNvSpPr txBox="1"/>
          <p:nvPr/>
        </p:nvSpPr>
        <p:spPr>
          <a:xfrm>
            <a:off x="38335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4" name="Rectangle 164"/>
          <p:cNvSpPr/>
          <p:nvPr/>
        </p:nvSpPr>
        <p:spPr>
          <a:xfrm>
            <a:off x="42481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5" name="TextBox 165"/>
          <p:cNvSpPr txBox="1"/>
          <p:nvPr/>
        </p:nvSpPr>
        <p:spPr>
          <a:xfrm>
            <a:off x="45765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6" name="Rectangle 166"/>
          <p:cNvSpPr/>
          <p:nvPr/>
        </p:nvSpPr>
        <p:spPr>
          <a:xfrm>
            <a:off x="49911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7" name="TextBox 167"/>
          <p:cNvSpPr txBox="1"/>
          <p:nvPr/>
        </p:nvSpPr>
        <p:spPr>
          <a:xfrm>
            <a:off x="53194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68" name="Rectangle 168"/>
          <p:cNvSpPr/>
          <p:nvPr/>
        </p:nvSpPr>
        <p:spPr>
          <a:xfrm>
            <a:off x="57340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69" name="TextBox 169"/>
          <p:cNvSpPr txBox="1"/>
          <p:nvPr/>
        </p:nvSpPr>
        <p:spPr>
          <a:xfrm>
            <a:off x="6060527" y="43810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70" name="Rectangle 170"/>
          <p:cNvSpPr/>
          <p:nvPr/>
        </p:nvSpPr>
        <p:spPr>
          <a:xfrm>
            <a:off x="64770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1" name="TextBox 171"/>
          <p:cNvSpPr txBox="1"/>
          <p:nvPr/>
        </p:nvSpPr>
        <p:spPr>
          <a:xfrm>
            <a:off x="68053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2" name="Rectangle 172"/>
          <p:cNvSpPr/>
          <p:nvPr/>
        </p:nvSpPr>
        <p:spPr>
          <a:xfrm>
            <a:off x="72199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3" name="TextBox 173"/>
          <p:cNvSpPr txBox="1"/>
          <p:nvPr/>
        </p:nvSpPr>
        <p:spPr>
          <a:xfrm>
            <a:off x="75503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4" name="Rectangle 174"/>
          <p:cNvSpPr/>
          <p:nvPr/>
        </p:nvSpPr>
        <p:spPr>
          <a:xfrm>
            <a:off x="79629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5" name="TextBox 175"/>
          <p:cNvSpPr txBox="1"/>
          <p:nvPr/>
        </p:nvSpPr>
        <p:spPr>
          <a:xfrm>
            <a:off x="82933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6" name="Rectangle 176"/>
          <p:cNvSpPr/>
          <p:nvPr/>
        </p:nvSpPr>
        <p:spPr>
          <a:xfrm>
            <a:off x="87058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7" name="TextBox 177"/>
          <p:cNvSpPr txBox="1"/>
          <p:nvPr/>
        </p:nvSpPr>
        <p:spPr>
          <a:xfrm>
            <a:off x="90362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78" name="Rectangle 178"/>
          <p:cNvSpPr/>
          <p:nvPr/>
        </p:nvSpPr>
        <p:spPr>
          <a:xfrm>
            <a:off x="94488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79" name="TextBox 179"/>
          <p:cNvSpPr txBox="1"/>
          <p:nvPr/>
        </p:nvSpPr>
        <p:spPr>
          <a:xfrm>
            <a:off x="977922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0" name="Rectangle 180"/>
          <p:cNvSpPr/>
          <p:nvPr/>
        </p:nvSpPr>
        <p:spPr>
          <a:xfrm>
            <a:off x="101917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1" name="TextBox 181"/>
          <p:cNvSpPr txBox="1"/>
          <p:nvPr/>
        </p:nvSpPr>
        <p:spPr>
          <a:xfrm>
            <a:off x="10522177" y="43810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2" name="Rectangle 182"/>
          <p:cNvSpPr/>
          <p:nvPr/>
        </p:nvSpPr>
        <p:spPr>
          <a:xfrm>
            <a:off x="109347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3" name="TextBox 183"/>
          <p:cNvSpPr txBox="1"/>
          <p:nvPr/>
        </p:nvSpPr>
        <p:spPr>
          <a:xfrm>
            <a:off x="112630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4" name="Rectangle 184"/>
          <p:cNvSpPr/>
          <p:nvPr/>
        </p:nvSpPr>
        <p:spPr>
          <a:xfrm>
            <a:off x="1167765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5" name="TextBox 185"/>
          <p:cNvSpPr txBox="1"/>
          <p:nvPr/>
        </p:nvSpPr>
        <p:spPr>
          <a:xfrm>
            <a:off x="1200603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6" name="Rectangle 186"/>
          <p:cNvSpPr/>
          <p:nvPr/>
        </p:nvSpPr>
        <p:spPr>
          <a:xfrm>
            <a:off x="12420600" y="42195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9050">
            <a:solidFill>
              <a:srgbClr val="D7E0EA"/>
            </a:solidFill>
          </a:ln>
        </p:spPr>
      </p:sp>
      <p:sp>
        <p:nvSpPr>
          <p:cNvPr id="187" name="TextBox 187"/>
          <p:cNvSpPr txBox="1"/>
          <p:nvPr/>
        </p:nvSpPr>
        <p:spPr>
          <a:xfrm>
            <a:off x="12748984" y="43810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8" name="Rectangle 188"/>
          <p:cNvSpPr/>
          <p:nvPr/>
        </p:nvSpPr>
        <p:spPr>
          <a:xfrm>
            <a:off x="381000" y="4714875"/>
            <a:ext cx="23812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89" name="TextBox 189"/>
          <p:cNvSpPr txBox="1"/>
          <p:nvPr/>
        </p:nvSpPr>
        <p:spPr>
          <a:xfrm>
            <a:off x="1055349" y="4900612"/>
            <a:ext cx="103255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模具维修与技改｜021</a:t>
            </a:r>
          </a:p>
        </p:txBody>
      </p:sp>
      <p:sp>
        <p:nvSpPr>
          <p:cNvPr id="190" name="Rectangle 190"/>
          <p:cNvSpPr/>
          <p:nvPr/>
        </p:nvSpPr>
        <p:spPr>
          <a:xfrm>
            <a:off x="27622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1" name="TextBox 191"/>
          <p:cNvSpPr txBox="1"/>
          <p:nvPr/>
        </p:nvSpPr>
        <p:spPr>
          <a:xfrm>
            <a:off x="30906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2" name="Rectangle 192"/>
          <p:cNvSpPr/>
          <p:nvPr/>
        </p:nvSpPr>
        <p:spPr>
          <a:xfrm>
            <a:off x="35052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3" name="TextBox 193"/>
          <p:cNvSpPr txBox="1"/>
          <p:nvPr/>
        </p:nvSpPr>
        <p:spPr>
          <a:xfrm>
            <a:off x="38316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94" name="Rectangle 194"/>
          <p:cNvSpPr/>
          <p:nvPr/>
        </p:nvSpPr>
        <p:spPr>
          <a:xfrm>
            <a:off x="42481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5" name="TextBox 195"/>
          <p:cNvSpPr txBox="1"/>
          <p:nvPr/>
        </p:nvSpPr>
        <p:spPr>
          <a:xfrm>
            <a:off x="457653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6" name="Rectangle 196"/>
          <p:cNvSpPr/>
          <p:nvPr/>
        </p:nvSpPr>
        <p:spPr>
          <a:xfrm>
            <a:off x="49911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7" name="TextBox 197"/>
          <p:cNvSpPr txBox="1"/>
          <p:nvPr/>
        </p:nvSpPr>
        <p:spPr>
          <a:xfrm>
            <a:off x="5319484" y="4876324"/>
            <a:ext cx="8618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98" name="Rectangle 198"/>
          <p:cNvSpPr/>
          <p:nvPr/>
        </p:nvSpPr>
        <p:spPr>
          <a:xfrm>
            <a:off x="57340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199" name="TextBox 199"/>
          <p:cNvSpPr txBox="1"/>
          <p:nvPr/>
        </p:nvSpPr>
        <p:spPr>
          <a:xfrm>
            <a:off x="60644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0" name="Rectangle 200"/>
          <p:cNvSpPr/>
          <p:nvPr/>
        </p:nvSpPr>
        <p:spPr>
          <a:xfrm>
            <a:off x="64770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1" name="TextBox 201"/>
          <p:cNvSpPr txBox="1"/>
          <p:nvPr/>
        </p:nvSpPr>
        <p:spPr>
          <a:xfrm>
            <a:off x="68034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C56A2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02" name="Rectangle 202"/>
          <p:cNvSpPr/>
          <p:nvPr/>
        </p:nvSpPr>
        <p:spPr>
          <a:xfrm>
            <a:off x="72199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3" name="TextBox 203"/>
          <p:cNvSpPr txBox="1"/>
          <p:nvPr/>
        </p:nvSpPr>
        <p:spPr>
          <a:xfrm>
            <a:off x="75503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04" name="Rectangle 204"/>
          <p:cNvSpPr/>
          <p:nvPr/>
        </p:nvSpPr>
        <p:spPr>
          <a:xfrm>
            <a:off x="79629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5" name="TextBox 205"/>
          <p:cNvSpPr txBox="1"/>
          <p:nvPr/>
        </p:nvSpPr>
        <p:spPr>
          <a:xfrm>
            <a:off x="828937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6" name="Rectangle 206"/>
          <p:cNvSpPr/>
          <p:nvPr/>
        </p:nvSpPr>
        <p:spPr>
          <a:xfrm>
            <a:off x="87058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7" name="TextBox 207"/>
          <p:cNvSpPr txBox="1"/>
          <p:nvPr/>
        </p:nvSpPr>
        <p:spPr>
          <a:xfrm>
            <a:off x="9032327" y="4876324"/>
            <a:ext cx="899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208" name="Rectangle 208"/>
          <p:cNvSpPr/>
          <p:nvPr/>
        </p:nvSpPr>
        <p:spPr>
          <a:xfrm>
            <a:off x="94488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09" name="TextBox 209"/>
          <p:cNvSpPr txBox="1"/>
          <p:nvPr/>
        </p:nvSpPr>
        <p:spPr>
          <a:xfrm>
            <a:off x="97792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0" name="Rectangle 210"/>
          <p:cNvSpPr/>
          <p:nvPr/>
        </p:nvSpPr>
        <p:spPr>
          <a:xfrm>
            <a:off x="101917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1" name="TextBox 211"/>
          <p:cNvSpPr txBox="1"/>
          <p:nvPr/>
        </p:nvSpPr>
        <p:spPr>
          <a:xfrm>
            <a:off x="105221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2" name="Rectangle 212"/>
          <p:cNvSpPr/>
          <p:nvPr/>
        </p:nvSpPr>
        <p:spPr>
          <a:xfrm>
            <a:off x="109347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3" name="TextBox 213"/>
          <p:cNvSpPr txBox="1"/>
          <p:nvPr/>
        </p:nvSpPr>
        <p:spPr>
          <a:xfrm>
            <a:off x="112651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4" name="Rectangle 214"/>
          <p:cNvSpPr/>
          <p:nvPr/>
        </p:nvSpPr>
        <p:spPr>
          <a:xfrm>
            <a:off x="1167765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5" name="TextBox 215"/>
          <p:cNvSpPr txBox="1"/>
          <p:nvPr/>
        </p:nvSpPr>
        <p:spPr>
          <a:xfrm>
            <a:off x="1200807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6" name="Rectangle 216"/>
          <p:cNvSpPr/>
          <p:nvPr/>
        </p:nvSpPr>
        <p:spPr>
          <a:xfrm>
            <a:off x="12420600" y="4714875"/>
            <a:ext cx="742950" cy="419100"/>
          </a:xfrm>
          <a:prstGeom prst="roundRect">
            <a:avLst>
              <a:gd name="adj" fmla="val 6818"/>
            </a:avLst>
          </a:prstGeom>
          <a:solidFill>
            <a:srgbClr val="FBFCFE"/>
          </a:solidFill>
          <a:ln w="19050">
            <a:solidFill>
              <a:srgbClr val="D7E0EA"/>
            </a:solidFill>
          </a:ln>
        </p:spPr>
      </p:sp>
      <p:sp>
        <p:nvSpPr>
          <p:cNvPr id="217" name="TextBox 217"/>
          <p:cNvSpPr txBox="1"/>
          <p:nvPr/>
        </p:nvSpPr>
        <p:spPr>
          <a:xfrm>
            <a:off x="12751027" y="4876324"/>
            <a:ext cx="820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526173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18" name="Rectangle 218"/>
          <p:cNvSpPr/>
          <p:nvPr/>
        </p:nvSpPr>
        <p:spPr>
          <a:xfrm>
            <a:off x="571500" y="5381625"/>
            <a:ext cx="11049000" cy="6667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19050">
            <a:solidFill>
              <a:srgbClr val="A87519"/>
            </a:solidFill>
          </a:ln>
        </p:spPr>
      </p:sp>
      <p:sp>
        <p:nvSpPr>
          <p:cNvPr id="219" name="TextBox 219"/>
          <p:cNvSpPr txBox="1"/>
          <p:nvPr/>
        </p:nvSpPr>
        <p:spPr>
          <a:xfrm>
            <a:off x="3557290" y="5533549"/>
            <a:ext cx="50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R=执行｜A=最终负责/批准（每行唯一）｜C=事前咨询｜I=结果知会｜—=不参与</a:t>
            </a:r>
          </a:p>
        </p:txBody>
      </p:sp>
      <p:sp>
        <p:nvSpPr>
          <p:cNvPr id="220" name="TextBox 220"/>
          <p:cNvSpPr txBox="1"/>
          <p:nvPr/>
        </p:nvSpPr>
        <p:spPr>
          <a:xfrm>
            <a:off x="3527717" y="5779770"/>
            <a:ext cx="513656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采购验收拆分：来料质量检验 A=品质部、R=成品出货检验组；仓储仅参与收货/物流协同。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66738" y="6502241"/>
            <a:ext cx="74552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示例不是新增授权；金额、特采/让步放行边界以正式授权文件为准。来源：RACI-004、RACI-005、RACI-006、RACI-011、RACI-015、RACI-021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89204" y="327660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33｜管理体系证据链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89204" y="584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从要求到执行、检查、整改和改进，形成可追溯的治理证据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9204" y="994410"/>
            <a:ext cx="388924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证据链不是信息罗列，而是从要求到复盘的可追溯关系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56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制度要求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制度/标准</a:t>
            </a:r>
          </a:p>
        </p:txBody>
      </p:sp>
      <p:sp>
        <p:nvSpPr>
          <p:cNvPr id="9" name="Line 9"/>
          <p:cNvSpPr/>
          <p:nvPr/>
        </p:nvSpPr>
        <p:spPr>
          <a:xfrm>
            <a:off x="2000250" y="2895600"/>
            <a:ext cx="133350" cy="1"/>
          </a:xfrm>
          <a:prstGeom prst="line">
            <a:avLst/>
          </a:prstGeom>
          <a:noFill/>
          <a:ln w="28575">
            <a:solidFill>
              <a:srgbClr val="2F6BFF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171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7657B8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2556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责任活动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512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岗位/部门</a:t>
            </a:r>
          </a:p>
        </p:txBody>
      </p:sp>
      <p:sp>
        <p:nvSpPr>
          <p:cNvPr id="13" name="Line 13"/>
          <p:cNvSpPr/>
          <p:nvPr/>
        </p:nvSpPr>
        <p:spPr>
          <a:xfrm>
            <a:off x="3600450" y="2895600"/>
            <a:ext cx="133350" cy="1"/>
          </a:xfrm>
          <a:prstGeom prst="line">
            <a:avLst/>
          </a:prstGeom>
          <a:noFill/>
          <a:ln w="28575">
            <a:solidFill>
              <a:srgbClr val="7657B8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37719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1570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执行记录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26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表单/台账</a:t>
            </a:r>
          </a:p>
        </p:txBody>
      </p:sp>
      <p:sp>
        <p:nvSpPr>
          <p:cNvPr id="17" name="Line 17"/>
          <p:cNvSpPr/>
          <p:nvPr/>
        </p:nvSpPr>
        <p:spPr>
          <a:xfrm>
            <a:off x="5200650" y="2895600"/>
            <a:ext cx="133350" cy="1"/>
          </a:xfrm>
          <a:prstGeom prst="line">
            <a:avLst/>
          </a:prstGeom>
          <a:noFill/>
          <a:ln w="28575">
            <a:solidFill>
              <a:srgbClr val="1C9C8C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3721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57572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检查结果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128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测量/审核</a:t>
            </a:r>
          </a:p>
        </p:txBody>
      </p:sp>
      <p:sp>
        <p:nvSpPr>
          <p:cNvPr id="21" name="Line 21"/>
          <p:cNvSpPr/>
          <p:nvPr/>
        </p:nvSpPr>
        <p:spPr>
          <a:xfrm>
            <a:off x="68008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69723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D95C5C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73574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整改证据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130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问题/措施</a:t>
            </a:r>
          </a:p>
        </p:txBody>
      </p:sp>
      <p:sp>
        <p:nvSpPr>
          <p:cNvPr id="25" name="Line 25"/>
          <p:cNvSpPr/>
          <p:nvPr/>
        </p:nvSpPr>
        <p:spPr>
          <a:xfrm>
            <a:off x="8401050" y="2895600"/>
            <a:ext cx="133350" cy="1"/>
          </a:xfrm>
          <a:prstGeom prst="line">
            <a:avLst/>
          </a:prstGeom>
          <a:noFill/>
          <a:ln w="28575">
            <a:solidFill>
              <a:srgbClr val="D95C5C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85725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C56A25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89576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评审结论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9132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会议/决定</a:t>
            </a:r>
          </a:p>
        </p:txBody>
      </p:sp>
      <p:sp>
        <p:nvSpPr>
          <p:cNvPr id="29" name="Line 29"/>
          <p:cNvSpPr/>
          <p:nvPr/>
        </p:nvSpPr>
        <p:spPr>
          <a:xfrm>
            <a:off x="10001250" y="2895600"/>
            <a:ext cx="133350" cy="1"/>
          </a:xfrm>
          <a:prstGeom prst="line">
            <a:avLst/>
          </a:prstGeom>
          <a:noFill/>
          <a:ln w="28575">
            <a:solidFill>
              <a:srgbClr val="C56A25"/>
            </a:solidFill>
            <a:tailEnd type="triangle" w="lg" len="lg"/>
          </a:ln>
        </p:spPr>
      </p:sp>
      <p:sp>
        <p:nvSpPr>
          <p:cNvPr id="30" name="Rectangle 30"/>
          <p:cNvSpPr/>
          <p:nvPr/>
        </p:nvSpPr>
        <p:spPr>
          <a:xfrm>
            <a:off x="10172700" y="2381250"/>
            <a:ext cx="142875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10557891" y="2632710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改进证据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13466" y="2899410"/>
            <a:ext cx="7472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验证/更新</a:t>
            </a:r>
          </a:p>
        </p:txBody>
      </p:sp>
      <p:sp>
        <p:nvSpPr>
          <p:cNvPr id="33" name="Line 33"/>
          <p:cNvSpPr/>
          <p:nvPr/>
        </p:nvSpPr>
        <p:spPr>
          <a:xfrm>
            <a:off x="1285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742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14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证据：制度条款</a:t>
            </a:r>
          </a:p>
        </p:txBody>
      </p:sp>
      <p:sp>
        <p:nvSpPr>
          <p:cNvPr id="36" name="Line 36"/>
          <p:cNvSpPr/>
          <p:nvPr/>
        </p:nvSpPr>
        <p:spPr>
          <a:xfrm>
            <a:off x="2886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343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2314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证据：责任记录</a:t>
            </a:r>
          </a:p>
        </p:txBody>
      </p:sp>
      <p:sp>
        <p:nvSpPr>
          <p:cNvPr id="39" name="Line 39"/>
          <p:cNvSpPr/>
          <p:nvPr/>
        </p:nvSpPr>
        <p:spPr>
          <a:xfrm>
            <a:off x="44862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39433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39147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证据：执行台账</a:t>
            </a:r>
          </a:p>
        </p:txBody>
      </p:sp>
      <p:sp>
        <p:nvSpPr>
          <p:cNvPr id="42" name="Line 42"/>
          <p:cNvSpPr/>
          <p:nvPr/>
        </p:nvSpPr>
        <p:spPr>
          <a:xfrm>
            <a:off x="60864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55435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5149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证据：检查报告</a:t>
            </a:r>
          </a:p>
        </p:txBody>
      </p:sp>
      <p:sp>
        <p:nvSpPr>
          <p:cNvPr id="45" name="Line 45"/>
          <p:cNvSpPr/>
          <p:nvPr/>
        </p:nvSpPr>
        <p:spPr>
          <a:xfrm>
            <a:off x="76866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71437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47" name="TextBox 47"/>
          <p:cNvSpPr txBox="1"/>
          <p:nvPr/>
        </p:nvSpPr>
        <p:spPr>
          <a:xfrm>
            <a:off x="71151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证据：整改闭环</a:t>
            </a:r>
          </a:p>
        </p:txBody>
      </p:sp>
      <p:sp>
        <p:nvSpPr>
          <p:cNvPr id="48" name="Line 48"/>
          <p:cNvSpPr/>
          <p:nvPr/>
        </p:nvSpPr>
        <p:spPr>
          <a:xfrm>
            <a:off x="92868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87439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87153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证据：会议纪要</a:t>
            </a:r>
          </a:p>
        </p:txBody>
      </p:sp>
      <p:sp>
        <p:nvSpPr>
          <p:cNvPr id="51" name="Line 51"/>
          <p:cNvSpPr/>
          <p:nvPr/>
        </p:nvSpPr>
        <p:spPr>
          <a:xfrm>
            <a:off x="10887075" y="340995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526173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10344150" y="3714750"/>
            <a:ext cx="1085850" cy="323850"/>
          </a:xfrm>
          <a:prstGeom prst="roundRect">
            <a:avLst>
              <a:gd name="adj" fmla="val 17647"/>
            </a:avLst>
          </a:prstGeom>
          <a:solidFill>
            <a:srgbClr val="EEF3F8"/>
          </a:solidFill>
          <a:ln w="9525">
            <a:solidFill>
              <a:srgbClr val="D7E0EA"/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10315575" y="37947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证据：版本更新</a:t>
            </a:r>
          </a:p>
        </p:txBody>
      </p:sp>
      <p:sp>
        <p:nvSpPr>
          <p:cNvPr id="54" name="Freeform 54"/>
          <p:cNvSpPr/>
          <p:nvPr/>
        </p:nvSpPr>
        <p:spPr>
          <a:xfrm>
            <a:off x="1285875" y="4095750"/>
            <a:ext cx="9286875" cy="1000125"/>
          </a:xfrm>
          <a:custGeom>
            <a:avLst/>
            <a:gdLst/>
            <a:ahLst/>
            <a:cxnLst/>
            <a:rect l="l" t="t" r="r" b="b"/>
            <a:pathLst>
              <a:path w="9286875" h="1000125">
                <a:moveTo>
                  <a:pt x="0" y="0"/>
                </a:moveTo>
                <a:cubicBezTo>
                  <a:pt x="0" y="1000125"/>
                  <a:pt x="9286875" y="1000125"/>
                  <a:pt x="9286875" y="0"/>
                </a:cubicBezTo>
              </a:path>
            </a:pathLst>
          </a:custGeom>
          <a:noFill/>
          <a:ln w="28575">
            <a:solidFill>
              <a:srgbClr val="1C9C8C"/>
            </a:solidFill>
            <a:custDash>
              <a:ds d="266666" sp="200000"/>
            </a:custDash>
            <a:tailEnd type="triangle" w="lg" len="lg"/>
          </a:ln>
        </p:spPr>
      </p:sp>
      <p:sp>
        <p:nvSpPr>
          <p:cNvPr id="55" name="TextBox 55"/>
          <p:cNvSpPr txBox="1"/>
          <p:nvPr/>
        </p:nvSpPr>
        <p:spPr>
          <a:xfrm>
            <a:off x="3799332" y="52520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C9C8C"/>
                </a:solidFill>
                <a:latin typeface="Segoe UI"/>
                <a:ea typeface="Microsoft YaHei"/>
                <a:cs typeface="Segoe UI"/>
              </a:rPr>
              <a:t>复盘反馈：改进结果反向更新制度、责任、表单或检查方式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57250" y="14287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EAF0FF"/>
          </a:solidFill>
          <a:ln w="9525">
            <a:solidFill>
              <a:srgbClr val="B7C9FF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3975354" y="1584960"/>
            <a:ext cx="40507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F6BFF"/>
                </a:solidFill>
                <a:latin typeface="Segoe UI"/>
                <a:ea typeface="Microsoft YaHei"/>
                <a:cs typeface="Segoe UI"/>
              </a:rPr>
              <a:t>每一段都应能回答：谁负责？留下什么记录？由谁验证？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57250" y="5619750"/>
            <a:ext cx="10287000" cy="400050"/>
          </a:xfrm>
          <a:prstGeom prst="roundRect">
            <a:avLst>
              <a:gd name="adj" fmla="val 14286"/>
            </a:avLst>
          </a:pr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3652266" y="5737860"/>
            <a:ext cx="46969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87519"/>
                </a:solidFill>
                <a:latin typeface="Segoe UI"/>
                <a:ea typeface="Microsoft YaHei"/>
                <a:cs typeface="Segoe UI"/>
              </a:rPr>
              <a:t>待确认：正式表单编号、记录保存期限、评审频次和证据归档位置</a:t>
            </a:r>
          </a:p>
        </p:txBody>
      </p:sp>
      <p:sp>
        <p:nvSpPr>
          <p:cNvPr id="60" name="Line 60"/>
          <p:cNvSpPr/>
          <p:nvPr/>
        </p:nvSpPr>
        <p:spPr>
          <a:xfrm>
            <a:off x="495300" y="6477000"/>
            <a:ext cx="11201400" cy="9525"/>
          </a:xfrm>
          <a:custGeom>
            <a:avLst/>
            <a:gdLst/>
            <a:ahLst/>
            <a:cxnLst/>
            <a:rect l="l" t="t" r="r" b="b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489204" y="6576060"/>
            <a:ext cx="462427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Segoe UI"/>
                <a:ea typeface="Microsoft YaHei"/>
                <a:cs typeface="Segoe UI"/>
              </a:rPr>
              <a:t>鑫犇电子｜治理体系草案｜图形原型，待正式流程/授权文件确认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328654" y="6576060"/>
            <a:ext cx="48158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526173"/>
                </a:solidFill>
                <a:latin typeface="Segoe UI"/>
                <a:ea typeface="Segoe UI"/>
                <a:cs typeface="Segoe UI"/>
              </a:rPr>
              <a:t>DRAFT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477202"/>
            <a:ext cx="2300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34 / IMPLEMENTATION ROADMAP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7022" y="721042"/>
            <a:ext cx="2486343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90天落地路线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5023" y="1195864"/>
            <a:ext cx="36174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先跑通关键责任、授权和记录，再扩展到全公司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Line 8"/>
          <p:cNvSpPr/>
          <p:nvPr/>
        </p:nvSpPr>
        <p:spPr>
          <a:xfrm>
            <a:off x="1428750" y="3429000"/>
            <a:ext cx="9334500" cy="1"/>
          </a:xfrm>
          <a:prstGeom prst="line">
            <a:avLst/>
          </a:prstGeom>
          <a:noFill/>
          <a:ln w="47625">
            <a:solidFill>
              <a:srgbClr val="9AA9BA"/>
            </a:solidFill>
            <a:tailEnd type="triangle" w="lg" len="lg"/>
          </a:ln>
        </p:spPr>
      </p:sp>
      <p:sp>
        <p:nvSpPr>
          <p:cNvPr id="9" name="Ellipse 9"/>
          <p:cNvSpPr/>
          <p:nvPr/>
        </p:nvSpPr>
        <p:spPr>
          <a:xfrm>
            <a:off x="1638300" y="3257550"/>
            <a:ext cx="342900" cy="342900"/>
          </a:xfrm>
          <a:prstGeom prst="ellipse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5924550" y="3257550"/>
            <a:ext cx="342900" cy="342900"/>
          </a:xfrm>
          <a:prstGeom prst="ellipse">
            <a:avLst/>
          </a:prstGeom>
          <a:solidFill>
            <a:srgbClr val="1C9C8C"/>
          </a:solidFill>
          <a:ln>
            <a:noFill/>
          </a:ln>
        </p:spPr>
      </p:sp>
      <p:sp>
        <p:nvSpPr>
          <p:cNvPr id="11" name="Ellipse 11"/>
          <p:cNvSpPr/>
          <p:nvPr/>
        </p:nvSpPr>
        <p:spPr>
          <a:xfrm>
            <a:off x="10210800" y="3257550"/>
            <a:ext cx="342900" cy="342900"/>
          </a:xfrm>
          <a:prstGeom prst="ellipse">
            <a:avLst/>
          </a:prstGeom>
          <a:solidFill>
            <a:srgbClr val="C56A25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762000" y="1952625"/>
            <a:ext cx="3143250" cy="2190750"/>
            <a:chOff x="76200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12" name="Freeform 12"/>
            <p:cNvSpPr/>
            <p:nvPr/>
          </p:nvSpPr>
          <p:spPr>
            <a:xfrm>
              <a:off x="76200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2F6BFF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76200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2F6BFF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038606" y="2282190"/>
              <a:ext cx="832470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0—30天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确认主数据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30218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组织、岗位和授权人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035" y="32885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关键流程输入与输出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035" y="35552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记录、版本和待确认项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3839528"/>
              <a:ext cx="1494854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6BFF"/>
                  </a:solidFill>
                  <a:latin typeface="Arial"/>
                  <a:ea typeface="Microsoft YaHei"/>
                  <a:cs typeface="Arial"/>
                </a:rPr>
                <a:t>阶段门：责任基线确认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524375" y="1952625"/>
            <a:ext cx="3143250" cy="2190750"/>
            <a:chOff x="4524375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21" name="Freeform 21"/>
            <p:cNvSpPr/>
            <p:nvPr/>
          </p:nvSpPr>
          <p:spPr>
            <a:xfrm>
              <a:off x="4524375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C9C8C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4524375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1C9C8C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4800981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31—60天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03267" y="2635568"/>
              <a:ext cx="1349483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关键流程试运行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04410" y="30218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订单、变更、质量异常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04410" y="3288506"/>
              <a:ext cx="1654635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采购、交接和会议闭环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04410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记录样例与问题复盘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4791" y="3839528"/>
              <a:ext cx="1346435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C9C8C"/>
                  </a:solidFill>
                  <a:latin typeface="Arial"/>
                  <a:ea typeface="Microsoft YaHei"/>
                  <a:cs typeface="Arial"/>
                </a:rPr>
                <a:t>阶段门：试运行评审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286750" y="1952625"/>
            <a:ext cx="3143250" cy="2190750"/>
            <a:chOff x="8286750" y="1952625"/>
            <a:chExt cx="3143250" cy="2190750"/>
          </a:xfrm>
          <a:effectLst>
            <a:outerShdw blurRad="76200" dist="28575" dir="5400000" algn="ctr" rotWithShape="0">
              <a:srgbClr val="AAB7C6">
                <a:alpha val="16500"/>
              </a:srgbClr>
            </a:outerShdw>
          </a:effectLst>
        </p:grpSpPr>
        <p:sp>
          <p:nvSpPr>
            <p:cNvPr id="30" name="Freeform 30"/>
            <p:cNvSpPr/>
            <p:nvPr/>
          </p:nvSpPr>
          <p:spPr>
            <a:xfrm>
              <a:off x="8286750" y="1952625"/>
              <a:ext cx="3143250" cy="2190750"/>
            </a:xfrm>
            <a:custGeom>
              <a:avLst/>
              <a:gdLst/>
              <a:ahLst/>
              <a:cxnLst/>
              <a:rect l="l" t="t" r="r" b="b"/>
              <a:pathLst>
                <a:path w="3143250" h="2190750">
                  <a:moveTo>
                    <a:pt x="171450" y="0"/>
                  </a:moveTo>
                  <a:lnTo>
                    <a:pt x="2971800" y="0"/>
                  </a:lnTo>
                  <a:cubicBezTo>
                    <a:pt x="3066489" y="0"/>
                    <a:pt x="3143250" y="76761"/>
                    <a:pt x="3143250" y="171450"/>
                  </a:cubicBezTo>
                  <a:lnTo>
                    <a:pt x="3143250" y="2019300"/>
                  </a:lnTo>
                  <a:cubicBezTo>
                    <a:pt x="3143250" y="2113989"/>
                    <a:pt x="3066489" y="2190750"/>
                    <a:pt x="2971800" y="2190750"/>
                  </a:cubicBezTo>
                  <a:lnTo>
                    <a:pt x="171450" y="2190750"/>
                  </a:lnTo>
                  <a:cubicBezTo>
                    <a:pt x="76761" y="2190750"/>
                    <a:pt x="0" y="2113989"/>
                    <a:pt x="0" y="201930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C56A25"/>
              </a:solidFill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8286750" y="1952625"/>
              <a:ext cx="3143250" cy="114300"/>
            </a:xfrm>
            <a:custGeom>
              <a:avLst/>
              <a:gdLst/>
              <a:ahLst/>
              <a:cxnLst/>
              <a:rect l="l" t="t" r="r" b="b"/>
              <a:pathLst>
                <a:path w="3143250" h="114300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57150"/>
                  </a:lnTo>
                  <a:cubicBezTo>
                    <a:pt x="3143250" y="88713"/>
                    <a:pt x="3117663" y="114300"/>
                    <a:pt x="3086100" y="114300"/>
                  </a:cubicBezTo>
                  <a:lnTo>
                    <a:pt x="57150" y="114300"/>
                  </a:lnTo>
                  <a:cubicBezTo>
                    <a:pt x="25587" y="114300"/>
                    <a:pt x="0" y="88713"/>
                    <a:pt x="0" y="571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C56A25"/>
            </a:solidFill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</p:sp>
        <p:sp>
          <p:nvSpPr>
            <p:cNvPr id="32" name="TextBox 32"/>
            <p:cNvSpPr txBox="1"/>
            <p:nvPr/>
          </p:nvSpPr>
          <p:spPr>
            <a:xfrm>
              <a:off x="8563356" y="2282190"/>
              <a:ext cx="972407" cy="352044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61—90天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65642" y="2635568"/>
              <a:ext cx="967835" cy="264033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D3D"/>
                  </a:solidFill>
                  <a:latin typeface="Arial"/>
                  <a:ea typeface="Microsoft YaHei"/>
                  <a:cs typeface="Arial"/>
                </a:rPr>
                <a:t>复盘与固化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566785" y="3021806"/>
              <a:ext cx="1806083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根据结果修订制度和表单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566785" y="3288506"/>
              <a:ext cx="1957530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明确培训、授权和检查机制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66785" y="3555206"/>
              <a:ext cx="1503188" cy="220028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26173"/>
                  </a:solidFill>
                  <a:latin typeface="Arial"/>
                  <a:ea typeface="Microsoft YaHei"/>
                  <a:cs typeface="Arial"/>
                </a:rPr>
                <a:t>• 形成下一轮改进计划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67166" y="3839528"/>
              <a:ext cx="1643272" cy="205359"/>
            </a:xfrm>
            <a:prstGeom prst="rect">
              <a:avLst/>
            </a:prstGeom>
            <a:noFill/>
            <a:ln>
              <a:noFill/>
            </a:ln>
            <a:effectLst>
              <a:outerShdw blurRad="76200" dist="28575" dir="5400000" algn="ctr" rotWithShape="0">
                <a:srgbClr val="AAB7C6">
                  <a:alpha val="16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C56A25"/>
                  </a:solidFill>
                  <a:latin typeface="Arial"/>
                  <a:ea typeface="Microsoft YaHei"/>
                  <a:cs typeface="Arial"/>
                </a:rPr>
                <a:t>阶段门：正式发布前批准</a:t>
              </a:r>
            </a:p>
          </p:txBody>
        </p:sp>
      </p:grpSp>
      <p:sp>
        <p:nvSpPr>
          <p:cNvPr id="39" name="Freeform 39"/>
          <p:cNvSpPr/>
          <p:nvPr/>
        </p:nvSpPr>
        <p:spPr>
          <a:xfrm>
            <a:off x="1619250" y="5000625"/>
            <a:ext cx="8953500" cy="552450"/>
          </a:xfrm>
          <a:custGeom>
            <a:avLst/>
            <a:gdLst/>
            <a:ahLst/>
            <a:cxnLst/>
            <a:rect l="l" t="t" r="r" b="b"/>
            <a:pathLst>
              <a:path w="8953500" h="552450">
                <a:moveTo>
                  <a:pt x="276225" y="0"/>
                </a:moveTo>
                <a:lnTo>
                  <a:pt x="8677275" y="0"/>
                </a:lnTo>
                <a:cubicBezTo>
                  <a:pt x="8829830" y="0"/>
                  <a:pt x="8953500" y="123670"/>
                  <a:pt x="8953500" y="276225"/>
                </a:cubicBezTo>
                <a:lnTo>
                  <a:pt x="8953500" y="276225"/>
                </a:lnTo>
                <a:cubicBezTo>
                  <a:pt x="8953500" y="428780"/>
                  <a:pt x="8829830" y="552450"/>
                  <a:pt x="8677275" y="552450"/>
                </a:cubicBezTo>
                <a:lnTo>
                  <a:pt x="276225" y="552450"/>
                </a:lnTo>
                <a:cubicBezTo>
                  <a:pt x="123670" y="552450"/>
                  <a:pt x="0" y="428780"/>
                  <a:pt x="0" y="276225"/>
                </a:cubicBezTo>
                <a:lnTo>
                  <a:pt x="0" y="276225"/>
                </a:lnTo>
                <a:cubicBezTo>
                  <a:pt x="0" y="123670"/>
                  <a:pt x="123670" y="0"/>
                  <a:pt x="276225" y="0"/>
                </a:cubicBezTo>
                <a:close/>
              </a:path>
            </a:pathLst>
          </a:custGeom>
          <a:solidFill>
            <a:srgbClr val="FFF7DF"/>
          </a:solidFill>
          <a:ln w="9525">
            <a:solidFill>
              <a:srgbClr val="E8D39A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2443048" y="5213985"/>
            <a:ext cx="73059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805B12"/>
                </a:solidFill>
                <a:latin typeface="Arial"/>
                <a:ea typeface="Microsoft YaHei"/>
                <a:cs typeface="Arial"/>
              </a:rPr>
              <a:t>本路线是建议机制，不代表公司已经完成实施；每个阶段以实际确认、试运行记录和批准结果为准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494145"/>
            <a:ext cx="40077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7A8"/>
                </a:solidFill>
                <a:latin typeface="Arial"/>
                <a:ea typeface="Microsoft YaHei"/>
                <a:cs typeface="Arial"/>
              </a:rPr>
              <a:t>路线不是项目承诺书：责任人、日期、范围和验收标准须在公司确认后冻结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35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待确认事项清单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481031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未确认的岗位、权限、时限和保存期限不能写成现行事实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857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9" name="Freeform 9"/>
          <p:cNvSpPr/>
          <p:nvPr/>
        </p:nvSpPr>
        <p:spPr>
          <a:xfrm>
            <a:off x="857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117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62481" y="2244090"/>
            <a:ext cx="129044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组织与岗位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2095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3" name="Freeform 13"/>
          <p:cNvSpPr/>
          <p:nvPr/>
        </p:nvSpPr>
        <p:spPr>
          <a:xfrm>
            <a:off x="6191250" y="2095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51092" y="2254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96481" y="2244090"/>
            <a:ext cx="1799311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放行与付款权限</a:t>
            </a:r>
          </a:p>
        </p:txBody>
      </p:sp>
      <p:sp>
        <p:nvSpPr>
          <p:cNvPr id="16" name="Freeform 16"/>
          <p:cNvSpPr/>
          <p:nvPr/>
        </p:nvSpPr>
        <p:spPr>
          <a:xfrm>
            <a:off x="857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17" name="Freeform 17"/>
          <p:cNvSpPr/>
          <p:nvPr/>
        </p:nvSpPr>
        <p:spPr>
          <a:xfrm>
            <a:off x="857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117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62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兼岗控制</a:t>
            </a:r>
          </a:p>
        </p:txBody>
      </p:sp>
      <p:sp>
        <p:nvSpPr>
          <p:cNvPr id="20" name="Freeform 20"/>
          <p:cNvSpPr/>
          <p:nvPr/>
        </p:nvSpPr>
        <p:spPr>
          <a:xfrm>
            <a:off x="6191250" y="30480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1" name="Freeform 21"/>
          <p:cNvSpPr/>
          <p:nvPr/>
        </p:nvSpPr>
        <p:spPr>
          <a:xfrm>
            <a:off x="6191250" y="30480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51092" y="32070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896481" y="31965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记录期限</a:t>
            </a:r>
          </a:p>
        </p:txBody>
      </p:sp>
      <p:sp>
        <p:nvSpPr>
          <p:cNvPr id="24" name="Freeform 24"/>
          <p:cNvSpPr/>
          <p:nvPr/>
        </p:nvSpPr>
        <p:spPr>
          <a:xfrm>
            <a:off x="857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5" name="Freeform 25"/>
          <p:cNvSpPr/>
          <p:nvPr/>
        </p:nvSpPr>
        <p:spPr>
          <a:xfrm>
            <a:off x="857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1C9C8C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117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62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异常时限</a:t>
            </a:r>
          </a:p>
        </p:txBody>
      </p:sp>
      <p:sp>
        <p:nvSpPr>
          <p:cNvPr id="28" name="Freeform 28"/>
          <p:cNvSpPr/>
          <p:nvPr/>
        </p:nvSpPr>
        <p:spPr>
          <a:xfrm>
            <a:off x="6191250" y="4000500"/>
            <a:ext cx="4953000" cy="723900"/>
          </a:xfrm>
          <a:custGeom>
            <a:avLst/>
            <a:gdLst/>
            <a:ahLst/>
            <a:cxnLst/>
            <a:rect l="l" t="t" r="r" b="b"/>
            <a:pathLst>
              <a:path w="4953000" h="723900">
                <a:moveTo>
                  <a:pt x="133350" y="0"/>
                </a:moveTo>
                <a:lnTo>
                  <a:pt x="4819650" y="0"/>
                </a:lnTo>
                <a:cubicBezTo>
                  <a:pt x="4893297" y="0"/>
                  <a:pt x="4953000" y="59703"/>
                  <a:pt x="4953000" y="133350"/>
                </a:cubicBezTo>
                <a:lnTo>
                  <a:pt x="4953000" y="590550"/>
                </a:lnTo>
                <a:cubicBezTo>
                  <a:pt x="4953000" y="664197"/>
                  <a:pt x="4893297" y="723900"/>
                  <a:pt x="4819650" y="723900"/>
                </a:cubicBezTo>
                <a:lnTo>
                  <a:pt x="133350" y="723900"/>
                </a:lnTo>
                <a:cubicBezTo>
                  <a:pt x="59703" y="723900"/>
                  <a:pt x="0" y="664197"/>
                  <a:pt x="0" y="5905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7E0EA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6191250" y="4000500"/>
            <a:ext cx="76200" cy="723900"/>
          </a:xfrm>
          <a:custGeom>
            <a:avLst/>
            <a:gdLst/>
            <a:ahLst/>
            <a:cxnLst/>
            <a:rect l="l" t="t" r="r" b="b"/>
            <a:pathLst>
              <a:path w="76200" h="723900">
                <a:moveTo>
                  <a:pt x="38100" y="0"/>
                </a:moveTo>
                <a:lnTo>
                  <a:pt x="38100" y="0"/>
                </a:lnTo>
                <a:cubicBezTo>
                  <a:pt x="59142" y="0"/>
                  <a:pt x="76200" y="17058"/>
                  <a:pt x="76200" y="38100"/>
                </a:cubicBezTo>
                <a:lnTo>
                  <a:pt x="76200" y="685800"/>
                </a:lnTo>
                <a:cubicBezTo>
                  <a:pt x="76200" y="706842"/>
                  <a:pt x="59142" y="723900"/>
                  <a:pt x="38100" y="723900"/>
                </a:cubicBezTo>
                <a:lnTo>
                  <a:pt x="38100" y="723900"/>
                </a:lnTo>
                <a:cubicBezTo>
                  <a:pt x="17058" y="723900"/>
                  <a:pt x="0" y="706842"/>
                  <a:pt x="0" y="6858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7A21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1092" y="4159568"/>
            <a:ext cx="22362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96481" y="414909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会议机制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F6BF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6166" y="534352"/>
            <a:ext cx="12573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C9C8C"/>
                </a:solidFill>
                <a:latin typeface="Arial"/>
                <a:ea typeface="Arial"/>
                <a:cs typeface="Arial"/>
              </a:rPr>
              <a:t>36 / GOVERNANCE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6260" y="742950"/>
            <a:ext cx="2998851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附件与另册文件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261" y="1227296"/>
            <a:ext cx="5254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治理正文讲清边界；部门制度、SOP、表单和台账另册管理</a:t>
            </a:r>
          </a:p>
        </p:txBody>
      </p:sp>
      <p:sp>
        <p:nvSpPr>
          <p:cNvPr id="7" name="Line 7"/>
          <p:cNvSpPr/>
          <p:nvPr/>
        </p:nvSpPr>
        <p:spPr>
          <a:xfrm>
            <a:off x="571500" y="15811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D7E0E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66675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2F6BF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9098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2F6BFF"/>
                </a:solidFill>
                <a:latin typeface="Arial"/>
                <a:ea typeface="Microsoft YaHei"/>
                <a:cs typeface="Arial"/>
              </a:rPr>
              <a:t>治理正文保留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3267" y="2854642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公司治理原则与边界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3267" y="3235642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组织权责、授权与协同接口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326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风险、会议、监督和改进机制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4029" y="4204335"/>
            <a:ext cx="16593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本PPT不替代执行细节</a:t>
            </a:r>
          </a:p>
        </p:txBody>
      </p:sp>
      <p:sp>
        <p:nvSpPr>
          <p:cNvPr id="14" name="Freeform 14"/>
          <p:cNvSpPr/>
          <p:nvPr/>
        </p:nvSpPr>
        <p:spPr>
          <a:xfrm>
            <a:off x="6667500" y="2047875"/>
            <a:ext cx="4857750" cy="3429000"/>
          </a:xfrm>
          <a:custGeom>
            <a:avLst/>
            <a:gdLst/>
            <a:ahLst/>
            <a:cxnLst/>
            <a:rect l="l" t="t" r="r" b="b"/>
            <a:pathLst>
              <a:path w="4857750" h="3429000">
                <a:moveTo>
                  <a:pt x="152400" y="0"/>
                </a:moveTo>
                <a:lnTo>
                  <a:pt x="4705350" y="0"/>
                </a:lnTo>
                <a:cubicBezTo>
                  <a:pt x="4789518" y="0"/>
                  <a:pt x="4857750" y="68232"/>
                  <a:pt x="4857750" y="152400"/>
                </a:cubicBezTo>
                <a:lnTo>
                  <a:pt x="4857750" y="3276600"/>
                </a:lnTo>
                <a:cubicBezTo>
                  <a:pt x="4857750" y="3360768"/>
                  <a:pt x="4789518" y="3429000"/>
                  <a:pt x="4705350" y="3429000"/>
                </a:cubicBezTo>
                <a:lnTo>
                  <a:pt x="152400" y="3429000"/>
                </a:lnTo>
                <a:cubicBezTo>
                  <a:pt x="68232" y="3429000"/>
                  <a:pt x="0" y="3360768"/>
                  <a:pt x="0" y="32766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1C9C8C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991731" y="228219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C9C8C"/>
                </a:solidFill>
                <a:latin typeface="Arial"/>
                <a:ea typeface="Microsoft YaHei"/>
                <a:cs typeface="Arial"/>
              </a:rPr>
              <a:t>另册执行文件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94017" y="2854642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部门管理制度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94017" y="3235642"/>
            <a:ext cx="17131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流程程序文件与SOP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94017" y="3616642"/>
            <a:ext cx="23762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表单、台账、报告和会议纪要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94017" y="3997642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F2D3D"/>
                </a:solidFill>
                <a:latin typeface="Arial"/>
                <a:ea typeface="Microsoft YaHei"/>
                <a:cs typeface="Arial"/>
              </a:rPr>
              <a:t>检验、点检、财务及专业作业文件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94779" y="4585335"/>
            <a:ext cx="31703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名称、编号、存放位置和版本：待建立/确认</a:t>
            </a:r>
          </a:p>
        </p:txBody>
      </p:sp>
      <p:sp>
        <p:nvSpPr>
          <p:cNvPr id="21" name="Freeform 21"/>
          <p:cNvSpPr/>
          <p:nvPr/>
        </p:nvSpPr>
        <p:spPr>
          <a:xfrm>
            <a:off x="5524500" y="37623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solidFill>
            <a:srgbClr val="000000"/>
          </a:solidFill>
          <a:ln w="47625">
            <a:solidFill>
              <a:srgbClr val="8091A5"/>
            </a:solidFill>
            <a:tailEnd type="triangle" w="med" len="lg"/>
          </a:ln>
        </p:spPr>
      </p:sp>
      <p:sp>
        <p:nvSpPr>
          <p:cNvPr id="22" name="TextBox 22"/>
          <p:cNvSpPr txBox="1"/>
          <p:nvPr/>
        </p:nvSpPr>
        <p:spPr>
          <a:xfrm>
            <a:off x="5756910" y="3402806"/>
            <a:ext cx="31432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526173"/>
                </a:solidFill>
                <a:latin typeface="Arial"/>
                <a:ea typeface="Microsoft YaHei"/>
                <a:cs typeface="Arial"/>
              </a:rPr>
              <a:t>承接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6166" y="6458902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190A0"/>
                </a:solidFill>
                <a:latin typeface="Arial"/>
                <a:ea typeface="Microsoft YaHei"/>
                <a:cs typeface="Arial"/>
              </a:rPr>
              <a:t>鑫犇电子有限公司｜公司治理与管理方法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45968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190A0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2026-10-16T00:59:24Z</dcterms:created>
  <dcterms:modified xsi:type="dcterms:W3CDTF">2026-10-16T00:59:24Z</dcterms:modified>
  <cp:category/>
  <cp:contentStatus/>
</cp:coreProperties>
</file>