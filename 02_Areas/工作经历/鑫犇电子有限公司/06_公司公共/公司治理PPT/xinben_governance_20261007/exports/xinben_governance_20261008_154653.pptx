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479707d140c2fef6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bde6058845307ff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Freeform 24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Freeform 11"/>
            <p:cNvSpPr/>
            <p:nvPr/>
          </p:nvSpPr>
          <p:spPr>
            <a:xfrm>
              <a:off x="2286000" y="19526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Freeform 15"/>
            <p:cNvSpPr/>
            <p:nvPr/>
          </p:nvSpPr>
          <p:spPr>
            <a:xfrm>
              <a:off x="2286000" y="319087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Freeform 19"/>
            <p:cNvSpPr/>
            <p:nvPr/>
          </p:nvSpPr>
          <p:spPr>
            <a:xfrm>
              <a:off x="2286000" y="44291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Freeform 25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4572000" y="1952625"/>
              <a:ext cx="3048000" cy="685800"/>
            </a:xfrm>
            <a:custGeom>
              <a:avLst/>
              <a:gdLst/>
              <a:ahLst/>
              <a:cxnLst/>
              <a:rect l="l" t="t" r="r" b="b"/>
              <a:pathLst>
                <a:path w="3048000" h="685800">
                  <a:moveTo>
                    <a:pt x="133350" y="0"/>
                  </a:moveTo>
                  <a:lnTo>
                    <a:pt x="2914650" y="0"/>
                  </a:lnTo>
                  <a:cubicBezTo>
                    <a:pt x="2988297" y="0"/>
                    <a:pt x="3048000" y="59703"/>
                    <a:pt x="3048000" y="133350"/>
                  </a:cubicBezTo>
                  <a:lnTo>
                    <a:pt x="3048000" y="552450"/>
                  </a:lnTo>
                  <a:cubicBezTo>
                    <a:pt x="3048000" y="626097"/>
                    <a:pt x="2988297" y="685800"/>
                    <a:pt x="2914650" y="685800"/>
                  </a:cubicBezTo>
                  <a:lnTo>
                    <a:pt x="133350" y="685800"/>
                  </a:lnTo>
                  <a:cubicBezTo>
                    <a:pt x="59703" y="685800"/>
                    <a:pt x="0" y="626097"/>
                    <a:pt x="0" y="5524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572000" y="3095625"/>
              <a:ext cx="3048000" cy="685800"/>
            </a:xfrm>
            <a:custGeom>
              <a:avLst/>
              <a:gdLst/>
              <a:ahLst/>
              <a:cxnLst/>
              <a:rect l="l" t="t" r="r" b="b"/>
              <a:pathLst>
                <a:path w="3048000" h="685800">
                  <a:moveTo>
                    <a:pt x="133350" y="0"/>
                  </a:moveTo>
                  <a:lnTo>
                    <a:pt x="2914650" y="0"/>
                  </a:lnTo>
                  <a:cubicBezTo>
                    <a:pt x="2988297" y="0"/>
                    <a:pt x="3048000" y="59703"/>
                    <a:pt x="3048000" y="133350"/>
                  </a:cubicBezTo>
                  <a:lnTo>
                    <a:pt x="3048000" y="552450"/>
                  </a:lnTo>
                  <a:cubicBezTo>
                    <a:pt x="3048000" y="626097"/>
                    <a:pt x="2988297" y="685800"/>
                    <a:pt x="2914650" y="685800"/>
                  </a:cubicBezTo>
                  <a:lnTo>
                    <a:pt x="133350" y="685800"/>
                  </a:lnTo>
                  <a:cubicBezTo>
                    <a:pt x="59703" y="685800"/>
                    <a:pt x="0" y="626097"/>
                    <a:pt x="0" y="5524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1143000" y="4333875"/>
              <a:ext cx="2857500" cy="838200"/>
            </a:xfrm>
            <a:custGeom>
              <a:avLst/>
              <a:gdLst/>
              <a:ahLst/>
              <a:cxnLst/>
              <a:rect l="l" t="t" r="r" b="b"/>
              <a:pathLst>
                <a:path w="2857500" h="83820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704850"/>
                  </a:lnTo>
                  <a:cubicBezTo>
                    <a:pt x="2857500" y="778497"/>
                    <a:pt x="2797797" y="838200"/>
                    <a:pt x="2724150" y="838200"/>
                  </a:cubicBezTo>
                  <a:lnTo>
                    <a:pt x="133350" y="838200"/>
                  </a:lnTo>
                  <a:cubicBezTo>
                    <a:pt x="59703" y="838200"/>
                    <a:pt x="0" y="778497"/>
                    <a:pt x="0" y="704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6180" y="4714875"/>
              <a:ext cx="241113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营运部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Freeform 22"/>
            <p:cNvSpPr/>
            <p:nvPr/>
          </p:nvSpPr>
          <p:spPr>
            <a:xfrm>
              <a:off x="4667250" y="4333875"/>
              <a:ext cx="2857500" cy="838200"/>
            </a:xfrm>
            <a:custGeom>
              <a:avLst/>
              <a:gdLst/>
              <a:ahLst/>
              <a:cxnLst/>
              <a:rect l="l" t="t" r="r" b="b"/>
              <a:pathLst>
                <a:path w="2857500" h="83820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704850"/>
                  </a:lnTo>
                  <a:cubicBezTo>
                    <a:pt x="2857500" y="778497"/>
                    <a:pt x="2797797" y="838200"/>
                    <a:pt x="2724150" y="838200"/>
                  </a:cubicBezTo>
                  <a:lnTo>
                    <a:pt x="133350" y="838200"/>
                  </a:lnTo>
                  <a:cubicBezTo>
                    <a:pt x="59703" y="838200"/>
                    <a:pt x="0" y="778497"/>
                    <a:pt x="0" y="704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8191500" y="4333875"/>
              <a:ext cx="2857500" cy="838200"/>
            </a:xfrm>
            <a:custGeom>
              <a:avLst/>
              <a:gdLst/>
              <a:ahLst/>
              <a:cxnLst/>
              <a:rect l="l" t="t" r="r" b="b"/>
              <a:pathLst>
                <a:path w="2857500" h="83820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704850"/>
                  </a:lnTo>
                  <a:cubicBezTo>
                    <a:pt x="2857500" y="778497"/>
                    <a:pt x="2797797" y="838200"/>
                    <a:pt x="2724150" y="838200"/>
                  </a:cubicBezTo>
                  <a:lnTo>
                    <a:pt x="133350" y="838200"/>
                  </a:lnTo>
                  <a:cubicBezTo>
                    <a:pt x="59703" y="838200"/>
                    <a:pt x="0" y="778497"/>
                    <a:pt x="0" y="704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143000" y="5810250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228600" y="0"/>
                </a:moveTo>
                <a:lnTo>
                  <a:pt x="9677400" y="0"/>
                </a:lnTo>
                <a:cubicBezTo>
                  <a:pt x="9803652" y="0"/>
                  <a:pt x="9906000" y="102348"/>
                  <a:pt x="9906000" y="228600"/>
                </a:cubicBezTo>
                <a:lnTo>
                  <a:pt x="9906000" y="228600"/>
                </a:lnTo>
                <a:cubicBezTo>
                  <a:pt x="9906000" y="354852"/>
                  <a:pt x="9803652" y="457200"/>
                  <a:pt x="96774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477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00250"/>
            <a:ext cx="7239000" cy="3333750"/>
          </a:xfrm>
          <a:custGeom>
            <a:avLst/>
            <a:gdLst/>
            <a:ahLst/>
            <a:cxnLst/>
            <a:rect l="l" t="t" r="r" b="b"/>
            <a:pathLst>
              <a:path w="7239000" h="33337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3200400"/>
                </a:lnTo>
                <a:cubicBezTo>
                  <a:pt x="7239000" y="3274047"/>
                  <a:pt x="7179297" y="3333750"/>
                  <a:pt x="7105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00250"/>
            <a:ext cx="7239000" cy="552450"/>
          </a:xfrm>
          <a:custGeom>
            <a:avLst/>
            <a:gdLst/>
            <a:ahLst/>
            <a:cxnLst/>
            <a:rect l="l" t="t" r="r" b="b"/>
            <a:pathLst>
              <a:path w="7239000" h="5524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419100"/>
                </a:lnTo>
                <a:cubicBezTo>
                  <a:pt x="7239000" y="492747"/>
                  <a:pt x="7179297" y="552450"/>
                  <a:pt x="710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3125" y="2762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905375" y="3333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905375" y="3905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000875" y="4476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8667750" y="2000250"/>
            <a:ext cx="2667000" cy="3333750"/>
          </a:xfrm>
          <a:custGeom>
            <a:avLst/>
            <a:gdLst/>
            <a:ahLst/>
            <a:cxnLst/>
            <a:rect l="l" t="t" r="r" b="b"/>
            <a:pathLst>
              <a:path w="2667000" h="33337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3200400"/>
                </a:lnTo>
                <a:cubicBezTo>
                  <a:pt x="2667000" y="3274047"/>
                  <a:pt x="2607297" y="3333750"/>
                  <a:pt x="2533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381125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714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381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096250" y="285750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429250" y="43338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Freeform 40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7595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订单到交付总流程：把客户承诺变成可交付计划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9906000" y="457200"/>
              <a:ext cx="1524000" cy="400050"/>
            </a:xfrm>
            <a:custGeom>
              <a:avLst/>
              <a:gdLst/>
              <a:ahLst/>
              <a:cxnLst/>
              <a:rect l="l" t="t" r="r" b="b"/>
              <a:pathLst>
                <a:path w="1524000" h="400050">
                  <a:moveTo>
                    <a:pt x="200025" y="0"/>
                  </a:moveTo>
                  <a:lnTo>
                    <a:pt x="1323975" y="0"/>
                  </a:lnTo>
                  <a:cubicBezTo>
                    <a:pt x="1434446" y="0"/>
                    <a:pt x="1524000" y="89554"/>
                    <a:pt x="1524000" y="200025"/>
                  </a:cubicBezTo>
                  <a:lnTo>
                    <a:pt x="1524000" y="200025"/>
                  </a:lnTo>
                  <a:cubicBezTo>
                    <a:pt x="1524000" y="310496"/>
                    <a:pt x="1434446" y="400050"/>
                    <a:pt x="13239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Freeform 10"/>
            <p:cNvSpPr/>
            <p:nvPr/>
          </p:nvSpPr>
          <p:spPr>
            <a:xfrm>
              <a:off x="571500" y="169545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71500" y="220980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755" y="2402681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272415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323850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71500" y="375285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Freeform 35"/>
              <p:cNvSpPr/>
              <p:nvPr/>
            </p:nvSpPr>
            <p:spPr>
              <a:xfrm>
                <a:off x="2000250" y="1781175"/>
                <a:ext cx="8572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342900">
                    <a:moveTo>
                      <a:pt x="85725" y="0"/>
                    </a:moveTo>
                    <a:lnTo>
                      <a:pt x="771525" y="0"/>
                    </a:lnTo>
                    <a:cubicBezTo>
                      <a:pt x="818870" y="0"/>
                      <a:pt x="857250" y="38380"/>
                      <a:pt x="857250" y="85725"/>
                    </a:cubicBezTo>
                    <a:lnTo>
                      <a:pt x="857250" y="257175"/>
                    </a:lnTo>
                    <a:cubicBezTo>
                      <a:pt x="857250" y="304520"/>
                      <a:pt x="818870" y="342900"/>
                      <a:pt x="7715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Freeform 38"/>
              <p:cNvSpPr/>
              <p:nvPr/>
            </p:nvSpPr>
            <p:spPr>
              <a:xfrm>
                <a:off x="3333750" y="229552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Freeform 41"/>
              <p:cNvSpPr/>
              <p:nvPr/>
            </p:nvSpPr>
            <p:spPr>
              <a:xfrm>
                <a:off x="4857750" y="280987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Freeform 44"/>
              <p:cNvSpPr/>
              <p:nvPr/>
            </p:nvSpPr>
            <p:spPr>
              <a:xfrm>
                <a:off x="6381750" y="332422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Freeform 47"/>
              <p:cNvSpPr/>
              <p:nvPr/>
            </p:nvSpPr>
            <p:spPr>
              <a:xfrm>
                <a:off x="7905750" y="383857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Freeform 50"/>
              <p:cNvSpPr/>
              <p:nvPr/>
            </p:nvSpPr>
            <p:spPr>
              <a:xfrm>
                <a:off x="9525000" y="280987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Freeform 53"/>
              <p:cNvSpPr/>
              <p:nvPr/>
            </p:nvSpPr>
            <p:spPr>
              <a:xfrm>
                <a:off x="11144250" y="1781175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85725" y="0"/>
                    </a:moveTo>
                    <a:lnTo>
                      <a:pt x="200025" y="0"/>
                    </a:lnTo>
                    <a:cubicBezTo>
                      <a:pt x="247370" y="0"/>
                      <a:pt x="285750" y="38380"/>
                      <a:pt x="285750" y="85725"/>
                    </a:cubicBezTo>
                    <a:lnTo>
                      <a:pt x="285750" y="257175"/>
                    </a:lnTo>
                    <a:cubicBezTo>
                      <a:pt x="285750" y="304520"/>
                      <a:pt x="247370" y="342900"/>
                      <a:pt x="200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Freeform 66"/>
            <p:cNvSpPr/>
            <p:nvPr/>
          </p:nvSpPr>
          <p:spPr>
            <a:xfrm>
              <a:off x="571500" y="5619750"/>
              <a:ext cx="10858500" cy="666750"/>
            </a:xfrm>
            <a:custGeom>
              <a:avLst/>
              <a:gdLst/>
              <a:ahLst/>
              <a:cxnLst/>
              <a:rect l="l" t="t" r="r" b="b"/>
              <a:pathLst>
                <a:path w="10858500" h="666750">
                  <a:moveTo>
                    <a:pt x="133350" y="0"/>
                  </a:moveTo>
                  <a:lnTo>
                    <a:pt x="10725150" y="0"/>
                  </a:lnTo>
                  <a:cubicBezTo>
                    <a:pt x="10798797" y="0"/>
                    <a:pt x="10858500" y="59703"/>
                    <a:pt x="10858500" y="133350"/>
                  </a:cubicBezTo>
                  <a:lnTo>
                    <a:pt x="10858500" y="533400"/>
                  </a:lnTo>
                  <a:cubicBezTo>
                    <a:pt x="10858500" y="607047"/>
                    <a:pt x="10798797" y="666750"/>
                    <a:pt x="1072515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238125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400050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561975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723900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885825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190625" y="26193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66712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2937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334375" y="28098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810250" y="4429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Freeform 8"/>
              <p:cNvSpPr/>
              <p:nvPr/>
            </p:nvSpPr>
            <p:spPr>
              <a:xfrm>
                <a:off x="8572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Freeform 14"/>
              <p:cNvSpPr/>
              <p:nvPr/>
            </p:nvSpPr>
            <p:spPr>
              <a:xfrm>
                <a:off x="3714750" y="257175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Freeform 26"/>
              <p:cNvSpPr/>
              <p:nvPr/>
            </p:nvSpPr>
            <p:spPr>
              <a:xfrm>
                <a:off x="94297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Freeform 33"/>
              <p:cNvSpPr/>
              <p:nvPr/>
            </p:nvSpPr>
            <p:spPr>
              <a:xfrm>
                <a:off x="4000500" y="4810125"/>
                <a:ext cx="21907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90750" h="685800">
                    <a:moveTo>
                      <a:pt x="171450" y="0"/>
                    </a:moveTo>
                    <a:lnTo>
                      <a:pt x="2019300" y="0"/>
                    </a:lnTo>
                    <a:cubicBezTo>
                      <a:pt x="2113989" y="0"/>
                      <a:pt x="2190750" y="76761"/>
                      <a:pt x="2190750" y="171450"/>
                    </a:cubicBezTo>
                    <a:lnTo>
                      <a:pt x="2190750" y="514350"/>
                    </a:lnTo>
                    <a:cubicBezTo>
                      <a:pt x="2190750" y="609039"/>
                      <a:pt x="2113989" y="685800"/>
                      <a:pt x="2019300" y="685800"/>
                    </a:cubicBezTo>
                    <a:lnTo>
                      <a:pt x="171450" y="685800"/>
                    </a:lnTo>
                    <a:cubicBezTo>
                      <a:pt x="76761" y="685800"/>
                      <a:pt x="0" y="609039"/>
                      <a:pt x="0" y="5143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Freeform 39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10001250" y="457200"/>
              <a:ext cx="1428750" cy="381000"/>
            </a:xfrm>
            <a:custGeom>
              <a:avLst/>
              <a:gdLst/>
              <a:ahLst/>
              <a:cxnLst/>
              <a:rect l="l" t="t" r="r" b="b"/>
              <a:pathLst>
                <a:path w="1428750" h="381000">
                  <a:moveTo>
                    <a:pt x="190500" y="0"/>
                  </a:moveTo>
                  <a:lnTo>
                    <a:pt x="1238250" y="0"/>
                  </a:lnTo>
                  <a:cubicBezTo>
                    <a:pt x="1343460" y="0"/>
                    <a:pt x="1428750" y="85290"/>
                    <a:pt x="1428750" y="190500"/>
                  </a:cubicBezTo>
                  <a:lnTo>
                    <a:pt x="1428750" y="190500"/>
                  </a:lnTo>
                  <a:cubicBezTo>
                    <a:pt x="1428750" y="295710"/>
                    <a:pt x="1343460" y="381000"/>
                    <a:pt x="123825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Freeform 11"/>
            <p:cNvSpPr/>
            <p:nvPr/>
          </p:nvSpPr>
          <p:spPr>
            <a:xfrm>
              <a:off x="571500" y="180975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25908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337185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71500" y="41529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Freeform 35"/>
              <p:cNvSpPr/>
              <p:nvPr/>
            </p:nvSpPr>
            <p:spPr>
              <a:xfrm>
                <a:off x="2381250" y="1971675"/>
                <a:ext cx="10001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457200">
                    <a:moveTo>
                      <a:pt x="95250" y="0"/>
                    </a:moveTo>
                    <a:lnTo>
                      <a:pt x="904875" y="0"/>
                    </a:lnTo>
                    <a:cubicBezTo>
                      <a:pt x="957480" y="0"/>
                      <a:pt x="1000125" y="42645"/>
                      <a:pt x="1000125" y="95250"/>
                    </a:cubicBezTo>
                    <a:lnTo>
                      <a:pt x="1000125" y="361950"/>
                    </a:lnTo>
                    <a:cubicBezTo>
                      <a:pt x="1000125" y="414555"/>
                      <a:pt x="957480" y="457200"/>
                      <a:pt x="90487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Freeform 39"/>
              <p:cNvSpPr/>
              <p:nvPr/>
            </p:nvSpPr>
            <p:spPr>
              <a:xfrm>
                <a:off x="4000500" y="275272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Freeform 43"/>
              <p:cNvSpPr/>
              <p:nvPr/>
            </p:nvSpPr>
            <p:spPr>
              <a:xfrm>
                <a:off x="5905500" y="353377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Freeform 47"/>
              <p:cNvSpPr/>
              <p:nvPr/>
            </p:nvSpPr>
            <p:spPr>
              <a:xfrm>
                <a:off x="7810500" y="431482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Freeform 51"/>
              <p:cNvSpPr/>
              <p:nvPr/>
            </p:nvSpPr>
            <p:spPr>
              <a:xfrm>
                <a:off x="9715500" y="197167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571500" y="5715000"/>
              <a:ext cx="10858500" cy="552450"/>
            </a:xfrm>
            <a:custGeom>
              <a:avLst/>
              <a:gdLst/>
              <a:ahLst/>
              <a:cxnLst/>
              <a:rect l="l" t="t" r="r" b="b"/>
              <a:pathLst>
                <a:path w="10858500" h="552450">
                  <a:moveTo>
                    <a:pt x="133350" y="0"/>
                  </a:moveTo>
                  <a:lnTo>
                    <a:pt x="10725150" y="0"/>
                  </a:lnTo>
                  <a:cubicBezTo>
                    <a:pt x="10798797" y="0"/>
                    <a:pt x="10858500" y="59703"/>
                    <a:pt x="10858500" y="133350"/>
                  </a:cubicBezTo>
                  <a:lnTo>
                    <a:pt x="10858500" y="419100"/>
                  </a:lnTo>
                  <a:cubicBezTo>
                    <a:pt x="10858500" y="492747"/>
                    <a:pt x="10798797" y="552450"/>
                    <a:pt x="10725150" y="552450"/>
                  </a:cubicBezTo>
                  <a:lnTo>
                    <a:pt x="133350" y="552450"/>
                  </a:lnTo>
                  <a:cubicBezTo>
                    <a:pt x="59703" y="552450"/>
                    <a:pt x="0" y="492747"/>
                    <a:pt x="0" y="4191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3381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5286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191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7620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Freeform 14"/>
            <p:cNvSpPr/>
            <p:nvPr/>
          </p:nvSpPr>
          <p:spPr>
            <a:xfrm>
              <a:off x="28575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4953000" y="2381250"/>
              <a:ext cx="2286000" cy="971550"/>
            </a:xfrm>
            <a:custGeom>
              <a:avLst/>
              <a:gdLst/>
              <a:ahLst/>
              <a:cxnLst/>
              <a:rect l="l" t="t" r="r" b="b"/>
              <a:pathLst>
                <a:path w="2286000" h="9715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838200"/>
                  </a:lnTo>
                  <a:cubicBezTo>
                    <a:pt x="2286000" y="911847"/>
                    <a:pt x="2226297" y="971550"/>
                    <a:pt x="21526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10001250" y="24765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33350" y="0"/>
                  </a:moveTo>
                  <a:lnTo>
                    <a:pt x="1295400" y="0"/>
                  </a:lnTo>
                  <a:cubicBezTo>
                    <a:pt x="1369047" y="0"/>
                    <a:pt x="1428750" y="59703"/>
                    <a:pt x="1428750" y="133350"/>
                  </a:cubicBezTo>
                  <a:lnTo>
                    <a:pt x="1428750" y="647700"/>
                  </a:lnTo>
                  <a:cubicBezTo>
                    <a:pt x="1428750" y="721347"/>
                    <a:pt x="1369047" y="781050"/>
                    <a:pt x="129540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2190750" y="4762500"/>
            <a:ext cx="3048000" cy="666750"/>
          </a:xfrm>
          <a:custGeom>
            <a:avLst/>
            <a:gdLst/>
            <a:ahLst/>
            <a:cxnLst/>
            <a:rect l="l" t="t" r="r" b="b"/>
            <a:pathLst>
              <a:path w="3048000" h="666750">
                <a:moveTo>
                  <a:pt x="133350" y="0"/>
                </a:moveTo>
                <a:lnTo>
                  <a:pt x="2914650" y="0"/>
                </a:lnTo>
                <a:cubicBezTo>
                  <a:pt x="2988297" y="0"/>
                  <a:pt x="3048000" y="59703"/>
                  <a:pt x="3048000" y="133350"/>
                </a:cubicBezTo>
                <a:lnTo>
                  <a:pt x="3048000" y="533400"/>
                </a:lnTo>
                <a:cubicBezTo>
                  <a:pt x="3048000" y="607047"/>
                  <a:pt x="2988297" y="666750"/>
                  <a:pt x="291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Freeform 34"/>
          <p:cNvSpPr/>
          <p:nvPr/>
        </p:nvSpPr>
        <p:spPr>
          <a:xfrm>
            <a:off x="7810500" y="4762500"/>
            <a:ext cx="3429000" cy="666750"/>
          </a:xfrm>
          <a:custGeom>
            <a:avLst/>
            <a:gdLst/>
            <a:ahLst/>
            <a:cxnLst/>
            <a:rect l="l" t="t" r="r" b="b"/>
            <a:pathLst>
              <a:path w="3429000" h="6667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533400"/>
                </a:lnTo>
                <a:cubicBezTo>
                  <a:pt x="3429000" y="607047"/>
                  <a:pt x="3369297" y="666750"/>
                  <a:pt x="3295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3145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38195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5324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68294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83343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Freeform 32"/>
          <p:cNvSpPr/>
          <p:nvPr/>
        </p:nvSpPr>
        <p:spPr>
          <a:xfrm>
            <a:off x="98393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Freeform 36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Freeform 8"/>
            <p:cNvSpPr/>
            <p:nvPr/>
          </p:nvSpPr>
          <p:spPr>
            <a:xfrm>
              <a:off x="571500" y="1952625"/>
              <a:ext cx="6572250" cy="3524250"/>
            </a:xfrm>
            <a:custGeom>
              <a:avLst/>
              <a:gdLst/>
              <a:ahLst/>
              <a:cxnLst/>
              <a:rect l="l" t="t" r="r" b="b"/>
              <a:pathLst>
                <a:path w="6572250" h="3524250">
                  <a:moveTo>
                    <a:pt x="209550" y="0"/>
                  </a:moveTo>
                  <a:lnTo>
                    <a:pt x="6362700" y="0"/>
                  </a:lnTo>
                  <a:cubicBezTo>
                    <a:pt x="6478431" y="0"/>
                    <a:pt x="6572250" y="93819"/>
                    <a:pt x="6572250" y="209550"/>
                  </a:cubicBezTo>
                  <a:lnTo>
                    <a:pt x="6572250" y="3314700"/>
                  </a:lnTo>
                  <a:cubicBezTo>
                    <a:pt x="6572250" y="3430431"/>
                    <a:pt x="6478431" y="3524250"/>
                    <a:pt x="6362700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Freeform 11"/>
              <p:cNvSpPr/>
              <p:nvPr/>
            </p:nvSpPr>
            <p:spPr>
              <a:xfrm>
                <a:off x="1000125" y="3143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2714625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Freeform 19"/>
              <p:cNvSpPr/>
              <p:nvPr/>
            </p:nvSpPr>
            <p:spPr>
              <a:xfrm>
                <a:off x="4572000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Freeform 23"/>
              <p:cNvSpPr/>
              <p:nvPr/>
            </p:nvSpPr>
            <p:spPr>
              <a:xfrm>
                <a:off x="3810000" y="409575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152400" y="0"/>
                    </a:moveTo>
                    <a:lnTo>
                      <a:pt x="1657350" y="0"/>
                    </a:lnTo>
                    <a:cubicBezTo>
                      <a:pt x="1741518" y="0"/>
                      <a:pt x="1809750" y="68232"/>
                      <a:pt x="1809750" y="152400"/>
                    </a:cubicBezTo>
                    <a:lnTo>
                      <a:pt x="1809750" y="628650"/>
                    </a:lnTo>
                    <a:cubicBezTo>
                      <a:pt x="1809750" y="712818"/>
                      <a:pt x="1741518" y="781050"/>
                      <a:pt x="16573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72375" y="1952625"/>
              <a:ext cx="4048125" cy="3524250"/>
            </a:xfrm>
            <a:custGeom>
              <a:avLst/>
              <a:gdLst/>
              <a:ahLst/>
              <a:cxnLst/>
              <a:rect l="l" t="t" r="r" b="b"/>
              <a:pathLst>
                <a:path w="4048125" h="3524250">
                  <a:moveTo>
                    <a:pt x="209550" y="0"/>
                  </a:moveTo>
                  <a:lnTo>
                    <a:pt x="3838575" y="0"/>
                  </a:lnTo>
                  <a:cubicBezTo>
                    <a:pt x="3954306" y="0"/>
                    <a:pt x="4048125" y="93819"/>
                    <a:pt x="4048125" y="209550"/>
                  </a:cubicBezTo>
                  <a:lnTo>
                    <a:pt x="4048125" y="3314700"/>
                  </a:lnTo>
                  <a:cubicBezTo>
                    <a:pt x="4048125" y="3430431"/>
                    <a:pt x="3954306" y="3524250"/>
                    <a:pt x="3838575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86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 · HANDOFF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076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交接完成不是“发出去了”，而是输入完整、责任明确、输出可验证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71700"/>
            <a:ext cx="2476500" cy="1809750"/>
          </a:xfrm>
          <a:custGeom>
            <a:avLst/>
            <a:gdLst/>
            <a:ahLst/>
            <a:cxnLst/>
            <a:rect l="l" t="t" r="r" b="b"/>
            <a:pathLst>
              <a:path w="2476500" h="1809750">
                <a:moveTo>
                  <a:pt x="171450" y="0"/>
                </a:moveTo>
                <a:lnTo>
                  <a:pt x="2305050" y="0"/>
                </a:lnTo>
                <a:cubicBezTo>
                  <a:pt x="2399739" y="0"/>
                  <a:pt x="2476500" y="76761"/>
                  <a:pt x="2476500" y="171450"/>
                </a:cubicBezTo>
                <a:lnTo>
                  <a:pt x="2476500" y="1638300"/>
                </a:lnTo>
                <a:cubicBezTo>
                  <a:pt x="2476500" y="1732989"/>
                  <a:pt x="2399739" y="1809750"/>
                  <a:pt x="2305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11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交出方 · 输入包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529" y="2775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受控版本 / 图纸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529" y="30803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数量、状态、期限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责任人与异常说明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529" y="36899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输出验收标准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3850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Freeform 15"/>
          <p:cNvSpPr/>
          <p:nvPr/>
        </p:nvSpPr>
        <p:spPr>
          <a:xfrm>
            <a:off x="4095750" y="2095500"/>
            <a:ext cx="3048000" cy="1952625"/>
          </a:xfrm>
          <a:custGeom>
            <a:avLst/>
            <a:gdLst/>
            <a:ahLst/>
            <a:cxnLst/>
            <a:rect l="l" t="t" r="r" b="b"/>
            <a:pathLst>
              <a:path w="3048000" h="1952625">
                <a:moveTo>
                  <a:pt x="171450" y="0"/>
                </a:moveTo>
                <a:lnTo>
                  <a:pt x="2876550" y="0"/>
                </a:lnTo>
                <a:cubicBezTo>
                  <a:pt x="2971239" y="0"/>
                  <a:pt x="3048000" y="76761"/>
                  <a:pt x="3048000" y="171450"/>
                </a:cubicBezTo>
                <a:lnTo>
                  <a:pt x="3048000" y="1781175"/>
                </a:lnTo>
                <a:cubicBezTo>
                  <a:pt x="3048000" y="1875864"/>
                  <a:pt x="2971239" y="1952625"/>
                  <a:pt x="2876550" y="1952625"/>
                </a:cubicBezTo>
                <a:lnTo>
                  <a:pt x="171450" y="1952625"/>
                </a:lnTo>
                <a:cubicBezTo>
                  <a:pt x="76761" y="1952625"/>
                  <a:pt x="0" y="1875864"/>
                  <a:pt x="0" y="17811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108948" y="2303621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完整性闸口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5904" y="27279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01 资料齐全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5904" y="30137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02 版本一致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5904" y="329946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03 责任与期限明确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5904" y="35852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04 接收标准可判断</a:t>
            </a:r>
          </a:p>
        </p:txBody>
      </p:sp>
      <p:sp>
        <p:nvSpPr>
          <p:cNvPr id="21" name="Freeform 21"/>
          <p:cNvSpPr/>
          <p:nvPr/>
        </p:nvSpPr>
        <p:spPr>
          <a:xfrm>
            <a:off x="4953000" y="3810000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133350" y="0"/>
                </a:moveTo>
                <a:lnTo>
                  <a:pt x="1200150" y="0"/>
                </a:lnTo>
                <a:cubicBezTo>
                  <a:pt x="1273797" y="0"/>
                  <a:pt x="1333500" y="59703"/>
                  <a:pt x="1333500" y="133350"/>
                </a:cubicBezTo>
                <a:lnTo>
                  <a:pt x="1333500" y="133350"/>
                </a:lnTo>
                <a:cubicBezTo>
                  <a:pt x="1333500" y="206997"/>
                  <a:pt x="1273797" y="266700"/>
                  <a:pt x="1200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01345" y="3895249"/>
            <a:ext cx="836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确认后才放行</a:t>
            </a:r>
          </a:p>
        </p:txBody>
      </p:sp>
      <p:sp>
        <p:nvSpPr>
          <p:cNvPr id="23" name="Freeform 23"/>
          <p:cNvSpPr/>
          <p:nvPr/>
        </p:nvSpPr>
        <p:spPr>
          <a:xfrm>
            <a:off x="714375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8001000" y="2171700"/>
            <a:ext cx="2857500" cy="1809750"/>
          </a:xfrm>
          <a:custGeom>
            <a:avLst/>
            <a:gdLst/>
            <a:ahLst/>
            <a:cxnLst/>
            <a:rect l="l" t="t" r="r" b="b"/>
            <a:pathLst>
              <a:path w="2857500" h="1809750">
                <a:moveTo>
                  <a:pt x="171450" y="0"/>
                </a:moveTo>
                <a:lnTo>
                  <a:pt x="2686050" y="0"/>
                </a:lnTo>
                <a:cubicBezTo>
                  <a:pt x="2780739" y="0"/>
                  <a:pt x="2857500" y="76761"/>
                  <a:pt x="2857500" y="171450"/>
                </a:cubicBezTo>
                <a:lnTo>
                  <a:pt x="2857500" y="1638300"/>
                </a:lnTo>
                <a:cubicBezTo>
                  <a:pt x="2857500" y="1732989"/>
                  <a:pt x="2780739" y="1809750"/>
                  <a:pt x="2686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406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接收方 · 验收包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3529" y="27755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接收确认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3529" y="30803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差异 / 缺项记录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3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任务进入受控状态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23529" y="36899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异常升级责任明确</a:t>
            </a:r>
          </a:p>
        </p:txBody>
      </p:sp>
      <p:sp>
        <p:nvSpPr>
          <p:cNvPr id="30" name="Freeform 30"/>
          <p:cNvSpPr/>
          <p:nvPr/>
        </p:nvSpPr>
        <p:spPr>
          <a:xfrm>
            <a:off x="2000250" y="3981450"/>
            <a:ext cx="3619500" cy="685800"/>
          </a:xfrm>
          <a:custGeom>
            <a:avLst/>
            <a:gdLst/>
            <a:ahLst/>
            <a:cxnLst/>
            <a:rect l="l" t="t" r="r" b="b"/>
            <a:pathLst>
              <a:path w="3619500" h="685800">
                <a:moveTo>
                  <a:pt x="3619500" y="66675"/>
                </a:moveTo>
                <a:lnTo>
                  <a:pt x="3619500" y="685800"/>
                </a:lnTo>
                <a:lnTo>
                  <a:pt x="0" y="6858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1804610" y="4450556"/>
            <a:ext cx="4010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D95C5C"/>
                </a:solidFill>
                <a:latin typeface="Arial"/>
                <a:ea typeface="Microsoft YaHei"/>
                <a:cs typeface="Arial"/>
              </a:rPr>
              <a:t>缺项 / 版本不一致：退回交出方，不得直接进入下一部门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5286375"/>
            <a:ext cx="10096500" cy="628650"/>
          </a:xfrm>
          <a:custGeom>
            <a:avLst/>
            <a:gdLst/>
            <a:ahLst/>
            <a:cxnLst/>
            <a:rect l="l" t="t" r="r" b="b"/>
            <a:pathLst>
              <a:path w="10096500" h="628650">
                <a:moveTo>
                  <a:pt x="152400" y="0"/>
                </a:moveTo>
                <a:lnTo>
                  <a:pt x="9944100" y="0"/>
                </a:lnTo>
                <a:cubicBezTo>
                  <a:pt x="10028268" y="0"/>
                  <a:pt x="10096500" y="68232"/>
                  <a:pt x="10096500" y="152400"/>
                </a:cubicBezTo>
                <a:lnTo>
                  <a:pt x="10096500" y="476250"/>
                </a:lnTo>
                <a:cubicBezTo>
                  <a:pt x="10096500" y="560418"/>
                  <a:pt x="10028268" y="628650"/>
                  <a:pt x="9944100" y="628650"/>
                </a:cubicBezTo>
                <a:lnTo>
                  <a:pt x="152400" y="628650"/>
                </a:lnTo>
                <a:cubicBezTo>
                  <a:pt x="68232" y="628650"/>
                  <a:pt x="0" y="560418"/>
                  <a:pt x="0" y="4762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1654" y="5537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交接证据</a:t>
            </a:r>
          </a:p>
        </p:txBody>
      </p:sp>
      <p:sp>
        <p:nvSpPr>
          <p:cNvPr id="34" name="Freeform 34"/>
          <p:cNvSpPr/>
          <p:nvPr/>
        </p:nvSpPr>
        <p:spPr>
          <a:xfrm>
            <a:off x="2381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746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交接清单 / 版本号</a:t>
            </a:r>
          </a:p>
        </p:txBody>
      </p:sp>
      <p:sp>
        <p:nvSpPr>
          <p:cNvPr id="36" name="Freeform 36"/>
          <p:cNvSpPr/>
          <p:nvPr/>
        </p:nvSpPr>
        <p:spPr>
          <a:xfrm>
            <a:off x="4476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76183" y="556212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接收确认 / 差异记录</a:t>
            </a:r>
          </a:p>
        </p:txBody>
      </p:sp>
      <p:sp>
        <p:nvSpPr>
          <p:cNvPr id="38" name="Freeform 38"/>
          <p:cNvSpPr/>
          <p:nvPr/>
        </p:nvSpPr>
        <p:spPr>
          <a:xfrm>
            <a:off x="6572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2E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7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责任人 / 截止日期</a:t>
            </a:r>
          </a:p>
        </p:txBody>
      </p:sp>
      <p:sp>
        <p:nvSpPr>
          <p:cNvPr id="40" name="Freeform 40"/>
          <p:cNvSpPr/>
          <p:nvPr/>
        </p:nvSpPr>
        <p:spPr>
          <a:xfrm>
            <a:off x="8667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173908" y="55621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异常升级记录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8744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图例：蓝色＝输入 橙色＝完整性闸口 青绿色＝验收 红色虚线＝缺项退回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03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 · DOCUMENT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新版本必须可追溯，旧版本必须被隔离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190750" y="1952625"/>
            <a:ext cx="7810500" cy="2190750"/>
          </a:xfrm>
          <a:custGeom>
            <a:avLst/>
            <a:gdLst/>
            <a:ahLst/>
            <a:cxnLst/>
            <a:rect l="l" t="t" r="r" b="b"/>
            <a:pathLst>
              <a:path w="7810500" h="2190750">
                <a:moveTo>
                  <a:pt x="0" y="1095375"/>
                </a:moveTo>
                <a:cubicBezTo>
                  <a:pt x="0" y="142875"/>
                  <a:pt x="1524000" y="0"/>
                  <a:pt x="2286000" y="619125"/>
                </a:cubicBezTo>
                <a:cubicBezTo>
                  <a:pt x="2952750" y="1143000"/>
                  <a:pt x="3143250" y="1762125"/>
                  <a:pt x="3905250" y="1762125"/>
                </a:cubicBezTo>
                <a:cubicBezTo>
                  <a:pt x="4667250" y="1762125"/>
                  <a:pt x="4857750" y="1143000"/>
                  <a:pt x="5524500" y="619125"/>
                </a:cubicBezTo>
                <a:cubicBezTo>
                  <a:pt x="6286500" y="0"/>
                  <a:pt x="7810500" y="142875"/>
                  <a:pt x="7810500" y="1095375"/>
                </a:cubicBezTo>
                <a:cubicBezTo>
                  <a:pt x="7810500" y="2047875"/>
                  <a:pt x="6286500" y="2190750"/>
                  <a:pt x="5524500" y="1571625"/>
                </a:cubicBezTo>
                <a:cubicBezTo>
                  <a:pt x="4857750" y="1047750"/>
                  <a:pt x="4667250" y="428625"/>
                  <a:pt x="3905250" y="428625"/>
                </a:cubicBezTo>
                <a:cubicBezTo>
                  <a:pt x="3143250" y="428625"/>
                  <a:pt x="2952750" y="1047750"/>
                  <a:pt x="2286000" y="1571625"/>
                </a:cubicBezTo>
                <a:cubicBezTo>
                  <a:pt x="1524000" y="2190750"/>
                  <a:pt x="0" y="2047875"/>
                  <a:pt x="0" y="1095375"/>
                </a:cubicBezTo>
                <a:close/>
              </a:path>
            </a:pathLst>
          </a:cu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381125" y="2047875"/>
            <a:ext cx="9429750" cy="2095500"/>
            <a:chOff x="1381125" y="2047875"/>
            <a:chExt cx="9429750" cy="2095500"/>
          </a:xfrm>
        </p:grpSpPr>
        <p:sp>
          <p:nvSpPr>
            <p:cNvPr id="9" name="Freeform 9"/>
            <p:cNvSpPr/>
            <p:nvPr/>
          </p:nvSpPr>
          <p:spPr>
            <a:xfrm>
              <a:off x="13811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5033" y="2870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起草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514" y="31222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需求与版本号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71475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48658" y="2204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729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专业意见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286375" y="3476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0662" y="3632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批准发布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8921" y="3884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受控清单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5800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7476" y="22040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执行与培训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054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使用记录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1916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58379" y="28708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复审 / 修订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3592" y="3122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触发新版本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8810625" y="447675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800100"/>
                </a:lnTo>
                <a:cubicBezTo>
                  <a:pt x="2381250" y="884268"/>
                  <a:pt x="2313018" y="952500"/>
                  <a:pt x="2228850" y="952500"/>
                </a:cubicBezTo>
                <a:lnTo>
                  <a:pt x="152400" y="952500"/>
                </a:lnTo>
                <a:cubicBezTo>
                  <a:pt x="68232" y="952500"/>
                  <a:pt x="0" y="884268"/>
                  <a:pt x="0" y="800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60366" y="4672489"/>
            <a:ext cx="1481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旧版本隔离 / 作废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512" y="4982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回收、标识、留痕</a:t>
            </a:r>
          </a:p>
        </p:txBody>
      </p:sp>
      <p:sp>
        <p:nvSpPr>
          <p:cNvPr id="28" name="Freeform 28"/>
          <p:cNvSpPr/>
          <p:nvPr/>
        </p:nvSpPr>
        <p:spPr>
          <a:xfrm>
            <a:off x="8477250" y="27146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0" y="1762125"/>
                </a:lnTo>
                <a:lnTo>
                  <a:pt x="333375" y="17621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666750" y="5572125"/>
            <a:ext cx="10477500" cy="457200"/>
          </a:xfrm>
          <a:custGeom>
            <a:avLst/>
            <a:gdLst/>
            <a:ahLst/>
            <a:cxnLst/>
            <a:rect l="l" t="t" r="r" b="b"/>
            <a:pathLst>
              <a:path w="10477500" h="457200">
                <a:moveTo>
                  <a:pt x="228600" y="0"/>
                </a:moveTo>
                <a:lnTo>
                  <a:pt x="10248900" y="0"/>
                </a:lnTo>
                <a:cubicBezTo>
                  <a:pt x="10375152" y="0"/>
                  <a:pt x="10477500" y="102348"/>
                  <a:pt x="10477500" y="228600"/>
                </a:cubicBezTo>
                <a:lnTo>
                  <a:pt x="10477500" y="228600"/>
                </a:lnTo>
                <a:cubicBezTo>
                  <a:pt x="10477500" y="354852"/>
                  <a:pt x="10375152" y="457200"/>
                  <a:pt x="102489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58362" y="5736431"/>
            <a:ext cx="4494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证据：版本清单 · 审批记录 · 发布通知 · 培训记录 · 旧版回收记录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738" y="6475095"/>
            <a:ext cx="33171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主环＝受控文件生命周期 红色分支＝旧版隔离，不回流主流程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952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Freeform 28"/>
          <p:cNvSpPr/>
          <p:nvPr/>
        </p:nvSpPr>
        <p:spPr>
          <a:xfrm>
            <a:off x="38100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667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34500" y="2000250"/>
            <a:ext cx="2000250" cy="1809750"/>
          </a:xfrm>
          <a:custGeom>
            <a:avLst/>
            <a:gdLst/>
            <a:ahLst/>
            <a:cxnLst/>
            <a:rect l="l" t="t" r="r" b="b"/>
            <a:pathLst>
              <a:path w="2000250" h="1809750">
                <a:moveTo>
                  <a:pt x="171450" y="0"/>
                </a:moveTo>
                <a:lnTo>
                  <a:pt x="1828800" y="0"/>
                </a:lnTo>
                <a:cubicBezTo>
                  <a:pt x="1923489" y="0"/>
                  <a:pt x="2000250" y="76761"/>
                  <a:pt x="2000250" y="171450"/>
                </a:cubicBezTo>
                <a:lnTo>
                  <a:pt x="2000250" y="1638300"/>
                </a:lnTo>
                <a:cubicBezTo>
                  <a:pt x="2000250" y="1732989"/>
                  <a:pt x="1923489" y="1809750"/>
                  <a:pt x="182880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648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 · COMPETENCE &amp; AUTHORIZATION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培训不等于授权：能力确认是权限打开前的闸门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能力确认阶梯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3143250"/>
            <a:ext cx="7239000" cy="1714500"/>
          </a:xfrm>
          <a:custGeom>
            <a:avLst/>
            <a:gdLst/>
            <a:ahLst/>
            <a:cxnLst/>
            <a:rect l="l" t="t" r="r" b="b"/>
            <a:pathLst>
              <a:path w="7239000" h="1714500">
                <a:moveTo>
                  <a:pt x="0" y="1714500"/>
                </a:moveTo>
                <a:lnTo>
                  <a:pt x="1809750" y="1714500"/>
                </a:lnTo>
                <a:lnTo>
                  <a:pt x="1809750" y="1143000"/>
                </a:lnTo>
                <a:lnTo>
                  <a:pt x="3619500" y="1143000"/>
                </a:lnTo>
                <a:lnTo>
                  <a:pt x="3619500" y="571500"/>
                </a:lnTo>
                <a:lnTo>
                  <a:pt x="5429250" y="571500"/>
                </a:lnTo>
                <a:lnTo>
                  <a:pt x="5429250" y="0"/>
                </a:lnTo>
                <a:lnTo>
                  <a:pt x="7239000" y="0"/>
                </a:lnTo>
              </a:path>
            </a:pathLst>
          </a:custGeom>
          <a:noFill/>
          <a:ln w="47625">
            <a:solidFill>
              <a:srgbClr val="7657B8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952500" y="2809875"/>
            <a:ext cx="7048500" cy="2305050"/>
            <a:chOff x="952500" y="2809875"/>
            <a:chExt cx="7048500" cy="2305050"/>
          </a:xfrm>
        </p:grpSpPr>
        <p:sp>
          <p:nvSpPr>
            <p:cNvPr id="10" name="Freeform 10"/>
            <p:cNvSpPr/>
            <p:nvPr/>
          </p:nvSpPr>
          <p:spPr>
            <a:xfrm>
              <a:off x="952500" y="4524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5425" y="47391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培训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62250" y="3952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4953" y="4167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能力确认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72000" y="3381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 w="952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4703" y="3596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岗位授权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81750" y="2809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 w="9525">
              <a:solidFill>
                <a:srgbClr val="1C9C8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24453" y="3024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授权记录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57250" y="5429250"/>
            <a:ext cx="7429500" cy="495300"/>
          </a:xfrm>
          <a:custGeom>
            <a:avLst/>
            <a:gdLst/>
            <a:ahLst/>
            <a:cxnLst/>
            <a:rect l="l" t="t" r="r" b="b"/>
            <a:pathLst>
              <a:path w="7429500" h="495300">
                <a:moveTo>
                  <a:pt x="247650" y="0"/>
                </a:moveTo>
                <a:lnTo>
                  <a:pt x="7181850" y="0"/>
                </a:lnTo>
                <a:cubicBezTo>
                  <a:pt x="7318623" y="0"/>
                  <a:pt x="7429500" y="110877"/>
                  <a:pt x="7429500" y="247650"/>
                </a:cubicBezTo>
                <a:lnTo>
                  <a:pt x="7429500" y="247650"/>
                </a:lnTo>
                <a:cubicBezTo>
                  <a:pt x="7429500" y="384423"/>
                  <a:pt x="7318623" y="495300"/>
                  <a:pt x="7181850" y="495300"/>
                </a:cubicBezTo>
                <a:lnTo>
                  <a:pt x="247650" y="495300"/>
                </a:lnTo>
                <a:cubicBezTo>
                  <a:pt x="110877" y="495300"/>
                  <a:pt x="0" y="384423"/>
                  <a:pt x="0" y="2476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411944" y="5612606"/>
            <a:ext cx="43201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每一级都要有证据：培训记录 · 评价结果 · 授权批准 · 复核日期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1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授权生命周期</a:t>
            </a:r>
          </a:p>
        </p:txBody>
      </p:sp>
      <p:sp>
        <p:nvSpPr>
          <p:cNvPr id="22" name="Freeform 22"/>
          <p:cNvSpPr/>
          <p:nvPr/>
        </p:nvSpPr>
        <p:spPr>
          <a:xfrm>
            <a:off x="8572500" y="2476500"/>
            <a:ext cx="2571750" cy="2381250"/>
          </a:xfrm>
          <a:custGeom>
            <a:avLst/>
            <a:gdLst/>
            <a:ahLst/>
            <a:cxnLst/>
            <a:rect l="l" t="t" r="r" b="b"/>
            <a:pathLst>
              <a:path w="2571750" h="2381250">
                <a:moveTo>
                  <a:pt x="171450" y="0"/>
                </a:moveTo>
                <a:lnTo>
                  <a:pt x="2400300" y="0"/>
                </a:lnTo>
                <a:cubicBezTo>
                  <a:pt x="2494989" y="0"/>
                  <a:pt x="2571750" y="76761"/>
                  <a:pt x="2571750" y="171450"/>
                </a:cubicBezTo>
                <a:lnTo>
                  <a:pt x="2571750" y="2209800"/>
                </a:lnTo>
                <a:cubicBezTo>
                  <a:pt x="2571750" y="2304489"/>
                  <a:pt x="2494989" y="2381250"/>
                  <a:pt x="2400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858250" y="2857500"/>
            <a:ext cx="2000250" cy="1428750"/>
          </a:xfrm>
          <a:custGeom>
            <a:avLst/>
            <a:gdLst/>
            <a:ahLst/>
            <a:cxnLst/>
            <a:rect l="l" t="t" r="r" b="b"/>
            <a:pathLst>
              <a:path w="2000250" h="1428750">
                <a:moveTo>
                  <a:pt x="1000125" y="0"/>
                </a:moveTo>
                <a:cubicBezTo>
                  <a:pt x="1714500" y="0"/>
                  <a:pt x="2000250" y="476250"/>
                  <a:pt x="1714500" y="952500"/>
                </a:cubicBezTo>
                <a:cubicBezTo>
                  <a:pt x="1428750" y="1428750"/>
                  <a:pt x="571500" y="1428750"/>
                  <a:pt x="285750" y="952500"/>
                </a:cubicBezTo>
                <a:cubicBezTo>
                  <a:pt x="0" y="476250"/>
                  <a:pt x="285750" y="0"/>
                  <a:pt x="1000125" y="0"/>
                </a:cubicBezTo>
                <a:close/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9428226" y="3204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维护与复核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4153" y="35933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复训 / 调岗 / 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4041" y="39743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失效时暂停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4857750"/>
            <a:ext cx="3190875" cy="428625"/>
          </a:xfrm>
          <a:custGeom>
            <a:avLst/>
            <a:gdLst/>
            <a:ahLst/>
            <a:cxnLst/>
            <a:rect l="l" t="t" r="r" b="b"/>
            <a:pathLst>
              <a:path w="3190875" h="428625">
                <a:moveTo>
                  <a:pt x="3190875" y="0"/>
                </a:moveTo>
                <a:lnTo>
                  <a:pt x="3190875" y="428625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073233" y="5077778"/>
            <a:ext cx="1665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离岗 / 不合格：回收权限</a:t>
            </a:r>
          </a:p>
        </p:txBody>
      </p:sp>
      <p:sp>
        <p:nvSpPr>
          <p:cNvPr id="29" name="Freeform 29"/>
          <p:cNvSpPr/>
          <p:nvPr/>
        </p:nvSpPr>
        <p:spPr>
          <a:xfrm>
            <a:off x="857250" y="2476500"/>
            <a:ext cx="2571750" cy="1047750"/>
          </a:xfrm>
          <a:custGeom>
            <a:avLst/>
            <a:gdLst/>
            <a:ahLst/>
            <a:cxnLst/>
            <a:rect l="l" t="t" r="r" b="b"/>
            <a:pathLst>
              <a:path w="2571750" h="1047750">
                <a:moveTo>
                  <a:pt x="152400" y="0"/>
                </a:moveTo>
                <a:lnTo>
                  <a:pt x="2419350" y="0"/>
                </a:lnTo>
                <a:cubicBezTo>
                  <a:pt x="2503518" y="0"/>
                  <a:pt x="2571750" y="68232"/>
                  <a:pt x="2571750" y="152400"/>
                </a:cubicBezTo>
                <a:lnTo>
                  <a:pt x="2571750" y="895350"/>
                </a:lnTo>
                <a:cubicBezTo>
                  <a:pt x="2571750" y="979518"/>
                  <a:pt x="2503518" y="1047750"/>
                  <a:pt x="2419350" y="1047750"/>
                </a:cubicBezTo>
                <a:lnTo>
                  <a:pt x="152400" y="1047750"/>
                </a:lnTo>
                <a:cubicBezTo>
                  <a:pt x="68232" y="1047750"/>
                  <a:pt x="0" y="979518"/>
                  <a:pt x="0" y="895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76203" y="2719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能力闸门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8814" y="3069431"/>
            <a:ext cx="1548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未确认能力 → 不得授权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紫色＝能力判断 橙色＝授权 青绿色＝有效维护 红色虚线＝暂停/回收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66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 · INFORMATION ACCESS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47560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资料先分级，权限按需批准，使用可留痕，变化时及时回收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14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资料分级漏斗</a:t>
            </a:r>
          </a:p>
        </p:txBody>
      </p:sp>
      <p:sp>
        <p:nvSpPr>
          <p:cNvPr id="9" name="Freeform 9"/>
          <p:cNvSpPr/>
          <p:nvPr/>
        </p:nvSpPr>
        <p:spPr>
          <a:xfrm>
            <a:off x="857250" y="2428875"/>
            <a:ext cx="2857500" cy="2047875"/>
          </a:xfrm>
          <a:custGeom>
            <a:avLst/>
            <a:gdLst/>
            <a:ahLst/>
            <a:cxnLst/>
            <a:rect l="l" t="t" r="r" b="b"/>
            <a:pathLst>
              <a:path w="2857500" h="2047875">
                <a:moveTo>
                  <a:pt x="0" y="0"/>
                </a:moveTo>
                <a:lnTo>
                  <a:pt x="2857500" y="0"/>
                </a:lnTo>
                <a:lnTo>
                  <a:pt x="2286000" y="2047875"/>
                </a:lnTo>
                <a:lnTo>
                  <a:pt x="571500" y="2047875"/>
                </a:ln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635227" y="2672239"/>
            <a:ext cx="13015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客户 / 公司资料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1778" y="3069431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图纸 · 报价 · 工艺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1778" y="34028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 · 人事 · 经营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2634" y="3934778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按敏感度 / 业务需要分级</a:t>
            </a:r>
          </a:p>
        </p:txBody>
      </p:sp>
      <p:sp>
        <p:nvSpPr>
          <p:cNvPr id="14" name="Freeform 14"/>
          <p:cNvSpPr/>
          <p:nvPr/>
        </p:nvSpPr>
        <p:spPr>
          <a:xfrm>
            <a:off x="3905250" y="3333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Freeform 15"/>
          <p:cNvSpPr/>
          <p:nvPr/>
        </p:nvSpPr>
        <p:spPr>
          <a:xfrm>
            <a:off x="4857750" y="2190750"/>
            <a:ext cx="2952750" cy="2381250"/>
          </a:xfrm>
          <a:custGeom>
            <a:avLst/>
            <a:gdLst/>
            <a:ahLst/>
            <a:cxnLst/>
            <a:rect l="l" t="t" r="r" b="b"/>
            <a:pathLst>
              <a:path w="2952750" h="2381250">
                <a:moveTo>
                  <a:pt x="171450" y="0"/>
                </a:moveTo>
                <a:lnTo>
                  <a:pt x="2781300" y="0"/>
                </a:lnTo>
                <a:cubicBezTo>
                  <a:pt x="2875989" y="0"/>
                  <a:pt x="2952750" y="76761"/>
                  <a:pt x="2952750" y="171450"/>
                </a:cubicBezTo>
                <a:lnTo>
                  <a:pt x="2952750" y="2209800"/>
                </a:lnTo>
                <a:cubicBezTo>
                  <a:pt x="2952750" y="2304489"/>
                  <a:pt x="2875989" y="2381250"/>
                  <a:pt x="2781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754795" y="2426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角色权限控制</a:t>
            </a:r>
          </a:p>
        </p:txBody>
      </p:sp>
      <p:sp>
        <p:nvSpPr>
          <p:cNvPr id="17" name="Freeform 17"/>
          <p:cNvSpPr/>
          <p:nvPr/>
        </p:nvSpPr>
        <p:spPr>
          <a:xfrm>
            <a:off x="5286375" y="2857500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FFF2E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834062" y="29822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申请：为何需要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34125" y="32194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0" name="Freeform 20"/>
          <p:cNvSpPr/>
          <p:nvPr/>
        </p:nvSpPr>
        <p:spPr>
          <a:xfrm>
            <a:off x="5286375" y="3476625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834062" y="36014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批准：最小权限</a:t>
            </a:r>
          </a:p>
        </p:txBody>
      </p:sp>
      <p:sp>
        <p:nvSpPr>
          <p:cNvPr id="22" name="Freeform 22"/>
          <p:cNvSpPr/>
          <p:nvPr/>
        </p:nvSpPr>
        <p:spPr>
          <a:xfrm>
            <a:off x="6334125" y="383857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3" name="Freeform 23"/>
          <p:cNvSpPr/>
          <p:nvPr/>
        </p:nvSpPr>
        <p:spPr>
          <a:xfrm>
            <a:off x="5286375" y="4095750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834062" y="4220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使用：访问留痕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0" y="33337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8572500" y="2190750"/>
            <a:ext cx="2762250" cy="2381250"/>
          </a:xfrm>
          <a:custGeom>
            <a:avLst/>
            <a:gdLst/>
            <a:ahLst/>
            <a:cxnLst/>
            <a:rect l="l" t="t" r="r" b="b"/>
            <a:pathLst>
              <a:path w="2762250" h="2381250">
                <a:moveTo>
                  <a:pt x="171450" y="0"/>
                </a:moveTo>
                <a:lnTo>
                  <a:pt x="2590800" y="0"/>
                </a:lnTo>
                <a:cubicBezTo>
                  <a:pt x="2685489" y="0"/>
                  <a:pt x="2762250" y="76761"/>
                  <a:pt x="2762250" y="171450"/>
                </a:cubicBezTo>
                <a:lnTo>
                  <a:pt x="2762250" y="2209800"/>
                </a:lnTo>
                <a:cubicBezTo>
                  <a:pt x="2762250" y="2304489"/>
                  <a:pt x="2685489" y="2381250"/>
                  <a:pt x="25908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69707" y="2426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回收与上报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95410" y="2878931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岗位变化 → 权限复核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95410" y="32123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离岗 → 权限回收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5410" y="35456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异常访问 → 上报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95410" y="38790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客户要求 → 重新确认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34125" y="4572000"/>
            <a:ext cx="3619500" cy="523875"/>
          </a:xfrm>
          <a:custGeom>
            <a:avLst/>
            <a:gdLst/>
            <a:ahLst/>
            <a:cxnLst/>
            <a:rect l="l" t="t" r="r" b="b"/>
            <a:pathLst>
              <a:path w="3619500" h="523875">
                <a:moveTo>
                  <a:pt x="3619500" y="0"/>
                </a:moveTo>
                <a:lnTo>
                  <a:pt x="3619500" y="523875"/>
                </a:lnTo>
                <a:lnTo>
                  <a:pt x="0" y="52387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3" name="TextBox 33"/>
          <p:cNvSpPr txBox="1"/>
          <p:nvPr/>
        </p:nvSpPr>
        <p:spPr>
          <a:xfrm>
            <a:off x="6643224" y="5220652"/>
            <a:ext cx="30013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 / 离岗触发回收，不等待下一次例行复核</a:t>
            </a:r>
          </a:p>
        </p:txBody>
      </p:sp>
      <p:sp>
        <p:nvSpPr>
          <p:cNvPr id="34" name="Freeform 34"/>
          <p:cNvSpPr/>
          <p:nvPr/>
        </p:nvSpPr>
        <p:spPr>
          <a:xfrm>
            <a:off x="762000" y="5619750"/>
            <a:ext cx="10572750" cy="400050"/>
          </a:xfrm>
          <a:custGeom>
            <a:avLst/>
            <a:gdLst/>
            <a:ahLst/>
            <a:cxnLst/>
            <a:rect l="l" t="t" r="r" b="b"/>
            <a:pathLst>
              <a:path w="10572750" h="400050">
                <a:moveTo>
                  <a:pt x="200025" y="0"/>
                </a:moveTo>
                <a:lnTo>
                  <a:pt x="10372725" y="0"/>
                </a:lnTo>
                <a:cubicBezTo>
                  <a:pt x="10483196" y="0"/>
                  <a:pt x="10572750" y="89554"/>
                  <a:pt x="10572750" y="200025"/>
                </a:cubicBezTo>
                <a:lnTo>
                  <a:pt x="10572750" y="200025"/>
                </a:lnTo>
                <a:cubicBezTo>
                  <a:pt x="10572750" y="310496"/>
                  <a:pt x="10483196" y="400050"/>
                  <a:pt x="1037272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611804" y="5763578"/>
            <a:ext cx="48731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底部矩阵只表达“可见 / 不可见 / 需审批”，具体岗位权限以正式授权文件为准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75095"/>
            <a:ext cx="39411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蓝色＝资料分级 橙色＝权限批准 青绿色＝留痕/回收 红色虚线＝异常回收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Freeform 11"/>
            <p:cNvSpPr/>
            <p:nvPr/>
          </p:nvSpPr>
          <p:spPr>
            <a:xfrm>
              <a:off x="952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953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52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53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Freeform 32"/>
          <p:cNvSpPr/>
          <p:nvPr/>
        </p:nvSpPr>
        <p:spPr>
          <a:xfrm>
            <a:off x="4381500" y="5905500"/>
            <a:ext cx="3429000" cy="323850"/>
          </a:xfrm>
          <a:custGeom>
            <a:avLst/>
            <a:gdLst/>
            <a:ahLst/>
            <a:cxnLst/>
            <a:rect l="l" t="t" r="r" b="b"/>
            <a:pathLst>
              <a:path w="3429000" h="323850">
                <a:moveTo>
                  <a:pt x="161925" y="0"/>
                </a:moveTo>
                <a:lnTo>
                  <a:pt x="3267075" y="0"/>
                </a:lnTo>
                <a:cubicBezTo>
                  <a:pt x="3356504" y="0"/>
                  <a:pt x="3429000" y="72496"/>
                  <a:pt x="3429000" y="161925"/>
                </a:cubicBezTo>
                <a:lnTo>
                  <a:pt x="3429000" y="161925"/>
                </a:lnTo>
                <a:cubicBezTo>
                  <a:pt x="3429000" y="251354"/>
                  <a:pt x="3356504" y="323850"/>
                  <a:pt x="3267075" y="323850"/>
                </a:cubicBezTo>
                <a:lnTo>
                  <a:pt x="161925" y="323850"/>
                </a:lnTo>
                <a:cubicBezTo>
                  <a:pt x="72496" y="323850"/>
                  <a:pt x="0" y="251354"/>
                  <a:pt x="0" y="161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1047750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048125" y="185737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7191375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048125" y="423862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906000" y="2190750"/>
            <a:ext cx="1428750" cy="2571750"/>
          </a:xfrm>
          <a:custGeom>
            <a:avLst/>
            <a:gdLst/>
            <a:ahLst/>
            <a:cxnLst/>
            <a:rect l="l" t="t" r="r" b="b"/>
            <a:pathLst>
              <a:path w="1428750" h="2571750">
                <a:moveTo>
                  <a:pt x="152400" y="0"/>
                </a:moveTo>
                <a:lnTo>
                  <a:pt x="1276350" y="0"/>
                </a:lnTo>
                <a:cubicBezTo>
                  <a:pt x="1360518" y="0"/>
                  <a:pt x="1428750" y="68232"/>
                  <a:pt x="1428750" y="152400"/>
                </a:cubicBezTo>
                <a:lnTo>
                  <a:pt x="1428750" y="2419350"/>
                </a:lnTo>
                <a:cubicBezTo>
                  <a:pt x="1428750" y="2503518"/>
                  <a:pt x="1360518" y="2571750"/>
                  <a:pt x="1276350" y="2571750"/>
                </a:cubicBezTo>
                <a:lnTo>
                  <a:pt x="152400" y="2571750"/>
                </a:lnTo>
                <a:cubicBezTo>
                  <a:pt x="68232" y="2571750"/>
                  <a:pt x="0" y="2503518"/>
                  <a:pt x="0" y="2419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6829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 RACI 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先用关键事项校准责任，再扩展到完整矩阵（示例，最终以正式授权为准）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71500" y="1952625"/>
            <a:ext cx="7905750" cy="3429000"/>
          </a:xfrm>
          <a:custGeom>
            <a:avLst/>
            <a:gdLst/>
            <a:ahLst/>
            <a:cxnLst/>
            <a:rect l="l" t="t" r="r" b="b"/>
            <a:pathLst>
              <a:path w="7905750" h="3429000">
                <a:moveTo>
                  <a:pt x="133350" y="0"/>
                </a:moveTo>
                <a:lnTo>
                  <a:pt x="7772400" y="0"/>
                </a:lnTo>
                <a:cubicBezTo>
                  <a:pt x="7846047" y="0"/>
                  <a:pt x="7905750" y="59703"/>
                  <a:pt x="7905750" y="133350"/>
                </a:cubicBezTo>
                <a:lnTo>
                  <a:pt x="7905750" y="3295650"/>
                </a:lnTo>
                <a:cubicBezTo>
                  <a:pt x="7905750" y="3369297"/>
                  <a:pt x="7846047" y="3429000"/>
                  <a:pt x="7772400" y="3429000"/>
                </a:cubicBezTo>
                <a:lnTo>
                  <a:pt x="133350" y="3429000"/>
                </a:lnTo>
                <a:cubicBezTo>
                  <a:pt x="59703" y="3429000"/>
                  <a:pt x="0" y="3369297"/>
                  <a:pt x="0" y="3295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571500" y="1952625"/>
            <a:ext cx="7905750" cy="495300"/>
            <a:chOff x="571500" y="1952625"/>
            <a:chExt cx="7905750" cy="495300"/>
          </a:xfrm>
        </p:grpSpPr>
        <p:sp>
          <p:nvSpPr>
            <p:cNvPr id="9" name="Rectangle 9"/>
            <p:cNvSpPr/>
            <p:nvPr/>
          </p:nvSpPr>
          <p:spPr>
            <a:xfrm>
              <a:off x="571500" y="1952625"/>
              <a:ext cx="7905750" cy="49530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0745" y="214550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关键事项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86663" y="21536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4139" y="2153602"/>
              <a:ext cx="68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技术/工程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65872" y="21536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品质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18372" y="21536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生产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1639" y="2153602"/>
              <a:ext cx="68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采购/仓储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9163" y="21536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管理层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1952625"/>
            <a:ext cx="7905750" cy="3429000"/>
            <a:chOff x="571500" y="1952625"/>
            <a:chExt cx="7905750" cy="3429000"/>
          </a:xfrm>
        </p:grpSpPr>
        <p:sp>
          <p:nvSpPr>
            <p:cNvPr id="18" name="Line 18"/>
            <p:cNvSpPr/>
            <p:nvPr/>
          </p:nvSpPr>
          <p:spPr>
            <a:xfrm>
              <a:off x="571500" y="244792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293370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" y="341947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71500" y="390525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71500" y="439102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71500" y="487680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38125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048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0005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953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59055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858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9041" y="26393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041" y="3125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技术变更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041" y="3610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采购验收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041" y="4096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质量放行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041" y="4582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客诉关闭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041" y="5068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付款批准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571750" y="2571750"/>
            <a:ext cx="4953000" cy="2724531"/>
            <a:chOff x="2571750" y="2571750"/>
            <a:chExt cx="4953000" cy="2724531"/>
          </a:xfrm>
        </p:grpSpPr>
        <p:sp>
          <p:nvSpPr>
            <p:cNvPr id="37" name="Freeform 37"/>
            <p:cNvSpPr/>
            <p:nvPr/>
          </p:nvSpPr>
          <p:spPr>
            <a:xfrm>
              <a:off x="2571750" y="25717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068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3143250" y="25717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783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095750" y="25717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308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953250" y="25717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10771" y="2632710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143250" y="30575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2783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4095750" y="30575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308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5048250" y="30575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833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953250" y="30575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10771" y="3118485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000750" y="354330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35868" y="36042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6953250" y="354330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88368" y="36042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5048250" y="402907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183368" y="4090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4095750" y="402907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30868" y="4090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4095750" y="45148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230868" y="4575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3333750" y="45148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468868" y="4575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7143750" y="50006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78868" y="50615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6191250" y="50006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26368" y="50615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</p:grpSp>
      <p:sp>
        <p:nvSpPr>
          <p:cNvPr id="70" name="Freeform 70"/>
          <p:cNvSpPr/>
          <p:nvPr/>
        </p:nvSpPr>
        <p:spPr>
          <a:xfrm>
            <a:off x="8858250" y="1952625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2571750" h="3429000">
                <a:moveTo>
                  <a:pt x="152400" y="0"/>
                </a:moveTo>
                <a:lnTo>
                  <a:pt x="2419350" y="0"/>
                </a:lnTo>
                <a:cubicBezTo>
                  <a:pt x="2503518" y="0"/>
                  <a:pt x="2571750" y="68232"/>
                  <a:pt x="2571750" y="152400"/>
                </a:cubicBezTo>
                <a:lnTo>
                  <a:pt x="2571750" y="3276600"/>
                </a:lnTo>
                <a:cubicBezTo>
                  <a:pt x="2571750" y="3360768"/>
                  <a:pt x="2503518" y="3429000"/>
                  <a:pt x="2419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564795" y="21878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三条使用规则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185910" y="2736056"/>
            <a:ext cx="2291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 · 每行一个最终负责/批准主体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185910" y="3307556"/>
            <a:ext cx="1403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 · 对执行结果负责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85910" y="3879056"/>
            <a:ext cx="22037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 / I · 参与或知会，不能替代A</a:t>
            </a:r>
          </a:p>
        </p:txBody>
      </p:sp>
      <p:sp>
        <p:nvSpPr>
          <p:cNvPr id="75" name="Freeform 75"/>
          <p:cNvSpPr/>
          <p:nvPr/>
        </p:nvSpPr>
        <p:spPr>
          <a:xfrm>
            <a:off x="9191625" y="4524375"/>
            <a:ext cx="1905000" cy="457200"/>
          </a:xfrm>
          <a:custGeom>
            <a:avLst/>
            <a:gdLst/>
            <a:ahLst/>
            <a:cxnLst/>
            <a:rect l="l" t="t" r="r" b="b"/>
            <a:pathLst>
              <a:path w="1905000" h="457200">
                <a:moveTo>
                  <a:pt x="114300" y="0"/>
                </a:moveTo>
                <a:lnTo>
                  <a:pt x="1790700" y="0"/>
                </a:lnTo>
                <a:cubicBezTo>
                  <a:pt x="1853826" y="0"/>
                  <a:pt x="1905000" y="51174"/>
                  <a:pt x="1905000" y="114300"/>
                </a:cubicBezTo>
                <a:lnTo>
                  <a:pt x="1905000" y="342900"/>
                </a:lnTo>
                <a:cubicBezTo>
                  <a:pt x="1905000" y="406026"/>
                  <a:pt x="1853826" y="457200"/>
                  <a:pt x="179070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396698" y="46967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待确认：最终授权边界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66166" y="6077902"/>
            <a:ext cx="62956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图例：A＝Accountable 最终负责/批准 R＝Responsible 执行 C＝Consulted 征询 I＝Informed 知会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66738" y="647509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示例矩阵仅用于校准责任逻辑，不代表公司已正式发布的授权文件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Freeform 12"/>
            <p:cNvSpPr/>
            <p:nvPr/>
          </p:nvSpPr>
          <p:spPr>
            <a:xfrm>
              <a:off x="76200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Freeform 13"/>
            <p:cNvSpPr/>
            <p:nvPr/>
          </p:nvSpPr>
          <p:spPr>
            <a:xfrm>
              <a:off x="76200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524375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4524375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Freeform 30"/>
            <p:cNvSpPr/>
            <p:nvPr/>
          </p:nvSpPr>
          <p:spPr>
            <a:xfrm>
              <a:off x="828675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828675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619250" y="5000625"/>
            <a:ext cx="8953500" cy="552450"/>
          </a:xfrm>
          <a:custGeom>
            <a:avLst/>
            <a:gdLst/>
            <a:ahLst/>
            <a:cxnLst/>
            <a:rect l="l" t="t" r="r" b="b"/>
            <a:pathLst>
              <a:path w="8953500" h="552450">
                <a:moveTo>
                  <a:pt x="276225" y="0"/>
                </a:moveTo>
                <a:lnTo>
                  <a:pt x="8677275" y="0"/>
                </a:lnTo>
                <a:cubicBezTo>
                  <a:pt x="8829830" y="0"/>
                  <a:pt x="8953500" y="123670"/>
                  <a:pt x="8953500" y="276225"/>
                </a:cubicBezTo>
                <a:lnTo>
                  <a:pt x="8953500" y="276225"/>
                </a:lnTo>
                <a:cubicBezTo>
                  <a:pt x="8953500" y="428780"/>
                  <a:pt x="8829830" y="552450"/>
                  <a:pt x="8677275" y="552450"/>
                </a:cubicBezTo>
                <a:lnTo>
                  <a:pt x="276225" y="552450"/>
                </a:lnTo>
                <a:cubicBezTo>
                  <a:pt x="123670" y="552450"/>
                  <a:pt x="0" y="428780"/>
                  <a:pt x="0" y="276225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2026-10-08T07:46:53Z</dcterms:created>
  <dcterms:modified xsi:type="dcterms:W3CDTF">2026-10-08T07:46:53Z</dcterms:modified>
  <cp:category/>
  <cp:contentStatus/>
</cp:coreProperties>
</file>