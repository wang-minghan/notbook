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511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 · INTERFACE 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以五个正式一级部门呈现关键输入、输出与协同接口；班组归属按受控组织矩阵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66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9138" y="2522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输入：订单评审、物料齐套、质量要求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188970"/>
            <a:ext cx="17723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输出：生产任务与产量/异常记录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38" y="38557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接口：品质判定；营运交期协同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519612"/>
            <a:ext cx="21752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工程技术组 / 冲压车间 / 模具维修组 / 清洗车间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003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454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7" name="Line 17"/>
          <p:cNvSpPr/>
          <p:nvPr/>
        </p:nvSpPr>
        <p:spPr>
          <a:xfrm>
            <a:off x="29718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47988" y="2522220"/>
            <a:ext cx="18935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输入：来料、首件/制程、成品待检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798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输出：检验记录、不合格处置、客诉闭环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798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接口：独立质量判断；向营运/生产反馈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47988" y="4519612"/>
            <a:ext cx="13372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制程巡检组 / 成品出货检验组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7743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4" name="Line 24"/>
          <p:cNvSpPr/>
          <p:nvPr/>
        </p:nvSpPr>
        <p:spPr>
          <a:xfrm>
            <a:off x="52006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76838" y="25222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输入：客户订单、产能/质量意见、需求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6838" y="3188970"/>
            <a:ext cx="2499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输出：订单评审、采购订单、出入库/交付协同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6838" y="38557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接口：业务、采购、仓储分工执行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4519612"/>
            <a:ext cx="11504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业务组 / 采购组 / 仓储组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580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031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行政部</a:t>
            </a:r>
          </a:p>
        </p:txBody>
      </p:sp>
      <p:sp>
        <p:nvSpPr>
          <p:cNvPr id="31" name="Line 31"/>
          <p:cNvSpPr/>
          <p:nvPr/>
        </p:nvSpPr>
        <p:spPr>
          <a:xfrm>
            <a:off x="74295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05688" y="25222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输入：用工需求、制度与后勤事项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5688" y="318897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输出：人事档案、入离职与后勤记录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5688" y="3855720"/>
            <a:ext cx="15300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接口：跨部门人员/保障协同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568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人事组 / 后勤组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869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320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38" name="Line 38"/>
          <p:cNvSpPr/>
          <p:nvPr/>
        </p:nvSpPr>
        <p:spPr>
          <a:xfrm>
            <a:off x="96583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34538" y="2522220"/>
            <a:ext cx="2378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输入：业务单据、费用/付款申请、经营数据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3453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输出：会计凭证、报表、资金与付款记录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453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接口：财务审核/执行；审批依授权边界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3453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会计组 / 出纳组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286375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844500" y="5439728"/>
            <a:ext cx="6502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正式事实：五部门及下属组织名称/归属依受控矩阵；输入输出为职责地图摘要，不替代SOP。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4" y="5704999"/>
            <a:ext cx="49385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待确认边界：具体时限、金额阈值、岗位替代与例外授权以正式制度/授权文件为准。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738" y="6494145"/>
            <a:ext cx="3614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依据：受控组织矩阵、review_report.md；OneDrive 修正版草稿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906000" y="457200"/>
              <a:ext cx="1524000" cy="400050"/>
            </a:xfrm>
            <a:custGeom>
              <a:avLst/>
              <a:gdLst/>
              <a:ahLst/>
              <a:cxnLst/>
              <a:rect l="l" t="t" r="r" b="b"/>
              <a:pathLst>
                <a:path w="1524000" h="400050">
                  <a:moveTo>
                    <a:pt x="200025" y="0"/>
                  </a:moveTo>
                  <a:lnTo>
                    <a:pt x="1323975" y="0"/>
                  </a:lnTo>
                  <a:cubicBezTo>
                    <a:pt x="1434446" y="0"/>
                    <a:pt x="1524000" y="89554"/>
                    <a:pt x="1524000" y="200025"/>
                  </a:cubicBezTo>
                  <a:lnTo>
                    <a:pt x="1524000" y="200025"/>
                  </a:lnTo>
                  <a:cubicBezTo>
                    <a:pt x="1524000" y="310496"/>
                    <a:pt x="1434446" y="400050"/>
                    <a:pt x="13239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Freeform 10"/>
            <p:cNvSpPr/>
            <p:nvPr/>
          </p:nvSpPr>
          <p:spPr>
            <a:xfrm>
              <a:off x="571500" y="16954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1500" y="220980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7241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323850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3752850"/>
              <a:ext cx="1143000" cy="514350"/>
            </a:xfrm>
            <a:custGeom>
              <a:avLst/>
              <a:gdLst/>
              <a:ahLst/>
              <a:cxnLst/>
              <a:rect l="l" t="t" r="r" b="b"/>
              <a:pathLst>
                <a:path w="1143000" h="5143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419100"/>
                  </a:lnTo>
                  <a:cubicBezTo>
                    <a:pt x="1143000" y="471705"/>
                    <a:pt x="1100355" y="514350"/>
                    <a:pt x="1047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000250" y="178117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85725" y="0"/>
                    </a:moveTo>
                    <a:lnTo>
                      <a:pt x="771525" y="0"/>
                    </a:lnTo>
                    <a:cubicBezTo>
                      <a:pt x="818870" y="0"/>
                      <a:pt x="857250" y="38380"/>
                      <a:pt x="857250" y="85725"/>
                    </a:cubicBezTo>
                    <a:lnTo>
                      <a:pt x="857250" y="257175"/>
                    </a:lnTo>
                    <a:cubicBezTo>
                      <a:pt x="857250" y="304520"/>
                      <a:pt x="818870" y="342900"/>
                      <a:pt x="7715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Freeform 38"/>
              <p:cNvSpPr/>
              <p:nvPr/>
            </p:nvSpPr>
            <p:spPr>
              <a:xfrm>
                <a:off x="3333750" y="229552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Freeform 41"/>
              <p:cNvSpPr/>
              <p:nvPr/>
            </p:nvSpPr>
            <p:spPr>
              <a:xfrm>
                <a:off x="4857750" y="28098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Freeform 44"/>
              <p:cNvSpPr/>
              <p:nvPr/>
            </p:nvSpPr>
            <p:spPr>
              <a:xfrm>
                <a:off x="6381750" y="332422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905750" y="38385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Freeform 50"/>
              <p:cNvSpPr/>
              <p:nvPr/>
            </p:nvSpPr>
            <p:spPr>
              <a:xfrm>
                <a:off x="9525000" y="2809875"/>
                <a:ext cx="1047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42900">
                    <a:moveTo>
                      <a:pt x="85725" y="0"/>
                    </a:moveTo>
                    <a:lnTo>
                      <a:pt x="962025" y="0"/>
                    </a:lnTo>
                    <a:cubicBezTo>
                      <a:pt x="1009370" y="0"/>
                      <a:pt x="1047750" y="38380"/>
                      <a:pt x="1047750" y="85725"/>
                    </a:cubicBezTo>
                    <a:lnTo>
                      <a:pt x="1047750" y="257175"/>
                    </a:lnTo>
                    <a:cubicBezTo>
                      <a:pt x="1047750" y="304520"/>
                      <a:pt x="1009370" y="342900"/>
                      <a:pt x="962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Freeform 53"/>
              <p:cNvSpPr/>
              <p:nvPr/>
            </p:nvSpPr>
            <p:spPr>
              <a:xfrm>
                <a:off x="11144250" y="1781175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85725" y="0"/>
                    </a:moveTo>
                    <a:lnTo>
                      <a:pt x="200025" y="0"/>
                    </a:lnTo>
                    <a:cubicBezTo>
                      <a:pt x="247370" y="0"/>
                      <a:pt x="285750" y="38380"/>
                      <a:pt x="285750" y="85725"/>
                    </a:cubicBezTo>
                    <a:lnTo>
                      <a:pt x="285750" y="257175"/>
                    </a:lnTo>
                    <a:cubicBezTo>
                      <a:pt x="285750" y="304520"/>
                      <a:pt x="247370" y="342900"/>
                      <a:pt x="200025" y="342900"/>
                    </a:cubicBezTo>
                    <a:lnTo>
                      <a:pt x="85725" y="342900"/>
                    </a:lnTo>
                    <a:cubicBezTo>
                      <a:pt x="38380" y="342900"/>
                      <a:pt x="0" y="304520"/>
                      <a:pt x="0" y="257175"/>
                    </a:cubicBez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Freeform 66"/>
            <p:cNvSpPr/>
            <p:nvPr/>
          </p:nvSpPr>
          <p:spPr>
            <a:xfrm>
              <a:off x="571500" y="5619750"/>
              <a:ext cx="10858500" cy="666750"/>
            </a:xfrm>
            <a:custGeom>
              <a:avLst/>
              <a:gdLst/>
              <a:ahLst/>
              <a:cxnLst/>
              <a:rect l="l" t="t" r="r" b="b"/>
              <a:pathLst>
                <a:path w="10858500" h="6667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533400"/>
                  </a:lnTo>
                  <a:cubicBezTo>
                    <a:pt x="10858500" y="607047"/>
                    <a:pt x="10798797" y="666750"/>
                    <a:pt x="1072515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23812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400050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56197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723900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8858250" y="5743575"/>
              <a:ext cx="1428750" cy="323850"/>
            </a:xfrm>
            <a:custGeom>
              <a:avLst/>
              <a:gdLst/>
              <a:ahLst/>
              <a:cxnLst/>
              <a:rect l="l" t="t" r="r" b="b"/>
              <a:pathLst>
                <a:path w="1428750" h="323850">
                  <a:moveTo>
                    <a:pt x="161925" y="0"/>
                  </a:moveTo>
                  <a:lnTo>
                    <a:pt x="1266825" y="0"/>
                  </a:lnTo>
                  <a:cubicBezTo>
                    <a:pt x="1356254" y="0"/>
                    <a:pt x="1428750" y="72496"/>
                    <a:pt x="1428750" y="161925"/>
                  </a:cubicBezTo>
                  <a:lnTo>
                    <a:pt x="1428750" y="161925"/>
                  </a:lnTo>
                  <a:cubicBezTo>
                    <a:pt x="1428750" y="251354"/>
                    <a:pt x="1356254" y="323850"/>
                    <a:pt x="12668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0001250" y="45720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190500" y="0"/>
                  </a:moveTo>
                  <a:lnTo>
                    <a:pt x="1238250" y="0"/>
                  </a:lnTo>
                  <a:cubicBezTo>
                    <a:pt x="1343460" y="0"/>
                    <a:pt x="1428750" y="85290"/>
                    <a:pt x="1428750" y="190500"/>
                  </a:cubicBezTo>
                  <a:lnTo>
                    <a:pt x="1428750" y="190500"/>
                  </a:lnTo>
                  <a:cubicBezTo>
                    <a:pt x="1428750" y="295710"/>
                    <a:pt x="1343460" y="381000"/>
                    <a:pt x="12382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Freeform 11"/>
            <p:cNvSpPr/>
            <p:nvPr/>
          </p:nvSpPr>
          <p:spPr>
            <a:xfrm>
              <a:off x="571500" y="18097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5908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33718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71500" y="41529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381250" y="1971675"/>
                <a:ext cx="10001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457200">
                    <a:moveTo>
                      <a:pt x="95250" y="0"/>
                    </a:moveTo>
                    <a:lnTo>
                      <a:pt x="904875" y="0"/>
                    </a:lnTo>
                    <a:cubicBezTo>
                      <a:pt x="957480" y="0"/>
                      <a:pt x="1000125" y="42645"/>
                      <a:pt x="1000125" y="95250"/>
                    </a:cubicBezTo>
                    <a:lnTo>
                      <a:pt x="1000125" y="361950"/>
                    </a:lnTo>
                    <a:cubicBezTo>
                      <a:pt x="1000125" y="414555"/>
                      <a:pt x="957480" y="457200"/>
                      <a:pt x="90487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Freeform 39"/>
              <p:cNvSpPr/>
              <p:nvPr/>
            </p:nvSpPr>
            <p:spPr>
              <a:xfrm>
                <a:off x="4000500" y="27527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Freeform 43"/>
              <p:cNvSpPr/>
              <p:nvPr/>
            </p:nvSpPr>
            <p:spPr>
              <a:xfrm>
                <a:off x="5905500" y="35337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810500" y="43148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Freeform 51"/>
              <p:cNvSpPr/>
              <p:nvPr/>
            </p:nvSpPr>
            <p:spPr>
              <a:xfrm>
                <a:off x="9715500" y="19716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71500" y="5715000"/>
              <a:ext cx="10858500" cy="552450"/>
            </a:xfrm>
            <a:custGeom>
              <a:avLst/>
              <a:gdLst/>
              <a:ahLst/>
              <a:cxnLst/>
              <a:rect l="l" t="t" r="r" b="b"/>
              <a:pathLst>
                <a:path w="10858500" h="5524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419100"/>
                  </a:lnTo>
                  <a:cubicBezTo>
                    <a:pt x="10858500" y="492747"/>
                    <a:pt x="10798797" y="552450"/>
                    <a:pt x="10725150" y="552450"/>
                  </a:cubicBezTo>
                  <a:lnTo>
                    <a:pt x="133350" y="552450"/>
                  </a:lnTo>
                  <a:cubicBezTo>
                    <a:pt x="59703" y="552450"/>
                    <a:pt x="0" y="492747"/>
                    <a:pt x="0" y="419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8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286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9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客户问题统一入口，处理、验证和回复形成闭环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095500" y="2047875"/>
            <a:ext cx="8001000" cy="2381250"/>
          </a:xfrm>
          <a:custGeom>
            <a:avLst/>
            <a:gdLst/>
            <a:ahLst/>
            <a:cxnLst/>
            <a:rect l="l" t="t" r="r" b="b"/>
            <a:pathLst>
              <a:path w="8001000" h="2381250">
                <a:moveTo>
                  <a:pt x="0" y="1190625"/>
                </a:moveTo>
                <a:cubicBezTo>
                  <a:pt x="0" y="285750"/>
                  <a:pt x="2000250" y="0"/>
                  <a:pt x="4000500" y="0"/>
                </a:cubicBezTo>
                <a:cubicBezTo>
                  <a:pt x="6000750" y="0"/>
                  <a:pt x="8001000" y="285750"/>
                  <a:pt x="8001000" y="1190625"/>
                </a:cubicBezTo>
                <a:cubicBezTo>
                  <a:pt x="8001000" y="2095500"/>
                  <a:pt x="6000750" y="2381250"/>
                  <a:pt x="4000500" y="2381250"/>
                </a:cubicBezTo>
                <a:cubicBezTo>
                  <a:pt x="2000250" y="2381250"/>
                  <a:pt x="0" y="2095500"/>
                  <a:pt x="0" y="1190625"/>
                </a:cubicBezTo>
              </a:path>
            </a:pathLst>
          </a:custGeom>
          <a:noFill/>
          <a:ln w="28575">
            <a:solidFill>
              <a:srgbClr val="D7E0E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952500" y="1762125"/>
            <a:ext cx="9715500" cy="3152775"/>
            <a:chOff x="952500" y="1762125"/>
            <a:chExt cx="9715500" cy="3152775"/>
          </a:xfrm>
        </p:grpSpPr>
        <p:sp>
          <p:nvSpPr>
            <p:cNvPr id="9" name="Freeform 9"/>
            <p:cNvSpPr/>
            <p:nvPr/>
          </p:nvSpPr>
          <p:spPr>
            <a:xfrm>
              <a:off x="95250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529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接收分级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7312" y="3296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入口｜影响判定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81375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64168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临时措施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6188" y="22774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隔离｜遏制风险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572250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55043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6387" y="22774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事实｜根因｜证据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85825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104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纠正措施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2387" y="3296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5043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6387" y="4515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有效性｜复发控制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381375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4168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客户回复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6188" y="4515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结论｜关闭证据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5191125" y="4457700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2095500" y="3695700"/>
            <a:ext cx="1285875" cy="762000"/>
          </a:xfrm>
          <a:custGeom>
            <a:avLst/>
            <a:gdLst/>
            <a:ahLst/>
            <a:cxnLst/>
            <a:rect l="l" t="t" r="r" b="b"/>
            <a:pathLst>
              <a:path w="1285875" h="762000">
                <a:moveTo>
                  <a:pt x="1285875" y="762000"/>
                </a:moveTo>
                <a:cubicBezTo>
                  <a:pt x="381000" y="762000"/>
                  <a:pt x="0" y="3048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850773" y="5434489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未验证或重复发生：回到原因分析/纠正措施，不直接关闭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71700"/>
            <a:ext cx="2476500" cy="1809750"/>
          </a:xfrm>
          <a:custGeom>
            <a:avLst/>
            <a:gdLst/>
            <a:ahLst/>
            <a:cxnLst/>
            <a:rect l="l" t="t" r="r" b="b"/>
            <a:pathLst>
              <a:path w="2476500" h="1809750">
                <a:moveTo>
                  <a:pt x="171450" y="0"/>
                </a:moveTo>
                <a:lnTo>
                  <a:pt x="2305050" y="0"/>
                </a:lnTo>
                <a:cubicBezTo>
                  <a:pt x="2399739" y="0"/>
                  <a:pt x="2476500" y="76761"/>
                  <a:pt x="2476500" y="171450"/>
                </a:cubicBezTo>
                <a:lnTo>
                  <a:pt x="2476500" y="1638300"/>
                </a:lnTo>
                <a:cubicBezTo>
                  <a:pt x="2476500" y="1732989"/>
                  <a:pt x="2399739" y="1809750"/>
                  <a:pt x="2305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095750" y="2095500"/>
            <a:ext cx="3048000" cy="1952625"/>
          </a:xfrm>
          <a:custGeom>
            <a:avLst/>
            <a:gdLst/>
            <a:ahLst/>
            <a:cxnLst/>
            <a:rect l="l" t="t" r="r" b="b"/>
            <a:pathLst>
              <a:path w="3048000" h="1952625">
                <a:moveTo>
                  <a:pt x="171450" y="0"/>
                </a:moveTo>
                <a:lnTo>
                  <a:pt x="2876550" y="0"/>
                </a:lnTo>
                <a:cubicBezTo>
                  <a:pt x="2971239" y="0"/>
                  <a:pt x="3048000" y="76761"/>
                  <a:pt x="3048000" y="171450"/>
                </a:cubicBezTo>
                <a:lnTo>
                  <a:pt x="3048000" y="1781175"/>
                </a:lnTo>
                <a:cubicBezTo>
                  <a:pt x="3048000" y="1875864"/>
                  <a:pt x="2971239" y="1952625"/>
                  <a:pt x="2876550" y="1952625"/>
                </a:cubicBezTo>
                <a:lnTo>
                  <a:pt x="171450" y="1952625"/>
                </a:lnTo>
                <a:cubicBezTo>
                  <a:pt x="76761" y="1952625"/>
                  <a:pt x="0" y="1875864"/>
                  <a:pt x="0" y="17811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53000" y="38100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97" y="0"/>
                  <a:pt x="1333500" y="59703"/>
                  <a:pt x="1333500" y="133350"/>
                </a:cubicBezTo>
                <a:lnTo>
                  <a:pt x="1333500" y="133350"/>
                </a:lnTo>
                <a:cubicBezTo>
                  <a:pt x="1333500" y="206997"/>
                  <a:pt x="1273797" y="266700"/>
                  <a:pt x="1200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8001000" y="217170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171450" y="0"/>
                </a:moveTo>
                <a:lnTo>
                  <a:pt x="2686050" y="0"/>
                </a:lnTo>
                <a:cubicBezTo>
                  <a:pt x="2780739" y="0"/>
                  <a:pt x="2857500" y="76761"/>
                  <a:pt x="2857500" y="171450"/>
                </a:cubicBezTo>
                <a:lnTo>
                  <a:pt x="2857500" y="1638300"/>
                </a:lnTo>
                <a:cubicBezTo>
                  <a:pt x="2857500" y="1732989"/>
                  <a:pt x="2780739" y="1809750"/>
                  <a:pt x="2686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286375"/>
            <a:ext cx="10096500" cy="628650"/>
          </a:xfrm>
          <a:custGeom>
            <a:avLst/>
            <a:gdLst/>
            <a:ahLst/>
            <a:cxnLst/>
            <a:rect l="l" t="t" r="r" b="b"/>
            <a:pathLst>
              <a:path w="10096500" h="628650">
                <a:moveTo>
                  <a:pt x="152400" y="0"/>
                </a:moveTo>
                <a:lnTo>
                  <a:pt x="9944100" y="0"/>
                </a:lnTo>
                <a:cubicBezTo>
                  <a:pt x="10028268" y="0"/>
                  <a:pt x="10096500" y="68232"/>
                  <a:pt x="10096500" y="152400"/>
                </a:cubicBezTo>
                <a:lnTo>
                  <a:pt x="10096500" y="476250"/>
                </a:lnTo>
                <a:cubicBezTo>
                  <a:pt x="10096500" y="560418"/>
                  <a:pt x="10028268" y="628650"/>
                  <a:pt x="9944100" y="628650"/>
                </a:cubicBezTo>
                <a:lnTo>
                  <a:pt x="152400" y="628650"/>
                </a:lnTo>
                <a:cubicBezTo>
                  <a:pt x="68232" y="628650"/>
                  <a:pt x="0" y="560418"/>
                  <a:pt x="0" y="476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Freeform 34"/>
          <p:cNvSpPr/>
          <p:nvPr/>
        </p:nvSpPr>
        <p:spPr>
          <a:xfrm>
            <a:off x="2381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76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Freeform 40"/>
          <p:cNvSpPr/>
          <p:nvPr/>
        </p:nvSpPr>
        <p:spPr>
          <a:xfrm>
            <a:off x="8667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857750" y="2190750"/>
            <a:ext cx="2952750" cy="2381250"/>
          </a:xfrm>
          <a:custGeom>
            <a:avLst/>
            <a:gdLst/>
            <a:ahLst/>
            <a:cxnLst/>
            <a:rect l="l" t="t" r="r" b="b"/>
            <a:pathLst>
              <a:path w="2952750" h="2381250">
                <a:moveTo>
                  <a:pt x="171450" y="0"/>
                </a:moveTo>
                <a:lnTo>
                  <a:pt x="2781300" y="0"/>
                </a:lnTo>
                <a:cubicBezTo>
                  <a:pt x="2875989" y="0"/>
                  <a:pt x="2952750" y="76761"/>
                  <a:pt x="2952750" y="171450"/>
                </a:cubicBezTo>
                <a:lnTo>
                  <a:pt x="2952750" y="2209800"/>
                </a:lnTo>
                <a:cubicBezTo>
                  <a:pt x="2952750" y="2304489"/>
                  <a:pt x="2875989" y="2381250"/>
                  <a:pt x="2781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Freeform 17"/>
          <p:cNvSpPr/>
          <p:nvPr/>
        </p:nvSpPr>
        <p:spPr>
          <a:xfrm>
            <a:off x="5286375" y="285750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Freeform 20"/>
          <p:cNvSpPr/>
          <p:nvPr/>
        </p:nvSpPr>
        <p:spPr>
          <a:xfrm>
            <a:off x="5286375" y="3476625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Freeform 23"/>
          <p:cNvSpPr/>
          <p:nvPr/>
        </p:nvSpPr>
        <p:spPr>
          <a:xfrm>
            <a:off x="5286375" y="409575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8572500" y="2190750"/>
            <a:ext cx="2762250" cy="2381250"/>
          </a:xfrm>
          <a:custGeom>
            <a:avLst/>
            <a:gdLst/>
            <a:ahLst/>
            <a:cxnLst/>
            <a:rect l="l" t="t" r="r" b="b"/>
            <a:pathLst>
              <a:path w="2762250" h="2381250">
                <a:moveTo>
                  <a:pt x="171450" y="0"/>
                </a:moveTo>
                <a:lnTo>
                  <a:pt x="2590800" y="0"/>
                </a:lnTo>
                <a:cubicBezTo>
                  <a:pt x="2685489" y="0"/>
                  <a:pt x="2762250" y="76761"/>
                  <a:pt x="2762250" y="171450"/>
                </a:cubicBezTo>
                <a:lnTo>
                  <a:pt x="2762250" y="2209800"/>
                </a:lnTo>
                <a:cubicBezTo>
                  <a:pt x="2762250" y="2304489"/>
                  <a:pt x="2685489" y="2381250"/>
                  <a:pt x="25908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619750"/>
            <a:ext cx="10572750" cy="400050"/>
          </a:xfrm>
          <a:custGeom>
            <a:avLst/>
            <a:gdLst/>
            <a:ahLst/>
            <a:cxnLst/>
            <a:rect l="l" t="t" r="r" b="b"/>
            <a:pathLst>
              <a:path w="10572750" h="400050">
                <a:moveTo>
                  <a:pt x="200025" y="0"/>
                </a:moveTo>
                <a:lnTo>
                  <a:pt x="10372725" y="0"/>
                </a:lnTo>
                <a:cubicBezTo>
                  <a:pt x="10483196" y="0"/>
                  <a:pt x="10572750" y="89554"/>
                  <a:pt x="10572750" y="200025"/>
                </a:cubicBezTo>
                <a:lnTo>
                  <a:pt x="10572750" y="200025"/>
                </a:lnTo>
                <a:cubicBezTo>
                  <a:pt x="10572750" y="310496"/>
                  <a:pt x="10483196" y="400050"/>
                  <a:pt x="103727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先定义指标口径，再由管理层看趋势、风险和需要决策的事项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1833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示意模板｜数值、目标和责任人待确认后填入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2333625"/>
            <a:ext cx="10668000" cy="2619375"/>
            <a:chOff x="762000" y="2333625"/>
            <a:chExt cx="10668000" cy="2619375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2333625"/>
              <a:ext cx="3333750" cy="1143000"/>
              <a:chOff x="762000" y="2333625"/>
              <a:chExt cx="3333750" cy="114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2F6BF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92505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9441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9441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429125" y="2333625"/>
              <a:ext cx="3333750" cy="1143000"/>
              <a:chOff x="4429125" y="2333625"/>
              <a:chExt cx="3333750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429125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7657B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59630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质量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1535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1535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096250" y="2333625"/>
              <a:ext cx="3333750" cy="1143000"/>
              <a:chOff x="8096250" y="2333625"/>
              <a:chExt cx="3333750" cy="1143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9625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1C9C8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6755" y="2505075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采购/库存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2866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866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810000"/>
              <a:ext cx="3333750" cy="1143000"/>
              <a:chOff x="762000" y="3810000"/>
              <a:chExt cx="3333750" cy="1143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6200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C56A2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92505" y="3981450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现金/成本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441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41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429125" y="3810000"/>
              <a:ext cx="3333750" cy="1143000"/>
              <a:chOff x="4429125" y="3810000"/>
              <a:chExt cx="3333750" cy="114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29125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A8751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59630" y="3981450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61535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61535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96250" y="3810000"/>
              <a:ext cx="3333750" cy="1143000"/>
              <a:chOff x="8096250" y="3810000"/>
              <a:chExt cx="3333750" cy="1143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09625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D95C5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6755" y="3981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整改闭环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2866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2866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风险等级决定响应、升级和关闭路径；具体阈值待确认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02767" y="1902142"/>
            <a:ext cx="21414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风险热力图｜概率 × 影响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88293" y="2381250"/>
            <a:ext cx="2870826" cy="1997011"/>
            <a:chOff x="288293" y="2381250"/>
            <a:chExt cx="2870826" cy="1997011"/>
          </a:xfrm>
        </p:grpSpPr>
        <p:sp>
          <p:nvSpPr>
            <p:cNvPr id="9" name="Rectangle 9"/>
            <p:cNvSpPr/>
            <p:nvPr/>
          </p:nvSpPr>
          <p:spPr>
            <a:xfrm>
              <a:off x="1143000" y="2381250"/>
              <a:ext cx="666750" cy="523875"/>
            </a:xfrm>
            <a:prstGeom prst="rect">
              <a:avLst/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809750" y="2381250"/>
              <a:ext cx="666750" cy="523875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76500" y="2381250"/>
              <a:ext cx="666750" cy="523875"/>
            </a:xfrm>
            <a:prstGeom prst="rect">
              <a:avLst/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905125"/>
              <a:ext cx="666750" cy="523875"/>
            </a:xfrm>
            <a:prstGeom prst="rect">
              <a:avLst/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809750" y="2905125"/>
              <a:ext cx="666750" cy="523875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76500" y="2905125"/>
              <a:ext cx="666750" cy="523875"/>
            </a:xfrm>
            <a:prstGeom prst="rect">
              <a:avLst/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3000" y="3429000"/>
              <a:ext cx="666750" cy="523875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09750" y="3429000"/>
              <a:ext cx="666750" cy="523875"/>
            </a:xfrm>
            <a:prstGeom prst="rect">
              <a:avLst/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76500" y="3429000"/>
              <a:ext cx="666750" cy="523875"/>
            </a:xfrm>
            <a:prstGeom prst="rect">
              <a:avLst/>
            </a:prstGeom>
            <a:solidFill>
              <a:srgbClr val="FFF0F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43000" y="2381250"/>
              <a:ext cx="2000250" cy="1571625"/>
            </a:xfrm>
            <a:custGeom>
              <a:avLst/>
              <a:gdLst/>
              <a:ahLst/>
              <a:cxnLst/>
              <a:rect l="l" t="t" r="r" b="b"/>
              <a:pathLst>
                <a:path w="2000250" h="1571625">
                  <a:moveTo>
                    <a:pt x="0" y="1571625"/>
                  </a:moveTo>
                  <a:lnTo>
                    <a:pt x="2000250" y="1571625"/>
                  </a:lnTo>
                  <a:moveTo>
                    <a:pt x="0" y="0"/>
                  </a:moveTo>
                  <a:lnTo>
                    <a:pt x="0" y="15716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D7E0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37791" y="41729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影响（低 → 高）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 rot="-5400000">
              <a:off x="288293" y="2630491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概率（低 → 高）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3714750" y="2333625"/>
            <a:ext cx="3714750" cy="1714500"/>
          </a:xfrm>
          <a:custGeom>
            <a:avLst/>
            <a:gdLst/>
            <a:ahLst/>
            <a:cxnLst/>
            <a:rect l="l" t="t" r="r" b="b"/>
            <a:pathLst>
              <a:path w="3714750" h="1714500">
                <a:moveTo>
                  <a:pt x="133350" y="0"/>
                </a:moveTo>
                <a:lnTo>
                  <a:pt x="3581400" y="0"/>
                </a:lnTo>
                <a:cubicBezTo>
                  <a:pt x="3655047" y="0"/>
                  <a:pt x="3714750" y="59703"/>
                  <a:pt x="3714750" y="133350"/>
                </a:cubicBezTo>
                <a:lnTo>
                  <a:pt x="3714750" y="1581150"/>
                </a:lnTo>
                <a:cubicBezTo>
                  <a:pt x="3714750" y="1654797"/>
                  <a:pt x="3655047" y="1714500"/>
                  <a:pt x="35814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993642" y="2521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登记字段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4404" y="291846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风险事项｜原因｜影响｜责任人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94404" y="325183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等级｜预警阈值｜应对措施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94404" y="35852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状态｜证据｜复核日期：待确认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10500" y="3190875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D95C5C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8858250" y="2333625"/>
            <a:ext cx="2381250" cy="1714500"/>
          </a:xfrm>
          <a:custGeom>
            <a:avLst/>
            <a:gdLst/>
            <a:ahLst/>
            <a:cxnLst/>
            <a:rect l="l" t="t" r="r" b="b"/>
            <a:pathLst>
              <a:path w="2381250" h="171450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581150"/>
                </a:lnTo>
                <a:cubicBezTo>
                  <a:pt x="2381250" y="1654797"/>
                  <a:pt x="2321547" y="1714500"/>
                  <a:pt x="2247900" y="1714500"/>
                </a:cubicBezTo>
                <a:lnTo>
                  <a:pt x="133350" y="1714500"/>
                </a:lnTo>
                <a:cubicBezTo>
                  <a:pt x="59703" y="1714500"/>
                  <a:pt x="0" y="1654797"/>
                  <a:pt x="0" y="158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28575">
            <a:solidFill>
              <a:srgbClr val="D95C5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660369" y="2521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升级路径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19691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达到阈值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38919" y="32518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责任人上报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2950" y="3585210"/>
            <a:ext cx="12318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管理层决策/关闭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3148" y="5005864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黄色/红色区域仅为示意分级；不得视为已批准的风险阈值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541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发现—处置—上报—调查—整改—验证，现场与管理层共同承接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8" name="Freeform 8"/>
            <p:cNvSpPr/>
            <p:nvPr/>
          </p:nvSpPr>
          <p:spPr>
            <a:xfrm>
              <a:off x="66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671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65" y="2982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日常检查/事件触发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现场处置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1090" y="2982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先控制人身/环境风险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03 逐级上报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2982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按分级要求报告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67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603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责任调查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6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事实、原因、证据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2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246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05 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措施、责任、记录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525000" y="4286250"/>
              <a:ext cx="1809750" cy="1047750"/>
            </a:xfrm>
            <a:custGeom>
              <a:avLst/>
              <a:gdLst/>
              <a:ahLst/>
              <a:cxnLst/>
              <a:rect l="l" t="t" r="r" b="b"/>
              <a:pathLst>
                <a:path w="1809750" h="104775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895350"/>
                  </a:lnTo>
                  <a:cubicBezTo>
                    <a:pt x="1809750" y="979518"/>
                    <a:pt x="1741518" y="1047750"/>
                    <a:pt x="1657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8788" y="4561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验证关闭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0265" y="4887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效果确认/复发控制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2905125"/>
            <a:ext cx="8143875" cy="1381125"/>
          </a:xfrm>
          <a:custGeom>
            <a:avLst/>
            <a:gdLst/>
            <a:ahLst/>
            <a:cxnLst/>
            <a:rect l="l" t="t" r="r" b="b"/>
            <a:pathLst>
              <a:path w="8143875" h="13811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381500" y="0"/>
                </a:lnTo>
                <a:moveTo>
                  <a:pt x="6000750" y="0"/>
                </a:moveTo>
                <a:lnTo>
                  <a:pt x="6286500" y="0"/>
                </a:lnTo>
                <a:moveTo>
                  <a:pt x="7096125" y="523875"/>
                </a:moveTo>
                <a:lnTo>
                  <a:pt x="7096125" y="1381125"/>
                </a:lnTo>
                <a:lnTo>
                  <a:pt x="8143875" y="1381125"/>
                </a:lnTo>
              </a:path>
            </a:pathLst>
          </a:custGeom>
          <a:noFill/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7048500" y="3429000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2476500" y="1381125"/>
                </a:moveTo>
                <a:lnTo>
                  <a:pt x="762000" y="1381125"/>
                </a:lnTo>
                <a:cubicBezTo>
                  <a:pt x="190500" y="1381125"/>
                  <a:pt x="0" y="6667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29" name="TextBox 29"/>
          <p:cNvSpPr txBox="1"/>
          <p:nvPr/>
        </p:nvSpPr>
        <p:spPr>
          <a:xfrm>
            <a:off x="7328154" y="4966335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未通过/复发：再调查或升级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775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响应级别、通知时限和责任岗位：待确认，以正式应急文件为准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按过程检查证据，再由管理评审形成决策和改进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857250" y="2667000"/>
            <a:ext cx="10572750" cy="1047750"/>
            <a:chOff x="857250" y="2667000"/>
            <a:chExt cx="10572750" cy="1047750"/>
          </a:xfrm>
        </p:grpSpPr>
        <p:sp>
          <p:nvSpPr>
            <p:cNvPr id="8" name="Freeform 8"/>
            <p:cNvSpPr/>
            <p:nvPr/>
          </p:nvSpPr>
          <p:spPr>
            <a:xfrm>
              <a:off x="857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3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制定计划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范围｜过程｜证据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143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9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02 过程检查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9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现场｜记录｜访谈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429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35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03 发现分级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5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事实｜风险｜整改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715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1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管理评审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1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输入｜决策｜资源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001250" y="26670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895350"/>
                  </a:lnTo>
                  <a:cubicBezTo>
                    <a:pt x="1428750" y="979518"/>
                    <a:pt x="1360518" y="1047750"/>
                    <a:pt x="1276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65963" y="294179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跟踪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589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关闭证据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571750" y="319087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571500" y="0"/>
                </a:lnTo>
                <a:moveTo>
                  <a:pt x="2286000" y="0"/>
                </a:moveTo>
                <a:lnTo>
                  <a:pt x="2857500" y="0"/>
                </a:lnTo>
                <a:moveTo>
                  <a:pt x="4572000" y="0"/>
                </a:moveTo>
                <a:lnTo>
                  <a:pt x="5143500" y="0"/>
                </a:lnTo>
                <a:moveTo>
                  <a:pt x="6858000" y="0"/>
                </a:moveTo>
                <a:lnTo>
                  <a:pt x="74295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5" name="Freeform 25"/>
          <p:cNvSpPr/>
          <p:nvPr/>
        </p:nvSpPr>
        <p:spPr>
          <a:xfrm>
            <a:off x="1714500" y="3714750"/>
            <a:ext cx="9001125" cy="1238250"/>
          </a:xfrm>
          <a:custGeom>
            <a:avLst/>
            <a:gdLst/>
            <a:ahLst/>
            <a:cxnLst/>
            <a:rect l="l" t="t" r="r" b="b"/>
            <a:pathLst>
              <a:path w="9001125" h="1238250">
                <a:moveTo>
                  <a:pt x="9001125" y="0"/>
                </a:moveTo>
                <a:cubicBezTo>
                  <a:pt x="9001125" y="1047750"/>
                  <a:pt x="666750" y="123825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6" name="TextBox 26"/>
          <p:cNvSpPr txBox="1"/>
          <p:nvPr/>
        </p:nvSpPr>
        <p:spPr>
          <a:xfrm>
            <a:off x="4375023" y="4815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跟踪结果进入下一轮检查与评审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55854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管理评审输入、输出和频次：待确认，以正式机制为准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953750" cy="1095375"/>
            <a:chOff x="666750" y="2571750"/>
            <a:chExt cx="10953750" cy="1095375"/>
          </a:xfrm>
        </p:grpSpPr>
        <p:sp>
          <p:nvSpPr>
            <p:cNvPr id="8" name="Freeform 8"/>
            <p:cNvSpPr/>
            <p:nvPr/>
          </p:nvSpPr>
          <p:spPr>
            <a:xfrm>
              <a:off x="66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事实｜证据｜来源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分级升级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风险｜责任｜期限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31918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根因｜复发控制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8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制定措施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28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6988" y="3191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证据｜有效性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191750" y="2571750"/>
              <a:ext cx="1428750" cy="1095375"/>
            </a:xfrm>
            <a:custGeom>
              <a:avLst/>
              <a:gdLst/>
              <a:ahLst/>
              <a:cxnLst/>
              <a:rect l="l" t="t" r="r" b="b"/>
              <a:pathLst>
                <a:path w="1428750" h="1095375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942975"/>
                  </a:lnTo>
                  <a:cubicBezTo>
                    <a:pt x="1428750" y="1027143"/>
                    <a:pt x="1360518" y="1095375"/>
                    <a:pt x="12763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56463" y="28465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47414" y="3191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批准｜留痕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3114675"/>
            <a:ext cx="7905750" cy="9525"/>
          </a:xfrm>
          <a:custGeom>
            <a:avLst/>
            <a:gdLst/>
            <a:ahLst/>
            <a:cxnLst/>
            <a:rect l="l" t="t" r="r" b="b"/>
            <a:pathLst>
              <a:path w="7905750" h="95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095750" y="0"/>
                </a:lnTo>
                <a:moveTo>
                  <a:pt x="5715000" y="0"/>
                </a:moveTo>
                <a:lnTo>
                  <a:pt x="6000750" y="0"/>
                </a:lnTo>
                <a:moveTo>
                  <a:pt x="7620000" y="0"/>
                </a:moveTo>
                <a:lnTo>
                  <a:pt x="7905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3381375" y="3667125"/>
            <a:ext cx="6810375" cy="1524000"/>
          </a:xfrm>
          <a:custGeom>
            <a:avLst/>
            <a:gdLst/>
            <a:ahLst/>
            <a:cxnLst/>
            <a:rect l="l" t="t" r="r" b="b"/>
            <a:pathLst>
              <a:path w="6810375" h="1524000">
                <a:moveTo>
                  <a:pt x="6810375" y="0"/>
                </a:moveTo>
                <a:cubicBezTo>
                  <a:pt x="6429375" y="1190625"/>
                  <a:pt x="1381125" y="15240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946523" y="4815364"/>
            <a:ext cx="32912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验证失败/逾期/复发：再升级，不直接关闭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责任岗位、整改期限和关闭权限：待确认，以正式授权文件为准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制度要求必须经过责任承接、流程执行和记录复核，形成可追溯链条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620375" cy="1000125"/>
            <a:chOff x="666750" y="2571750"/>
            <a:chExt cx="10620375" cy="1000125"/>
          </a:xfrm>
        </p:grpSpPr>
        <p:sp>
          <p:nvSpPr>
            <p:cNvPr id="8" name="Freeform 8"/>
            <p:cNvSpPr/>
            <p:nvPr/>
          </p:nvSpPr>
          <p:spPr>
            <a:xfrm>
              <a:off x="666750" y="2571750"/>
              <a:ext cx="1571625" cy="1000125"/>
            </a:xfrm>
            <a:custGeom>
              <a:avLst/>
              <a:gdLst/>
              <a:ahLst/>
              <a:cxnLst/>
              <a:rect l="l" t="t" r="r" b="b"/>
              <a:pathLst>
                <a:path w="1571625" h="1000125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847725"/>
                  </a:lnTo>
                  <a:cubicBezTo>
                    <a:pt x="1571625" y="931893"/>
                    <a:pt x="1503393" y="1000125"/>
                    <a:pt x="1419225" y="1000125"/>
                  </a:cubicBezTo>
                  <a:lnTo>
                    <a:pt x="152400" y="1000125"/>
                  </a:lnTo>
                  <a:cubicBezTo>
                    <a:pt x="68232" y="1000125"/>
                    <a:pt x="0" y="931893"/>
                    <a:pt x="0" y="847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8138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要求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9541" y="3153728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原则/制度条款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428875" y="2571750"/>
              <a:ext cx="1571625" cy="1000125"/>
            </a:xfrm>
            <a:custGeom>
              <a:avLst/>
              <a:gdLst/>
              <a:ahLst/>
              <a:cxnLst/>
              <a:rect l="l" t="t" r="r" b="b"/>
              <a:pathLst>
                <a:path w="1571625" h="1000125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847725"/>
                  </a:lnTo>
                  <a:cubicBezTo>
                    <a:pt x="1571625" y="931893"/>
                    <a:pt x="1503393" y="1000125"/>
                    <a:pt x="1419225" y="1000125"/>
                  </a:cubicBezTo>
                  <a:lnTo>
                    <a:pt x="152400" y="1000125"/>
                  </a:lnTo>
                  <a:cubicBezTo>
                    <a:pt x="68232" y="1000125"/>
                    <a:pt x="0" y="931893"/>
                    <a:pt x="0" y="847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60263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02 责任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2795" y="3153728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岗位/接口/权限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191000" y="2571750"/>
              <a:ext cx="1571625" cy="1000125"/>
            </a:xfrm>
            <a:custGeom>
              <a:avLst/>
              <a:gdLst/>
              <a:ahLst/>
              <a:cxnLst/>
              <a:rect l="l" t="t" r="r" b="b"/>
              <a:pathLst>
                <a:path w="1571625" h="1000125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847725"/>
                  </a:lnTo>
                  <a:cubicBezTo>
                    <a:pt x="1571625" y="931893"/>
                    <a:pt x="1503393" y="1000125"/>
                    <a:pt x="1419225" y="1000125"/>
                  </a:cubicBezTo>
                  <a:lnTo>
                    <a:pt x="152400" y="1000125"/>
                  </a:lnTo>
                  <a:cubicBezTo>
                    <a:pt x="68232" y="1000125"/>
                    <a:pt x="0" y="931893"/>
                    <a:pt x="0" y="847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2388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03 流程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4467" y="315372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步骤/控制点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953125" y="2571750"/>
              <a:ext cx="1571625" cy="1000125"/>
            </a:xfrm>
            <a:custGeom>
              <a:avLst/>
              <a:gdLst/>
              <a:ahLst/>
              <a:cxnLst/>
              <a:rect l="l" t="t" r="r" b="b"/>
              <a:pathLst>
                <a:path w="1571625" h="1000125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847725"/>
                  </a:lnTo>
                  <a:cubicBezTo>
                    <a:pt x="1571625" y="931893"/>
                    <a:pt x="1503393" y="1000125"/>
                    <a:pt x="1419225" y="1000125"/>
                  </a:cubicBezTo>
                  <a:lnTo>
                    <a:pt x="152400" y="1000125"/>
                  </a:lnTo>
                  <a:cubicBezTo>
                    <a:pt x="68232" y="1000125"/>
                    <a:pt x="0" y="931893"/>
                    <a:pt x="0" y="847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4513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表单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56369" y="3153728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输入/输出/记录项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715250" y="2571750"/>
              <a:ext cx="1571625" cy="1000125"/>
            </a:xfrm>
            <a:custGeom>
              <a:avLst/>
              <a:gdLst/>
              <a:ahLst/>
              <a:cxnLst/>
              <a:rect l="l" t="t" r="r" b="b"/>
              <a:pathLst>
                <a:path w="1571625" h="1000125">
                  <a:moveTo>
                    <a:pt x="152400" y="0"/>
                  </a:moveTo>
                  <a:lnTo>
                    <a:pt x="1419225" y="0"/>
                  </a:lnTo>
                  <a:cubicBezTo>
                    <a:pt x="1503393" y="0"/>
                    <a:pt x="1571625" y="68232"/>
                    <a:pt x="1571625" y="152400"/>
                  </a:cubicBezTo>
                  <a:lnTo>
                    <a:pt x="1571625" y="847725"/>
                  </a:lnTo>
                  <a:cubicBezTo>
                    <a:pt x="1571625" y="931893"/>
                    <a:pt x="1503393" y="1000125"/>
                    <a:pt x="1419225" y="1000125"/>
                  </a:cubicBezTo>
                  <a:lnTo>
                    <a:pt x="152400" y="1000125"/>
                  </a:lnTo>
                  <a:cubicBezTo>
                    <a:pt x="68232" y="1000125"/>
                    <a:pt x="0" y="931893"/>
                    <a:pt x="0" y="847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6638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28041" y="3153728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执行证据/留痕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477375" y="2571750"/>
              <a:ext cx="1809750" cy="1000125"/>
            </a:xfrm>
            <a:custGeom>
              <a:avLst/>
              <a:gdLst/>
              <a:ahLst/>
              <a:cxnLst/>
              <a:rect l="l" t="t" r="r" b="b"/>
              <a:pathLst>
                <a:path w="1809750" h="1000125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847725"/>
                  </a:lnTo>
                  <a:cubicBezTo>
                    <a:pt x="1809750" y="931893"/>
                    <a:pt x="1741518" y="1000125"/>
                    <a:pt x="1657350" y="1000125"/>
                  </a:cubicBezTo>
                  <a:lnTo>
                    <a:pt x="152400" y="1000125"/>
                  </a:lnTo>
                  <a:cubicBezTo>
                    <a:pt x="68232" y="1000125"/>
                    <a:pt x="0" y="931893"/>
                    <a:pt x="0" y="84772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A8751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1163" y="2817971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06 复核改进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75120" y="3153728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检查/评审/改进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38375" y="3067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190500" y="0"/>
                </a:lnTo>
                <a:moveTo>
                  <a:pt x="1762125" y="0"/>
                </a:moveTo>
                <a:lnTo>
                  <a:pt x="1952625" y="0"/>
                </a:lnTo>
                <a:moveTo>
                  <a:pt x="3524250" y="0"/>
                </a:moveTo>
                <a:lnTo>
                  <a:pt x="3714750" y="0"/>
                </a:lnTo>
                <a:moveTo>
                  <a:pt x="5286375" y="0"/>
                </a:moveTo>
                <a:lnTo>
                  <a:pt x="5476875" y="0"/>
                </a:lnTo>
                <a:moveTo>
                  <a:pt x="7048500" y="0"/>
                </a:moveTo>
                <a:lnTo>
                  <a:pt x="72390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1447800" y="3571875"/>
            <a:ext cx="8934450" cy="1381125"/>
          </a:xfrm>
          <a:custGeom>
            <a:avLst/>
            <a:gdLst/>
            <a:ahLst/>
            <a:cxnLst/>
            <a:rect l="l" t="t" r="r" b="b"/>
            <a:pathLst>
              <a:path w="8934450" h="1381125">
                <a:moveTo>
                  <a:pt x="8934450" y="0"/>
                </a:moveTo>
                <a:cubicBezTo>
                  <a:pt x="8839200" y="1190625"/>
                  <a:pt x="266700" y="1381125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232148" y="4767739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复核结果反向验证要求是否有效，并进入下一轮改进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具体文件编号、责任岗位和记录保存要求：待确认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2026-10-15T23:25:50Z</dcterms:created>
  <dcterms:modified xsi:type="dcterms:W3CDTF">2026-10-15T23:25:50Z</dcterms:modified>
  <cp:category/>
  <cp:contentStatus/>
</cp:coreProperties>
</file>