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  <Relationship Id="rId12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本页围绕“订单到交付总流程”展开。重点不是介绍概念本身，而是说明鑫犇如何把责任、流程和证据组织起来，让客户能够理解并验证我们的管理方式。下一页将继续把这一方法落到具体治理场景。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本页围绕“采购到付款”展开。重点不是介绍概念本身，而是说明鑫犇如何把责任、流程和证据组织起来，让客户能够理解并验证我们的管理方式。下一页将继续把这一方法落到具体治理场景。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本页围绕“客户资料与信息权限”展开。重点不是介绍概念本身，而是说明鑫犇如何把责任、流程和证据组织起来，让客户能够理解并验证我们的管理方式。下一页将继续把这一方法落到具体治理场景。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本页围绕“风险登记与升级”展开。重点不是介绍概念本身，而是说明鑫犇如何把责任、流程和证据组织起来，让客户能够理解并验证我们的管理方式。下一页将继续把这一方法落到具体治理场景。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本页围绕“管理体系证据链”展开。重点不是介绍概念本身，而是说明鑫犇如何把责任、流程和证据组织起来，让客户能够理解并验证我们的管理方式。下一页将继续把这一方法落到具体治理场景。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6437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13｜订单到交付总流程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五泳道端到端流程：责任主体、交接、决策和异常回路分开表达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870585"/>
            <a:ext cx="430118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阅读方向：左→右；泳道表示责任主体，跨泳道连线表示交接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1430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1430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27735" y="14611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客户</a:t>
            </a:r>
          </a:p>
        </p:txBody>
      </p:sp>
      <p:sp>
        <p:nvSpPr>
          <p:cNvPr id="9" name="Rectangle 9"/>
          <p:cNvSpPr/>
          <p:nvPr/>
        </p:nvSpPr>
        <p:spPr>
          <a:xfrm>
            <a:off x="495300" y="192405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95300" y="192405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EAF7F4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46963" y="22421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营运部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95300" y="27051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95300" y="27051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2ECFF"/>
          </a:solidFill>
          <a:ln w="9525">
            <a:solidFill>
              <a:srgbClr val="D7E0E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21766" y="30232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技术/工程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95300" y="348615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95300" y="348615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846963" y="38042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生产部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95300" y="42672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495300" y="42672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FF2E7"/>
          </a:solidFill>
          <a:ln w="9525">
            <a:solidFill>
              <a:srgbClr val="D7E0EA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21766" y="45853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品质/仓储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857375" y="13049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2087071" y="148399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需求/图纸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238500" y="20859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3503181" y="226504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需求确认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619625" y="28670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7657B8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4884306" y="304609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工程评审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000750" y="36480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230446" y="382714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排产/制造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381875" y="44291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611571" y="460819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检验/入库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763000" y="20859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9027681" y="226504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交付确认</a:t>
            </a:r>
          </a:p>
        </p:txBody>
      </p:sp>
      <p:sp>
        <p:nvSpPr>
          <p:cNvPr id="33" name="Freeform 33"/>
          <p:cNvSpPr/>
          <p:nvPr/>
        </p:nvSpPr>
        <p:spPr>
          <a:xfrm>
            <a:off x="2905125" y="153352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34" name="Freeform 34"/>
          <p:cNvSpPr/>
          <p:nvPr/>
        </p:nvSpPr>
        <p:spPr>
          <a:xfrm>
            <a:off x="4286250" y="231457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5" name="Freeform 35"/>
          <p:cNvSpPr/>
          <p:nvPr/>
        </p:nvSpPr>
        <p:spPr>
          <a:xfrm>
            <a:off x="5667375" y="309562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36" name="Freeform 36"/>
          <p:cNvSpPr/>
          <p:nvPr/>
        </p:nvSpPr>
        <p:spPr>
          <a:xfrm>
            <a:off x="7048500" y="387667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7" name="Freeform 37"/>
          <p:cNvSpPr/>
          <p:nvPr/>
        </p:nvSpPr>
        <p:spPr>
          <a:xfrm>
            <a:off x="8429625" y="2314575"/>
            <a:ext cx="333375" cy="2343150"/>
          </a:xfrm>
          <a:custGeom>
            <a:avLst/>
            <a:gdLst/>
            <a:ahLst/>
            <a:cxnLst/>
            <a:rect l="l" t="t" r="r" b="b"/>
            <a:pathLst>
              <a:path w="333375" h="2343150">
                <a:moveTo>
                  <a:pt x="0" y="2343150"/>
                </a:moveTo>
                <a:cubicBezTo>
                  <a:pt x="190500" y="2343150"/>
                  <a:pt x="142875" y="0"/>
                  <a:pt x="333375" y="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8" name="Polygon 38"/>
          <p:cNvSpPr/>
          <p:nvPr/>
        </p:nvSpPr>
        <p:spPr>
          <a:xfrm>
            <a:off x="9525000" y="363855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333375" y="0"/>
                </a:moveTo>
                <a:lnTo>
                  <a:pt x="666750" y="333375"/>
                </a:lnTo>
                <a:lnTo>
                  <a:pt x="333375" y="666750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9690735" y="38138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是否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646310" y="3947160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放行?</a:t>
            </a:r>
          </a:p>
        </p:txBody>
      </p:sp>
      <p:sp>
        <p:nvSpPr>
          <p:cNvPr id="41" name="Freeform 41"/>
          <p:cNvSpPr/>
          <p:nvPr/>
        </p:nvSpPr>
        <p:spPr>
          <a:xfrm>
            <a:off x="9810750" y="2314575"/>
            <a:ext cx="47625" cy="1323975"/>
          </a:xfrm>
          <a:custGeom>
            <a:avLst/>
            <a:gdLst/>
            <a:ahLst/>
            <a:cxnLst/>
            <a:rect l="l" t="t" r="r" b="b"/>
            <a:pathLst>
              <a:path w="47625" h="1323975">
                <a:moveTo>
                  <a:pt x="0" y="0"/>
                </a:moveTo>
                <a:lnTo>
                  <a:pt x="47625" y="1323975"/>
                </a:ln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42" name="Freeform 42"/>
          <p:cNvSpPr/>
          <p:nvPr/>
        </p:nvSpPr>
        <p:spPr>
          <a:xfrm>
            <a:off x="4000500" y="3876675"/>
            <a:ext cx="5524500" cy="1838325"/>
          </a:xfrm>
          <a:custGeom>
            <a:avLst/>
            <a:gdLst/>
            <a:ahLst/>
            <a:cxnLst/>
            <a:rect l="l" t="t" r="r" b="b"/>
            <a:pathLst>
              <a:path w="5524500" h="1838325">
                <a:moveTo>
                  <a:pt x="5524500" y="95250"/>
                </a:moveTo>
                <a:cubicBezTo>
                  <a:pt x="5048250" y="1409700"/>
                  <a:pt x="4095750" y="1838325"/>
                  <a:pt x="2190750" y="1838325"/>
                </a:cubicBezTo>
                <a:cubicBezTo>
                  <a:pt x="476250" y="1838325"/>
                  <a:pt x="0" y="1076325"/>
                  <a:pt x="95250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43" name="TextBox 43"/>
          <p:cNvSpPr txBox="1"/>
          <p:nvPr/>
        </p:nvSpPr>
        <p:spPr>
          <a:xfrm>
            <a:off x="7232904" y="5737860"/>
            <a:ext cx="39296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异常：隔离/补充资料/升级评审 → 回到工程或制造确认</a:t>
            </a:r>
          </a:p>
        </p:txBody>
      </p:sp>
      <p:sp>
        <p:nvSpPr>
          <p:cNvPr id="44" name="Rectangle 44"/>
          <p:cNvSpPr/>
          <p:nvPr/>
        </p:nvSpPr>
        <p:spPr>
          <a:xfrm>
            <a:off x="10287000" y="1143000"/>
            <a:ext cx="14097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10423779" y="12515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证据节点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423779" y="1489710"/>
            <a:ext cx="1207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订单/图纸版本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423779" y="16992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评审记录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423779" y="190881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检验记录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423779" y="2118360"/>
            <a:ext cx="1207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放行/交付记录</a:t>
            </a:r>
          </a:p>
        </p:txBody>
      </p:sp>
      <p:sp>
        <p:nvSpPr>
          <p:cNvPr id="50" name="Line 5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159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16｜采购到付款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8585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职责分离泳道：申请、下单、收货、对账和付款由不同责任主体承接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44627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同一笔采购至少经过申请、采购、收货、对账/付款的相互核对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38112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38112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42391" y="16706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需求部门</a:t>
            </a:r>
          </a:p>
        </p:txBody>
      </p:sp>
      <p:sp>
        <p:nvSpPr>
          <p:cNvPr id="9" name="Rectangle 9"/>
          <p:cNvSpPr/>
          <p:nvPr/>
        </p:nvSpPr>
        <p:spPr>
          <a:xfrm>
            <a:off x="495300" y="212407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95300" y="212407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EAF7F4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8731" y="2413635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采购 / 营运部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95300" y="286702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95300" y="286702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49503" y="31565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仓储 / 收货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95300" y="360997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95300" y="360997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FFF2E7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68731" y="3899535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财务 / 授权人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095500" y="152400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337816" y="1584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采购申请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57044" y="17468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需求与规格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714750" y="226695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3864178" y="232791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询价 / 下单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95522" y="24898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供应商与价格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334000" y="300990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483428" y="307086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收货 / 入库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495544" y="32327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数量与状态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953250" y="375285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7657B8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102678" y="381381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对账 / 付款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14794" y="39757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授权与留痕</a:t>
            </a:r>
          </a:p>
        </p:txBody>
      </p:sp>
      <p:sp>
        <p:nvSpPr>
          <p:cNvPr id="30" name="Freeform 30"/>
          <p:cNvSpPr/>
          <p:nvPr/>
        </p:nvSpPr>
        <p:spPr>
          <a:xfrm>
            <a:off x="3238500" y="175260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31" name="Freeform 31"/>
          <p:cNvSpPr/>
          <p:nvPr/>
        </p:nvSpPr>
        <p:spPr>
          <a:xfrm>
            <a:off x="4857750" y="249555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2" name="Freeform 32"/>
          <p:cNvSpPr/>
          <p:nvPr/>
        </p:nvSpPr>
        <p:spPr>
          <a:xfrm>
            <a:off x="6477000" y="323850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3" name="Rectangle 33"/>
          <p:cNvSpPr/>
          <p:nvPr/>
        </p:nvSpPr>
        <p:spPr>
          <a:xfrm>
            <a:off x="8477250" y="1381125"/>
            <a:ext cx="32194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709279" y="15373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三类相互核对资料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709279" y="18230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申请 / 订单资料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709279" y="20897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收货 / 入库资料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709279" y="23564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发票 / 付款资料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709279" y="2642235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不得由同一角色独立完成全链路</a:t>
            </a:r>
          </a:p>
        </p:txBody>
      </p:sp>
      <p:sp>
        <p:nvSpPr>
          <p:cNvPr id="39" name="Freeform 39"/>
          <p:cNvSpPr/>
          <p:nvPr/>
        </p:nvSpPr>
        <p:spPr>
          <a:xfrm>
            <a:off x="2857500" y="3238500"/>
            <a:ext cx="5238750" cy="2190750"/>
          </a:xfrm>
          <a:custGeom>
            <a:avLst/>
            <a:gdLst/>
            <a:ahLst/>
            <a:cxnLst/>
            <a:rect l="l" t="t" r="r" b="b"/>
            <a:pathLst>
              <a:path w="5238750" h="2190750">
                <a:moveTo>
                  <a:pt x="5238750" y="742950"/>
                </a:moveTo>
                <a:cubicBezTo>
                  <a:pt x="4953000" y="1714500"/>
                  <a:pt x="2857500" y="2190750"/>
                  <a:pt x="1047750" y="1714500"/>
                </a:cubicBezTo>
                <a:cubicBezTo>
                  <a:pt x="190500" y="1476375"/>
                  <a:pt x="0" y="857250"/>
                  <a:pt x="104775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40" name="TextBox 40"/>
          <p:cNvSpPr txBox="1"/>
          <p:nvPr/>
        </p:nvSpPr>
        <p:spPr>
          <a:xfrm>
            <a:off x="4940960" y="5299710"/>
            <a:ext cx="34530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数量 / 质量 / 价格不一致：暂停付款并退回核对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57250" y="5334000"/>
            <a:ext cx="10287000" cy="514350"/>
          </a:xfrm>
          <a:prstGeom prst="roundRect">
            <a:avLst>
              <a:gd name="adj" fmla="val 11111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3006090" y="5442585"/>
            <a:ext cx="59893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具体金额、审批层级、例外授权：待正式授权文件确认；本页仅表达职责分离原则。</a:t>
            </a:r>
          </a:p>
        </p:txBody>
      </p:sp>
      <p:sp>
        <p:nvSpPr>
          <p:cNvPr id="43" name="Line 4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24｜客户资料与信息权限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权限矩阵与控制闭环：按需批准、使用留痕、变化即回收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5359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权限矩阵只回答“谁可以做什么”；申请、批准、留痕和回收另列为控制闭环</a:t>
            </a:r>
          </a:p>
        </p:txBody>
      </p:sp>
      <p:sp>
        <p:nvSpPr>
          <p:cNvPr id="6" name="Rectangle 6"/>
          <p:cNvSpPr/>
          <p:nvPr/>
        </p:nvSpPr>
        <p:spPr>
          <a:xfrm>
            <a:off x="5524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80516" y="1775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资料类型</a:t>
            </a:r>
          </a:p>
        </p:txBody>
      </p:sp>
      <p:sp>
        <p:nvSpPr>
          <p:cNvPr id="8" name="Rectangle 8"/>
          <p:cNvSpPr/>
          <p:nvPr/>
        </p:nvSpPr>
        <p:spPr>
          <a:xfrm>
            <a:off x="22669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2750591" y="177546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业务/营运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9814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465091" y="177546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技术/品质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6959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304788" y="177546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管理层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410450" y="1619250"/>
            <a:ext cx="2286000" cy="457200"/>
          </a:xfrm>
          <a:prstGeom prst="rect">
            <a:avLst/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224266" y="1775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控制动作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52450" y="207645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87628" y="22802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报价 / 订单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266950" y="20764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956560" y="22802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981450" y="2076450"/>
            <a:ext cx="17145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4590288" y="22802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需审批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695950" y="20764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385560" y="22802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410450" y="207645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973873" y="2280285"/>
            <a:ext cx="1159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申请→批准→留痕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52450" y="262890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87628" y="283273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图纸 / 工艺</a:t>
            </a:r>
          </a:p>
        </p:txBody>
      </p:sp>
      <p:sp>
        <p:nvSpPr>
          <p:cNvPr id="28" name="Rectangle 28"/>
          <p:cNvSpPr/>
          <p:nvPr/>
        </p:nvSpPr>
        <p:spPr>
          <a:xfrm>
            <a:off x="2266950" y="2628900"/>
            <a:ext cx="17145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2875788" y="28327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按项目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981450" y="262890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4671060" y="28327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695950" y="262890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385560" y="28327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410450" y="262890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018297" y="2832735"/>
            <a:ext cx="10703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项目结束→复核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52450" y="318135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87628" y="33851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质量 / 客诉</a:t>
            </a:r>
          </a:p>
        </p:txBody>
      </p:sp>
      <p:sp>
        <p:nvSpPr>
          <p:cNvPr id="38" name="Rectangle 38"/>
          <p:cNvSpPr/>
          <p:nvPr/>
        </p:nvSpPr>
        <p:spPr>
          <a:xfrm>
            <a:off x="2266950" y="31813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2956560" y="33851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0" name="Rectangle 40"/>
          <p:cNvSpPr/>
          <p:nvPr/>
        </p:nvSpPr>
        <p:spPr>
          <a:xfrm>
            <a:off x="3981450" y="31813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4671060" y="33851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695950" y="31813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6385560" y="33851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410450" y="318135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973873" y="3385185"/>
            <a:ext cx="1159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异常→上报→关闭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52450" y="373380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87628" y="393763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经营 / 人事</a:t>
            </a:r>
          </a:p>
        </p:txBody>
      </p:sp>
      <p:sp>
        <p:nvSpPr>
          <p:cNvPr id="48" name="Rectangle 48"/>
          <p:cNvSpPr/>
          <p:nvPr/>
        </p:nvSpPr>
        <p:spPr>
          <a:xfrm>
            <a:off x="2266950" y="3733800"/>
            <a:ext cx="1714500" cy="552450"/>
          </a:xfrm>
          <a:prstGeom prst="rect">
            <a:avLst/>
          </a:prstGeom>
          <a:solidFill>
            <a:srgbClr val="FFF0F0"/>
          </a:solidFill>
          <a:ln w="9525">
            <a:solidFill>
              <a:srgbClr val="D95C5C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2875788" y="39376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不可见</a:t>
            </a:r>
          </a:p>
        </p:txBody>
      </p:sp>
      <p:sp>
        <p:nvSpPr>
          <p:cNvPr id="50" name="Rectangle 50"/>
          <p:cNvSpPr/>
          <p:nvPr/>
        </p:nvSpPr>
        <p:spPr>
          <a:xfrm>
            <a:off x="3981450" y="3733800"/>
            <a:ext cx="1714500" cy="552450"/>
          </a:xfrm>
          <a:prstGeom prst="rect">
            <a:avLst/>
          </a:prstGeom>
          <a:solidFill>
            <a:srgbClr val="FFF0F0"/>
          </a:solidFill>
          <a:ln w="9525">
            <a:solidFill>
              <a:srgbClr val="D95C5C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4590288" y="39376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不可见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695950" y="373380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6385560" y="39376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410450" y="373380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018297" y="3937635"/>
            <a:ext cx="10703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离岗→立即回收</a:t>
            </a:r>
          </a:p>
        </p:txBody>
      </p:sp>
      <p:sp>
        <p:nvSpPr>
          <p:cNvPr id="56" name="Rectangle 56"/>
          <p:cNvSpPr/>
          <p:nvPr/>
        </p:nvSpPr>
        <p:spPr>
          <a:xfrm>
            <a:off x="552450" y="4524375"/>
            <a:ext cx="111442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774954" y="4680585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权限控制闭环：四个动作对应矩阵中的每一次权限变化</a:t>
            </a:r>
          </a:p>
        </p:txBody>
      </p:sp>
      <p:sp>
        <p:nvSpPr>
          <p:cNvPr id="58" name="Rectangle 58"/>
          <p:cNvSpPr/>
          <p:nvPr/>
        </p:nvSpPr>
        <p:spPr>
          <a:xfrm>
            <a:off x="781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1592504" y="5090160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 申请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338072" y="525208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说明业务需要</a:t>
            </a:r>
          </a:p>
        </p:txBody>
      </p:sp>
      <p:sp>
        <p:nvSpPr>
          <p:cNvPr id="61" name="Line 61"/>
          <p:cNvSpPr/>
          <p:nvPr/>
        </p:nvSpPr>
        <p:spPr>
          <a:xfrm>
            <a:off x="2876550" y="5248275"/>
            <a:ext cx="4762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62" name="Rectangle 62"/>
          <p:cNvSpPr/>
          <p:nvPr/>
        </p:nvSpPr>
        <p:spPr>
          <a:xfrm>
            <a:off x="3448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4259504" y="5090160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 批准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005072" y="525208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最小必要权限</a:t>
            </a:r>
          </a:p>
        </p:txBody>
      </p:sp>
      <p:sp>
        <p:nvSpPr>
          <p:cNvPr id="65" name="Line 65"/>
          <p:cNvSpPr/>
          <p:nvPr/>
        </p:nvSpPr>
        <p:spPr>
          <a:xfrm>
            <a:off x="5543550" y="5248275"/>
            <a:ext cx="4762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66" name="Rectangle 66"/>
          <p:cNvSpPr/>
          <p:nvPr/>
        </p:nvSpPr>
        <p:spPr>
          <a:xfrm>
            <a:off x="6115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6764960" y="50901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 使用留痕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752844" y="52520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访问可追溯</a:t>
            </a:r>
          </a:p>
        </p:txBody>
      </p:sp>
      <p:sp>
        <p:nvSpPr>
          <p:cNvPr id="69" name="Line 69"/>
          <p:cNvSpPr/>
          <p:nvPr/>
        </p:nvSpPr>
        <p:spPr>
          <a:xfrm>
            <a:off x="8210550" y="5248275"/>
            <a:ext cx="4762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70" name="Rectangle 70"/>
          <p:cNvSpPr/>
          <p:nvPr/>
        </p:nvSpPr>
        <p:spPr>
          <a:xfrm>
            <a:off x="8782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95C5C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9387535" y="5090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4 复核/回收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935212" y="525208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岗位变化或异常立即处理</a:t>
            </a:r>
          </a:p>
        </p:txBody>
      </p:sp>
      <p:sp>
        <p:nvSpPr>
          <p:cNvPr id="73" name="Line 7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27｜风险登记与升级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风险点先定位，再按编号直接映射到触发等级和责任层级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9704" y="11087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风险热力图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9704" y="1318260"/>
            <a:ext cx="183763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横轴：可能性 纵轴：影响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3352800"/>
            <a:ext cx="514350" cy="514350"/>
          </a:xfrm>
          <a:prstGeom prst="rect">
            <a:avLst/>
          </a:prstGeom>
          <a:solidFill>
            <a:srgbClr val="EAF7F4"/>
          </a:solidFill>
          <a:ln w="9525">
            <a:solidFill>
              <a:srgbClr val="FFFFFF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1390650" y="3352800"/>
            <a:ext cx="514350" cy="514350"/>
          </a:xfrm>
          <a:prstGeom prst="rect">
            <a:avLst/>
          </a:prstGeom>
          <a:solidFill>
            <a:srgbClr val="FFF7DF"/>
          </a:solidFill>
          <a:ln w="9525">
            <a:solidFill>
              <a:srgbClr val="FFFF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1905000" y="335280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2419350" y="33528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876300" y="2838450"/>
            <a:ext cx="514350" cy="514350"/>
          </a:xfrm>
          <a:prstGeom prst="rect">
            <a:avLst/>
          </a:prstGeom>
          <a:solidFill>
            <a:srgbClr val="FFF7DF"/>
          </a:solidFill>
          <a:ln w="9525">
            <a:solidFill>
              <a:srgbClr val="FFFFFF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1390650" y="283845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1905000" y="28384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419350" y="28384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876300" y="232410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139065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190500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241935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87630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139065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190500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241935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587932" y="39662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可能性 →</a:t>
            </a:r>
          </a:p>
        </p:txBody>
      </p:sp>
      <p:sp>
        <p:nvSpPr>
          <p:cNvPr id="24" name="TextBox 24"/>
          <p:cNvSpPr txBox="1"/>
          <p:nvPr/>
        </p:nvSpPr>
        <p:spPr>
          <a:xfrm rot="-5400000">
            <a:off x="180137" y="2740152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影响 ↑</a:t>
            </a:r>
          </a:p>
        </p:txBody>
      </p:sp>
      <p:sp>
        <p:nvSpPr>
          <p:cNvPr id="25" name="Ellipse 25"/>
          <p:cNvSpPr/>
          <p:nvPr/>
        </p:nvSpPr>
        <p:spPr>
          <a:xfrm>
            <a:off x="1485900" y="2933700"/>
            <a:ext cx="323850" cy="323850"/>
          </a:xfrm>
          <a:prstGeom prst="ellipse">
            <a:avLst/>
          </a:prstGeom>
          <a:solidFill>
            <a:srgbClr val="A87519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453972" y="300418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R-01</a:t>
            </a:r>
          </a:p>
        </p:txBody>
      </p:sp>
      <p:sp>
        <p:nvSpPr>
          <p:cNvPr id="27" name="Ellipse 27"/>
          <p:cNvSpPr/>
          <p:nvPr/>
        </p:nvSpPr>
        <p:spPr>
          <a:xfrm>
            <a:off x="2000250" y="2419350"/>
            <a:ext cx="323850" cy="323850"/>
          </a:xfrm>
          <a:prstGeom prst="ellipse">
            <a:avLst/>
          </a:prstGeom>
          <a:solidFill>
            <a:srgbClr val="C56A25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968322" y="248983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R-02</a:t>
            </a:r>
          </a:p>
        </p:txBody>
      </p:sp>
      <p:sp>
        <p:nvSpPr>
          <p:cNvPr id="29" name="Ellipse 29"/>
          <p:cNvSpPr/>
          <p:nvPr/>
        </p:nvSpPr>
        <p:spPr>
          <a:xfrm>
            <a:off x="2514600" y="1905000"/>
            <a:ext cx="323850" cy="323850"/>
          </a:xfrm>
          <a:prstGeom prst="ellipse">
            <a:avLst/>
          </a:prstGeom>
          <a:solidFill>
            <a:srgbClr val="D95C5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2482672" y="197548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R-03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42950" y="4333875"/>
            <a:ext cx="23622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89254" y="442341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颜色仅表示风险等级分区；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89254" y="46139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正式阈值、时限和岗位待确认。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89254" y="480441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编号用于右侧责任映射。</a:t>
            </a:r>
          </a:p>
        </p:txBody>
      </p:sp>
      <p:sp>
        <p:nvSpPr>
          <p:cNvPr id="35" name="Rectangle 35"/>
          <p:cNvSpPr/>
          <p:nvPr/>
        </p:nvSpPr>
        <p:spPr>
          <a:xfrm>
            <a:off x="3524250" y="1143000"/>
            <a:ext cx="8096250" cy="45720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3803904" y="1375410"/>
            <a:ext cx="23222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风险编号 → 触发等级 → 责任层级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803904" y="16230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不使用长曲线推断；每个风险编号直接落到一条责任路径。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810000" y="2143125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A8751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057612" y="2345531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R-01</a:t>
            </a:r>
          </a:p>
        </p:txBody>
      </p:sp>
      <p:sp>
        <p:nvSpPr>
          <p:cNvPr id="40" name="Line 40"/>
          <p:cNvSpPr/>
          <p:nvPr/>
        </p:nvSpPr>
        <p:spPr>
          <a:xfrm>
            <a:off x="4762500" y="2400300"/>
            <a:ext cx="333375" cy="1"/>
          </a:xfrm>
          <a:prstGeom prst="line">
            <a:avLst/>
          </a:prstGeom>
          <a:noFill/>
          <a:ln w="28575">
            <a:solidFill>
              <a:srgbClr val="A87519"/>
            </a:solidFill>
            <a:tailEnd type="triangle" w="lg" len="lg"/>
          </a:ln>
        </p:spPr>
      </p:sp>
      <p:sp>
        <p:nvSpPr>
          <p:cNvPr id="41" name="Rectangle 41"/>
          <p:cNvSpPr/>
          <p:nvPr/>
        </p:nvSpPr>
        <p:spPr>
          <a:xfrm>
            <a:off x="5191125" y="2143125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A87519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5502935" y="2337435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低/中</a:t>
            </a:r>
          </a:p>
        </p:txBody>
      </p:sp>
      <p:sp>
        <p:nvSpPr>
          <p:cNvPr id="43" name="Line 43"/>
          <p:cNvSpPr/>
          <p:nvPr/>
        </p:nvSpPr>
        <p:spPr>
          <a:xfrm>
            <a:off x="6315075" y="2400300"/>
            <a:ext cx="333375" cy="1"/>
          </a:xfrm>
          <a:prstGeom prst="line">
            <a:avLst/>
          </a:prstGeom>
          <a:noFill/>
          <a:ln w="28575">
            <a:solidFill>
              <a:srgbClr val="A87519"/>
            </a:solidFill>
            <a:tailEnd type="triangle" w="lg" len="lg"/>
          </a:ln>
        </p:spPr>
      </p:sp>
      <p:sp>
        <p:nvSpPr>
          <p:cNvPr id="44" name="Rectangle 44"/>
          <p:cNvSpPr/>
          <p:nvPr/>
        </p:nvSpPr>
        <p:spPr>
          <a:xfrm>
            <a:off x="6743700" y="2143125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A87519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253097" y="23374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业务线自处置</a:t>
            </a:r>
          </a:p>
        </p:txBody>
      </p:sp>
      <p:sp>
        <p:nvSpPr>
          <p:cNvPr id="46" name="Rectangle 46"/>
          <p:cNvSpPr/>
          <p:nvPr/>
        </p:nvSpPr>
        <p:spPr>
          <a:xfrm>
            <a:off x="8953500" y="2143125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061704" y="223266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登记、设责任人、按期验证</a:t>
            </a:r>
          </a:p>
        </p:txBody>
      </p:sp>
      <p:sp>
        <p:nvSpPr>
          <p:cNvPr id="48" name="Rectangle 48"/>
          <p:cNvSpPr/>
          <p:nvPr/>
        </p:nvSpPr>
        <p:spPr>
          <a:xfrm>
            <a:off x="3810000" y="3048000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C56A25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4057612" y="3250406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R-02</a:t>
            </a:r>
          </a:p>
        </p:txBody>
      </p:sp>
      <p:sp>
        <p:nvSpPr>
          <p:cNvPr id="50" name="Line 50"/>
          <p:cNvSpPr/>
          <p:nvPr/>
        </p:nvSpPr>
        <p:spPr>
          <a:xfrm>
            <a:off x="4762500" y="3305175"/>
            <a:ext cx="3333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51" name="Rectangle 51"/>
          <p:cNvSpPr/>
          <p:nvPr/>
        </p:nvSpPr>
        <p:spPr>
          <a:xfrm>
            <a:off x="5191125" y="3048000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C56A25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5502935" y="3242310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中/高</a:t>
            </a:r>
          </a:p>
        </p:txBody>
      </p:sp>
      <p:sp>
        <p:nvSpPr>
          <p:cNvPr id="53" name="Line 53"/>
          <p:cNvSpPr/>
          <p:nvPr/>
        </p:nvSpPr>
        <p:spPr>
          <a:xfrm>
            <a:off x="6315075" y="3305175"/>
            <a:ext cx="3333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54" name="Rectangle 54"/>
          <p:cNvSpPr/>
          <p:nvPr/>
        </p:nvSpPr>
        <p:spPr>
          <a:xfrm>
            <a:off x="6743700" y="3048000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253097" y="32423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职能部门复核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953500" y="3048000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061704" y="3137535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评估影响、设期限、必要时升级</a:t>
            </a:r>
          </a:p>
        </p:txBody>
      </p:sp>
      <p:sp>
        <p:nvSpPr>
          <p:cNvPr id="58" name="Rectangle 58"/>
          <p:cNvSpPr/>
          <p:nvPr/>
        </p:nvSpPr>
        <p:spPr>
          <a:xfrm>
            <a:off x="3810000" y="3952875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D95C5C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057612" y="4155281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R-03</a:t>
            </a:r>
          </a:p>
        </p:txBody>
      </p:sp>
      <p:sp>
        <p:nvSpPr>
          <p:cNvPr id="60" name="Line 60"/>
          <p:cNvSpPr/>
          <p:nvPr/>
        </p:nvSpPr>
        <p:spPr>
          <a:xfrm>
            <a:off x="4762500" y="4210050"/>
            <a:ext cx="33337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61" name="Rectangle 61"/>
          <p:cNvSpPr/>
          <p:nvPr/>
        </p:nvSpPr>
        <p:spPr>
          <a:xfrm>
            <a:off x="5191125" y="3952875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D95C5C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5628132" y="4147185"/>
            <a:ext cx="1737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高</a:t>
            </a:r>
          </a:p>
        </p:txBody>
      </p:sp>
      <p:sp>
        <p:nvSpPr>
          <p:cNvPr id="63" name="Line 63"/>
          <p:cNvSpPr/>
          <p:nvPr/>
        </p:nvSpPr>
        <p:spPr>
          <a:xfrm>
            <a:off x="6315075" y="4210050"/>
            <a:ext cx="33337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64" name="Rectangle 64"/>
          <p:cNvSpPr/>
          <p:nvPr/>
        </p:nvSpPr>
        <p:spPr>
          <a:xfrm>
            <a:off x="6743700" y="3952875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D95C5C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7333869" y="41471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管理层介入</a:t>
            </a:r>
          </a:p>
        </p:txBody>
      </p:sp>
      <p:sp>
        <p:nvSpPr>
          <p:cNvPr id="66" name="Rectangle 66"/>
          <p:cNvSpPr/>
          <p:nvPr/>
        </p:nvSpPr>
        <p:spPr>
          <a:xfrm>
            <a:off x="8953500" y="3952875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9061704" y="40424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决策资源、确认措施、监督关闭</a:t>
            </a:r>
          </a:p>
        </p:txBody>
      </p:sp>
      <p:sp>
        <p:nvSpPr>
          <p:cNvPr id="68" name="Freeform 68"/>
          <p:cNvSpPr/>
          <p:nvPr/>
        </p:nvSpPr>
        <p:spPr>
          <a:xfrm>
            <a:off x="5191125" y="4857750"/>
            <a:ext cx="3552825" cy="571500"/>
          </a:xfrm>
          <a:custGeom>
            <a:avLst/>
            <a:gdLst/>
            <a:ahLst/>
            <a:cxnLst/>
            <a:rect l="l" t="t" r="r" b="b"/>
            <a:pathLst>
              <a:path w="3552825" h="571500">
                <a:moveTo>
                  <a:pt x="3552825" y="0"/>
                </a:moveTo>
                <a:cubicBezTo>
                  <a:pt x="2905125" y="571500"/>
                  <a:pt x="714375" y="57150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69" name="TextBox 69"/>
          <p:cNvSpPr txBox="1"/>
          <p:nvPr/>
        </p:nvSpPr>
        <p:spPr>
          <a:xfrm>
            <a:off x="5528310" y="5490210"/>
            <a:ext cx="43738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验证失败：返回对应编号重新登记；验证通过：形成关闭证据</a:t>
            </a:r>
          </a:p>
        </p:txBody>
      </p:sp>
      <p:sp>
        <p:nvSpPr>
          <p:cNvPr id="70" name="Line 7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33｜管理体系证据链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从要求到执行、检查、整改和改进，形成可追溯的治理证据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证据链不是信息罗列，而是从要求到复盘的可追溯关系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566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制度要求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22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制度/标准</a:t>
            </a:r>
          </a:p>
        </p:txBody>
      </p:sp>
      <p:sp>
        <p:nvSpPr>
          <p:cNvPr id="9" name="Line 9"/>
          <p:cNvSpPr/>
          <p:nvPr/>
        </p:nvSpPr>
        <p:spPr>
          <a:xfrm>
            <a:off x="2000250" y="2895600"/>
            <a:ext cx="1333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1717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5568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责任活动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124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岗位/部门</a:t>
            </a:r>
          </a:p>
        </p:txBody>
      </p:sp>
      <p:sp>
        <p:nvSpPr>
          <p:cNvPr id="13" name="Line 13"/>
          <p:cNvSpPr/>
          <p:nvPr/>
        </p:nvSpPr>
        <p:spPr>
          <a:xfrm>
            <a:off x="3600450" y="2895600"/>
            <a:ext cx="133350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37719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1570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执行记录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126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表单/台账</a:t>
            </a:r>
          </a:p>
        </p:txBody>
      </p:sp>
      <p:sp>
        <p:nvSpPr>
          <p:cNvPr id="17" name="Line 17"/>
          <p:cNvSpPr/>
          <p:nvPr/>
        </p:nvSpPr>
        <p:spPr>
          <a:xfrm>
            <a:off x="5200650" y="2895600"/>
            <a:ext cx="1333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53721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7572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检查结果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128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测量/审核</a:t>
            </a:r>
          </a:p>
        </p:txBody>
      </p:sp>
      <p:sp>
        <p:nvSpPr>
          <p:cNvPr id="21" name="Line 21"/>
          <p:cNvSpPr/>
          <p:nvPr/>
        </p:nvSpPr>
        <p:spPr>
          <a:xfrm>
            <a:off x="6800850" y="2895600"/>
            <a:ext cx="133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69723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D95C5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3574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整改证据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130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问题/措施</a:t>
            </a:r>
          </a:p>
        </p:txBody>
      </p:sp>
      <p:sp>
        <p:nvSpPr>
          <p:cNvPr id="25" name="Line 25"/>
          <p:cNvSpPr/>
          <p:nvPr/>
        </p:nvSpPr>
        <p:spPr>
          <a:xfrm>
            <a:off x="8401050" y="2895600"/>
            <a:ext cx="133350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85725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9576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评审结论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9132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会议/决定</a:t>
            </a:r>
          </a:p>
        </p:txBody>
      </p:sp>
      <p:sp>
        <p:nvSpPr>
          <p:cNvPr id="29" name="Line 29"/>
          <p:cNvSpPr/>
          <p:nvPr/>
        </p:nvSpPr>
        <p:spPr>
          <a:xfrm>
            <a:off x="10001250" y="2895600"/>
            <a:ext cx="133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0" name="Rectangle 30"/>
          <p:cNvSpPr/>
          <p:nvPr/>
        </p:nvSpPr>
        <p:spPr>
          <a:xfrm>
            <a:off x="101727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05578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改进证据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5134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验证/更新</a:t>
            </a:r>
          </a:p>
        </p:txBody>
      </p:sp>
      <p:sp>
        <p:nvSpPr>
          <p:cNvPr id="33" name="Line 33"/>
          <p:cNvSpPr/>
          <p:nvPr/>
        </p:nvSpPr>
        <p:spPr>
          <a:xfrm>
            <a:off x="12858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7429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143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证据：制度条款</a:t>
            </a:r>
          </a:p>
        </p:txBody>
      </p:sp>
      <p:sp>
        <p:nvSpPr>
          <p:cNvPr id="36" name="Line 36"/>
          <p:cNvSpPr/>
          <p:nvPr/>
        </p:nvSpPr>
        <p:spPr>
          <a:xfrm>
            <a:off x="28860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23431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23145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证据：责任记录</a:t>
            </a:r>
          </a:p>
        </p:txBody>
      </p:sp>
      <p:sp>
        <p:nvSpPr>
          <p:cNvPr id="39" name="Line 39"/>
          <p:cNvSpPr/>
          <p:nvPr/>
        </p:nvSpPr>
        <p:spPr>
          <a:xfrm>
            <a:off x="44862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39433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9147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证据：执行台账</a:t>
            </a:r>
          </a:p>
        </p:txBody>
      </p:sp>
      <p:sp>
        <p:nvSpPr>
          <p:cNvPr id="42" name="Line 42"/>
          <p:cNvSpPr/>
          <p:nvPr/>
        </p:nvSpPr>
        <p:spPr>
          <a:xfrm>
            <a:off x="60864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55435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55149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证据：检查报告</a:t>
            </a:r>
          </a:p>
        </p:txBody>
      </p:sp>
      <p:sp>
        <p:nvSpPr>
          <p:cNvPr id="45" name="Line 45"/>
          <p:cNvSpPr/>
          <p:nvPr/>
        </p:nvSpPr>
        <p:spPr>
          <a:xfrm>
            <a:off x="76866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71437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71151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证据：整改闭环</a:t>
            </a:r>
          </a:p>
        </p:txBody>
      </p:sp>
      <p:sp>
        <p:nvSpPr>
          <p:cNvPr id="48" name="Line 48"/>
          <p:cNvSpPr/>
          <p:nvPr/>
        </p:nvSpPr>
        <p:spPr>
          <a:xfrm>
            <a:off x="92868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87439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87153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证据：会议纪要</a:t>
            </a:r>
          </a:p>
        </p:txBody>
      </p:sp>
      <p:sp>
        <p:nvSpPr>
          <p:cNvPr id="51" name="Line 51"/>
          <p:cNvSpPr/>
          <p:nvPr/>
        </p:nvSpPr>
        <p:spPr>
          <a:xfrm>
            <a:off x="108870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103441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03155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证据：版本更新</a:t>
            </a:r>
          </a:p>
        </p:txBody>
      </p:sp>
      <p:sp>
        <p:nvSpPr>
          <p:cNvPr id="54" name="Freeform 54"/>
          <p:cNvSpPr/>
          <p:nvPr/>
        </p:nvSpPr>
        <p:spPr>
          <a:xfrm>
            <a:off x="1285875" y="4095750"/>
            <a:ext cx="9286875" cy="1000125"/>
          </a:xfrm>
          <a:custGeom>
            <a:avLst/>
            <a:gdLst/>
            <a:ahLst/>
            <a:cxnLst/>
            <a:rect l="l" t="t" r="r" b="b"/>
            <a:pathLst>
              <a:path w="9286875" h="1000125">
                <a:moveTo>
                  <a:pt x="0" y="0"/>
                </a:moveTo>
                <a:cubicBezTo>
                  <a:pt x="0" y="1000125"/>
                  <a:pt x="9286875" y="1000125"/>
                  <a:pt x="9286875" y="0"/>
                </a:cubicBezTo>
              </a:path>
            </a:pathLst>
          </a:custGeom>
          <a:noFill/>
          <a:ln w="28575">
            <a:solidFill>
              <a:srgbClr val="1C9C8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55" name="TextBox 55"/>
          <p:cNvSpPr txBox="1"/>
          <p:nvPr/>
        </p:nvSpPr>
        <p:spPr>
          <a:xfrm>
            <a:off x="3799332" y="525208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复盘反馈：改进结果反向更新制度、责任、表单或检查方式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5725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9525">
            <a:solidFill>
              <a:srgbClr val="B7C9FF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3975354" y="1584960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每一段都应能回答：谁负责？留下什么记录？由谁验证？</a:t>
            </a:r>
          </a:p>
        </p:txBody>
      </p:sp>
      <p:sp>
        <p:nvSpPr>
          <p:cNvPr id="58" name="Rectangle 58"/>
          <p:cNvSpPr/>
          <p:nvPr/>
        </p:nvSpPr>
        <p:spPr>
          <a:xfrm>
            <a:off x="857250" y="5619750"/>
            <a:ext cx="10287000" cy="400050"/>
          </a:xfrm>
          <a:prstGeom prst="roundRect">
            <a:avLst>
              <a:gd name="adj" fmla="val 14286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652266" y="57378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待确认：正式表单编号、记录保存期限、评审频次和证据归档位置</a:t>
            </a:r>
          </a:p>
        </p:txBody>
      </p:sp>
      <p:sp>
        <p:nvSpPr>
          <p:cNvPr id="60" name="Line 6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2026-10-16T02:01:18Z</dcterms:created>
  <dcterms:modified xsi:type="dcterms:W3CDTF">2026-10-16T02:01:18Z</dcterms:modified>
  <cp:category/>
  <cp:contentStatus/>
</cp:coreProperties>
</file>