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f2cea7521e72097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bde6058845307ff.jp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34480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0864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249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Freeform 24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Freeform 11"/>
            <p:cNvSpPr/>
            <p:nvPr/>
          </p:nvSpPr>
          <p:spPr>
            <a:xfrm>
              <a:off x="2286000" y="19526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Freeform 15"/>
            <p:cNvSpPr/>
            <p:nvPr/>
          </p:nvSpPr>
          <p:spPr>
            <a:xfrm>
              <a:off x="2286000" y="319087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Freeform 19"/>
            <p:cNvSpPr/>
            <p:nvPr/>
          </p:nvSpPr>
          <p:spPr>
            <a:xfrm>
              <a:off x="2286000" y="44291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从治理原则到执行记录，层级不同、控制对象不同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49768"/>
            <a:ext cx="34485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控制关系：上层定义边界，下层承接执行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0" y="238125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10" name="Freeform 10"/>
          <p:cNvSpPr/>
          <p:nvPr/>
        </p:nvSpPr>
        <p:spPr>
          <a:xfrm>
            <a:off x="1524000" y="2381250"/>
            <a:ext cx="9144000" cy="666750"/>
          </a:xfrm>
          <a:custGeom>
            <a:avLst/>
            <a:gdLst/>
            <a:ahLst/>
            <a:cxnLst/>
            <a:rect l="l" t="t" r="r" b="b"/>
            <a:pathLst>
              <a:path w="9144000" h="666750">
                <a:moveTo>
                  <a:pt x="133350" y="0"/>
                </a:moveTo>
                <a:lnTo>
                  <a:pt x="9010650" y="0"/>
                </a:lnTo>
                <a:cubicBezTo>
                  <a:pt x="9084297" y="0"/>
                  <a:pt x="9144000" y="59703"/>
                  <a:pt x="9144000" y="133350"/>
                </a:cubicBezTo>
                <a:lnTo>
                  <a:pt x="9144000" y="533400"/>
                </a:lnTo>
                <a:cubicBezTo>
                  <a:pt x="9144000" y="607047"/>
                  <a:pt x="9084297" y="666750"/>
                  <a:pt x="9010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991868" y="26222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5642" y="2654618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战略｜权责｜授权｜风险边界</a:t>
            </a:r>
          </a:p>
        </p:txBody>
      </p:sp>
      <p:sp>
        <p:nvSpPr>
          <p:cNvPr id="13" name="Freeform 13"/>
          <p:cNvSpPr/>
          <p:nvPr/>
        </p:nvSpPr>
        <p:spPr>
          <a:xfrm>
            <a:off x="2095500" y="3286125"/>
            <a:ext cx="8001000" cy="666750"/>
          </a:xfrm>
          <a:custGeom>
            <a:avLst/>
            <a:gdLst/>
            <a:ahLst/>
            <a:cxnLst/>
            <a:rect l="l" t="t" r="r" b="b"/>
            <a:pathLst>
              <a:path w="8001000" h="666750">
                <a:moveTo>
                  <a:pt x="133350" y="0"/>
                </a:moveTo>
                <a:lnTo>
                  <a:pt x="7867650" y="0"/>
                </a:lnTo>
                <a:cubicBezTo>
                  <a:pt x="7941297" y="0"/>
                  <a:pt x="8001000" y="59703"/>
                  <a:pt x="8001000" y="133350"/>
                </a:cubicBezTo>
                <a:lnTo>
                  <a:pt x="8001000" y="533400"/>
                </a:lnTo>
                <a:cubicBezTo>
                  <a:pt x="8001000" y="607047"/>
                  <a:pt x="7941297" y="666750"/>
                  <a:pt x="7867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563368" y="35271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36642" y="3559492"/>
            <a:ext cx="41936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人事｜合同｜采购｜生产｜品质｜财务｜安全｜信息</a:t>
            </a:r>
          </a:p>
        </p:txBody>
      </p:sp>
      <p:sp>
        <p:nvSpPr>
          <p:cNvPr id="16" name="Freeform 16"/>
          <p:cNvSpPr/>
          <p:nvPr/>
        </p:nvSpPr>
        <p:spPr>
          <a:xfrm>
            <a:off x="2667000" y="4191000"/>
            <a:ext cx="6858000" cy="666750"/>
          </a:xfrm>
          <a:custGeom>
            <a:avLst/>
            <a:gdLst/>
            <a:ahLst/>
            <a:cxnLst/>
            <a:rect l="l" t="t" r="r" b="b"/>
            <a:pathLst>
              <a:path w="6858000" h="666750">
                <a:moveTo>
                  <a:pt x="133350" y="0"/>
                </a:moveTo>
                <a:lnTo>
                  <a:pt x="6724650" y="0"/>
                </a:lnTo>
                <a:cubicBezTo>
                  <a:pt x="6798297" y="0"/>
                  <a:pt x="6858000" y="59703"/>
                  <a:pt x="6858000" y="133350"/>
                </a:cubicBezTo>
                <a:lnTo>
                  <a:pt x="6858000" y="533400"/>
                </a:lnTo>
                <a:cubicBezTo>
                  <a:pt x="6858000" y="607047"/>
                  <a:pt x="6798297" y="666750"/>
                  <a:pt x="672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134868" y="4431982"/>
            <a:ext cx="174178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流程程序 / 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93892" y="446436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步骤、控制点、岗位接口</a:t>
            </a:r>
          </a:p>
        </p:txBody>
      </p:sp>
      <p:sp>
        <p:nvSpPr>
          <p:cNvPr id="19" name="Freeform 19"/>
          <p:cNvSpPr/>
          <p:nvPr/>
        </p:nvSpPr>
        <p:spPr>
          <a:xfrm>
            <a:off x="3238500" y="5095875"/>
            <a:ext cx="5715000" cy="666750"/>
          </a:xfrm>
          <a:custGeom>
            <a:avLst/>
            <a:gdLst/>
            <a:ahLst/>
            <a:cxnLst/>
            <a:rect l="l" t="t" r="r" b="b"/>
            <a:pathLst>
              <a:path w="5715000" h="666750">
                <a:moveTo>
                  <a:pt x="133350" y="0"/>
                </a:moveTo>
                <a:lnTo>
                  <a:pt x="5581650" y="0"/>
                </a:lnTo>
                <a:cubicBezTo>
                  <a:pt x="5655297" y="0"/>
                  <a:pt x="5715000" y="59703"/>
                  <a:pt x="5715000" y="133350"/>
                </a:cubicBezTo>
                <a:lnTo>
                  <a:pt x="5715000" y="533400"/>
                </a:lnTo>
                <a:cubicBezTo>
                  <a:pt x="5715000" y="607047"/>
                  <a:pt x="5655297" y="666750"/>
                  <a:pt x="5581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706368" y="5336858"/>
            <a:ext cx="195256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表单 / 台账 / 记录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5392" y="5369242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执行证据与追溯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正式组织树表达归属；专业汇报与重大决策另以接口机制说明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428750" y="2324100"/>
            <a:ext cx="9334500" cy="1409700"/>
          </a:xfrm>
          <a:custGeom>
            <a:avLst/>
            <a:gdLst/>
            <a:ahLst/>
            <a:cxnLst/>
            <a:rect l="l" t="t" r="r" b="b"/>
            <a:pathLst>
              <a:path w="9334500" h="1409700">
                <a:moveTo>
                  <a:pt x="4667250" y="0"/>
                </a:moveTo>
                <a:lnTo>
                  <a:pt x="4667250" y="304800"/>
                </a:lnTo>
                <a:moveTo>
                  <a:pt x="4667250" y="914400"/>
                </a:moveTo>
                <a:lnTo>
                  <a:pt x="4667250" y="1152525"/>
                </a:lnTo>
                <a:moveTo>
                  <a:pt x="0" y="1152525"/>
                </a:moveTo>
                <a:lnTo>
                  <a:pt x="9334500" y="1152525"/>
                </a:lnTo>
                <a:moveTo>
                  <a:pt x="0" y="1152525"/>
                </a:moveTo>
                <a:lnTo>
                  <a:pt x="0" y="1409700"/>
                </a:lnTo>
                <a:moveTo>
                  <a:pt x="2333625" y="1152525"/>
                </a:moveTo>
                <a:lnTo>
                  <a:pt x="2333625" y="1409700"/>
                </a:lnTo>
                <a:moveTo>
                  <a:pt x="4667250" y="1152525"/>
                </a:moveTo>
                <a:lnTo>
                  <a:pt x="4667250" y="1409700"/>
                </a:lnTo>
                <a:moveTo>
                  <a:pt x="7000875" y="1152525"/>
                </a:moveTo>
                <a:lnTo>
                  <a:pt x="7000875" y="1409700"/>
                </a:lnTo>
                <a:moveTo>
                  <a:pt x="9334500" y="1152525"/>
                </a:moveTo>
                <a:lnTo>
                  <a:pt x="9334500" y="14097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1" name="Group 11"/>
          <p:cNvGrpSpPr/>
          <p:nvPr/>
        </p:nvGrpSpPr>
        <p:grpSpPr>
          <a:xfrm>
            <a:off x="4333875" y="1809750"/>
            <a:ext cx="3524250" cy="533400"/>
            <a:chOff x="4333875" y="1809750"/>
            <a:chExt cx="3524250" cy="5334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333875" y="1809750"/>
              <a:ext cx="3524250" cy="533400"/>
            </a:xfrm>
            <a:prstGeom prst="roundRect">
              <a:avLst>
                <a:gd name="adj" fmla="val 25000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4804858" y="1965008"/>
              <a:ext cx="2582285" cy="322707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惠州市鑫犇电子有限公司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14875" y="2647950"/>
            <a:ext cx="2762250" cy="594551"/>
            <a:chOff x="4714875" y="2647950"/>
            <a:chExt cx="2762250" cy="594551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4714875" y="2647950"/>
              <a:ext cx="2762250" cy="590550"/>
            </a:xfrm>
            <a:prstGeom prst="roundRect">
              <a:avLst>
                <a:gd name="adj" fmla="val 2258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5793829" y="2782252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公司层级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64011" y="2978468"/>
              <a:ext cx="1463977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董事长 ｜ 总经理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3875" y="3752850"/>
            <a:ext cx="1809750" cy="1143000"/>
            <a:chOff x="523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6" name="Rectangle 16"/>
            <p:cNvSpPr/>
            <p:nvPr/>
          </p:nvSpPr>
          <p:spPr>
            <a:xfrm>
              <a:off x="523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1200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生产部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5661" y="41809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工程技术组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3939" y="4390549"/>
              <a:ext cx="869623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冲压/清洗车间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5661" y="46000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模具维修组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19375" y="3752850"/>
            <a:ext cx="1809750" cy="1143000"/>
            <a:chOff x="2619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2619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3296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品质部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91161" y="420004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制程巡检组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59906" y="4447699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成品出货检验组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6013" y="46843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质量判断独立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714875" y="3752850"/>
            <a:ext cx="1809750" cy="1143000"/>
            <a:chOff x="4714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8" name="Rectangle 28"/>
            <p:cNvSpPr/>
            <p:nvPr/>
          </p:nvSpPr>
          <p:spPr>
            <a:xfrm>
              <a:off x="4714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5391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01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业务组 采购组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17915" y="4447699"/>
              <a:ext cx="40367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仓储组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90934" y="468439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订单与供应协同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10375" y="3752850"/>
            <a:ext cx="1809750" cy="1143000"/>
            <a:chOff x="6810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4" name="Rectangle 34"/>
            <p:cNvSpPr/>
            <p:nvPr/>
          </p:nvSpPr>
          <p:spPr>
            <a:xfrm>
              <a:off x="6810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7487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行政部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968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人事组 后勤组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86434" y="447484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人员与综合保障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05875" y="3752850"/>
            <a:ext cx="1809750" cy="1143000"/>
            <a:chOff x="8905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9" name="Rectangle 39"/>
            <p:cNvSpPr/>
            <p:nvPr/>
          </p:nvSpPr>
          <p:spPr>
            <a:xfrm>
              <a:off x="8905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9582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财务部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92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会计组 出纳组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60776" y="4474845"/>
              <a:ext cx="1099947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资金与核算职责分离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1143000" y="5572125"/>
            <a:ext cx="9906000" cy="552450"/>
          </a:xfrm>
          <a:prstGeom prst="roundRect">
            <a:avLst>
              <a:gd name="adj" fmla="val 48276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534041" y="5688806"/>
            <a:ext cx="51239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实线＝组织归属 虚线＝专业汇报/信息升级 董事长与总经理同属公司层级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19078" y="5922645"/>
            <a:ext cx="25538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金额权限、特殊放行和时限以正式授权文件为准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6738" y="6494145"/>
            <a:ext cx="55130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依据：鑫犇电子_公司组织架构与职责矩阵模板.xlsx；本页为 OneDrive 项目修正版草稿，未覆盖基线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477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08｜部门职责地图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5020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五个正式一级部门的输入、输出与协同接口；下属组织归属按受控矩阵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131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本页是部门职责地图摘要：看输入、输出和协同接口；不替代岗位SOP或授权文件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110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160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160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订单评审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1604" y="2461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物料齐套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160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质量要求</a:t>
            </a:r>
          </a:p>
        </p:txBody>
      </p:sp>
      <p:sp>
        <p:nvSpPr>
          <p:cNvPr id="13" name="Line 13"/>
          <p:cNvSpPr/>
          <p:nvPr/>
        </p:nvSpPr>
        <p:spPr>
          <a:xfrm>
            <a:off x="64770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4160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160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生产任务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1604" y="33566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产量/异常记录</a:t>
            </a:r>
          </a:p>
        </p:txBody>
      </p:sp>
      <p:sp>
        <p:nvSpPr>
          <p:cNvPr id="17" name="Line 17"/>
          <p:cNvSpPr/>
          <p:nvPr/>
        </p:nvSpPr>
        <p:spPr>
          <a:xfrm>
            <a:off x="64770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41604" y="3728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1604" y="3947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品质判定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1604" y="4109085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营运交期协同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0960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67970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9704" y="463296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工程技术组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9704" y="47567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冲压车间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9704" y="488061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模具维修组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9704" y="50044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清洗车间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76225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276225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357804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品质部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0855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08554" y="2299335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来料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08554" y="24612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首件 / 制程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0855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成品待检</a:t>
            </a:r>
          </a:p>
        </p:txBody>
      </p:sp>
      <p:sp>
        <p:nvSpPr>
          <p:cNvPr id="34" name="Line 34"/>
          <p:cNvSpPr/>
          <p:nvPr/>
        </p:nvSpPr>
        <p:spPr>
          <a:xfrm>
            <a:off x="291465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290855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0855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08554" y="335661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不合格处置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08554" y="35185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客诉闭环</a:t>
            </a:r>
          </a:p>
        </p:txBody>
      </p:sp>
      <p:sp>
        <p:nvSpPr>
          <p:cNvPr id="39" name="Line 39"/>
          <p:cNvSpPr/>
          <p:nvPr/>
        </p:nvSpPr>
        <p:spPr>
          <a:xfrm>
            <a:off x="291465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908554" y="3728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08554" y="3947160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独立质量判断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908554" y="41090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反馈营运 / 生产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87655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294665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946654" y="463296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制程巡检组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946654" y="4756785"/>
            <a:ext cx="1280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成品出货检验组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0292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50292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8449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7550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7550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客户订单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75504" y="24612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产能 / 质量意见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17550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客户需求</a:t>
            </a:r>
          </a:p>
        </p:txBody>
      </p:sp>
      <p:sp>
        <p:nvSpPr>
          <p:cNvPr id="54" name="Line 54"/>
          <p:cNvSpPr/>
          <p:nvPr/>
        </p:nvSpPr>
        <p:spPr>
          <a:xfrm>
            <a:off x="518160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17550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17550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订单评审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175504" y="33566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采购订单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175504" y="35185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出入库 / 交付</a:t>
            </a:r>
          </a:p>
        </p:txBody>
      </p:sp>
      <p:sp>
        <p:nvSpPr>
          <p:cNvPr id="59" name="Line 59"/>
          <p:cNvSpPr/>
          <p:nvPr/>
        </p:nvSpPr>
        <p:spPr>
          <a:xfrm>
            <a:off x="518160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5175504" y="3728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175504" y="3947160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业务、采购、仓储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175504" y="4109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分工执行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14350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521360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213604" y="463296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业务组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13604" y="47567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采购组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213604" y="48806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仓储组</a:t>
            </a:r>
          </a:p>
        </p:txBody>
      </p:sp>
      <p:sp>
        <p:nvSpPr>
          <p:cNvPr id="68" name="Rectangle 68"/>
          <p:cNvSpPr/>
          <p:nvPr/>
        </p:nvSpPr>
        <p:spPr>
          <a:xfrm>
            <a:off x="729615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729615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811194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行政部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44245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44245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用工需求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442454" y="2461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制度事项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44245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后勤事项</a:t>
            </a:r>
          </a:p>
        </p:txBody>
      </p:sp>
      <p:sp>
        <p:nvSpPr>
          <p:cNvPr id="75" name="Line 75"/>
          <p:cNvSpPr/>
          <p:nvPr/>
        </p:nvSpPr>
        <p:spPr>
          <a:xfrm>
            <a:off x="744855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744245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44245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人事档案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442454" y="3356610"/>
            <a:ext cx="957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入离职记录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442454" y="35185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后勤记录</a:t>
            </a:r>
          </a:p>
        </p:txBody>
      </p:sp>
      <p:sp>
        <p:nvSpPr>
          <p:cNvPr id="80" name="Line 80"/>
          <p:cNvSpPr/>
          <p:nvPr/>
        </p:nvSpPr>
        <p:spPr>
          <a:xfrm>
            <a:off x="744855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7442454" y="3728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442454" y="3947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人员协同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442454" y="4109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保障协同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41045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748055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480554" y="463296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人事组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480554" y="47567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后勤组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5631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89" name="Rectangle 89"/>
          <p:cNvSpPr/>
          <p:nvPr/>
        </p:nvSpPr>
        <p:spPr>
          <a:xfrm>
            <a:off x="95631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103788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财务部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709404" y="20802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9709404" y="2299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业务单据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9709404" y="24612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费用 / 付款申请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9709404" y="26231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经营数据</a:t>
            </a:r>
          </a:p>
        </p:txBody>
      </p:sp>
      <p:sp>
        <p:nvSpPr>
          <p:cNvPr id="95" name="Line 95"/>
          <p:cNvSpPr/>
          <p:nvPr/>
        </p:nvSpPr>
        <p:spPr>
          <a:xfrm>
            <a:off x="9715500" y="28575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96" name="TextBox 96"/>
          <p:cNvSpPr txBox="1"/>
          <p:nvPr/>
        </p:nvSpPr>
        <p:spPr>
          <a:xfrm>
            <a:off x="9709404" y="29756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709404" y="31946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会计凭证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9709404" y="33566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经营报表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9709404" y="35185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资金 / 付款记录</a:t>
            </a:r>
          </a:p>
        </p:txBody>
      </p:sp>
      <p:sp>
        <p:nvSpPr>
          <p:cNvPr id="100" name="Line 100"/>
          <p:cNvSpPr/>
          <p:nvPr/>
        </p:nvSpPr>
        <p:spPr>
          <a:xfrm>
            <a:off x="9715500" y="37528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9709404" y="37280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709404" y="3947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财务审核 / 执行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9709404" y="4109085"/>
            <a:ext cx="1280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按授权边界审批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9677400" y="4362450"/>
            <a:ext cx="192405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05" name="TextBox 105"/>
          <p:cNvSpPr txBox="1"/>
          <p:nvPr/>
        </p:nvSpPr>
        <p:spPr>
          <a:xfrm>
            <a:off x="9747504" y="4442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9747504" y="463296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会计组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9747504" y="47567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· 出纳组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762000" y="5619750"/>
            <a:ext cx="10668000" cy="381000"/>
          </a:xfrm>
          <a:prstGeom prst="roundRect">
            <a:avLst>
              <a:gd name="adj" fmla="val 175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109" name="TextBox 109"/>
          <p:cNvSpPr txBox="1"/>
          <p:nvPr/>
        </p:nvSpPr>
        <p:spPr>
          <a:xfrm>
            <a:off x="3137687" y="5728335"/>
            <a:ext cx="59166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待确认边界：具体时限、金额阈值、岗位替代与例外授权以正式制度/授权文件为准</a:t>
            </a:r>
          </a:p>
        </p:txBody>
      </p:sp>
      <p:sp>
        <p:nvSpPr>
          <p:cNvPr id="110" name="Line 11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00250"/>
            <a:ext cx="7239000" cy="3333750"/>
          </a:xfrm>
          <a:custGeom>
            <a:avLst/>
            <a:gdLst/>
            <a:ahLst/>
            <a:cxnLst/>
            <a:rect l="l" t="t" r="r" b="b"/>
            <a:pathLst>
              <a:path w="7239000" h="33337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3200400"/>
                </a:lnTo>
                <a:cubicBezTo>
                  <a:pt x="7239000" y="3274047"/>
                  <a:pt x="7179297" y="3333750"/>
                  <a:pt x="7105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00250"/>
            <a:ext cx="7239000" cy="552450"/>
          </a:xfrm>
          <a:custGeom>
            <a:avLst/>
            <a:gdLst/>
            <a:ahLst/>
            <a:cxnLst/>
            <a:rect l="l" t="t" r="r" b="b"/>
            <a:pathLst>
              <a:path w="7239000" h="5524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419100"/>
                </a:lnTo>
                <a:cubicBezTo>
                  <a:pt x="7239000" y="492747"/>
                  <a:pt x="7179297" y="552450"/>
                  <a:pt x="7105650" y="552450"/>
                </a:cubicBezTo>
                <a:lnTo>
                  <a:pt x="133350" y="552450"/>
                </a:lnTo>
                <a:cubicBezTo>
                  <a:pt x="59703" y="552450"/>
                  <a:pt x="0" y="492747"/>
                  <a:pt x="0" y="4191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3125" y="2762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4905375" y="3333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905375" y="3905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000875" y="4476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8667750" y="2000250"/>
            <a:ext cx="2667000" cy="3333750"/>
          </a:xfrm>
          <a:custGeom>
            <a:avLst/>
            <a:gdLst/>
            <a:ahLst/>
            <a:cxnLst/>
            <a:rect l="l" t="t" r="r" b="b"/>
            <a:pathLst>
              <a:path w="2667000" h="33337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3200400"/>
                </a:lnTo>
                <a:cubicBezTo>
                  <a:pt x="2667000" y="3274047"/>
                  <a:pt x="2607297" y="3333750"/>
                  <a:pt x="2533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158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 · APPROVAL MATRIX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460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655990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事项分拆呈现经办、专业复核/咨询与批准；C仅表示事前咨询，不代表复核或审批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66750" y="1762125"/>
            <a:ext cx="24765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45168" y="1914049"/>
            <a:ext cx="7196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来源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3337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737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经办 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4292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884100" y="1914049"/>
            <a:ext cx="9952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专业复核 / 咨询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524750" y="1762125"/>
            <a:ext cx="1524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0742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批准 A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239250" y="1762125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080379" y="1914049"/>
            <a:ext cx="6989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待确认边界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66750" y="22383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57238" y="23874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订单评审｜RACI-004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3337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424238" y="2387441"/>
            <a:ext cx="211969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生产、品质、工程技术、业务、采购、仓储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4292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19738" y="2387441"/>
            <a:ext cx="12475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专业输入（C按原矩阵）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524750" y="22383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615238" y="23874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239250" y="22383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329738" y="23874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订单承诺例外权限待确认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66750" y="29241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7238" y="3073241"/>
            <a:ext cx="13833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采购寻源下单｜RACI-005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3337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424238" y="30732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业务组、采购组、仓储组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4292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519738" y="30732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生产/品质/财务咨询（C）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524750" y="29241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615238" y="30732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239250" y="29241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329738" y="3073241"/>
            <a:ext cx="14533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金额阈值、供应商例外待确认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66750" y="36099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57238" y="37590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来料检验｜RACI-011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3337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424238" y="3759041"/>
            <a:ext cx="786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4292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519738" y="3759041"/>
            <a:ext cx="14939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营运部/采购/仓储咨询（C）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524750" y="36099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615238" y="37590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46" name="Rectangle 46"/>
          <p:cNvSpPr/>
          <p:nvPr/>
        </p:nvSpPr>
        <p:spPr>
          <a:xfrm>
            <a:off x="9239250" y="36099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329738" y="3759041"/>
            <a:ext cx="12922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特采/让步放行权限待确认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66750" y="42957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57238" y="4444841"/>
            <a:ext cx="15065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付款与费用审批｜RACI-015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3337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424238" y="4444841"/>
            <a:ext cx="3427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4292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5519738" y="44448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生产/品质/营运咨询（C）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524750" y="42957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615238" y="44448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239250" y="42957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329738" y="4444841"/>
            <a:ext cx="1625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金额分级、超限/替代批准待确认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66750" y="5191125"/>
            <a:ext cx="11049000" cy="80010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300435" y="5363528"/>
            <a:ext cx="57816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授权事实：仅列受控RACI明确的A/R；C=事前咨询（双向专业输入），不是“复核”。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787621" y="5638324"/>
            <a:ext cx="48072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边界：金额权限、付款分级、特殊放行及代理/替代批准人均待正式授权文件确认。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6738" y="6494145"/>
            <a:ext cx="49957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审批角色与RACI参与语义分栏；具体复核岗位未由源矩阵明确的，不推定为既有批准权。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先暂停、再升级、后决定、留痕关闭；冲突不能沿着原路径继续推进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381125" y="1476375"/>
            <a:ext cx="8810625" cy="3810000"/>
            <a:chOff x="1381125" y="1476375"/>
            <a:chExt cx="8810625" cy="3810000"/>
          </a:xfrm>
        </p:grpSpPr>
        <p:sp>
          <p:nvSpPr>
            <p:cNvPr id="8" name="Freeform 8"/>
            <p:cNvSpPr/>
            <p:nvPr/>
          </p:nvSpPr>
          <p:spPr>
            <a:xfrm>
              <a:off x="2381250" y="1952625"/>
              <a:ext cx="7429500" cy="2857500"/>
            </a:xfrm>
            <a:custGeom>
              <a:avLst/>
              <a:gdLst/>
              <a:ahLst/>
              <a:cxnLst/>
              <a:rect l="l" t="t" r="r" b="b"/>
              <a:pathLst>
                <a:path w="7429500" h="2857500">
                  <a:moveTo>
                    <a:pt x="0" y="952500"/>
                  </a:moveTo>
                  <a:cubicBezTo>
                    <a:pt x="0" y="285750"/>
                    <a:pt x="952500" y="0"/>
                    <a:pt x="1714500" y="0"/>
                  </a:cubicBezTo>
                  <a:lnTo>
                    <a:pt x="5715000" y="0"/>
                  </a:lnTo>
                  <a:cubicBezTo>
                    <a:pt x="6667500" y="0"/>
                    <a:pt x="7429500" y="523875"/>
                    <a:pt x="7429500" y="1381125"/>
                  </a:cubicBezTo>
                  <a:cubicBezTo>
                    <a:pt x="7429500" y="2286000"/>
                    <a:pt x="6667500" y="2857500"/>
                    <a:pt x="5715000" y="2857500"/>
                  </a:cubicBezTo>
                  <a:lnTo>
                    <a:pt x="1714500" y="2857500"/>
                  </a:lnTo>
                  <a:cubicBezTo>
                    <a:pt x="762000" y="2857500"/>
                    <a:pt x="0" y="2286000"/>
                    <a:pt x="0" y="1524000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3476625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714500" y="1333500"/>
                  </a:moveTo>
                  <a:cubicBezTo>
                    <a:pt x="762000" y="133350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81125" y="2571750"/>
              <a:ext cx="2000250" cy="952500"/>
              <a:chOff x="1381125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381125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81862" y="27755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0641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发现冲突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439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事实、授权、责任不一致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14750" y="1476375"/>
              <a:ext cx="2095500" cy="952500"/>
              <a:chOff x="3714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714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63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D95C5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7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暂停动作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035647" y="22283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先隔离，不继续越权执行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81750" y="1476375"/>
              <a:ext cx="2095500" cy="952500"/>
              <a:chOff x="6381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381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0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805B12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54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升级判定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33902" y="2228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提交事实与影响范围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2857500"/>
              <a:ext cx="2095500" cy="952500"/>
              <a:chOff x="8096250" y="285750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096250" y="285750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44612" y="3061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9160" y="33270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授权决定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48402" y="3609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明确责任与处理边界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429250" y="4333875"/>
              <a:ext cx="2095500" cy="952500"/>
              <a:chOff x="5429250" y="43338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429250" y="43338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77612" y="4537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02160" y="48034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留痕关闭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84520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记录决定、验证结果和复盘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381375" y="30480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1952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2428875"/>
              <a:ext cx="666750" cy="428625"/>
            </a:xfrm>
            <a:custGeom>
              <a:avLst/>
              <a:gdLst/>
              <a:ahLst/>
              <a:cxnLst/>
              <a:rect l="l" t="t" r="r" b="b"/>
              <a:pathLst>
                <a:path w="666750" h="428625">
                  <a:moveTo>
                    <a:pt x="0" y="0"/>
                  </a:moveTo>
                  <a:cubicBezTo>
                    <a:pt x="381000" y="142875"/>
                    <a:pt x="571500" y="285750"/>
                    <a:pt x="6667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4250" y="3810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381000" y="333375"/>
                    <a:pt x="0" y="523875"/>
                    <a:pt x="190500" y="762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</p:grpSp>
      <p:sp>
        <p:nvSpPr>
          <p:cNvPr id="40" name="Freeform 40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80221" y="6050756"/>
            <a:ext cx="58315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红色虚线＝退回或再升级 实线＝正常闭环 每次冲突必须留下事实、决定和验证证据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9414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任何未确认的权限，不得在流程图中被表达为既成授权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13｜订单到交付总流程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五泳道端到端流程：责任主体、交接、决策和异常回路分开表达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870585"/>
            <a:ext cx="43011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阅读方向：左→右；泳道表示责任主体，跨泳道连线表示交接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1430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1430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27735" y="1461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19240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19240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6963" y="22421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7051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7051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2ECF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1766" y="30232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4861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4861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6963" y="3804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" y="42672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95300" y="42672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1766" y="45853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品质/仓储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57375" y="13049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87071" y="14839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需求/图纸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2385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031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8670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84306" y="30460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工程评审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00750" y="36480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230446" y="382714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排产/制造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44291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1571" y="46081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检验/入库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276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交付确认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05125" y="15335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4" name="Freeform 34"/>
          <p:cNvSpPr/>
          <p:nvPr/>
        </p:nvSpPr>
        <p:spPr>
          <a:xfrm>
            <a:off x="4286250" y="23145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5" name="Freeform 35"/>
          <p:cNvSpPr/>
          <p:nvPr/>
        </p:nvSpPr>
        <p:spPr>
          <a:xfrm>
            <a:off x="5667375" y="30956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36" name="Freeform 36"/>
          <p:cNvSpPr/>
          <p:nvPr/>
        </p:nvSpPr>
        <p:spPr>
          <a:xfrm>
            <a:off x="7048500" y="38766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7" name="Freeform 37"/>
          <p:cNvSpPr/>
          <p:nvPr/>
        </p:nvSpPr>
        <p:spPr>
          <a:xfrm>
            <a:off x="8429625" y="2314575"/>
            <a:ext cx="333375" cy="2343150"/>
          </a:xfrm>
          <a:custGeom>
            <a:avLst/>
            <a:gdLst/>
            <a:ahLst/>
            <a:cxnLst/>
            <a:rect l="l" t="t" r="r" b="b"/>
            <a:pathLst>
              <a:path w="333375" h="2343150">
                <a:moveTo>
                  <a:pt x="0" y="2343150"/>
                </a:moveTo>
                <a:cubicBezTo>
                  <a:pt x="190500" y="2343150"/>
                  <a:pt x="142875" y="0"/>
                  <a:pt x="333375" y="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8" name="Polygon 38"/>
          <p:cNvSpPr/>
          <p:nvPr/>
        </p:nvSpPr>
        <p:spPr>
          <a:xfrm>
            <a:off x="9525000" y="36385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333375" y="0"/>
                </a:moveTo>
                <a:lnTo>
                  <a:pt x="666750" y="333375"/>
                </a:lnTo>
                <a:lnTo>
                  <a:pt x="333375" y="666750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90735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是否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6310" y="394716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放行?</a:t>
            </a:r>
          </a:p>
        </p:txBody>
      </p:sp>
      <p:sp>
        <p:nvSpPr>
          <p:cNvPr id="41" name="Freeform 41"/>
          <p:cNvSpPr/>
          <p:nvPr/>
        </p:nvSpPr>
        <p:spPr>
          <a:xfrm>
            <a:off x="9810750" y="2314575"/>
            <a:ext cx="47625" cy="1323975"/>
          </a:xfrm>
          <a:custGeom>
            <a:avLst/>
            <a:gdLst/>
            <a:ahLst/>
            <a:cxnLst/>
            <a:rect l="l" t="t" r="r" b="b"/>
            <a:pathLst>
              <a:path w="47625" h="1323975">
                <a:moveTo>
                  <a:pt x="0" y="0"/>
                </a:moveTo>
                <a:lnTo>
                  <a:pt x="47625" y="1323975"/>
                </a:ln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42" name="Freeform 42"/>
          <p:cNvSpPr/>
          <p:nvPr/>
        </p:nvSpPr>
        <p:spPr>
          <a:xfrm>
            <a:off x="4000500" y="3876675"/>
            <a:ext cx="5524500" cy="1838325"/>
          </a:xfrm>
          <a:custGeom>
            <a:avLst/>
            <a:gdLst/>
            <a:ahLst/>
            <a:cxnLst/>
            <a:rect l="l" t="t" r="r" b="b"/>
            <a:pathLst>
              <a:path w="5524500" h="1838325">
                <a:moveTo>
                  <a:pt x="5524500" y="95250"/>
                </a:moveTo>
                <a:cubicBezTo>
                  <a:pt x="5048250" y="1409700"/>
                  <a:pt x="4095750" y="1838325"/>
                  <a:pt x="2190750" y="1838325"/>
                </a:cubicBezTo>
                <a:cubicBezTo>
                  <a:pt x="476250" y="1838325"/>
                  <a:pt x="0" y="1076325"/>
                  <a:pt x="95250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232904" y="5737860"/>
            <a:ext cx="3929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异常：隔离/补充资料/升级评审 → 回到工程或制造确认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287000" y="1143000"/>
            <a:ext cx="140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3779" y="1251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证据节点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3779" y="14897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订单/图纸版本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23779" y="1699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评审记录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23779" y="19088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3779" y="211836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放行/交付记录</a:t>
            </a:r>
          </a:p>
        </p:txBody>
      </p:sp>
      <p:sp>
        <p:nvSpPr>
          <p:cNvPr id="50" name="Line 5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口头变化必须转化为受控评审；批准、拒绝和旧版隔离都要有证据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190625" y="1381125"/>
            <a:ext cx="9239250" cy="4095750"/>
            <a:chOff x="1190625" y="1381125"/>
            <a:chExt cx="9239250" cy="4095750"/>
          </a:xfrm>
        </p:grpSpPr>
        <p:sp>
          <p:nvSpPr>
            <p:cNvPr id="8" name="Freeform 8"/>
            <p:cNvSpPr/>
            <p:nvPr/>
          </p:nvSpPr>
          <p:spPr>
            <a:xfrm>
              <a:off x="2238375" y="1857375"/>
              <a:ext cx="7524750" cy="3095625"/>
            </a:xfrm>
            <a:custGeom>
              <a:avLst/>
              <a:gdLst/>
              <a:ahLst/>
              <a:cxnLst/>
              <a:rect l="l" t="t" r="r" b="b"/>
              <a:pathLst>
                <a:path w="7524750" h="3095625">
                  <a:moveTo>
                    <a:pt x="0" y="1000125"/>
                  </a:moveTo>
                  <a:cubicBezTo>
                    <a:pt x="0" y="238125"/>
                    <a:pt x="904875" y="0"/>
                    <a:pt x="1762125" y="0"/>
                  </a:cubicBezTo>
                  <a:lnTo>
                    <a:pt x="5381625" y="0"/>
                  </a:lnTo>
                  <a:cubicBezTo>
                    <a:pt x="6619875" y="0"/>
                    <a:pt x="7524750" y="666750"/>
                    <a:pt x="7524750" y="1571625"/>
                  </a:cubicBezTo>
                  <a:cubicBezTo>
                    <a:pt x="7524750" y="2476500"/>
                    <a:pt x="6619875" y="3095625"/>
                    <a:pt x="5381625" y="3095625"/>
                  </a:cubicBezTo>
                  <a:lnTo>
                    <a:pt x="1762125" y="3095625"/>
                  </a:lnTo>
                  <a:cubicBezTo>
                    <a:pt x="904875" y="3095625"/>
                    <a:pt x="0" y="2619375"/>
                    <a:pt x="0" y="1857375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238375" y="3714750"/>
              <a:ext cx="1762125" cy="1238250"/>
            </a:xfrm>
            <a:custGeom>
              <a:avLst/>
              <a:gdLst/>
              <a:ahLst/>
              <a:cxnLst/>
              <a:rect l="l" t="t" r="r" b="b"/>
              <a:pathLst>
                <a:path w="1762125" h="1238250">
                  <a:moveTo>
                    <a:pt x="1762125" y="1238250"/>
                  </a:moveTo>
                  <a:cubicBezTo>
                    <a:pt x="809625" y="123825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2619375"/>
              <a:ext cx="2095500" cy="1047750"/>
              <a:chOff x="1190625" y="26193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190625" y="26193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38987" y="2823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63535" y="3079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需求登记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7149" y="33713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来源、版本、影响范围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67125" y="1381125"/>
              <a:ext cx="2095500" cy="1047750"/>
              <a:chOff x="366712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66712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1548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0035" y="1841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影响评估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8022" y="213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交期、成本、质量、资源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29375" y="1381125"/>
              <a:ext cx="2095500" cy="1047750"/>
              <a:chOff x="642937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2937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7773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68178" y="1841182"/>
                <a:ext cx="121789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 / 拒绝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5900" y="2133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授权节点，不默认通过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34375" y="2809875"/>
              <a:ext cx="2095500" cy="1047750"/>
              <a:chOff x="8334375" y="28098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334375" y="28098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2ECFF"/>
              </a:solidFill>
              <a:ln w="19050">
                <a:solidFill>
                  <a:srgbClr val="7657B8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282737" y="3013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07285" y="32699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更新版本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20900" y="35618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发布新版本并回收旧版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810250" y="4429125"/>
              <a:ext cx="2095500" cy="1047750"/>
              <a:chOff x="5810250" y="4429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810250" y="4429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8612" y="4632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3160" y="4889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验证关闭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6774" y="5181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确认变更已生效并留痕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286125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62625" y="1905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24875" y="2381250"/>
              <a:ext cx="857250" cy="428625"/>
            </a:xfrm>
            <a:custGeom>
              <a:avLst/>
              <a:gdLst/>
              <a:ahLst/>
              <a:cxnLst/>
              <a:rect l="l" t="t" r="r" b="b"/>
              <a:pathLst>
                <a:path w="857250" h="428625">
                  <a:moveTo>
                    <a:pt x="0" y="0"/>
                  </a:moveTo>
                  <a:cubicBezTo>
                    <a:pt x="523875" y="95250"/>
                    <a:pt x="809625" y="238125"/>
                    <a:pt x="8572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2375" y="3857625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762000" y="0"/>
                  </a:moveTo>
                  <a:cubicBezTo>
                    <a:pt x="428625" y="333375"/>
                    <a:pt x="0" y="571500"/>
                    <a:pt x="47625" y="85725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5667375" y="2381250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0"/>
                  </a:moveTo>
                  <a:cubicBezTo>
                    <a:pt x="381000" y="238125"/>
                    <a:pt x="142875" y="428625"/>
                    <a:pt x="0" y="714375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50000" sp="175000"/>
              </a:custDash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8666" y="27917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拒绝 / 退回补充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458506" y="6050756"/>
            <a:ext cx="5274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变更不是“改一处文字”：必须评估影响、冻结版本、回收旧版，再验证关闭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6738" y="6494145"/>
            <a:ext cx="36806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红色虚线＝拒绝或退回 回环＝变更后仍需回到验证，而不是直达结束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15｜生产计划与任务下达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4788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订单输入—能力确认—开工闸口—任务发布，并保留资源不足回路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先确认订单输入和资源能力，再经过开工决策闸口；条件不足不得直接开工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85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9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产品｜数量｜交期｜版本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857500"/>
            <a:ext cx="4000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86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产能｜物料｜模具｜人员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857500"/>
            <a:ext cx="4000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A8751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风险清单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34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缺口｜责任｜补充期限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857500"/>
            <a:ext cx="400050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任务发布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01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受控版本｜责任｜节点</a:t>
            </a:r>
          </a:p>
        </p:txBody>
      </p:sp>
      <p:sp>
        <p:nvSpPr>
          <p:cNvPr id="21" name="Polygon 21"/>
          <p:cNvSpPr/>
          <p:nvPr/>
        </p:nvSpPr>
        <p:spPr>
          <a:xfrm>
            <a:off x="4476750" y="180975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476250" y="0"/>
                </a:moveTo>
                <a:lnTo>
                  <a:pt x="952500" y="476250"/>
                </a:lnTo>
                <a:lnTo>
                  <a:pt x="476250" y="95250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785360" y="21278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条件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4588" y="22707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满足？</a:t>
            </a:r>
          </a:p>
        </p:txBody>
      </p:sp>
      <p:sp>
        <p:nvSpPr>
          <p:cNvPr id="24" name="Line 24"/>
          <p:cNvSpPr/>
          <p:nvPr/>
        </p:nvSpPr>
        <p:spPr>
          <a:xfrm flipV="1">
            <a:off x="4381500" y="2286000"/>
            <a:ext cx="95250" cy="5715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4953000" y="2762250"/>
            <a:ext cx="2095500" cy="1809750"/>
          </a:xfrm>
          <a:custGeom>
            <a:avLst/>
            <a:gdLst/>
            <a:ahLst/>
            <a:cxnLst/>
            <a:rect l="l" t="t" r="r" b="b"/>
            <a:pathLst>
              <a:path w="2095500" h="1809750">
                <a:moveTo>
                  <a:pt x="0" y="0"/>
                </a:moveTo>
                <a:cubicBezTo>
                  <a:pt x="0" y="1333500"/>
                  <a:pt x="1714500" y="1809750"/>
                  <a:pt x="2095500" y="666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4445508" y="4347210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否：形成风险清单，补充资源或升级承诺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04875" y="5048250"/>
            <a:ext cx="10382250" cy="571500"/>
          </a:xfrm>
          <a:prstGeom prst="roundRect">
            <a:avLst>
              <a:gd name="adj" fmla="val 13333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526161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任务发布前必须完成能力确认；交期承诺不能绕过资源与版本检查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16｜采购到付款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职责分离泳道：申请、下单、收货、对账和付款由不同责任主体承接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同一笔采购至少经过申请、采购、收货、对账/付款的相互核对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3811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3811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2391" y="16706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需求部门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21240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21240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8731" y="24136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 / 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8670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8670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503" y="31565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仓储 / 收货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6099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6099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68731" y="38995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财务 / 授权人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15240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37816" y="1584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采购申请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57044" y="17468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需求与规格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14750" y="22669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864178" y="23279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询价 / 下单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5522" y="2489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供应商与价格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0" y="30099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483428" y="30708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5544" y="32327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数量与状态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953250" y="37528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2678" y="38138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对账 / 付款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4794" y="39757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授权与留痕</a:t>
            </a:r>
          </a:p>
        </p:txBody>
      </p:sp>
      <p:sp>
        <p:nvSpPr>
          <p:cNvPr id="30" name="Freeform 30"/>
          <p:cNvSpPr/>
          <p:nvPr/>
        </p:nvSpPr>
        <p:spPr>
          <a:xfrm>
            <a:off x="3238500" y="17526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1" name="Freeform 31"/>
          <p:cNvSpPr/>
          <p:nvPr/>
        </p:nvSpPr>
        <p:spPr>
          <a:xfrm>
            <a:off x="4857750" y="249555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2" name="Freeform 32"/>
          <p:cNvSpPr/>
          <p:nvPr/>
        </p:nvSpPr>
        <p:spPr>
          <a:xfrm>
            <a:off x="6477000" y="32385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3" name="Rectangle 33"/>
          <p:cNvSpPr/>
          <p:nvPr/>
        </p:nvSpPr>
        <p:spPr>
          <a:xfrm>
            <a:off x="8477250" y="1381125"/>
            <a:ext cx="3219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9279" y="1537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三类相互核对资料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9279" y="18230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 / 订单资料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9279" y="20897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入库资料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09279" y="23564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发票 / 付款资料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09279" y="26422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不得由同一角色独立完成全链路</a:t>
            </a:r>
          </a:p>
        </p:txBody>
      </p:sp>
      <p:sp>
        <p:nvSpPr>
          <p:cNvPr id="39" name="Freeform 39"/>
          <p:cNvSpPr/>
          <p:nvPr/>
        </p:nvSpPr>
        <p:spPr>
          <a:xfrm>
            <a:off x="2857500" y="3238500"/>
            <a:ext cx="5238750" cy="2190750"/>
          </a:xfrm>
          <a:custGeom>
            <a:avLst/>
            <a:gdLst/>
            <a:ahLst/>
            <a:cxnLst/>
            <a:rect l="l" t="t" r="r" b="b"/>
            <a:pathLst>
              <a:path w="5238750" h="2190750">
                <a:moveTo>
                  <a:pt x="5238750" y="742950"/>
                </a:moveTo>
                <a:cubicBezTo>
                  <a:pt x="4953000" y="1714500"/>
                  <a:pt x="2857500" y="2190750"/>
                  <a:pt x="1047750" y="1714500"/>
                </a:cubicBezTo>
                <a:cubicBezTo>
                  <a:pt x="190500" y="1476375"/>
                  <a:pt x="0" y="857250"/>
                  <a:pt x="104775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4940960" y="52997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数量 / 质量 / 价格不一致：暂停付款并退回核对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7250" y="5334000"/>
            <a:ext cx="10287000" cy="51435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006090" y="544258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具体金额、审批层级、例外授权：待正式授权文件确认；本页仅表达职责分离原则。</a:t>
            </a:r>
          </a:p>
        </p:txBody>
      </p:sp>
      <p:sp>
        <p:nvSpPr>
          <p:cNvPr id="43" name="Line 4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7620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Freeform 14"/>
            <p:cNvSpPr/>
            <p:nvPr/>
          </p:nvSpPr>
          <p:spPr>
            <a:xfrm>
              <a:off x="28575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Freeform 18"/>
            <p:cNvSpPr/>
            <p:nvPr/>
          </p:nvSpPr>
          <p:spPr>
            <a:xfrm>
              <a:off x="4953000" y="2381250"/>
              <a:ext cx="2286000" cy="971550"/>
            </a:xfrm>
            <a:custGeom>
              <a:avLst/>
              <a:gdLst/>
              <a:ahLst/>
              <a:cxnLst/>
              <a:rect l="l" t="t" r="r" b="b"/>
              <a:pathLst>
                <a:path w="2286000" h="971550">
                  <a:moveTo>
                    <a:pt x="133350" y="0"/>
                  </a:moveTo>
                  <a:lnTo>
                    <a:pt x="2152650" y="0"/>
                  </a:lnTo>
                  <a:cubicBezTo>
                    <a:pt x="2226297" y="0"/>
                    <a:pt x="2286000" y="59703"/>
                    <a:pt x="2286000" y="133350"/>
                  </a:cubicBezTo>
                  <a:lnTo>
                    <a:pt x="2286000" y="838200"/>
                  </a:lnTo>
                  <a:cubicBezTo>
                    <a:pt x="2286000" y="911847"/>
                    <a:pt x="2226297" y="971550"/>
                    <a:pt x="21526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Freeform 27"/>
            <p:cNvSpPr/>
            <p:nvPr/>
          </p:nvSpPr>
          <p:spPr>
            <a:xfrm>
              <a:off x="10001250" y="24765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33350" y="0"/>
                  </a:moveTo>
                  <a:lnTo>
                    <a:pt x="1295400" y="0"/>
                  </a:lnTo>
                  <a:cubicBezTo>
                    <a:pt x="1369047" y="0"/>
                    <a:pt x="1428750" y="59703"/>
                    <a:pt x="1428750" y="133350"/>
                  </a:cubicBezTo>
                  <a:lnTo>
                    <a:pt x="1428750" y="647700"/>
                  </a:lnTo>
                  <a:cubicBezTo>
                    <a:pt x="1428750" y="721347"/>
                    <a:pt x="1369047" y="781050"/>
                    <a:pt x="129540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2190750" y="4762500"/>
            <a:ext cx="3048000" cy="666750"/>
          </a:xfrm>
          <a:custGeom>
            <a:avLst/>
            <a:gdLst/>
            <a:ahLst/>
            <a:cxnLst/>
            <a:rect l="l" t="t" r="r" b="b"/>
            <a:pathLst>
              <a:path w="3048000" h="666750">
                <a:moveTo>
                  <a:pt x="133350" y="0"/>
                </a:moveTo>
                <a:lnTo>
                  <a:pt x="2914650" y="0"/>
                </a:lnTo>
                <a:cubicBezTo>
                  <a:pt x="2988297" y="0"/>
                  <a:pt x="3048000" y="59703"/>
                  <a:pt x="3048000" y="133350"/>
                </a:cubicBezTo>
                <a:lnTo>
                  <a:pt x="3048000" y="533400"/>
                </a:lnTo>
                <a:cubicBezTo>
                  <a:pt x="3048000" y="607047"/>
                  <a:pt x="2988297" y="666750"/>
                  <a:pt x="291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Freeform 34"/>
          <p:cNvSpPr/>
          <p:nvPr/>
        </p:nvSpPr>
        <p:spPr>
          <a:xfrm>
            <a:off x="7810500" y="4762500"/>
            <a:ext cx="3429000" cy="666750"/>
          </a:xfrm>
          <a:custGeom>
            <a:avLst/>
            <a:gdLst/>
            <a:ahLst/>
            <a:cxnLst/>
            <a:rect l="l" t="t" r="r" b="b"/>
            <a:pathLst>
              <a:path w="3429000" h="666750">
                <a:moveTo>
                  <a:pt x="133350" y="0"/>
                </a:moveTo>
                <a:lnTo>
                  <a:pt x="3295650" y="0"/>
                </a:lnTo>
                <a:cubicBezTo>
                  <a:pt x="3369297" y="0"/>
                  <a:pt x="3429000" y="59703"/>
                  <a:pt x="3429000" y="133350"/>
                </a:cubicBezTo>
                <a:lnTo>
                  <a:pt x="3429000" y="533400"/>
                </a:lnTo>
                <a:cubicBezTo>
                  <a:pt x="3429000" y="607047"/>
                  <a:pt x="3369297" y="666750"/>
                  <a:pt x="3295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Freeform 37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18｜客诉与纠正措施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从客户入口到临时遏制、根因、纠正、验证和回复的闭环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客户问题统一入口；内部处置与对外回复分开，验证有效后才关闭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74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接收分级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入口｜影响判定</a:t>
            </a:r>
          </a:p>
        </p:txBody>
      </p:sp>
      <p:sp>
        <p:nvSpPr>
          <p:cNvPr id="9" name="Line 9"/>
          <p:cNvSpPr/>
          <p:nvPr/>
        </p:nvSpPr>
        <p:spPr>
          <a:xfrm>
            <a:off x="2266950" y="2886075"/>
            <a:ext cx="16192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765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914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临时措施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22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隔离｜遏制风险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191000" y="2886075"/>
            <a:ext cx="16192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4005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8155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55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事实｜根因｜证据</a:t>
            </a:r>
          </a:p>
        </p:txBody>
      </p:sp>
      <p:sp>
        <p:nvSpPr>
          <p:cNvPr id="17" name="Line 17"/>
          <p:cNvSpPr/>
          <p:nvPr/>
        </p:nvSpPr>
        <p:spPr>
          <a:xfrm>
            <a:off x="6115050" y="2886075"/>
            <a:ext cx="16192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3246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395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纠正措施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2957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039100" y="2886075"/>
            <a:ext cx="16192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2486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636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36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有效性｜复发控制</a:t>
            </a:r>
          </a:p>
        </p:txBody>
      </p:sp>
      <p:sp>
        <p:nvSpPr>
          <p:cNvPr id="25" name="Line 25"/>
          <p:cNvSpPr/>
          <p:nvPr/>
        </p:nvSpPr>
        <p:spPr>
          <a:xfrm>
            <a:off x="9963150" y="2886075"/>
            <a:ext cx="16192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1727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5876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客户回复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584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结论｜关闭证据</a:t>
            </a:r>
          </a:p>
        </p:txBody>
      </p:sp>
      <p:sp>
        <p:nvSpPr>
          <p:cNvPr id="29" name="Freeform 29"/>
          <p:cNvSpPr/>
          <p:nvPr/>
        </p:nvSpPr>
        <p:spPr>
          <a:xfrm>
            <a:off x="3429000" y="4095750"/>
            <a:ext cx="7143750" cy="1476375"/>
          </a:xfrm>
          <a:custGeom>
            <a:avLst/>
            <a:gdLst/>
            <a:ahLst/>
            <a:cxnLst/>
            <a:rect l="l" t="t" r="r" b="b"/>
            <a:pathLst>
              <a:path w="7143750" h="1476375">
                <a:moveTo>
                  <a:pt x="7143750" y="0"/>
                </a:moveTo>
                <a:cubicBezTo>
                  <a:pt x="6381750" y="1238250"/>
                  <a:pt x="1524000" y="1476375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367223" y="5442585"/>
            <a:ext cx="32673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未验证或重复发生：回到原因分析 / 纠正措施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对外回复必须引用：事实、处置结论、验证证据和后续防复发安排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571500" y="1952625"/>
            <a:ext cx="11049000" cy="3524250"/>
            <a:chOff x="571500" y="1952625"/>
            <a:chExt cx="11049000" cy="3524250"/>
          </a:xfrm>
        </p:grpSpPr>
        <p:sp>
          <p:nvSpPr>
            <p:cNvPr id="8" name="Freeform 8"/>
            <p:cNvSpPr/>
            <p:nvPr/>
          </p:nvSpPr>
          <p:spPr>
            <a:xfrm>
              <a:off x="571500" y="1952625"/>
              <a:ext cx="6572250" cy="3524250"/>
            </a:xfrm>
            <a:custGeom>
              <a:avLst/>
              <a:gdLst/>
              <a:ahLst/>
              <a:cxnLst/>
              <a:rect l="l" t="t" r="r" b="b"/>
              <a:pathLst>
                <a:path w="6572250" h="3524250">
                  <a:moveTo>
                    <a:pt x="209550" y="0"/>
                  </a:moveTo>
                  <a:lnTo>
                    <a:pt x="6362700" y="0"/>
                  </a:lnTo>
                  <a:cubicBezTo>
                    <a:pt x="6478431" y="0"/>
                    <a:pt x="6572250" y="93819"/>
                    <a:pt x="6572250" y="209550"/>
                  </a:cubicBezTo>
                  <a:lnTo>
                    <a:pt x="6572250" y="3314700"/>
                  </a:lnTo>
                  <a:cubicBezTo>
                    <a:pt x="6572250" y="3430431"/>
                    <a:pt x="6478431" y="3524250"/>
                    <a:pt x="6362700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7E0EA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98398" y="21959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关键资源状态闭环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6875" y="2571750"/>
              <a:ext cx="4810125" cy="1952625"/>
            </a:xfrm>
            <a:custGeom>
              <a:avLst/>
              <a:gdLst/>
              <a:ahLst/>
              <a:cxnLst/>
              <a:rect l="l" t="t" r="r" b="b"/>
              <a:pathLst>
                <a:path w="4810125" h="1952625">
                  <a:moveTo>
                    <a:pt x="0" y="762000"/>
                  </a:moveTo>
                  <a:cubicBezTo>
                    <a:pt x="0" y="142875"/>
                    <a:pt x="666750" y="0"/>
                    <a:pt x="1285875" y="0"/>
                  </a:cubicBezTo>
                  <a:lnTo>
                    <a:pt x="3476625" y="0"/>
                  </a:lnTo>
                  <a:cubicBezTo>
                    <a:pt x="4286250" y="0"/>
                    <a:pt x="4810125" y="428625"/>
                    <a:pt x="4810125" y="952500"/>
                  </a:cubicBezTo>
                  <a:cubicBezTo>
                    <a:pt x="4810125" y="1524000"/>
                    <a:pt x="4286250" y="1952625"/>
                    <a:pt x="3476625" y="1952625"/>
                  </a:cubicBezTo>
                  <a:lnTo>
                    <a:pt x="1285875" y="1952625"/>
                  </a:lnTo>
                  <a:cubicBezTo>
                    <a:pt x="666750" y="1952625"/>
                    <a:pt x="0" y="1571625"/>
                    <a:pt x="0" y="1143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3143250"/>
              <a:ext cx="1619250" cy="781050"/>
              <a:chOff x="1000125" y="3143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1" name="Freeform 11"/>
              <p:cNvSpPr/>
              <p:nvPr/>
            </p:nvSpPr>
            <p:spPr>
              <a:xfrm>
                <a:off x="1000125" y="3143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78077" y="3314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登记建档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32427" y="3598545"/>
                <a:ext cx="754647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编号 / 责任人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714625" y="2381250"/>
              <a:ext cx="1619250" cy="781050"/>
              <a:chOff x="2714625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2714625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2577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状态评估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6682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可用 / 待修 / 封存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572000" y="2381250"/>
              <a:ext cx="1619250" cy="781050"/>
              <a:chOff x="4572000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9" name="Freeform 19"/>
              <p:cNvSpPr/>
              <p:nvPr/>
            </p:nvSpPr>
            <p:spPr>
              <a:xfrm>
                <a:off x="4572000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9952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批准使用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74057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责任 / 条件 / 期限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4095750"/>
              <a:ext cx="1809750" cy="781050"/>
              <a:chOff x="3810000" y="4095750"/>
              <a:chExt cx="18097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3" name="Freeform 23"/>
              <p:cNvSpPr/>
              <p:nvPr/>
            </p:nvSpPr>
            <p:spPr>
              <a:xfrm>
                <a:off x="3810000" y="4095750"/>
                <a:ext cx="18097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781050">
                    <a:moveTo>
                      <a:pt x="152400" y="0"/>
                    </a:moveTo>
                    <a:lnTo>
                      <a:pt x="1657350" y="0"/>
                    </a:lnTo>
                    <a:cubicBezTo>
                      <a:pt x="1741518" y="0"/>
                      <a:pt x="1809750" y="68232"/>
                      <a:pt x="1809750" y="152400"/>
                    </a:cubicBezTo>
                    <a:lnTo>
                      <a:pt x="1809750" y="628650"/>
                    </a:lnTo>
                    <a:cubicBezTo>
                      <a:pt x="1809750" y="712818"/>
                      <a:pt x="1741518" y="781050"/>
                      <a:pt x="16573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3202" y="42672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履历更新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86149" y="4551045"/>
                <a:ext cx="1257452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维修 / 点检 / 变更证据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99160" y="5069681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治理字段：目的｜责任｜输入｜输出｜记录｜控制点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572375" y="1952625"/>
              <a:ext cx="4048125" cy="3524250"/>
            </a:xfrm>
            <a:custGeom>
              <a:avLst/>
              <a:gdLst/>
              <a:ahLst/>
              <a:cxnLst/>
              <a:rect l="l" t="t" r="r" b="b"/>
              <a:pathLst>
                <a:path w="4048125" h="3524250">
                  <a:moveTo>
                    <a:pt x="209550" y="0"/>
                  </a:moveTo>
                  <a:lnTo>
                    <a:pt x="3838575" y="0"/>
                  </a:lnTo>
                  <a:cubicBezTo>
                    <a:pt x="3954306" y="0"/>
                    <a:pt x="4048125" y="93819"/>
                    <a:pt x="4048125" y="209550"/>
                  </a:cubicBezTo>
                  <a:lnTo>
                    <a:pt x="4048125" y="3314700"/>
                  </a:lnTo>
                  <a:cubicBezTo>
                    <a:pt x="4048125" y="3430431"/>
                    <a:pt x="3954306" y="3524250"/>
                    <a:pt x="3838575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1F2D3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2095500"/>
              <a:ext cx="3762375" cy="25717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715250" y="2095500"/>
              <a:ext cx="3762375" cy="2571750"/>
            </a:xfrm>
            <a:prstGeom prst="rect">
              <a:avLst/>
            </a:prstGeom>
            <a:solidFill>
              <a:srgbClr val="1F2D3D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4993" y="4822508"/>
              <a:ext cx="2139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模具不是“设备清单”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0" y="513635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9BA"/>
                  </a:solidFill>
                  <a:latin typeface="Arial"/>
                  <a:ea typeface="Microsoft YaHei"/>
                  <a:cs typeface="Arial"/>
                </a:rPr>
                <a:t>而是有状态、有责任、有批准、有履历的关键资源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20｜跨部门交接标准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327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用输入包—完整性闸口—验收包—受控执行表达责任转移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交接只有在完整性闸口通过后才进入下一部门；缺项或版本不一致必须退回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137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交出方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37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190" y="2966085"/>
            <a:ext cx="18618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版本 / 数量 / 状态 / 期限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2809875"/>
            <a:ext cx="3238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1" name="Rectangle 11"/>
          <p:cNvSpPr/>
          <p:nvPr/>
        </p:nvSpPr>
        <p:spPr>
          <a:xfrm>
            <a:off x="3333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019169" y="22993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完整性闸口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99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四项检查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8361" y="2966085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资料齐全｜版本一致｜责任期限｜验收标准</a:t>
            </a:r>
          </a:p>
        </p:txBody>
      </p:sp>
      <p:sp>
        <p:nvSpPr>
          <p:cNvPr id="15" name="Line 15"/>
          <p:cNvSpPr/>
          <p:nvPr/>
        </p:nvSpPr>
        <p:spPr>
          <a:xfrm>
            <a:off x="5524500" y="2809875"/>
            <a:ext cx="514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6" name="Rectangle 16"/>
          <p:cNvSpPr/>
          <p:nvPr/>
        </p:nvSpPr>
        <p:spPr>
          <a:xfrm>
            <a:off x="61912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0382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接收方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82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验收包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87033" y="2966085"/>
            <a:ext cx="19991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确认 / 差异记录 / 受控任务</a:t>
            </a:r>
          </a:p>
        </p:txBody>
      </p:sp>
      <p:sp>
        <p:nvSpPr>
          <p:cNvPr id="20" name="Line 20"/>
          <p:cNvSpPr/>
          <p:nvPr/>
        </p:nvSpPr>
        <p:spPr>
          <a:xfrm>
            <a:off x="8382000" y="2809875"/>
            <a:ext cx="514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1" name="Rectangle 21"/>
          <p:cNvSpPr/>
          <p:nvPr/>
        </p:nvSpPr>
        <p:spPr>
          <a:xfrm>
            <a:off x="9048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814941" y="22993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受控执行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14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责任承接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82989" y="2966085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异常升级 / 截止日期 / 输出证据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524250"/>
            <a:ext cx="2333625" cy="1238250"/>
          </a:xfrm>
          <a:custGeom>
            <a:avLst/>
            <a:gdLst/>
            <a:ahLst/>
            <a:cxnLst/>
            <a:rect l="l" t="t" r="r" b="b"/>
            <a:pathLst>
              <a:path w="2333625" h="1238250">
                <a:moveTo>
                  <a:pt x="2333625" y="0"/>
                </a:moveTo>
                <a:cubicBezTo>
                  <a:pt x="2000250" y="1047750"/>
                  <a:pt x="285750" y="1238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2027377" y="4632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缺项 / 版本不一致：退回补齐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1381125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101340" y="153733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交接证据：清单、版本号、接收确认、差异记录、责任人、截止日期、异常升级记录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21｜文件编制与版本控制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让新版本可追溯、可批准、可培训，旧版本可隔离和回收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主环表示受控文件生命周期；红色分支表示旧版隔离、回收和作废</a:t>
            </a:r>
          </a:p>
        </p:txBody>
      </p:sp>
      <p:sp>
        <p:nvSpPr>
          <p:cNvPr id="6" name="Rectangle 6"/>
          <p:cNvSpPr/>
          <p:nvPr/>
        </p:nvSpPr>
        <p:spPr>
          <a:xfrm>
            <a:off x="6191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563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起草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3272" y="2908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需求｜版本号</a:t>
            </a:r>
          </a:p>
        </p:txBody>
      </p:sp>
      <p:sp>
        <p:nvSpPr>
          <p:cNvPr id="9" name="Line 9"/>
          <p:cNvSpPr/>
          <p:nvPr/>
        </p:nvSpPr>
        <p:spPr>
          <a:xfrm>
            <a:off x="2428875" y="2857500"/>
            <a:ext cx="2857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7908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280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665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专业意见</a:t>
            </a:r>
          </a:p>
        </p:txBody>
      </p:sp>
      <p:sp>
        <p:nvSpPr>
          <p:cNvPr id="13" name="Line 13"/>
          <p:cNvSpPr/>
          <p:nvPr/>
        </p:nvSpPr>
        <p:spPr>
          <a:xfrm>
            <a:off x="4600575" y="2857500"/>
            <a:ext cx="2857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9625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538216" y="26041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批准发布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382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受控清单</a:t>
            </a:r>
          </a:p>
        </p:txBody>
      </p:sp>
      <p:sp>
        <p:nvSpPr>
          <p:cNvPr id="17" name="Line 17"/>
          <p:cNvSpPr/>
          <p:nvPr/>
        </p:nvSpPr>
        <p:spPr>
          <a:xfrm>
            <a:off x="6772275" y="2857500"/>
            <a:ext cx="2857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1342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29144" y="26041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执行与培训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099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使用记录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943975" y="2857500"/>
            <a:ext cx="2857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3059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837191" y="26041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复审/修订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00844" y="29089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触发新版本</a:t>
            </a:r>
          </a:p>
        </p:txBody>
      </p:sp>
      <p:sp>
        <p:nvSpPr>
          <p:cNvPr id="25" name="Freeform 25"/>
          <p:cNvSpPr/>
          <p:nvPr/>
        </p:nvSpPr>
        <p:spPr>
          <a:xfrm>
            <a:off x="3333750" y="3476625"/>
            <a:ext cx="4524375" cy="1666875"/>
          </a:xfrm>
          <a:custGeom>
            <a:avLst/>
            <a:gdLst/>
            <a:ahLst/>
            <a:cxnLst/>
            <a:rect l="l" t="t" r="r" b="b"/>
            <a:pathLst>
              <a:path w="4524375" h="1666875">
                <a:moveTo>
                  <a:pt x="4524375" y="0"/>
                </a:moveTo>
                <a:cubicBezTo>
                  <a:pt x="4476750" y="1285875"/>
                  <a:pt x="2381250" y="1666875"/>
                  <a:pt x="0" y="1190625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3836670" y="4966335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旧版本：隔离、回收、标识、留痕，不回流主流程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证据：版本清单｜审批记录｜发布通知｜培训记录｜旧版回收记录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902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 · RECORD TRACEABILITY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1323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记录要能形成、找到、看懂，并在到期时有依据地处置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65960"/>
            <a:ext cx="43799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形成 → 审核 → 编码归档 → 权限保存 → 检索借阅 → 到期处置</a:t>
            </a:r>
          </a:p>
        </p:txBody>
      </p:sp>
      <p:sp>
        <p:nvSpPr>
          <p:cNvPr id="9" name="Line 9"/>
          <p:cNvSpPr/>
          <p:nvPr/>
        </p:nvSpPr>
        <p:spPr>
          <a:xfrm>
            <a:off x="1047750" y="2714625"/>
            <a:ext cx="7620000" cy="1"/>
          </a:xfrm>
          <a:prstGeom prst="line">
            <a:avLst/>
          </a:pr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838200" y="2314575"/>
            <a:ext cx="8420100" cy="800100"/>
            <a:chOff x="838200" y="2314575"/>
            <a:chExt cx="8420100" cy="800100"/>
          </a:xfrm>
        </p:grpSpPr>
        <p:sp>
          <p:nvSpPr>
            <p:cNvPr id="10" name="Ellipse 10"/>
            <p:cNvSpPr/>
            <p:nvPr/>
          </p:nvSpPr>
          <p:spPr>
            <a:xfrm>
              <a:off x="838200" y="2314575"/>
              <a:ext cx="800100" cy="800100"/>
            </a:xfrm>
            <a:prstGeom prst="ellipse">
              <a:avLst/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形成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362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86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审核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886200" y="2314575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0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归档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0" y="2314575"/>
              <a:ext cx="800100" cy="800100"/>
            </a:xfrm>
            <a:prstGeom prst="ellipse">
              <a:avLst/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保存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34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8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458200" y="2314575"/>
              <a:ext cx="800100" cy="800100"/>
            </a:xfrm>
            <a:prstGeom prst="ellipse">
              <a:avLst/>
            </a:prstGeom>
            <a:solidFill>
              <a:srgbClr val="FFF7DF"/>
            </a:solidFill>
            <a:ln w="19050">
              <a:solidFill>
                <a:srgbClr val="A8751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8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处置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4286250" y="314325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0" y="762000"/>
                </a:lnTo>
                <a:lnTo>
                  <a:pt x="5715000" y="76200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952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776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档案分层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916" y="41729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普通记录 · 受限记录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关键经营 / 质量记录</a:t>
            </a:r>
          </a:p>
        </p:txBody>
      </p:sp>
      <p:sp>
        <p:nvSpPr>
          <p:cNvPr id="28" name="Freeform 28"/>
          <p:cNvSpPr/>
          <p:nvPr/>
        </p:nvSpPr>
        <p:spPr>
          <a:xfrm>
            <a:off x="38100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2E7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43592" y="38628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权限与留痕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0416" y="4172902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谁可看 · 谁借阅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904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访问记录 · 归还记录</a:t>
            </a:r>
          </a:p>
        </p:txBody>
      </p:sp>
      <p:sp>
        <p:nvSpPr>
          <p:cNvPr id="32" name="Freeform 32"/>
          <p:cNvSpPr/>
          <p:nvPr/>
        </p:nvSpPr>
        <p:spPr>
          <a:xfrm>
            <a:off x="6667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A8751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1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到期决策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7916" y="41729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保留 / 延期 / 销毁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7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审批依据 · 处置留痕</a:t>
            </a:r>
          </a:p>
        </p:txBody>
      </p:sp>
      <p:sp>
        <p:nvSpPr>
          <p:cNvPr id="36" name="Freeform 36"/>
          <p:cNvSpPr/>
          <p:nvPr/>
        </p:nvSpPr>
        <p:spPr>
          <a:xfrm>
            <a:off x="9334500" y="2000250"/>
            <a:ext cx="2000250" cy="1809750"/>
          </a:xfrm>
          <a:custGeom>
            <a:avLst/>
            <a:gdLst/>
            <a:ahLst/>
            <a:cxnLst/>
            <a:rect l="l" t="t" r="r" b="b"/>
            <a:pathLst>
              <a:path w="2000250" h="1809750">
                <a:moveTo>
                  <a:pt x="171450" y="0"/>
                </a:moveTo>
                <a:lnTo>
                  <a:pt x="1828800" y="0"/>
                </a:lnTo>
                <a:cubicBezTo>
                  <a:pt x="1923489" y="0"/>
                  <a:pt x="2000250" y="76761"/>
                  <a:pt x="2000250" y="171450"/>
                </a:cubicBezTo>
                <a:lnTo>
                  <a:pt x="2000250" y="1638300"/>
                </a:lnTo>
                <a:cubicBezTo>
                  <a:pt x="2000250" y="1732989"/>
                  <a:pt x="1923489" y="1809750"/>
                  <a:pt x="182880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50707" y="2235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可追溯标准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09785" y="2640806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有唯一标识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09785" y="2974181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找得到原记录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09785" y="3307556"/>
            <a:ext cx="12002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看得到访问痕迹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09785" y="3640931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处置有批准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7169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主线＝记录时间轴 下方＝档案分层与权限控制 处置必须保留决策证据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23｜人员能力与岗位授权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596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能力确认阶梯 + 授权生命周期：证据齐全后授权，变化触发复核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181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培训不等于授权：能力确认是权限打开前的闸门，失效时立即暂停或回收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46860" y="2061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培训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5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培训记录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52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评价结果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岗位授权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19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授权批准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286000"/>
            <a:ext cx="4000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有效维护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6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复核日期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" y="3524250"/>
            <a:ext cx="103822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6404" y="37757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授权生命周期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6404" y="4156710"/>
            <a:ext cx="53027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维护与复核 → 复训 / 调岗 / 替代 → 失效时暂停 → 离岗或不合格时回收权限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9620250" y="2762250"/>
            <a:ext cx="1428750" cy="1714500"/>
          </a:xfrm>
          <a:custGeom>
            <a:avLst/>
            <a:gdLst/>
            <a:ahLst/>
            <a:cxnLst/>
            <a:rect l="l" t="t" r="r" b="b"/>
            <a:pathLst>
              <a:path w="1428750" h="1714500">
                <a:moveTo>
                  <a:pt x="666750" y="0"/>
                </a:moveTo>
                <a:cubicBezTo>
                  <a:pt x="1428750" y="476250"/>
                  <a:pt x="1428750" y="1714500"/>
                  <a:pt x="0" y="171450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5" name="TextBox 25"/>
          <p:cNvSpPr txBox="1"/>
          <p:nvPr/>
        </p:nvSpPr>
        <p:spPr>
          <a:xfrm>
            <a:off x="8794318" y="501396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能力失效：暂停 / 回收</a:t>
            </a:r>
          </a:p>
        </p:txBody>
      </p:sp>
      <p:sp>
        <p:nvSpPr>
          <p:cNvPr id="26" name="Line 26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24｜客户资料与信息权限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权限矩阵与控制闭环：按需批准、使用留痕、变化即回收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权限矩阵只回答“谁可以做什么”；申请、批准、留痕和回收另列为控制闭环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8051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资料类型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2266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7505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业务/营运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981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4650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技术/品质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695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04788" y="17754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410450" y="1619250"/>
            <a:ext cx="2286000" cy="457200"/>
          </a:xfrm>
          <a:prstGeom prst="rect">
            <a:avLst/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22426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控制动作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52450" y="20764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7628" y="22802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报价 / 订单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66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956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981450" y="207645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590288" y="2280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需审批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695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385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10450" y="20764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973873" y="22802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申请→批准→留痕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52450" y="26289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87628" y="28327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图纸 / 工艺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266950" y="262890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875788" y="28327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按项目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9814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710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6959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3855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410450" y="26289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018297" y="28327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项目结束→复核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52450" y="31813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7628" y="33851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 / 客诉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266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956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9814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710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695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85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410450" y="31813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973873" y="33851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异常→上报→关闭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52450" y="37338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87628" y="39376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经营 / 人事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2669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8757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9814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902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695950" y="37338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385560" y="39376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410450" y="37338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018297" y="39376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离岗→立即回收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52450" y="4524375"/>
            <a:ext cx="11144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74954" y="4680585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权限控制闭环：四个动作对应矩阵中的每一次权限变化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81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592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 申请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38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说明业务需要</a:t>
            </a:r>
          </a:p>
        </p:txBody>
      </p:sp>
      <p:sp>
        <p:nvSpPr>
          <p:cNvPr id="61" name="Line 61"/>
          <p:cNvSpPr/>
          <p:nvPr/>
        </p:nvSpPr>
        <p:spPr>
          <a:xfrm>
            <a:off x="2876550" y="5248275"/>
            <a:ext cx="4762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62" name="Rectangle 62"/>
          <p:cNvSpPr/>
          <p:nvPr/>
        </p:nvSpPr>
        <p:spPr>
          <a:xfrm>
            <a:off x="3448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4259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 批准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05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最小必要权限</a:t>
            </a:r>
          </a:p>
        </p:txBody>
      </p:sp>
      <p:sp>
        <p:nvSpPr>
          <p:cNvPr id="65" name="Line 65"/>
          <p:cNvSpPr/>
          <p:nvPr/>
        </p:nvSpPr>
        <p:spPr>
          <a:xfrm>
            <a:off x="5543550" y="5248275"/>
            <a:ext cx="4762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66" name="Rectangle 66"/>
          <p:cNvSpPr/>
          <p:nvPr/>
        </p:nvSpPr>
        <p:spPr>
          <a:xfrm>
            <a:off x="6115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764960" y="5090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 使用留痕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52844" y="52520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访问可追溯</a:t>
            </a:r>
          </a:p>
        </p:txBody>
      </p:sp>
      <p:sp>
        <p:nvSpPr>
          <p:cNvPr id="69" name="Line 69"/>
          <p:cNvSpPr/>
          <p:nvPr/>
        </p:nvSpPr>
        <p:spPr>
          <a:xfrm>
            <a:off x="8210550" y="5248275"/>
            <a:ext cx="4762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70" name="Rectangle 70"/>
          <p:cNvSpPr/>
          <p:nvPr/>
        </p:nvSpPr>
        <p:spPr>
          <a:xfrm>
            <a:off x="8782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387535" y="5090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4 复核/回收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935212" y="5252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岗位变化或异常立即处理</a:t>
            </a:r>
          </a:p>
        </p:txBody>
      </p:sp>
      <p:sp>
        <p:nvSpPr>
          <p:cNvPr id="73" name="Line 7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8177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 · MANAGEMENT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会议不是终点：决定必须转化为责任、期限、验证和关闭证据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095875" y="2524125"/>
            <a:ext cx="2000250" cy="2000250"/>
          </a:xfrm>
          <a:prstGeom prst="ellipse">
            <a:avLst/>
          </a:prstGeom>
          <a:solidFill>
            <a:srgbClr val="EAF0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21160" y="3250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经营会议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413" y="36123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管理评审 / 决策中心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2095500"/>
            <a:ext cx="10287000" cy="3095625"/>
            <a:chOff x="952500" y="2095500"/>
            <a:chExt cx="10287000" cy="3095625"/>
          </a:xfrm>
        </p:grpSpPr>
        <p:sp>
          <p:nvSpPr>
            <p:cNvPr id="11" name="Freeform 11"/>
            <p:cNvSpPr/>
            <p:nvPr/>
          </p:nvSpPr>
          <p:spPr>
            <a:xfrm>
              <a:off x="952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8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数据输入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304" y="25727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交付 · 质量 · 供应 · 现金 · 能力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953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29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会议输出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9905" y="25727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决定 · 责任人 · 期限 · 验收标准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952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8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跟踪验证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4086" y="48110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按期检查结果与证据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953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29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归档关闭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4485" y="481107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完成证据 · 复盘结论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23850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752475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752475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7" name="Freeform 27"/>
          <p:cNvSpPr/>
          <p:nvPr/>
        </p:nvSpPr>
        <p:spPr>
          <a:xfrm>
            <a:off x="323850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2095500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809625"/>
                </a:moveTo>
                <a:lnTo>
                  <a:pt x="0" y="0"/>
                </a:lnTo>
                <a:lnTo>
                  <a:pt x="3000375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7096125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0"/>
                </a:moveTo>
                <a:lnTo>
                  <a:pt x="3000375" y="0"/>
                </a:lnTo>
                <a:lnTo>
                  <a:pt x="3000375" y="809625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0" name="Freeform 30"/>
          <p:cNvSpPr/>
          <p:nvPr/>
        </p:nvSpPr>
        <p:spPr>
          <a:xfrm>
            <a:off x="2095500" y="476250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4000" y="0"/>
                </a:moveTo>
                <a:lnTo>
                  <a:pt x="9144000" y="952500"/>
                </a:lnTo>
                <a:lnTo>
                  <a:pt x="0" y="952500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4795803" y="5525452"/>
            <a:ext cx="3743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未完成 / 验证不通过：红色升级，回到责任人和决策中心</a:t>
            </a:r>
          </a:p>
        </p:txBody>
      </p:sp>
      <p:sp>
        <p:nvSpPr>
          <p:cNvPr id="32" name="Freeform 32"/>
          <p:cNvSpPr/>
          <p:nvPr/>
        </p:nvSpPr>
        <p:spPr>
          <a:xfrm>
            <a:off x="4381500" y="5905500"/>
            <a:ext cx="3429000" cy="323850"/>
          </a:xfrm>
          <a:custGeom>
            <a:avLst/>
            <a:gdLst/>
            <a:ahLst/>
            <a:cxnLst/>
            <a:rect l="l" t="t" r="r" b="b"/>
            <a:pathLst>
              <a:path w="3429000" h="323850">
                <a:moveTo>
                  <a:pt x="161925" y="0"/>
                </a:moveTo>
                <a:lnTo>
                  <a:pt x="3267075" y="0"/>
                </a:lnTo>
                <a:cubicBezTo>
                  <a:pt x="3356504" y="0"/>
                  <a:pt x="3429000" y="72496"/>
                  <a:pt x="3429000" y="161925"/>
                </a:cubicBezTo>
                <a:lnTo>
                  <a:pt x="3429000" y="161925"/>
                </a:lnTo>
                <a:cubicBezTo>
                  <a:pt x="3429000" y="251354"/>
                  <a:pt x="3356504" y="323850"/>
                  <a:pt x="3267075" y="323850"/>
                </a:cubicBezTo>
                <a:lnTo>
                  <a:pt x="161925" y="323850"/>
                </a:lnTo>
                <a:cubicBezTo>
                  <a:pt x="72496" y="323850"/>
                  <a:pt x="0" y="251354"/>
                  <a:pt x="0" y="16192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011479" y="6009799"/>
            <a:ext cx="21690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会议纪要 ≠ 关闭证据 关闭必须可验证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蓝色＝会议中心 青绿色＝输入/关闭 橙色＝决定 红色虚线＝逾期升级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26｜管理指标看板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90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用目标—实际—趋势—异常—决策组织经营指标，不以普通卡片代替看板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312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看板阅读顺序：目标/实际 → 趋势 → 异常风险 → 管理决策；数值与责任人待正式口径确认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970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9704" y="1908810"/>
            <a:ext cx="1207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OTD / 准时交付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97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97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12" name="Polyline 12"/>
          <p:cNvSpPr/>
          <p:nvPr/>
        </p:nvSpPr>
        <p:spPr>
          <a:xfrm>
            <a:off x="25717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13" name="Line 13"/>
          <p:cNvSpPr/>
          <p:nvPr/>
        </p:nvSpPr>
        <p:spPr>
          <a:xfrm>
            <a:off x="24955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21005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21005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9445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94454" y="19088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一次合格率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9445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9445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0" name="Polyline 20"/>
          <p:cNvSpPr/>
          <p:nvPr/>
        </p:nvSpPr>
        <p:spPr>
          <a:xfrm>
            <a:off x="628650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7657B8"/>
            </a:solidFill>
          </a:ln>
        </p:spPr>
      </p:sp>
      <p:sp>
        <p:nvSpPr>
          <p:cNvPr id="21" name="Line 21"/>
          <p:cNvSpPr/>
          <p:nvPr/>
        </p:nvSpPr>
        <p:spPr>
          <a:xfrm>
            <a:off x="621030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9248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9248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109204" y="167068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采购/库存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09204" y="19088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交期与库存覆盖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092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092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8" name="Polyline 28"/>
          <p:cNvSpPr/>
          <p:nvPr/>
        </p:nvSpPr>
        <p:spPr>
          <a:xfrm>
            <a:off x="100012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1C9C8C"/>
            </a:solidFill>
          </a:ln>
        </p:spPr>
      </p:sp>
      <p:sp>
        <p:nvSpPr>
          <p:cNvPr id="29" name="Line 29"/>
          <p:cNvSpPr/>
          <p:nvPr/>
        </p:nvSpPr>
        <p:spPr>
          <a:xfrm>
            <a:off x="99250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953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953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704" y="34328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现金/成本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9704" y="367093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采购成本 / 回款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97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97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36" name="Polyline 36"/>
          <p:cNvSpPr/>
          <p:nvPr/>
        </p:nvSpPr>
        <p:spPr>
          <a:xfrm>
            <a:off x="25717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C56A25"/>
            </a:solidFill>
          </a:ln>
        </p:spPr>
      </p:sp>
      <p:sp>
        <p:nvSpPr>
          <p:cNvPr id="37" name="Line 37"/>
          <p:cNvSpPr/>
          <p:nvPr/>
        </p:nvSpPr>
        <p:spPr>
          <a:xfrm>
            <a:off x="24955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21005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21005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394454" y="3432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94454" y="36709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关键岗位覆盖率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9445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9445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44" name="Polyline 44"/>
          <p:cNvSpPr/>
          <p:nvPr/>
        </p:nvSpPr>
        <p:spPr>
          <a:xfrm>
            <a:off x="628650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45" name="Line 45"/>
          <p:cNvSpPr/>
          <p:nvPr/>
        </p:nvSpPr>
        <p:spPr>
          <a:xfrm>
            <a:off x="621030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9248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79248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109204" y="3432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整改闭环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09204" y="3670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逾期与复发项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092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092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52" name="Polyline 52"/>
          <p:cNvSpPr/>
          <p:nvPr/>
        </p:nvSpPr>
        <p:spPr>
          <a:xfrm>
            <a:off x="100012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D95C5C"/>
            </a:solidFill>
          </a:ln>
        </p:spPr>
      </p:sp>
      <p:sp>
        <p:nvSpPr>
          <p:cNvPr id="53" name="Line 53"/>
          <p:cNvSpPr/>
          <p:nvPr/>
        </p:nvSpPr>
        <p:spPr>
          <a:xfrm>
            <a:off x="99250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495300" y="5286375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17804" y="543306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 / 需要关注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7804" y="56616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指标偏离目标、逾期或复发项：待确认后列入责任人和期限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0" y="5286375"/>
            <a:ext cx="5600700" cy="68580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18504" y="54330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管理层决策区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18504" y="56616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本周期需决策事项：资源、优先级、升级或目标调整（待确认）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27｜风险登记与升级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风险点先定位，再按编号直接映射到触发等级和责任层级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704" y="1108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风险热力图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704" y="1318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横轴：可能性 纵轴：影响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3352800"/>
            <a:ext cx="514350" cy="514350"/>
          </a:xfrm>
          <a:prstGeom prst="rect">
            <a:avLst/>
          </a:prstGeom>
          <a:solidFill>
            <a:srgbClr val="EAF7F4"/>
          </a:solidFill>
          <a:ln w="952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390650" y="335280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905000" y="33528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419350" y="33528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" y="283845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390650" y="283845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90500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41935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76300" y="23241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3906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193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763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3906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4193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587932" y="39662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可能性 →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180137" y="2740152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影响 ↑</a:t>
            </a:r>
          </a:p>
        </p:txBody>
      </p:sp>
      <p:sp>
        <p:nvSpPr>
          <p:cNvPr id="25" name="Ellipse 25"/>
          <p:cNvSpPr/>
          <p:nvPr/>
        </p:nvSpPr>
        <p:spPr>
          <a:xfrm>
            <a:off x="1485900" y="2933700"/>
            <a:ext cx="323850" cy="323850"/>
          </a:xfrm>
          <a:prstGeom prst="ellipse">
            <a:avLst/>
          </a:prstGeom>
          <a:solidFill>
            <a:srgbClr val="A8751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53972" y="30041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27" name="Ellipse 27"/>
          <p:cNvSpPr/>
          <p:nvPr/>
        </p:nvSpPr>
        <p:spPr>
          <a:xfrm>
            <a:off x="2000250" y="2419350"/>
            <a:ext cx="323850" cy="32385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68322" y="248983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29" name="Ellipse 29"/>
          <p:cNvSpPr/>
          <p:nvPr/>
        </p:nvSpPr>
        <p:spPr>
          <a:xfrm>
            <a:off x="2514600" y="1905000"/>
            <a:ext cx="323850" cy="323850"/>
          </a:xfrm>
          <a:prstGeom prst="ellipse">
            <a:avLst/>
          </a:prstGeom>
          <a:solidFill>
            <a:srgbClr val="D95C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482672" y="19754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" y="4333875"/>
            <a:ext cx="2362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9254" y="44234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颜色仅表示风险等级分区；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254" y="4613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正式阈值、时限和岗位待确认。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9254" y="48044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编号用于右侧责任映射。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24250" y="1143000"/>
            <a:ext cx="809625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03904" y="1375410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风险编号 → 触发等级 → 责任层级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03904" y="16230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不使用长曲线推断；每个风险编号直接落到一条责任路径。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0" y="214312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A8751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057612" y="234553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40" name="Line 40"/>
          <p:cNvSpPr/>
          <p:nvPr/>
        </p:nvSpPr>
        <p:spPr>
          <a:xfrm>
            <a:off x="4762500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91125" y="214312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A8751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02935" y="2337435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低/中</a:t>
            </a:r>
          </a:p>
        </p:txBody>
      </p:sp>
      <p:sp>
        <p:nvSpPr>
          <p:cNvPr id="43" name="Line 43"/>
          <p:cNvSpPr/>
          <p:nvPr/>
        </p:nvSpPr>
        <p:spPr>
          <a:xfrm>
            <a:off x="6315075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6743700" y="214312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A8751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3097" y="23374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业务线自处置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953500" y="2143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61704" y="22326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登记、设责任人、按期验证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3048000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57612" y="3250406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50" name="Line 50"/>
          <p:cNvSpPr/>
          <p:nvPr/>
        </p:nvSpPr>
        <p:spPr>
          <a:xfrm>
            <a:off x="4762500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5191125" y="304800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C56A2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02935" y="32423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中/高</a:t>
            </a:r>
          </a:p>
        </p:txBody>
      </p:sp>
      <p:sp>
        <p:nvSpPr>
          <p:cNvPr id="53" name="Line 53"/>
          <p:cNvSpPr/>
          <p:nvPr/>
        </p:nvSpPr>
        <p:spPr>
          <a:xfrm>
            <a:off x="6315075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4" name="Rectangle 54"/>
          <p:cNvSpPr/>
          <p:nvPr/>
        </p:nvSpPr>
        <p:spPr>
          <a:xfrm>
            <a:off x="6743700" y="3048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253097" y="3242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职能部门复核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953500" y="3048000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61704" y="31375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评估影响、设期限、必要时升级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0" y="395287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057612" y="415528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60" name="Line 60"/>
          <p:cNvSpPr/>
          <p:nvPr/>
        </p:nvSpPr>
        <p:spPr>
          <a:xfrm>
            <a:off x="4762500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1" name="Rectangle 61"/>
          <p:cNvSpPr/>
          <p:nvPr/>
        </p:nvSpPr>
        <p:spPr>
          <a:xfrm>
            <a:off x="5191125" y="395287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D95C5C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28132" y="414718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63" name="Line 63"/>
          <p:cNvSpPr/>
          <p:nvPr/>
        </p:nvSpPr>
        <p:spPr>
          <a:xfrm>
            <a:off x="6315075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6743700" y="395287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333869" y="41471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管理层介入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53500" y="39528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061704" y="40424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决策资源、确认措施、监督关闭</a:t>
            </a:r>
          </a:p>
        </p:txBody>
      </p:sp>
      <p:sp>
        <p:nvSpPr>
          <p:cNvPr id="68" name="Freeform 68"/>
          <p:cNvSpPr/>
          <p:nvPr/>
        </p:nvSpPr>
        <p:spPr>
          <a:xfrm>
            <a:off x="5191125" y="485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552825" y="0"/>
                </a:moveTo>
                <a:cubicBezTo>
                  <a:pt x="2905125" y="571500"/>
                  <a:pt x="714375" y="5715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69" name="TextBox 69"/>
          <p:cNvSpPr txBox="1"/>
          <p:nvPr/>
        </p:nvSpPr>
        <p:spPr>
          <a:xfrm>
            <a:off x="5528310" y="549021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验证失败：返回对应编号重新登记；验证通过：形成关闭证据</a:t>
            </a:r>
          </a:p>
        </p:txBody>
      </p:sp>
      <p:sp>
        <p:nvSpPr>
          <p:cNvPr id="70" name="Line 7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28｜安全、环保与应急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1719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发现—处置—上报—调查—整改—验证，现场与管理层共同承接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现场先控制人身与环境风险，再按分级要求上报、调查、整改和验证</a:t>
            </a:r>
          </a:p>
        </p:txBody>
      </p:sp>
      <p:sp>
        <p:nvSpPr>
          <p:cNvPr id="6" name="Rectangle 6"/>
          <p:cNvSpPr/>
          <p:nvPr/>
        </p:nvSpPr>
        <p:spPr>
          <a:xfrm>
            <a:off x="52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7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5241" y="29184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检查 / 事件</a:t>
            </a:r>
          </a:p>
        </p:txBody>
      </p:sp>
      <p:sp>
        <p:nvSpPr>
          <p:cNvPr id="9" name="Line 9"/>
          <p:cNvSpPr/>
          <p:nvPr/>
        </p:nvSpPr>
        <p:spPr>
          <a:xfrm>
            <a:off x="2190750" y="2867025"/>
            <a:ext cx="1809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2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2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现场处置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33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095750" y="2867025"/>
            <a:ext cx="1809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33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725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逐级上报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38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按级报告</a:t>
            </a:r>
          </a:p>
        </p:txBody>
      </p:sp>
      <p:sp>
        <p:nvSpPr>
          <p:cNvPr id="17" name="Line 17"/>
          <p:cNvSpPr/>
          <p:nvPr/>
        </p:nvSpPr>
        <p:spPr>
          <a:xfrm>
            <a:off x="6000750" y="2867025"/>
            <a:ext cx="1809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23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63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责任调查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95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 / 原因 / 证据</a:t>
            </a:r>
          </a:p>
        </p:txBody>
      </p:sp>
      <p:sp>
        <p:nvSpPr>
          <p:cNvPr id="21" name="Line 21"/>
          <p:cNvSpPr/>
          <p:nvPr/>
        </p:nvSpPr>
        <p:spPr>
          <a:xfrm>
            <a:off x="7905750" y="2867025"/>
            <a:ext cx="1809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14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9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整改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00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措施 / 责任 / 记录</a:t>
            </a:r>
          </a:p>
        </p:txBody>
      </p:sp>
      <p:sp>
        <p:nvSpPr>
          <p:cNvPr id="25" name="Line 25"/>
          <p:cNvSpPr/>
          <p:nvPr/>
        </p:nvSpPr>
        <p:spPr>
          <a:xfrm>
            <a:off x="9810750" y="2867025"/>
            <a:ext cx="1809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04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44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验证关闭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79469" y="2918460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效果 / 防复发</a:t>
            </a:r>
          </a:p>
        </p:txBody>
      </p:sp>
      <p:sp>
        <p:nvSpPr>
          <p:cNvPr id="29" name="Freeform 29"/>
          <p:cNvSpPr/>
          <p:nvPr/>
        </p:nvSpPr>
        <p:spPr>
          <a:xfrm>
            <a:off x="3333750" y="3905250"/>
            <a:ext cx="7143750" cy="1619250"/>
          </a:xfrm>
          <a:custGeom>
            <a:avLst/>
            <a:gdLst/>
            <a:ahLst/>
            <a:cxnLst/>
            <a:rect l="l" t="t" r="r" b="b"/>
            <a:pathLst>
              <a:path w="7143750" h="1619250">
                <a:moveTo>
                  <a:pt x="7143750" y="0"/>
                </a:moveTo>
                <a:cubicBezTo>
                  <a:pt x="6191250" y="1428750"/>
                  <a:pt x="1428750" y="1619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789752" y="5394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未通过 / 复发：再调查或升级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828288" y="15849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响应级别、通知时限和责任岗位：待确认，以正式应急文件为准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29｜内部检查与管理评审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44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计划—检查—分级—评审—跟踪，形成可回到下一轮的管理回路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按过程检查证据，再由管理评审形成决策；跟踪结果进入下一轮检查</a:t>
            </a:r>
          </a:p>
        </p:txBody>
      </p:sp>
      <p:sp>
        <p:nvSpPr>
          <p:cNvPr id="6" name="Rectangle 6"/>
          <p:cNvSpPr/>
          <p:nvPr/>
        </p:nvSpPr>
        <p:spPr>
          <a:xfrm>
            <a:off x="714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48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制定计划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8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范围｜过程｜证据</a:t>
            </a:r>
          </a:p>
        </p:txBody>
      </p:sp>
      <p:sp>
        <p:nvSpPr>
          <p:cNvPr id="9" name="Line 9"/>
          <p:cNvSpPr/>
          <p:nvPr/>
        </p:nvSpPr>
        <p:spPr>
          <a:xfrm>
            <a:off x="2667000" y="2867025"/>
            <a:ext cx="2571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000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34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过程检查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4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现场｜记录｜访谈</a:t>
            </a:r>
          </a:p>
        </p:txBody>
      </p:sp>
      <p:sp>
        <p:nvSpPr>
          <p:cNvPr id="13" name="Line 13"/>
          <p:cNvSpPr/>
          <p:nvPr/>
        </p:nvSpPr>
        <p:spPr>
          <a:xfrm>
            <a:off x="4953000" y="2867025"/>
            <a:ext cx="2571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5286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820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发现分级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10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事实｜风险｜整改</a:t>
            </a:r>
          </a:p>
        </p:txBody>
      </p:sp>
      <p:sp>
        <p:nvSpPr>
          <p:cNvPr id="17" name="Line 17"/>
          <p:cNvSpPr/>
          <p:nvPr/>
        </p:nvSpPr>
        <p:spPr>
          <a:xfrm>
            <a:off x="7239000" y="2867025"/>
            <a:ext cx="2571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572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106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管理评审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96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输入｜决策｜资源</a:t>
            </a:r>
          </a:p>
        </p:txBody>
      </p:sp>
      <p:sp>
        <p:nvSpPr>
          <p:cNvPr id="21" name="Line 21"/>
          <p:cNvSpPr/>
          <p:nvPr/>
        </p:nvSpPr>
        <p:spPr>
          <a:xfrm>
            <a:off x="9525000" y="2867025"/>
            <a:ext cx="2571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858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553967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跟踪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05503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关闭证据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905250"/>
            <a:ext cx="8858250" cy="1524000"/>
          </a:xfrm>
          <a:custGeom>
            <a:avLst/>
            <a:gdLst/>
            <a:ahLst/>
            <a:cxnLst/>
            <a:rect l="l" t="t" r="r" b="b"/>
            <a:pathLst>
              <a:path w="8858250" h="1524000">
                <a:moveTo>
                  <a:pt x="8858250" y="0"/>
                </a:moveTo>
                <a:cubicBezTo>
                  <a:pt x="8191500" y="1333500"/>
                  <a:pt x="1238250" y="1524000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5354574" y="5252085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跟踪结果：进入下一轮检查与评审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151376" y="15849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管理评审输入、输出和频次：待确认，以正式机制为准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30｜不符合项与整改关闭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488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登记—升级—找根因—措施—验证—关闭，并保留失败回路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不符合项不能只记录“已整改”；必须证明原因、措施、验证有效并控制复发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389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发现登记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8928" y="27089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事实｜证据｜来源</a:t>
            </a:r>
          </a:p>
        </p:txBody>
      </p:sp>
      <p:sp>
        <p:nvSpPr>
          <p:cNvPr id="9" name="Line 9"/>
          <p:cNvSpPr/>
          <p:nvPr/>
        </p:nvSpPr>
        <p:spPr>
          <a:xfrm flipH="1">
            <a:off x="419100" y="2667000"/>
            <a:ext cx="2990850" cy="1619250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5524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53893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分级升级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892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风险｜责任｜期限</a:t>
            </a:r>
          </a:p>
        </p:txBody>
      </p:sp>
      <p:sp>
        <p:nvSpPr>
          <p:cNvPr id="13" name="Line 13"/>
          <p:cNvSpPr/>
          <p:nvPr/>
        </p:nvSpPr>
        <p:spPr>
          <a:xfrm flipV="1">
            <a:off x="1981200" y="2057400"/>
            <a:ext cx="3714750" cy="2705100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26720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25368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24450" y="27089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根因｜复发控制</a:t>
            </a:r>
          </a:p>
        </p:txBody>
      </p:sp>
      <p:sp>
        <p:nvSpPr>
          <p:cNvPr id="17" name="Line 17"/>
          <p:cNvSpPr/>
          <p:nvPr/>
        </p:nvSpPr>
        <p:spPr>
          <a:xfrm flipH="1">
            <a:off x="4133850" y="2667000"/>
            <a:ext cx="2990850" cy="1619250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426720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25368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制定措施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367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 flipV="1">
            <a:off x="5695950" y="2057400"/>
            <a:ext cx="3714750" cy="27051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79819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9684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19972" y="27089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证据｜有效性</a:t>
            </a:r>
          </a:p>
        </p:txBody>
      </p:sp>
      <p:sp>
        <p:nvSpPr>
          <p:cNvPr id="25" name="Line 25"/>
          <p:cNvSpPr/>
          <p:nvPr/>
        </p:nvSpPr>
        <p:spPr>
          <a:xfrm flipH="1">
            <a:off x="7848600" y="2667000"/>
            <a:ext cx="2990850" cy="161925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79819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129979" y="4042410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00744" y="43281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批准｜留痕</a:t>
            </a:r>
          </a:p>
        </p:txBody>
      </p:sp>
      <p:sp>
        <p:nvSpPr>
          <p:cNvPr id="29" name="Freeform 29"/>
          <p:cNvSpPr/>
          <p:nvPr/>
        </p:nvSpPr>
        <p:spPr>
          <a:xfrm>
            <a:off x="7239000" y="3810000"/>
            <a:ext cx="4000500" cy="1619250"/>
          </a:xfrm>
          <a:custGeom>
            <a:avLst/>
            <a:gdLst/>
            <a:ahLst/>
            <a:cxnLst/>
            <a:rect l="l" t="t" r="r" b="b"/>
            <a:pathLst>
              <a:path w="4000500" h="1619250">
                <a:moveTo>
                  <a:pt x="3238500" y="0"/>
                </a:moveTo>
                <a:cubicBezTo>
                  <a:pt x="4000500" y="285750"/>
                  <a:pt x="4000500" y="1619250"/>
                  <a:pt x="2381250" y="1619250"/>
                </a:cubicBezTo>
                <a:cubicBezTo>
                  <a:pt x="952500" y="1619250"/>
                  <a:pt x="0" y="1238250"/>
                  <a:pt x="0" y="285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7879232" y="5680710"/>
            <a:ext cx="32915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 / 逾期 / 复发：再升级，不直接关闭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52450" y="5286375"/>
            <a:ext cx="6191250" cy="523875"/>
          </a:xfrm>
          <a:prstGeom prst="roundRect">
            <a:avLst>
              <a:gd name="adj" fmla="val 1272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703451" y="54711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责任岗位、整改期限和关闭权限：待正式授权文件确认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Freeform 9"/>
            <p:cNvSpPr/>
            <p:nvPr/>
          </p:nvSpPr>
          <p:spPr>
            <a:xfrm>
              <a:off x="1047750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4048125" y="185737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Freeform 17"/>
            <p:cNvSpPr/>
            <p:nvPr/>
          </p:nvSpPr>
          <p:spPr>
            <a:xfrm>
              <a:off x="7191375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048125" y="423862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Freeform 28"/>
          <p:cNvSpPr/>
          <p:nvPr/>
        </p:nvSpPr>
        <p:spPr>
          <a:xfrm>
            <a:off x="9906000" y="2190750"/>
            <a:ext cx="1428750" cy="2571750"/>
          </a:xfrm>
          <a:custGeom>
            <a:avLst/>
            <a:gdLst/>
            <a:ahLst/>
            <a:cxnLst/>
            <a:rect l="l" t="t" r="r" b="b"/>
            <a:pathLst>
              <a:path w="1428750" h="2571750">
                <a:moveTo>
                  <a:pt x="152400" y="0"/>
                </a:moveTo>
                <a:lnTo>
                  <a:pt x="1276350" y="0"/>
                </a:lnTo>
                <a:cubicBezTo>
                  <a:pt x="1360518" y="0"/>
                  <a:pt x="1428750" y="68232"/>
                  <a:pt x="1428750" y="152400"/>
                </a:cubicBezTo>
                <a:lnTo>
                  <a:pt x="1428750" y="2419350"/>
                </a:lnTo>
                <a:cubicBezTo>
                  <a:pt x="1428750" y="2503518"/>
                  <a:pt x="1360518" y="2571750"/>
                  <a:pt x="1276350" y="2571750"/>
                </a:cubicBezTo>
                <a:lnTo>
                  <a:pt x="152400" y="2571750"/>
                </a:lnTo>
                <a:cubicBezTo>
                  <a:pt x="68232" y="2571750"/>
                  <a:pt x="0" y="2503518"/>
                  <a:pt x="0" y="2419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256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 · RACI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41289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6770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示例：依据受控矩阵选取六项活动；部门与执行班组分列，财务部明确纳入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381000" y="1752600"/>
            <a:ext cx="23812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20432" y="1930241"/>
            <a:ext cx="502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ID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7622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9699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128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生产部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481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4558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9911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1987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340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9417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786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工程技术组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2199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746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冲压车间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9629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0645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模具维修组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7058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605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清洗车间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4488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5504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制程巡检组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01917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187416" y="1938338"/>
            <a:ext cx="75161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09347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11423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业务组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16776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8853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采购组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24206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26282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仓储组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" y="22383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214368" y="24241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订单评审｜004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7622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079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5052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8316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2481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5746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9911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3175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340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0797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770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8034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2199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75483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9629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2912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7058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342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8" name="Rectangle 58"/>
          <p:cNvSpPr/>
          <p:nvPr/>
        </p:nvSpPr>
        <p:spPr>
          <a:xfrm>
            <a:off x="94488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97771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01917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105201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2" name="Rectangle 62"/>
          <p:cNvSpPr/>
          <p:nvPr/>
        </p:nvSpPr>
        <p:spPr>
          <a:xfrm>
            <a:off x="109347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112611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4" name="Rectangle 64"/>
          <p:cNvSpPr/>
          <p:nvPr/>
        </p:nvSpPr>
        <p:spPr>
          <a:xfrm>
            <a:off x="116776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120041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6" name="Rectangle 66"/>
          <p:cNvSpPr/>
          <p:nvPr/>
        </p:nvSpPr>
        <p:spPr>
          <a:xfrm>
            <a:off x="124206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127470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8" name="Rectangle 68"/>
          <p:cNvSpPr/>
          <p:nvPr/>
        </p:nvSpPr>
        <p:spPr>
          <a:xfrm>
            <a:off x="381000" y="27336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1108355" y="2919412"/>
            <a:ext cx="92654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采购寻源下单｜005</a:t>
            </a:r>
          </a:p>
        </p:txBody>
      </p:sp>
      <p:sp>
        <p:nvSpPr>
          <p:cNvPr id="70" name="Rectangle 70"/>
          <p:cNvSpPr/>
          <p:nvPr/>
        </p:nvSpPr>
        <p:spPr>
          <a:xfrm>
            <a:off x="27622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3107969" y="28951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72" name="Rectangle 72"/>
          <p:cNvSpPr/>
          <p:nvPr/>
        </p:nvSpPr>
        <p:spPr>
          <a:xfrm>
            <a:off x="35052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383358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4" name="Rectangle 74"/>
          <p:cNvSpPr/>
          <p:nvPr/>
        </p:nvSpPr>
        <p:spPr>
          <a:xfrm>
            <a:off x="42481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45765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6" name="Rectangle 76"/>
          <p:cNvSpPr/>
          <p:nvPr/>
        </p:nvSpPr>
        <p:spPr>
          <a:xfrm>
            <a:off x="49911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53175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Rectangle 78"/>
          <p:cNvSpPr/>
          <p:nvPr/>
        </p:nvSpPr>
        <p:spPr>
          <a:xfrm>
            <a:off x="57340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60624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4770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68074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2" name="Rectangle 82"/>
          <p:cNvSpPr/>
          <p:nvPr/>
        </p:nvSpPr>
        <p:spPr>
          <a:xfrm>
            <a:off x="72199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75503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9629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82933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6" name="Rectangle 86"/>
          <p:cNvSpPr/>
          <p:nvPr/>
        </p:nvSpPr>
        <p:spPr>
          <a:xfrm>
            <a:off x="87058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90362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4488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97792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01917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05221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2" name="Rectangle 92"/>
          <p:cNvSpPr/>
          <p:nvPr/>
        </p:nvSpPr>
        <p:spPr>
          <a:xfrm>
            <a:off x="109347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112611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4" name="Rectangle 94"/>
          <p:cNvSpPr/>
          <p:nvPr/>
        </p:nvSpPr>
        <p:spPr>
          <a:xfrm>
            <a:off x="116776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1200412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6" name="Rectangle 96"/>
          <p:cNvSpPr/>
          <p:nvPr/>
        </p:nvSpPr>
        <p:spPr>
          <a:xfrm>
            <a:off x="124206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127470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8" name="Rectangle 98"/>
          <p:cNvSpPr/>
          <p:nvPr/>
        </p:nvSpPr>
        <p:spPr>
          <a:xfrm>
            <a:off x="381000" y="32289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1214368" y="34147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来料检验｜011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27622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30926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35052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3" name="TextBox 103"/>
          <p:cNvSpPr txBox="1"/>
          <p:nvPr/>
        </p:nvSpPr>
        <p:spPr>
          <a:xfrm>
            <a:off x="3850919" y="33904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2481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5" name="TextBox 105"/>
          <p:cNvSpPr txBox="1"/>
          <p:nvPr/>
        </p:nvSpPr>
        <p:spPr>
          <a:xfrm>
            <a:off x="45746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49911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7" name="TextBox 107"/>
          <p:cNvSpPr txBox="1"/>
          <p:nvPr/>
        </p:nvSpPr>
        <p:spPr>
          <a:xfrm>
            <a:off x="53194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57340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9" name="TextBox 109"/>
          <p:cNvSpPr txBox="1"/>
          <p:nvPr/>
        </p:nvSpPr>
        <p:spPr>
          <a:xfrm>
            <a:off x="60644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64770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68074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72199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75503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79629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5" name="TextBox 115"/>
          <p:cNvSpPr txBox="1"/>
          <p:nvPr/>
        </p:nvSpPr>
        <p:spPr>
          <a:xfrm>
            <a:off x="82933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87058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7" name="TextBox 117"/>
          <p:cNvSpPr txBox="1"/>
          <p:nvPr/>
        </p:nvSpPr>
        <p:spPr>
          <a:xfrm>
            <a:off x="90362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94488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9" name="TextBox 119"/>
          <p:cNvSpPr txBox="1"/>
          <p:nvPr/>
        </p:nvSpPr>
        <p:spPr>
          <a:xfrm>
            <a:off x="97792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101917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1" name="TextBox 121"/>
          <p:cNvSpPr txBox="1"/>
          <p:nvPr/>
        </p:nvSpPr>
        <p:spPr>
          <a:xfrm>
            <a:off x="105182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22" name="Rectangle 122"/>
          <p:cNvSpPr/>
          <p:nvPr/>
        </p:nvSpPr>
        <p:spPr>
          <a:xfrm>
            <a:off x="109347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3" name="TextBox 123"/>
          <p:cNvSpPr txBox="1"/>
          <p:nvPr/>
        </p:nvSpPr>
        <p:spPr>
          <a:xfrm>
            <a:off x="112630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4" name="Rectangle 124"/>
          <p:cNvSpPr/>
          <p:nvPr/>
        </p:nvSpPr>
        <p:spPr>
          <a:xfrm>
            <a:off x="116776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5" name="TextBox 125"/>
          <p:cNvSpPr txBox="1"/>
          <p:nvPr/>
        </p:nvSpPr>
        <p:spPr>
          <a:xfrm>
            <a:off x="1200603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6" name="Rectangle 126"/>
          <p:cNvSpPr/>
          <p:nvPr/>
        </p:nvSpPr>
        <p:spPr>
          <a:xfrm>
            <a:off x="124206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7" name="TextBox 127"/>
          <p:cNvSpPr txBox="1"/>
          <p:nvPr/>
        </p:nvSpPr>
        <p:spPr>
          <a:xfrm>
            <a:off x="127489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8" name="Rectangle 128"/>
          <p:cNvSpPr/>
          <p:nvPr/>
        </p:nvSpPr>
        <p:spPr>
          <a:xfrm>
            <a:off x="381000" y="37242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29" name="TextBox 129"/>
          <p:cNvSpPr txBox="1"/>
          <p:nvPr/>
        </p:nvSpPr>
        <p:spPr>
          <a:xfrm>
            <a:off x="949335" y="3910012"/>
            <a:ext cx="124457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成品包装与出货放行｜006</a:t>
            </a:r>
          </a:p>
        </p:txBody>
      </p:sp>
      <p:sp>
        <p:nvSpPr>
          <p:cNvPr id="130" name="Rectangle 130"/>
          <p:cNvSpPr/>
          <p:nvPr/>
        </p:nvSpPr>
        <p:spPr>
          <a:xfrm>
            <a:off x="27622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1" name="TextBox 131"/>
          <p:cNvSpPr txBox="1"/>
          <p:nvPr/>
        </p:nvSpPr>
        <p:spPr>
          <a:xfrm>
            <a:off x="31079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32" name="Rectangle 132"/>
          <p:cNvSpPr/>
          <p:nvPr/>
        </p:nvSpPr>
        <p:spPr>
          <a:xfrm>
            <a:off x="35052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3" name="TextBox 133"/>
          <p:cNvSpPr txBox="1"/>
          <p:nvPr/>
        </p:nvSpPr>
        <p:spPr>
          <a:xfrm>
            <a:off x="3833584" y="38857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4" name="Rectangle 134"/>
          <p:cNvSpPr/>
          <p:nvPr/>
        </p:nvSpPr>
        <p:spPr>
          <a:xfrm>
            <a:off x="42481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5" name="TextBox 135"/>
          <p:cNvSpPr txBox="1"/>
          <p:nvPr/>
        </p:nvSpPr>
        <p:spPr>
          <a:xfrm>
            <a:off x="45746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6" name="Rectangle 136"/>
          <p:cNvSpPr/>
          <p:nvPr/>
        </p:nvSpPr>
        <p:spPr>
          <a:xfrm>
            <a:off x="49911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7" name="TextBox 137"/>
          <p:cNvSpPr txBox="1"/>
          <p:nvPr/>
        </p:nvSpPr>
        <p:spPr>
          <a:xfrm>
            <a:off x="53175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38" name="Rectangle 138"/>
          <p:cNvSpPr/>
          <p:nvPr/>
        </p:nvSpPr>
        <p:spPr>
          <a:xfrm>
            <a:off x="57340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9" name="TextBox 139"/>
          <p:cNvSpPr txBox="1"/>
          <p:nvPr/>
        </p:nvSpPr>
        <p:spPr>
          <a:xfrm>
            <a:off x="60797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40" name="Rectangle 140"/>
          <p:cNvSpPr/>
          <p:nvPr/>
        </p:nvSpPr>
        <p:spPr>
          <a:xfrm>
            <a:off x="64770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1" name="TextBox 141"/>
          <p:cNvSpPr txBox="1"/>
          <p:nvPr/>
        </p:nvSpPr>
        <p:spPr>
          <a:xfrm>
            <a:off x="68074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2" name="Rectangle 142"/>
          <p:cNvSpPr/>
          <p:nvPr/>
        </p:nvSpPr>
        <p:spPr>
          <a:xfrm>
            <a:off x="72199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3" name="TextBox 143"/>
          <p:cNvSpPr txBox="1"/>
          <p:nvPr/>
        </p:nvSpPr>
        <p:spPr>
          <a:xfrm>
            <a:off x="75503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4" name="Rectangle 144"/>
          <p:cNvSpPr/>
          <p:nvPr/>
        </p:nvSpPr>
        <p:spPr>
          <a:xfrm>
            <a:off x="79629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5" name="TextBox 145"/>
          <p:cNvSpPr txBox="1"/>
          <p:nvPr/>
        </p:nvSpPr>
        <p:spPr>
          <a:xfrm>
            <a:off x="82933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6" name="Rectangle 146"/>
          <p:cNvSpPr/>
          <p:nvPr/>
        </p:nvSpPr>
        <p:spPr>
          <a:xfrm>
            <a:off x="87058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7" name="TextBox 147"/>
          <p:cNvSpPr txBox="1"/>
          <p:nvPr/>
        </p:nvSpPr>
        <p:spPr>
          <a:xfrm>
            <a:off x="90362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8" name="Rectangle 148"/>
          <p:cNvSpPr/>
          <p:nvPr/>
        </p:nvSpPr>
        <p:spPr>
          <a:xfrm>
            <a:off x="94488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9" name="TextBox 149"/>
          <p:cNvSpPr txBox="1"/>
          <p:nvPr/>
        </p:nvSpPr>
        <p:spPr>
          <a:xfrm>
            <a:off x="97752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0" name="Rectangle 150"/>
          <p:cNvSpPr/>
          <p:nvPr/>
        </p:nvSpPr>
        <p:spPr>
          <a:xfrm>
            <a:off x="101917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1" name="TextBox 151"/>
          <p:cNvSpPr txBox="1"/>
          <p:nvPr/>
        </p:nvSpPr>
        <p:spPr>
          <a:xfrm>
            <a:off x="105182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2" name="Rectangle 152"/>
          <p:cNvSpPr/>
          <p:nvPr/>
        </p:nvSpPr>
        <p:spPr>
          <a:xfrm>
            <a:off x="109347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3" name="TextBox 153"/>
          <p:cNvSpPr txBox="1"/>
          <p:nvPr/>
        </p:nvSpPr>
        <p:spPr>
          <a:xfrm>
            <a:off x="112611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4" name="Rectangle 154"/>
          <p:cNvSpPr/>
          <p:nvPr/>
        </p:nvSpPr>
        <p:spPr>
          <a:xfrm>
            <a:off x="116776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5" name="TextBox 155"/>
          <p:cNvSpPr txBox="1"/>
          <p:nvPr/>
        </p:nvSpPr>
        <p:spPr>
          <a:xfrm>
            <a:off x="120041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6" name="Rectangle 156"/>
          <p:cNvSpPr/>
          <p:nvPr/>
        </p:nvSpPr>
        <p:spPr>
          <a:xfrm>
            <a:off x="124206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7" name="TextBox 157"/>
          <p:cNvSpPr txBox="1"/>
          <p:nvPr/>
        </p:nvSpPr>
        <p:spPr>
          <a:xfrm>
            <a:off x="127470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8" name="Rectangle 158"/>
          <p:cNvSpPr/>
          <p:nvPr/>
        </p:nvSpPr>
        <p:spPr>
          <a:xfrm>
            <a:off x="381000" y="42195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59" name="TextBox 159"/>
          <p:cNvSpPr txBox="1"/>
          <p:nvPr/>
        </p:nvSpPr>
        <p:spPr>
          <a:xfrm>
            <a:off x="1055349" y="44053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付款与费用审批｜015</a:t>
            </a:r>
          </a:p>
        </p:txBody>
      </p:sp>
      <p:sp>
        <p:nvSpPr>
          <p:cNvPr id="160" name="Rectangle 160"/>
          <p:cNvSpPr/>
          <p:nvPr/>
        </p:nvSpPr>
        <p:spPr>
          <a:xfrm>
            <a:off x="27622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1" name="TextBox 161"/>
          <p:cNvSpPr txBox="1"/>
          <p:nvPr/>
        </p:nvSpPr>
        <p:spPr>
          <a:xfrm>
            <a:off x="30887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2" name="Rectangle 162"/>
          <p:cNvSpPr/>
          <p:nvPr/>
        </p:nvSpPr>
        <p:spPr>
          <a:xfrm>
            <a:off x="35052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3" name="TextBox 163"/>
          <p:cNvSpPr txBox="1"/>
          <p:nvPr/>
        </p:nvSpPr>
        <p:spPr>
          <a:xfrm>
            <a:off x="38335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4" name="Rectangle 164"/>
          <p:cNvSpPr/>
          <p:nvPr/>
        </p:nvSpPr>
        <p:spPr>
          <a:xfrm>
            <a:off x="42481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5" name="TextBox 165"/>
          <p:cNvSpPr txBox="1"/>
          <p:nvPr/>
        </p:nvSpPr>
        <p:spPr>
          <a:xfrm>
            <a:off x="45765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6" name="Rectangle 166"/>
          <p:cNvSpPr/>
          <p:nvPr/>
        </p:nvSpPr>
        <p:spPr>
          <a:xfrm>
            <a:off x="49911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7" name="TextBox 167"/>
          <p:cNvSpPr txBox="1"/>
          <p:nvPr/>
        </p:nvSpPr>
        <p:spPr>
          <a:xfrm>
            <a:off x="53194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8" name="Rectangle 168"/>
          <p:cNvSpPr/>
          <p:nvPr/>
        </p:nvSpPr>
        <p:spPr>
          <a:xfrm>
            <a:off x="57340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9" name="TextBox 169"/>
          <p:cNvSpPr txBox="1"/>
          <p:nvPr/>
        </p:nvSpPr>
        <p:spPr>
          <a:xfrm>
            <a:off x="60605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70" name="Rectangle 170"/>
          <p:cNvSpPr/>
          <p:nvPr/>
        </p:nvSpPr>
        <p:spPr>
          <a:xfrm>
            <a:off x="64770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1" name="TextBox 171"/>
          <p:cNvSpPr txBox="1"/>
          <p:nvPr/>
        </p:nvSpPr>
        <p:spPr>
          <a:xfrm>
            <a:off x="68053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2" name="Rectangle 172"/>
          <p:cNvSpPr/>
          <p:nvPr/>
        </p:nvSpPr>
        <p:spPr>
          <a:xfrm>
            <a:off x="72199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3" name="TextBox 173"/>
          <p:cNvSpPr txBox="1"/>
          <p:nvPr/>
        </p:nvSpPr>
        <p:spPr>
          <a:xfrm>
            <a:off x="75503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4" name="Rectangle 174"/>
          <p:cNvSpPr/>
          <p:nvPr/>
        </p:nvSpPr>
        <p:spPr>
          <a:xfrm>
            <a:off x="79629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5" name="TextBox 175"/>
          <p:cNvSpPr txBox="1"/>
          <p:nvPr/>
        </p:nvSpPr>
        <p:spPr>
          <a:xfrm>
            <a:off x="82933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6" name="Rectangle 176"/>
          <p:cNvSpPr/>
          <p:nvPr/>
        </p:nvSpPr>
        <p:spPr>
          <a:xfrm>
            <a:off x="87058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7" name="TextBox 177"/>
          <p:cNvSpPr txBox="1"/>
          <p:nvPr/>
        </p:nvSpPr>
        <p:spPr>
          <a:xfrm>
            <a:off x="90362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8" name="Rectangle 178"/>
          <p:cNvSpPr/>
          <p:nvPr/>
        </p:nvSpPr>
        <p:spPr>
          <a:xfrm>
            <a:off x="94488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9" name="TextBox 179"/>
          <p:cNvSpPr txBox="1"/>
          <p:nvPr/>
        </p:nvSpPr>
        <p:spPr>
          <a:xfrm>
            <a:off x="97792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0" name="Rectangle 180"/>
          <p:cNvSpPr/>
          <p:nvPr/>
        </p:nvSpPr>
        <p:spPr>
          <a:xfrm>
            <a:off x="101917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1" name="TextBox 181"/>
          <p:cNvSpPr txBox="1"/>
          <p:nvPr/>
        </p:nvSpPr>
        <p:spPr>
          <a:xfrm>
            <a:off x="105221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2" name="Rectangle 182"/>
          <p:cNvSpPr/>
          <p:nvPr/>
        </p:nvSpPr>
        <p:spPr>
          <a:xfrm>
            <a:off x="109347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3" name="TextBox 183"/>
          <p:cNvSpPr txBox="1"/>
          <p:nvPr/>
        </p:nvSpPr>
        <p:spPr>
          <a:xfrm>
            <a:off x="112630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4" name="Rectangle 184"/>
          <p:cNvSpPr/>
          <p:nvPr/>
        </p:nvSpPr>
        <p:spPr>
          <a:xfrm>
            <a:off x="116776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5" name="TextBox 185"/>
          <p:cNvSpPr txBox="1"/>
          <p:nvPr/>
        </p:nvSpPr>
        <p:spPr>
          <a:xfrm>
            <a:off x="120060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6" name="Rectangle 186"/>
          <p:cNvSpPr/>
          <p:nvPr/>
        </p:nvSpPr>
        <p:spPr>
          <a:xfrm>
            <a:off x="124206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7" name="TextBox 187"/>
          <p:cNvSpPr txBox="1"/>
          <p:nvPr/>
        </p:nvSpPr>
        <p:spPr>
          <a:xfrm>
            <a:off x="127489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8" name="Rectangle 188"/>
          <p:cNvSpPr/>
          <p:nvPr/>
        </p:nvSpPr>
        <p:spPr>
          <a:xfrm>
            <a:off x="381000" y="47148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89" name="TextBox 189"/>
          <p:cNvSpPr txBox="1"/>
          <p:nvPr/>
        </p:nvSpPr>
        <p:spPr>
          <a:xfrm>
            <a:off x="1055349" y="49006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模具维修与技改｜021</a:t>
            </a:r>
          </a:p>
        </p:txBody>
      </p:sp>
      <p:sp>
        <p:nvSpPr>
          <p:cNvPr id="190" name="Rectangle 190"/>
          <p:cNvSpPr/>
          <p:nvPr/>
        </p:nvSpPr>
        <p:spPr>
          <a:xfrm>
            <a:off x="27622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1" name="TextBox 191"/>
          <p:cNvSpPr txBox="1"/>
          <p:nvPr/>
        </p:nvSpPr>
        <p:spPr>
          <a:xfrm>
            <a:off x="30906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2" name="Rectangle 192"/>
          <p:cNvSpPr/>
          <p:nvPr/>
        </p:nvSpPr>
        <p:spPr>
          <a:xfrm>
            <a:off x="35052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3" name="TextBox 193"/>
          <p:cNvSpPr txBox="1"/>
          <p:nvPr/>
        </p:nvSpPr>
        <p:spPr>
          <a:xfrm>
            <a:off x="38316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94" name="Rectangle 194"/>
          <p:cNvSpPr/>
          <p:nvPr/>
        </p:nvSpPr>
        <p:spPr>
          <a:xfrm>
            <a:off x="42481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5" name="TextBox 195"/>
          <p:cNvSpPr txBox="1"/>
          <p:nvPr/>
        </p:nvSpPr>
        <p:spPr>
          <a:xfrm>
            <a:off x="45765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6" name="Rectangle 196"/>
          <p:cNvSpPr/>
          <p:nvPr/>
        </p:nvSpPr>
        <p:spPr>
          <a:xfrm>
            <a:off x="49911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7" name="TextBox 197"/>
          <p:cNvSpPr txBox="1"/>
          <p:nvPr/>
        </p:nvSpPr>
        <p:spPr>
          <a:xfrm>
            <a:off x="531948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8" name="Rectangle 198"/>
          <p:cNvSpPr/>
          <p:nvPr/>
        </p:nvSpPr>
        <p:spPr>
          <a:xfrm>
            <a:off x="57340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9" name="TextBox 199"/>
          <p:cNvSpPr txBox="1"/>
          <p:nvPr/>
        </p:nvSpPr>
        <p:spPr>
          <a:xfrm>
            <a:off x="60644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0" name="Rectangle 200"/>
          <p:cNvSpPr/>
          <p:nvPr/>
        </p:nvSpPr>
        <p:spPr>
          <a:xfrm>
            <a:off x="64770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1" name="TextBox 201"/>
          <p:cNvSpPr txBox="1"/>
          <p:nvPr/>
        </p:nvSpPr>
        <p:spPr>
          <a:xfrm>
            <a:off x="68034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2" name="Rectangle 202"/>
          <p:cNvSpPr/>
          <p:nvPr/>
        </p:nvSpPr>
        <p:spPr>
          <a:xfrm>
            <a:off x="72199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3" name="TextBox 203"/>
          <p:cNvSpPr txBox="1"/>
          <p:nvPr/>
        </p:nvSpPr>
        <p:spPr>
          <a:xfrm>
            <a:off x="75503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4" name="Rectangle 204"/>
          <p:cNvSpPr/>
          <p:nvPr/>
        </p:nvSpPr>
        <p:spPr>
          <a:xfrm>
            <a:off x="79629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5" name="TextBox 205"/>
          <p:cNvSpPr txBox="1"/>
          <p:nvPr/>
        </p:nvSpPr>
        <p:spPr>
          <a:xfrm>
            <a:off x="82893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6" name="Rectangle 206"/>
          <p:cNvSpPr/>
          <p:nvPr/>
        </p:nvSpPr>
        <p:spPr>
          <a:xfrm>
            <a:off x="87058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7" name="TextBox 207"/>
          <p:cNvSpPr txBox="1"/>
          <p:nvPr/>
        </p:nvSpPr>
        <p:spPr>
          <a:xfrm>
            <a:off x="903232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8" name="Rectangle 208"/>
          <p:cNvSpPr/>
          <p:nvPr/>
        </p:nvSpPr>
        <p:spPr>
          <a:xfrm>
            <a:off x="94488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9" name="TextBox 209"/>
          <p:cNvSpPr txBox="1"/>
          <p:nvPr/>
        </p:nvSpPr>
        <p:spPr>
          <a:xfrm>
            <a:off x="97792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0" name="Rectangle 210"/>
          <p:cNvSpPr/>
          <p:nvPr/>
        </p:nvSpPr>
        <p:spPr>
          <a:xfrm>
            <a:off x="101917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1" name="TextBox 211"/>
          <p:cNvSpPr txBox="1"/>
          <p:nvPr/>
        </p:nvSpPr>
        <p:spPr>
          <a:xfrm>
            <a:off x="105221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2" name="Rectangle 212"/>
          <p:cNvSpPr/>
          <p:nvPr/>
        </p:nvSpPr>
        <p:spPr>
          <a:xfrm>
            <a:off x="109347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3" name="TextBox 213"/>
          <p:cNvSpPr txBox="1"/>
          <p:nvPr/>
        </p:nvSpPr>
        <p:spPr>
          <a:xfrm>
            <a:off x="112651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4" name="Rectangle 214"/>
          <p:cNvSpPr/>
          <p:nvPr/>
        </p:nvSpPr>
        <p:spPr>
          <a:xfrm>
            <a:off x="116776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5" name="TextBox 215"/>
          <p:cNvSpPr txBox="1"/>
          <p:nvPr/>
        </p:nvSpPr>
        <p:spPr>
          <a:xfrm>
            <a:off x="120080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6" name="Rectangle 216"/>
          <p:cNvSpPr/>
          <p:nvPr/>
        </p:nvSpPr>
        <p:spPr>
          <a:xfrm>
            <a:off x="124206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7" name="TextBox 217"/>
          <p:cNvSpPr txBox="1"/>
          <p:nvPr/>
        </p:nvSpPr>
        <p:spPr>
          <a:xfrm>
            <a:off x="127510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8" name="Rectangle 218"/>
          <p:cNvSpPr/>
          <p:nvPr/>
        </p:nvSpPr>
        <p:spPr>
          <a:xfrm>
            <a:off x="571500" y="5381625"/>
            <a:ext cx="11049000" cy="6667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219" name="TextBox 219"/>
          <p:cNvSpPr txBox="1"/>
          <p:nvPr/>
        </p:nvSpPr>
        <p:spPr>
          <a:xfrm>
            <a:off x="3557290" y="5533549"/>
            <a:ext cx="50774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R=执行｜A=最终负责/批准（每行唯一）｜C=事前咨询｜I=结果知会｜—=不参与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3527717" y="5779770"/>
            <a:ext cx="51365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采购验收拆分：来料质量检验 A=品质部、R=成品出货检验组；仓储仅参与收货/物流协同。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566738" y="6502241"/>
            <a:ext cx="74552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示例不是新增授权；金额、特采/让步放行边界以正式授权文件为准。来源：RACI-004、RACI-005、RACI-006、RACI-011、RACI-015、RACI-021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33｜管理体系证据链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从要求到执行、检查、整改和改进，形成可追溯的治理证据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证据链不是信息罗列，而是从要求到复盘的可追溯关系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6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制度要求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制度/标准</a:t>
            </a:r>
          </a:p>
        </p:txBody>
      </p:sp>
      <p:sp>
        <p:nvSpPr>
          <p:cNvPr id="9" name="Line 9"/>
          <p:cNvSpPr/>
          <p:nvPr/>
        </p:nvSpPr>
        <p:spPr>
          <a:xfrm>
            <a:off x="2000250" y="2895600"/>
            <a:ext cx="1333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171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56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责任活动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2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岗位/部门</a:t>
            </a:r>
          </a:p>
        </p:txBody>
      </p:sp>
      <p:sp>
        <p:nvSpPr>
          <p:cNvPr id="13" name="Line 13"/>
          <p:cNvSpPr/>
          <p:nvPr/>
        </p:nvSpPr>
        <p:spPr>
          <a:xfrm>
            <a:off x="3600450" y="2895600"/>
            <a:ext cx="1333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37719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570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26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表单/台账</a:t>
            </a:r>
          </a:p>
        </p:txBody>
      </p:sp>
      <p:sp>
        <p:nvSpPr>
          <p:cNvPr id="17" name="Line 17"/>
          <p:cNvSpPr/>
          <p:nvPr/>
        </p:nvSpPr>
        <p:spPr>
          <a:xfrm>
            <a:off x="5200650" y="2895600"/>
            <a:ext cx="133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3721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572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检查结果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28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测量/审核</a:t>
            </a:r>
          </a:p>
        </p:txBody>
      </p:sp>
      <p:sp>
        <p:nvSpPr>
          <p:cNvPr id="21" name="Line 21"/>
          <p:cNvSpPr/>
          <p:nvPr/>
        </p:nvSpPr>
        <p:spPr>
          <a:xfrm>
            <a:off x="68008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69723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574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整改证据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30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问题/措施</a:t>
            </a:r>
          </a:p>
        </p:txBody>
      </p:sp>
      <p:sp>
        <p:nvSpPr>
          <p:cNvPr id="25" name="Line 25"/>
          <p:cNvSpPr/>
          <p:nvPr/>
        </p:nvSpPr>
        <p:spPr>
          <a:xfrm>
            <a:off x="8401050" y="2895600"/>
            <a:ext cx="133350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957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3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会议/决定</a:t>
            </a:r>
          </a:p>
        </p:txBody>
      </p:sp>
      <p:sp>
        <p:nvSpPr>
          <p:cNvPr id="29" name="Line 29"/>
          <p:cNvSpPr/>
          <p:nvPr/>
        </p:nvSpPr>
        <p:spPr>
          <a:xfrm>
            <a:off x="100012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10172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57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改进证据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3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验证/更新</a:t>
            </a:r>
          </a:p>
        </p:txBody>
      </p:sp>
      <p:sp>
        <p:nvSpPr>
          <p:cNvPr id="33" name="Line 33"/>
          <p:cNvSpPr/>
          <p:nvPr/>
        </p:nvSpPr>
        <p:spPr>
          <a:xfrm>
            <a:off x="1285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42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4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证据：制度条款</a:t>
            </a:r>
          </a:p>
        </p:txBody>
      </p:sp>
      <p:sp>
        <p:nvSpPr>
          <p:cNvPr id="36" name="Line 36"/>
          <p:cNvSpPr/>
          <p:nvPr/>
        </p:nvSpPr>
        <p:spPr>
          <a:xfrm>
            <a:off x="2886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343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314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证据：责任记录</a:t>
            </a:r>
          </a:p>
        </p:txBody>
      </p:sp>
      <p:sp>
        <p:nvSpPr>
          <p:cNvPr id="39" name="Line 39"/>
          <p:cNvSpPr/>
          <p:nvPr/>
        </p:nvSpPr>
        <p:spPr>
          <a:xfrm>
            <a:off x="44862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9433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9147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证据：执行台账</a:t>
            </a:r>
          </a:p>
        </p:txBody>
      </p:sp>
      <p:sp>
        <p:nvSpPr>
          <p:cNvPr id="42" name="Line 42"/>
          <p:cNvSpPr/>
          <p:nvPr/>
        </p:nvSpPr>
        <p:spPr>
          <a:xfrm>
            <a:off x="60864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5435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49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证据：检查报告</a:t>
            </a:r>
          </a:p>
        </p:txBody>
      </p:sp>
      <p:sp>
        <p:nvSpPr>
          <p:cNvPr id="45" name="Line 45"/>
          <p:cNvSpPr/>
          <p:nvPr/>
        </p:nvSpPr>
        <p:spPr>
          <a:xfrm>
            <a:off x="76866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1437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151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证据：整改闭环</a:t>
            </a:r>
          </a:p>
        </p:txBody>
      </p:sp>
      <p:sp>
        <p:nvSpPr>
          <p:cNvPr id="48" name="Line 48"/>
          <p:cNvSpPr/>
          <p:nvPr/>
        </p:nvSpPr>
        <p:spPr>
          <a:xfrm>
            <a:off x="9286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743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715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证据：会议纪要</a:t>
            </a:r>
          </a:p>
        </p:txBody>
      </p:sp>
      <p:sp>
        <p:nvSpPr>
          <p:cNvPr id="51" name="Line 51"/>
          <p:cNvSpPr/>
          <p:nvPr/>
        </p:nvSpPr>
        <p:spPr>
          <a:xfrm>
            <a:off x="10887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10344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证据：版本更新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5875" y="4095750"/>
            <a:ext cx="9286875" cy="1000125"/>
          </a:xfrm>
          <a:custGeom>
            <a:avLst/>
            <a:gdLst/>
            <a:ahLst/>
            <a:cxnLst/>
            <a:rect l="l" t="t" r="r" b="b"/>
            <a:pathLst>
              <a:path w="9286875" h="1000125">
                <a:moveTo>
                  <a:pt x="0" y="0"/>
                </a:moveTo>
                <a:cubicBezTo>
                  <a:pt x="0" y="1000125"/>
                  <a:pt x="9286875" y="1000125"/>
                  <a:pt x="9286875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55" name="TextBox 55"/>
          <p:cNvSpPr txBox="1"/>
          <p:nvPr/>
        </p:nvSpPr>
        <p:spPr>
          <a:xfrm>
            <a:off x="3799332" y="52520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复盘反馈：改进结果反向更新制度、责任、表单或检查方式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5725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975354" y="1584960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每一段都应能回答：谁负责？留下什么记录？由谁验证？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57250" y="5619750"/>
            <a:ext cx="10287000" cy="4000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52266" y="57378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待确认：正式表单编号、记录保存期限、评审频次和证据归档位置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Freeform 12"/>
            <p:cNvSpPr/>
            <p:nvPr/>
          </p:nvSpPr>
          <p:spPr>
            <a:xfrm>
              <a:off x="76200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Freeform 13"/>
            <p:cNvSpPr/>
            <p:nvPr/>
          </p:nvSpPr>
          <p:spPr>
            <a:xfrm>
              <a:off x="76200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524375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Freeform 22"/>
            <p:cNvSpPr/>
            <p:nvPr/>
          </p:nvSpPr>
          <p:spPr>
            <a:xfrm>
              <a:off x="4524375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Freeform 30"/>
            <p:cNvSpPr/>
            <p:nvPr/>
          </p:nvSpPr>
          <p:spPr>
            <a:xfrm>
              <a:off x="828675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828675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619250" y="5000625"/>
            <a:ext cx="8953500" cy="552450"/>
          </a:xfrm>
          <a:custGeom>
            <a:avLst/>
            <a:gdLst/>
            <a:ahLst/>
            <a:cxnLst/>
            <a:rect l="l" t="t" r="r" b="b"/>
            <a:pathLst>
              <a:path w="8953500" h="552450">
                <a:moveTo>
                  <a:pt x="276225" y="0"/>
                </a:moveTo>
                <a:lnTo>
                  <a:pt x="8677275" y="0"/>
                </a:lnTo>
                <a:cubicBezTo>
                  <a:pt x="8829830" y="0"/>
                  <a:pt x="8953500" y="123670"/>
                  <a:pt x="8953500" y="276225"/>
                </a:cubicBezTo>
                <a:lnTo>
                  <a:pt x="8953500" y="276225"/>
                </a:lnTo>
                <a:cubicBezTo>
                  <a:pt x="8953500" y="428780"/>
                  <a:pt x="8829830" y="552450"/>
                  <a:pt x="8677275" y="552450"/>
                </a:cubicBezTo>
                <a:lnTo>
                  <a:pt x="276225" y="552450"/>
                </a:lnTo>
                <a:cubicBezTo>
                  <a:pt x="123670" y="552450"/>
                  <a:pt x="0" y="428780"/>
                  <a:pt x="0" y="276225"/>
                </a:cubicBezTo>
                <a:lnTo>
                  <a:pt x="0" y="276225"/>
                </a:lnTo>
                <a:cubicBezTo>
                  <a:pt x="0" y="123670"/>
                  <a:pt x="123670" y="0"/>
                  <a:pt x="276225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治理正文讲清边界；部门制度、SOP、表单和台账另册管理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9098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治理正文保留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3267" y="2854642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公司治理原则与边界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3267" y="3235642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组织权责、授权与协同接口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326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风险、会议、监督和改进机制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4029" y="4204335"/>
            <a:ext cx="16593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本PPT不替代执行细节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99173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另册执行文件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4017" y="285464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94017" y="3235642"/>
            <a:ext cx="17131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流程程序文件与SOP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9401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表单、台账、报告和会议纪要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94017" y="3997642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检验、点检、财务及专业作业文件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94779" y="4585335"/>
            <a:ext cx="31703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名称、编号、存放位置和版本：待建立/确认</a:t>
            </a:r>
          </a:p>
        </p:txBody>
      </p:sp>
      <p:sp>
        <p:nvSpPr>
          <p:cNvPr id="21" name="Freeform 21"/>
          <p:cNvSpPr/>
          <p:nvPr/>
        </p:nvSpPr>
        <p:spPr>
          <a:xfrm>
            <a:off x="5524500" y="3762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solidFill>
            <a:srgbClr val="000000"/>
          </a:solidFill>
          <a:ln w="47625">
            <a:solidFill>
              <a:srgbClr val="8091A5"/>
            </a:solidFill>
            <a:tailEnd type="triangle" w="med" len="lg"/>
          </a:ln>
        </p:spPr>
      </p:sp>
      <p:sp>
        <p:nvSpPr>
          <p:cNvPr id="22" name="TextBox 22"/>
          <p:cNvSpPr txBox="1"/>
          <p:nvPr/>
        </p:nvSpPr>
        <p:spPr>
          <a:xfrm>
            <a:off x="5756910" y="3402806"/>
            <a:ext cx="3143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2026-10-16T02:37:06Z</dcterms:created>
  <dcterms:modified xsi:type="dcterms:W3CDTF">2026-10-16T02:37:06Z</dcterms:modified>
  <cp:category/>
  <cp:contentStatus/>
</cp:coreProperties>
</file>