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mpany_hero_v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0"/>
            <a:ext cx="619963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411480"/>
            <a:ext cx="4937760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100" b="1">
                <a:solidFill>
                  <a:srgbClr val="36C2C9"/>
                </a:solidFill>
                <a:latin typeface="Microsoft YaHei"/>
              </a:defRPr>
            </a:pPr>
            <a:r>
              <a:t>XINBEN ELECTRONICS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5029200" cy="7315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3000" b="1">
                <a:solidFill>
                  <a:srgbClr val="F5F8FA"/>
                </a:solidFill>
                <a:latin typeface="Microsoft YaHei"/>
              </a:defRPr>
            </a:pPr>
            <a:r>
              <a:t>鑫犇电子有限公司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4846320" cy="4572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2000" b="1">
                <a:solidFill>
                  <a:srgbClr val="F5F8FA"/>
                </a:solidFill>
                <a:latin typeface="Microsoft YaHei"/>
              </a:defRPr>
            </a:pPr>
            <a:r>
              <a:t>精密金属零件与冲压制造能力介绍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743200"/>
            <a:ext cx="4754880" cy="9144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2300" b="1">
                <a:solidFill>
                  <a:srgbClr val="F5F8FA"/>
                </a:solidFill>
                <a:latin typeface="Microsoft YaHei"/>
              </a:defRPr>
            </a:pPr>
            <a:r>
              <a:t>面向产品、工程、制造与品质协同的</a:t>
            </a:r>
            <a:br/>
            <a:r>
              <a:t>制造能力底稿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870448"/>
            <a:ext cx="4937760" cy="25603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000" b="0">
                <a:solidFill>
                  <a:srgbClr val="F6C453"/>
                </a:solidFill>
                <a:latin typeface="Microsoft YaHei"/>
              </a:defRPr>
            </a:pPr>
            <a:r>
              <a:t>AI 生成概念视觉，不代表真实工厂或设备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0972800" cy="16459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800" b="0">
                <a:solidFill>
                  <a:srgbClr val="B5C2D0"/>
                </a:solidFill>
                <a:latin typeface="Microsoft YaHei"/>
              </a:defRPr>
            </a:pPr>
            <a:r>
              <a:t>对外介绍草案｜正式公司名称与定位待确认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02 /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我们是谁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0972800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公司能力应从四条互相咬合的线理解，而不是单一产品或单一工序。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2514600" cy="1600200"/>
          </a:xfrm>
          <a:prstGeom prst="roundRect">
            <a:avLst/>
          </a:prstGeom>
          <a:solidFill>
            <a:srgbClr val="F5F8FA"/>
          </a:solidFill>
          <a:ln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938528"/>
            <a:ext cx="2295144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500" b="1">
                <a:solidFill>
                  <a:srgbClr val="16324A"/>
                </a:solidFill>
                <a:latin typeface="Microsoft YaHei"/>
              </a:defRPr>
            </a:pPr>
            <a:r>
              <a:t>产品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304288"/>
            <a:ext cx="2295144" cy="103327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机壳、磁性/结构件、制动片及配套零件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828800"/>
            <a:ext cx="2514600" cy="1600200"/>
          </a:xfrm>
          <a:prstGeom prst="roundRect">
            <a:avLst/>
          </a:prstGeom>
          <a:solidFill>
            <a:srgbClr val="F5F8FA"/>
          </a:solidFill>
          <a:ln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0168" y="1938528"/>
            <a:ext cx="2295144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500" b="1">
                <a:solidFill>
                  <a:srgbClr val="7967B8"/>
                </a:solidFill>
                <a:latin typeface="Microsoft YaHei"/>
              </a:defRPr>
            </a:pPr>
            <a:r>
              <a:t>工程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0168" y="2304288"/>
            <a:ext cx="2295144" cy="103327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图纸版本、材料、模具与工程准备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886200"/>
            <a:ext cx="2514600" cy="1600200"/>
          </a:xfrm>
          <a:prstGeom prst="roundRect">
            <a:avLst/>
          </a:prstGeom>
          <a:solidFill>
            <a:srgbClr val="F5F8FA"/>
          </a:solidFill>
          <a:ln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3995928"/>
            <a:ext cx="2295144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500" b="1">
                <a:solidFill>
                  <a:srgbClr val="1C9C8C"/>
                </a:solidFill>
                <a:latin typeface="Microsoft YaHei"/>
              </a:defRPr>
            </a:pPr>
            <a:r>
              <a:t>制造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4361688"/>
            <a:ext cx="2295144" cy="103327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冲压、清洗、生产与关键资源协同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3886200"/>
            <a:ext cx="2514600" cy="1600200"/>
          </a:xfrm>
          <a:prstGeom prst="roundRect">
            <a:avLst/>
          </a:prstGeom>
          <a:solidFill>
            <a:srgbClr val="F5F8FA"/>
          </a:solidFill>
          <a:ln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0168" y="3995928"/>
            <a:ext cx="2295144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500" b="1">
                <a:solidFill>
                  <a:srgbClr val="F6C453"/>
                </a:solidFill>
                <a:latin typeface="Microsoft YaHei"/>
              </a:defRPr>
            </a:pPr>
            <a:r>
              <a:t>品质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4361688"/>
            <a:ext cx="2295144" cy="103327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尺寸、外观、表面处理、单重与异常闭环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1828800"/>
            <a:ext cx="4800600" cy="3657600"/>
          </a:xfrm>
          <a:prstGeom prst="roundRect">
            <a:avLst/>
          </a:prstGeom>
          <a:solidFill>
            <a:srgbClr val="F5F8FA"/>
          </a:solidFill>
          <a:ln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93408" y="1938528"/>
            <a:ext cx="4581144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500" b="1">
                <a:solidFill>
                  <a:srgbClr val="16324A"/>
                </a:solidFill>
                <a:latin typeface="Microsoft YaHei"/>
              </a:defRPr>
            </a:pPr>
            <a:r>
              <a:t>事实边界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3408" y="2304288"/>
            <a:ext cx="4581144" cy="30906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正式对外全称与定位：待确认</a:t>
            </a:r>
            <a:br/>
            <a:r>
              <a:t>规模、产能、精度、良率、认证：不在本版宣称</a:t>
            </a:r>
            <a:br/>
            <a:br/>
            <a:r>
              <a:t>资料依据：公司事实底稿、产品信息总览、组织与职责矩阵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92240"/>
            <a:ext cx="10972800" cy="16459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800" b="0">
                <a:solidFill>
                  <a:srgbClr val="1F2D3D"/>
                </a:solidFill>
                <a:latin typeface="Microsoft YaHei"/>
              </a:defRPr>
            </a:pPr>
            <a:r>
              <a:t>资料依据：OneDrive 公司资料｜未确认信息保持待确认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03 / PRODUCTS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产品与应用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0972800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产品类别按已验证资料归纳；公开范围与具体应用仍需确认。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2743200" cy="2331720"/>
          </a:xfrm>
          <a:prstGeom prst="roundRect">
            <a:avLst/>
          </a:prstGeom>
          <a:solidFill>
            <a:srgbClr val="F5F8FA"/>
          </a:solidFill>
          <a:ln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938528"/>
            <a:ext cx="2523744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500" b="1">
                <a:solidFill>
                  <a:srgbClr val="16324A"/>
                </a:solidFill>
                <a:latin typeface="Microsoft YaHei"/>
              </a:defRPr>
            </a:pPr>
            <a:r>
              <a:t>机壳与盖板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304288"/>
            <a:ext cx="2523744" cy="176479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结构件、隔板、极片、垫片等</a:t>
            </a:r>
            <a:br/>
            <a:br/>
            <a:r>
              <a:t>公开产品范围：待确认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6200" y="1828800"/>
            <a:ext cx="2743200" cy="2331720"/>
          </a:xfrm>
          <a:prstGeom prst="roundRect">
            <a:avLst/>
          </a:prstGeom>
          <a:solidFill>
            <a:srgbClr val="F5F8FA"/>
          </a:solidFill>
          <a:ln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95928" y="1938528"/>
            <a:ext cx="2523744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500" b="1">
                <a:solidFill>
                  <a:srgbClr val="7967B8"/>
                </a:solidFill>
                <a:latin typeface="Microsoft YaHei"/>
              </a:defRPr>
            </a:pPr>
            <a:r>
              <a:t>磁性/结构件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95928" y="2304288"/>
            <a:ext cx="2523744" cy="176479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磁扣、磁抱、磁栅等类别</a:t>
            </a:r>
            <a:br/>
            <a:br/>
            <a:r>
              <a:t>公开产品范围：待确认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86600" y="1828800"/>
            <a:ext cx="2743200" cy="2331720"/>
          </a:xfrm>
          <a:prstGeom prst="roundRect">
            <a:avLst/>
          </a:prstGeom>
          <a:solidFill>
            <a:srgbClr val="F5F8FA"/>
          </a:solidFill>
          <a:ln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96328" y="1938528"/>
            <a:ext cx="2523744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500" b="1">
                <a:solidFill>
                  <a:srgbClr val="1C9C8C"/>
                </a:solidFill>
                <a:latin typeface="Microsoft YaHei"/>
              </a:defRPr>
            </a:pPr>
            <a:r>
              <a:t>制动与配套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96328" y="2304288"/>
            <a:ext cx="2523744" cy="176479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制动片及其他配套零件</a:t>
            </a:r>
            <a:br/>
            <a:br/>
            <a:r>
              <a:t>公开产品范围：待确认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709160"/>
            <a:ext cx="9144000" cy="640080"/>
          </a:xfrm>
          <a:prstGeom prst="roundRect">
            <a:avLst/>
          </a:prstGeom>
          <a:solidFill>
            <a:srgbClr val="F6C453"/>
          </a:solidFill>
          <a:ln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828032"/>
            <a:ext cx="877824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400" b="1">
                <a:solidFill>
                  <a:srgbClr val="1F2D3D"/>
                </a:solidFill>
                <a:latin typeface="Microsoft YaHei"/>
              </a:defRPr>
            </a:pPr>
            <a:r>
              <a:t>不展示敏感客户名称；具体型号、材料和单重按客户版本管理。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92240"/>
            <a:ext cx="10972800" cy="16459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800" b="0">
                <a:solidFill>
                  <a:srgbClr val="1F2D3D"/>
                </a:solidFill>
                <a:latin typeface="Microsoft YaHei"/>
              </a:defRPr>
            </a:pPr>
            <a:r>
              <a:t>资料依据：产品信息总览｜公开表述待确认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04 /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材料与版本管理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0972800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客户版本、图纸、材料、单重与检验共同支撑产品一致性。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31720"/>
            <a:ext cx="1600200" cy="914400"/>
          </a:xfrm>
          <a:prstGeom prst="roundRect">
            <a:avLst/>
          </a:prstGeom>
          <a:solidFill>
            <a:srgbClr val="F5F8FA"/>
          </a:solidFill>
          <a:ln>
            <a:solidFill>
              <a:srgbClr val="1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68296"/>
            <a:ext cx="1508760" cy="8412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16324A"/>
                </a:solidFill>
                <a:latin typeface="Microsoft YaHei"/>
              </a:defRPr>
            </a:pPr>
            <a:r>
              <a:t>客户版本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2331720"/>
            <a:ext cx="1600200" cy="914400"/>
          </a:xfrm>
          <a:prstGeom prst="roundRect">
            <a:avLst/>
          </a:prstGeom>
          <a:solidFill>
            <a:srgbClr val="F5F8FA"/>
          </a:solidFill>
          <a:ln>
            <a:solidFill>
              <a:srgbClr val="1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2368296"/>
            <a:ext cx="1508760" cy="8412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16324A"/>
                </a:solidFill>
                <a:latin typeface="Microsoft YaHei"/>
              </a:defRPr>
            </a:pPr>
            <a:r>
              <a:t>受控图纸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2331720"/>
            <a:ext cx="1600200" cy="914400"/>
          </a:xfrm>
          <a:prstGeom prst="roundRect">
            <a:avLst/>
          </a:prstGeom>
          <a:solidFill>
            <a:srgbClr val="F5F8FA"/>
          </a:solidFill>
          <a:ln>
            <a:solidFill>
              <a:srgbClr val="1C9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7800" y="2368296"/>
            <a:ext cx="1508760" cy="8412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1C9C8C"/>
                </a:solidFill>
                <a:latin typeface="Microsoft YaHei"/>
              </a:defRPr>
            </a:pPr>
            <a:r>
              <a:t>材料规格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2331720"/>
            <a:ext cx="1600200" cy="914400"/>
          </a:xfrm>
          <a:prstGeom prst="roundRect">
            <a:avLst/>
          </a:prstGeom>
          <a:solidFill>
            <a:srgbClr val="F5F8FA"/>
          </a:solidFill>
          <a:ln>
            <a:solidFill>
              <a:srgbClr val="1C9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0" y="2368296"/>
            <a:ext cx="1508760" cy="8412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1C9C8C"/>
                </a:solidFill>
                <a:latin typeface="Microsoft YaHei"/>
              </a:defRPr>
            </a:pPr>
            <a:r>
              <a:t>单重记录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0" y="2331720"/>
            <a:ext cx="1600200" cy="914400"/>
          </a:xfrm>
          <a:prstGeom prst="roundRect">
            <a:avLst/>
          </a:prstGeom>
          <a:solidFill>
            <a:srgbClr val="F5F8FA"/>
          </a:solidFill>
          <a:ln>
            <a:solidFill>
              <a:srgbClr val="1C9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38360" y="2368296"/>
            <a:ext cx="1508760" cy="8412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1C9C8C"/>
                </a:solidFill>
                <a:latin typeface="Microsoft YaHei"/>
              </a:defRPr>
            </a:pPr>
            <a:r>
              <a:t>检验记录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31720" y="2788920"/>
            <a:ext cx="640080" cy="0"/>
          </a:xfrm>
          <a:prstGeom prst="line">
            <a:avLst/>
          </a:prstGeom>
          <a:ln w="25400">
            <a:solidFill>
              <a:srgbClr val="36C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72000" y="2788920"/>
            <a:ext cx="640080" cy="0"/>
          </a:xfrm>
          <a:prstGeom prst="line">
            <a:avLst/>
          </a:prstGeom>
          <a:ln w="25400">
            <a:solidFill>
              <a:srgbClr val="36C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12280" y="2788920"/>
            <a:ext cx="640080" cy="0"/>
          </a:xfrm>
          <a:prstGeom prst="line">
            <a:avLst/>
          </a:prstGeom>
          <a:ln w="25400">
            <a:solidFill>
              <a:srgbClr val="36C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052560" y="2788920"/>
            <a:ext cx="640080" cy="0"/>
          </a:xfrm>
          <a:prstGeom prst="line">
            <a:avLst/>
          </a:prstGeom>
          <a:ln w="25400">
            <a:solidFill>
              <a:srgbClr val="36C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14400" y="3977639"/>
            <a:ext cx="4389120" cy="1143000"/>
          </a:xfrm>
          <a:prstGeom prst="roundRect">
            <a:avLst/>
          </a:prstGeom>
          <a:solidFill>
            <a:srgbClr val="F5F8FA"/>
          </a:solidFill>
          <a:ln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087368"/>
            <a:ext cx="4169663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500" b="1">
                <a:solidFill>
                  <a:srgbClr val="7967B8"/>
                </a:solidFill>
                <a:latin typeface="Microsoft YaHei"/>
              </a:defRPr>
            </a:pPr>
            <a:r>
              <a:t>控制重点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4453127"/>
            <a:ext cx="4169663" cy="5760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同型号不同客户版本可能对应不同材料和单重。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977639"/>
            <a:ext cx="4389120" cy="1143000"/>
          </a:xfrm>
          <a:prstGeom prst="roundRect">
            <a:avLst/>
          </a:prstGeom>
          <a:solidFill>
            <a:srgbClr val="F5F8FA"/>
          </a:solidFill>
          <a:ln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4087368"/>
            <a:ext cx="4169663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500" b="1">
                <a:solidFill>
                  <a:srgbClr val="F6C453"/>
                </a:solidFill>
                <a:latin typeface="Microsoft YaHei"/>
              </a:defRPr>
            </a:pPr>
            <a:r>
              <a:t>对外边界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4453127"/>
            <a:ext cx="4169663" cy="5760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敏感客户信息不在本版展示；公开材料范围待确认。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10972800" cy="16459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800" b="0">
                <a:solidFill>
                  <a:srgbClr val="1F2D3D"/>
                </a:solidFill>
                <a:latin typeface="Microsoft YaHei"/>
              </a:defRPr>
            </a:pPr>
            <a:r>
              <a:t>资料依据：产品信息总览、材料型号资料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05 /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模具与工程技术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0972800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模具、工程技术、生产与品质共同支撑制造交付。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94560"/>
            <a:ext cx="2057400" cy="914400"/>
          </a:xfrm>
          <a:prstGeom prst="roundRect">
            <a:avLst/>
          </a:prstGeom>
          <a:solidFill>
            <a:srgbClr val="F5F8FA"/>
          </a:solidFill>
          <a:ln>
            <a:solidFill>
              <a:srgbClr val="1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31136"/>
            <a:ext cx="1965960" cy="8412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16324A"/>
                </a:solidFill>
                <a:latin typeface="Microsoft YaHei"/>
              </a:defRPr>
            </a:pPr>
            <a:r>
              <a:t>图纸评审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2194560"/>
            <a:ext cx="2057400" cy="914400"/>
          </a:xfrm>
          <a:prstGeom prst="roundRect">
            <a:avLst/>
          </a:prstGeom>
          <a:solidFill>
            <a:srgbClr val="F5F8FA"/>
          </a:solidFill>
          <a:ln>
            <a:solidFill>
              <a:srgbClr val="79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2231136"/>
            <a:ext cx="1965960" cy="8412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7967B8"/>
                </a:solidFill>
                <a:latin typeface="Microsoft YaHei"/>
              </a:defRPr>
            </a:pPr>
            <a:r>
              <a:t>工程准备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94560"/>
            <a:ext cx="2057400" cy="914400"/>
          </a:xfrm>
          <a:prstGeom prst="roundRect">
            <a:avLst/>
          </a:prstGeom>
          <a:solidFill>
            <a:srgbClr val="F5F8FA"/>
          </a:solidFill>
          <a:ln>
            <a:solidFill>
              <a:srgbClr val="1C9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231136"/>
            <a:ext cx="1965960" cy="8412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1C9C8C"/>
                </a:solidFill>
                <a:latin typeface="Microsoft YaHei"/>
              </a:defRPr>
            </a:pPr>
            <a:r>
              <a:t>模具维护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2194560"/>
            <a:ext cx="2057400" cy="914400"/>
          </a:xfrm>
          <a:prstGeom prst="roundRect">
            <a:avLst/>
          </a:prstGeom>
          <a:solidFill>
            <a:srgbClr val="F5F8FA"/>
          </a:solidFill>
          <a:ln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2231136"/>
            <a:ext cx="1965960" cy="8412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F6C453"/>
                </a:solidFill>
                <a:latin typeface="Microsoft YaHei"/>
              </a:defRPr>
            </a:pPr>
            <a:r>
              <a:t>生产验证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71800" y="2651760"/>
            <a:ext cx="685800" cy="0"/>
          </a:xfrm>
          <a:prstGeom prst="line">
            <a:avLst/>
          </a:prstGeom>
          <a:ln w="25400">
            <a:solidFill>
              <a:srgbClr val="36C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715000" y="2651760"/>
            <a:ext cx="685800" cy="0"/>
          </a:xfrm>
          <a:prstGeom prst="line">
            <a:avLst/>
          </a:prstGeom>
          <a:ln w="25400">
            <a:solidFill>
              <a:srgbClr val="36C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458200" y="2651760"/>
            <a:ext cx="685800" cy="0"/>
          </a:xfrm>
          <a:prstGeom prst="line">
            <a:avLst/>
          </a:prstGeom>
          <a:ln w="25400">
            <a:solidFill>
              <a:srgbClr val="36C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" y="3977639"/>
            <a:ext cx="4572000" cy="1234440"/>
          </a:xfrm>
          <a:prstGeom prst="roundRect">
            <a:avLst/>
          </a:prstGeom>
          <a:solidFill>
            <a:srgbClr val="F5F8FA"/>
          </a:solidFill>
          <a:ln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087368"/>
            <a:ext cx="4352544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500" b="1">
                <a:solidFill>
                  <a:srgbClr val="16324A"/>
                </a:solidFill>
                <a:latin typeface="Microsoft YaHei"/>
              </a:defRPr>
            </a:pPr>
            <a:r>
              <a:t>能力证据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4453127"/>
            <a:ext cx="4352544" cy="66751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工程技术组、模具维修组及生产/品质协同为已知组织线索。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977639"/>
            <a:ext cx="4572000" cy="1234440"/>
          </a:xfrm>
          <a:prstGeom prst="roundRect">
            <a:avLst/>
          </a:prstGeom>
          <a:solidFill>
            <a:srgbClr val="F5F8FA"/>
          </a:solidFill>
          <a:ln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4087368"/>
            <a:ext cx="4352544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500" b="1">
                <a:solidFill>
                  <a:srgbClr val="F6C453"/>
                </a:solidFill>
                <a:latin typeface="Microsoft YaHei"/>
              </a:defRPr>
            </a:pPr>
            <a:r>
              <a:t>待补证据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4453127"/>
            <a:ext cx="4352544" cy="66751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真实 CAD、模具和现场照片需归档确认；概念图不代表量产证明。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92240"/>
            <a:ext cx="10972800" cy="16459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800" b="0">
                <a:solidFill>
                  <a:srgbClr val="1F2D3D"/>
                </a:solidFill>
                <a:latin typeface="Microsoft YaHei"/>
              </a:defRPr>
            </a:pPr>
            <a:r>
              <a:t>资料依据：生产部资料、CAD项目｜能力与设备边界待确认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06 /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订单到交付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0972800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订单从需求评审到交付，需要跨部门协同；责任与周期待确认。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4173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300" b="1">
                <a:solidFill>
                  <a:srgbClr val="16324A"/>
                </a:solidFill>
                <a:latin typeface="Microsoft YaHei"/>
              </a:defRPr>
            </a:pPr>
            <a:r>
              <a:t>客户/业务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31720" y="1664208"/>
            <a:ext cx="1417320" cy="475488"/>
          </a:xfrm>
          <a:prstGeom prst="roundRect">
            <a:avLst/>
          </a:prstGeom>
          <a:solidFill>
            <a:srgbClr val="F5F8FA"/>
          </a:solidFill>
          <a:ln>
            <a:solidFill>
              <a:srgbClr val="1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77439" y="1700784"/>
            <a:ext cx="1325880" cy="4023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16324A"/>
                </a:solidFill>
                <a:latin typeface="Microsoft YaHei"/>
              </a:defRPr>
            </a:pPr>
            <a:r>
              <a:t>需求与变更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87168"/>
            <a:ext cx="14173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300" b="1">
                <a:solidFill>
                  <a:srgbClr val="7967B8"/>
                </a:solidFill>
                <a:latin typeface="Microsoft YaHei"/>
              </a:defRPr>
            </a:pPr>
            <a:r>
              <a:t>工程/模具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2414016"/>
            <a:ext cx="1417320" cy="475488"/>
          </a:xfrm>
          <a:prstGeom prst="roundRect">
            <a:avLst/>
          </a:prstGeom>
          <a:solidFill>
            <a:srgbClr val="F5F8FA"/>
          </a:solidFill>
          <a:ln>
            <a:solidFill>
              <a:srgbClr val="79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59" y="2450592"/>
            <a:ext cx="1325880" cy="4023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7967B8"/>
                </a:solidFill>
                <a:latin typeface="Microsoft YaHei"/>
              </a:defRPr>
            </a:pPr>
            <a:r>
              <a:t>评审与准备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36976"/>
            <a:ext cx="14173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300" b="1">
                <a:solidFill>
                  <a:srgbClr val="1C9C8C"/>
                </a:solidFill>
                <a:latin typeface="Microsoft YaHei"/>
              </a:defRPr>
            </a:pPr>
            <a:r>
              <a:t>生产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3163824"/>
            <a:ext cx="1417320" cy="475488"/>
          </a:xfrm>
          <a:prstGeom prst="roundRect">
            <a:avLst/>
          </a:prstGeom>
          <a:solidFill>
            <a:srgbClr val="F5F8FA"/>
          </a:solidFill>
          <a:ln>
            <a:solidFill>
              <a:srgbClr val="1C9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79" y="3200400"/>
            <a:ext cx="1325880" cy="4023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1C9C8C"/>
                </a:solidFill>
                <a:latin typeface="Microsoft YaHei"/>
              </a:defRPr>
            </a:pPr>
            <a:r>
              <a:t>制造与记录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986783"/>
            <a:ext cx="14173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300" b="1">
                <a:solidFill>
                  <a:srgbClr val="F6C453"/>
                </a:solidFill>
                <a:latin typeface="Microsoft YaHei"/>
              </a:defRPr>
            </a:pPr>
            <a:r>
              <a:t>品质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3913632"/>
            <a:ext cx="1417320" cy="475488"/>
          </a:xfrm>
          <a:prstGeom prst="roundRect">
            <a:avLst/>
          </a:prstGeom>
          <a:solidFill>
            <a:srgbClr val="F5F8FA"/>
          </a:solidFill>
          <a:ln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3950208"/>
            <a:ext cx="1325880" cy="4023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F6C453"/>
                </a:solidFill>
                <a:latin typeface="Microsoft YaHei"/>
              </a:defRPr>
            </a:pPr>
            <a:r>
              <a:t>检验与放行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736592"/>
            <a:ext cx="14173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300" b="1">
                <a:solidFill>
                  <a:srgbClr val="16324A"/>
                </a:solidFill>
                <a:latin typeface="Microsoft YaHei"/>
              </a:defRPr>
            </a:pPr>
            <a:r>
              <a:t>仓储/交付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29800" y="4663440"/>
            <a:ext cx="1417320" cy="475488"/>
          </a:xfrm>
          <a:prstGeom prst="roundRect">
            <a:avLst/>
          </a:prstGeom>
          <a:solidFill>
            <a:srgbClr val="F5F8FA"/>
          </a:solidFill>
          <a:ln>
            <a:solidFill>
              <a:srgbClr val="1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0" y="4700016"/>
            <a:ext cx="1325880" cy="4023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16324A"/>
                </a:solidFill>
                <a:latin typeface="Microsoft YaHei"/>
              </a:defRPr>
            </a:pPr>
            <a:r>
              <a:t>入库与交付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749039" y="1901952"/>
            <a:ext cx="457201" cy="0"/>
          </a:xfrm>
          <a:prstGeom prst="line">
            <a:avLst/>
          </a:prstGeom>
          <a:ln w="25400">
            <a:solidFill>
              <a:srgbClr val="36C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623559" y="2651760"/>
            <a:ext cx="457200" cy="0"/>
          </a:xfrm>
          <a:prstGeom prst="line">
            <a:avLst/>
          </a:prstGeom>
          <a:ln w="25400">
            <a:solidFill>
              <a:srgbClr val="36C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498079" y="3401568"/>
            <a:ext cx="457200" cy="0"/>
          </a:xfrm>
          <a:prstGeom prst="line">
            <a:avLst/>
          </a:prstGeom>
          <a:ln w="25400">
            <a:solidFill>
              <a:srgbClr val="36C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372600" y="4151376"/>
            <a:ext cx="457200" cy="0"/>
          </a:xfrm>
          <a:prstGeom prst="line">
            <a:avLst/>
          </a:prstGeom>
          <a:ln w="25400">
            <a:solidFill>
              <a:srgbClr val="36C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85800" y="5577840"/>
            <a:ext cx="10698480" cy="457200"/>
          </a:xfrm>
          <a:prstGeom prst="roundRect">
            <a:avLst/>
          </a:prstGeom>
          <a:solidFill>
            <a:srgbClr val="F6C453"/>
          </a:solidFill>
          <a:ln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650992"/>
            <a:ext cx="10332720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300" b="1">
                <a:solidFill>
                  <a:srgbClr val="1F2D3D"/>
                </a:solidFill>
                <a:latin typeface="Microsoft YaHei"/>
              </a:defRPr>
            </a:pPr>
            <a:r>
              <a:t>流程节点、责任归属、合作周期：待正式流程文件确认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92240"/>
            <a:ext cx="10972800" cy="16459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800" b="0">
                <a:solidFill>
                  <a:srgbClr val="1F2D3D"/>
                </a:solidFill>
                <a:latin typeface="Microsoft YaHei"/>
              </a:defRPr>
            </a:pPr>
            <a:r>
              <a:t>资料依据：组织矩阵、流程资料｜不写未经确认的交期承诺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07 /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质量控制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0972800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质量关注点贯穿图纸、材料、关键尺寸、外观、表面处理和异常闭环。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2057400" cy="777240"/>
          </a:xfrm>
          <a:prstGeom prst="roundRect">
            <a:avLst/>
          </a:prstGeom>
          <a:solidFill>
            <a:srgbClr val="F5F8FA"/>
          </a:solidFill>
          <a:ln>
            <a:solidFill>
              <a:srgbClr val="1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39696"/>
            <a:ext cx="1965960" cy="7040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16324A"/>
                </a:solidFill>
                <a:latin typeface="Microsoft YaHei"/>
              </a:defRPr>
            </a:pPr>
            <a:r>
              <a:t>图纸/版本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2103120"/>
            <a:ext cx="2057400" cy="777240"/>
          </a:xfrm>
          <a:prstGeom prst="roundRect">
            <a:avLst/>
          </a:prstGeom>
          <a:solidFill>
            <a:srgbClr val="F5F8FA"/>
          </a:solidFill>
          <a:ln>
            <a:solidFill>
              <a:srgbClr val="79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79" y="2139696"/>
            <a:ext cx="1965960" cy="7040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7967B8"/>
                </a:solidFill>
                <a:latin typeface="Microsoft YaHei"/>
              </a:defRPr>
            </a:pPr>
            <a:r>
              <a:t>材料/批次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03120"/>
            <a:ext cx="2057400" cy="777240"/>
          </a:xfrm>
          <a:prstGeom prst="roundRect">
            <a:avLst/>
          </a:prstGeom>
          <a:solidFill>
            <a:srgbClr val="F5F8FA"/>
          </a:solidFill>
          <a:ln>
            <a:solidFill>
              <a:srgbClr val="1C9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139696"/>
            <a:ext cx="1965960" cy="7040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1C9C8C"/>
                </a:solidFill>
                <a:latin typeface="Microsoft YaHei"/>
              </a:defRPr>
            </a:pPr>
            <a:r>
              <a:t>尺寸/单重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2103120"/>
            <a:ext cx="2057400" cy="777240"/>
          </a:xfrm>
          <a:prstGeom prst="roundRect">
            <a:avLst/>
          </a:prstGeom>
          <a:solidFill>
            <a:srgbClr val="F5F8FA"/>
          </a:solidFill>
          <a:ln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139696"/>
            <a:ext cx="1965960" cy="7040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F6C453"/>
                </a:solidFill>
                <a:latin typeface="Microsoft YaHei"/>
              </a:defRPr>
            </a:pPr>
            <a:r>
              <a:t>外观/表面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880360" y="2487168"/>
            <a:ext cx="685800" cy="0"/>
          </a:xfrm>
          <a:prstGeom prst="line">
            <a:avLst/>
          </a:prstGeom>
          <a:ln w="25400">
            <a:solidFill>
              <a:srgbClr val="36C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623560" y="2487168"/>
            <a:ext cx="685800" cy="0"/>
          </a:xfrm>
          <a:prstGeom prst="line">
            <a:avLst/>
          </a:prstGeom>
          <a:ln w="25400">
            <a:solidFill>
              <a:srgbClr val="36C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366760" y="2487168"/>
            <a:ext cx="685800" cy="0"/>
          </a:xfrm>
          <a:prstGeom prst="line">
            <a:avLst/>
          </a:prstGeom>
          <a:ln w="25400">
            <a:solidFill>
              <a:srgbClr val="36C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5760720" y="2880360"/>
            <a:ext cx="4297680" cy="914400"/>
          </a:xfrm>
          <a:prstGeom prst="line">
            <a:avLst/>
          </a:prstGeom>
          <a:ln w="25400">
            <a:solidFill>
              <a:srgbClr val="36C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0" y="3063240"/>
            <a:ext cx="2286000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100" b="1">
                <a:solidFill>
                  <a:srgbClr val="1C9C8C"/>
                </a:solidFill>
                <a:latin typeface="Microsoft YaHei"/>
              </a:defRPr>
            </a:pPr>
            <a:r>
              <a:t>检查完成后进入放行判断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3794760"/>
            <a:ext cx="2103120" cy="822960"/>
          </a:xfrm>
          <a:prstGeom prst="roundRect">
            <a:avLst/>
          </a:prstGeom>
          <a:solidFill>
            <a:srgbClr val="F5F8FA"/>
          </a:solidFill>
          <a:ln>
            <a:solidFill>
              <a:srgbClr val="1C9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3831336"/>
            <a:ext cx="2011679" cy="7498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1C9C8C"/>
                </a:solidFill>
                <a:latin typeface="Microsoft YaHei"/>
              </a:defRPr>
            </a:pPr>
            <a:r>
              <a:t>放行？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950208"/>
            <a:ext cx="457200" cy="2286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100" b="1">
                <a:solidFill>
                  <a:srgbClr val="1C9C8C"/>
                </a:solidFill>
                <a:latin typeface="Microsoft YaHei"/>
              </a:defRPr>
            </a:pPr>
            <a:r>
              <a:t>是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12280" y="4206240"/>
            <a:ext cx="1600200" cy="0"/>
          </a:xfrm>
          <a:prstGeom prst="line">
            <a:avLst/>
          </a:prstGeom>
          <a:ln w="25400">
            <a:solidFill>
              <a:srgbClr val="36C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412480" y="3794760"/>
            <a:ext cx="2103120" cy="822960"/>
          </a:xfrm>
          <a:prstGeom prst="roundRect">
            <a:avLst/>
          </a:prstGeom>
          <a:solidFill>
            <a:srgbClr val="F5F8FA"/>
          </a:solidFill>
          <a:ln>
            <a:solidFill>
              <a:srgbClr val="1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3831336"/>
            <a:ext cx="2011679" cy="7498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16324A"/>
                </a:solidFill>
                <a:latin typeface="Microsoft YaHei"/>
              </a:defRPr>
            </a:pPr>
            <a:r>
              <a:t>交付记录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4754880"/>
            <a:ext cx="457200" cy="2286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100" b="1">
                <a:solidFill>
                  <a:srgbClr val="C95A5A"/>
                </a:solidFill>
                <a:latin typeface="Microsoft YaHei"/>
              </a:defRPr>
            </a:pPr>
            <a:r>
              <a:t>否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2971800" y="4617720"/>
            <a:ext cx="1737360" cy="457200"/>
          </a:xfrm>
          <a:prstGeom prst="line">
            <a:avLst/>
          </a:prstGeom>
          <a:ln w="25400">
            <a:solidFill>
              <a:srgbClr val="C9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14400" y="4800600"/>
            <a:ext cx="2103120" cy="685800"/>
          </a:xfrm>
          <a:prstGeom prst="roundRect">
            <a:avLst/>
          </a:prstGeom>
          <a:solidFill>
            <a:srgbClr val="F5F8FA"/>
          </a:solidFill>
          <a:ln>
            <a:solidFill>
              <a:srgbClr val="C9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837176"/>
            <a:ext cx="2011679" cy="6126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C95A5A"/>
                </a:solidFill>
                <a:latin typeface="Microsoft YaHei"/>
              </a:defRPr>
            </a:pPr>
            <a:r>
              <a:t>隔离 / 评审 / 整改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017520" y="5138928"/>
            <a:ext cx="1691640" cy="0"/>
          </a:xfrm>
          <a:prstGeom prst="line">
            <a:avLst/>
          </a:prstGeom>
          <a:ln w="25400">
            <a:solidFill>
              <a:srgbClr val="C9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709160" y="4800600"/>
            <a:ext cx="2103120" cy="685800"/>
          </a:xfrm>
          <a:prstGeom prst="roundRect">
            <a:avLst/>
          </a:prstGeom>
          <a:solidFill>
            <a:srgbClr val="F5F8FA"/>
          </a:solidFill>
          <a:ln>
            <a:solidFill>
              <a:srgbClr val="79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4837176"/>
            <a:ext cx="2011679" cy="6126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7967B8"/>
                </a:solidFill>
                <a:latin typeface="Microsoft YaHei"/>
              </a:defRPr>
            </a:pPr>
            <a:r>
              <a:t>复检记录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4782312"/>
            <a:ext cx="3383280" cy="685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1">
                <a:solidFill>
                  <a:srgbClr val="7967B8"/>
                </a:solidFill>
                <a:latin typeface="Microsoft YaHei"/>
              </a:defRPr>
            </a:pPr>
            <a:r>
              <a:t>复检通过 → 返回放行判断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92240"/>
            <a:ext cx="10972800" cy="16459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800" b="0">
                <a:solidFill>
                  <a:srgbClr val="1F2D3D"/>
                </a:solidFill>
                <a:latin typeface="Microsoft YaHei"/>
              </a:defRPr>
            </a:pPr>
            <a:r>
              <a:t>指标、阈值和正式检验表单：待确认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08 / TRACEABILITY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产品一致性与追溯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0972800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版本、批次、产品编码和检验记录形成可回溯链路。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48840"/>
            <a:ext cx="2103120" cy="822960"/>
          </a:xfrm>
          <a:prstGeom prst="roundRect">
            <a:avLst/>
          </a:prstGeom>
          <a:solidFill>
            <a:srgbClr val="F5F8FA"/>
          </a:solidFill>
          <a:ln>
            <a:solidFill>
              <a:srgbClr val="1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85416"/>
            <a:ext cx="2011679" cy="7498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16324A"/>
                </a:solidFill>
                <a:latin typeface="Microsoft YaHei"/>
              </a:defRPr>
            </a:pPr>
            <a:r>
              <a:t>图纸版本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2148840"/>
            <a:ext cx="2103120" cy="822960"/>
          </a:xfrm>
          <a:prstGeom prst="roundRect">
            <a:avLst/>
          </a:prstGeom>
          <a:solidFill>
            <a:srgbClr val="F5F8FA"/>
          </a:solidFill>
          <a:ln>
            <a:solidFill>
              <a:srgbClr val="79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2185416"/>
            <a:ext cx="2011679" cy="7498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7967B8"/>
                </a:solidFill>
                <a:latin typeface="Microsoft YaHei"/>
              </a:defRPr>
            </a:pPr>
            <a:r>
              <a:t>材料批次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48840"/>
            <a:ext cx="2103120" cy="822960"/>
          </a:xfrm>
          <a:prstGeom prst="roundRect">
            <a:avLst/>
          </a:prstGeom>
          <a:solidFill>
            <a:srgbClr val="F5F8FA"/>
          </a:solidFill>
          <a:ln>
            <a:solidFill>
              <a:srgbClr val="1C9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185416"/>
            <a:ext cx="2011679" cy="7498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1C9C8C"/>
                </a:solidFill>
                <a:latin typeface="Microsoft YaHei"/>
              </a:defRPr>
            </a:pPr>
            <a:r>
              <a:t>产品编码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2148840"/>
            <a:ext cx="2103120" cy="822960"/>
          </a:xfrm>
          <a:prstGeom prst="roundRect">
            <a:avLst/>
          </a:prstGeom>
          <a:solidFill>
            <a:srgbClr val="F5F8FA"/>
          </a:solidFill>
          <a:ln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2185416"/>
            <a:ext cx="2011679" cy="7498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F6C453"/>
                </a:solidFill>
                <a:latin typeface="Microsoft YaHei"/>
              </a:defRPr>
            </a:pPr>
            <a:r>
              <a:t>检验记录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17520" y="2560320"/>
            <a:ext cx="640080" cy="0"/>
          </a:xfrm>
          <a:prstGeom prst="line">
            <a:avLst/>
          </a:prstGeom>
          <a:ln w="25400">
            <a:solidFill>
              <a:srgbClr val="36C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760720" y="2560320"/>
            <a:ext cx="640080" cy="0"/>
          </a:xfrm>
          <a:prstGeom prst="line">
            <a:avLst/>
          </a:prstGeom>
          <a:ln w="25400">
            <a:solidFill>
              <a:srgbClr val="36C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503920" y="2560320"/>
            <a:ext cx="640080" cy="0"/>
          </a:xfrm>
          <a:prstGeom prst="line">
            <a:avLst/>
          </a:prstGeom>
          <a:ln w="25400">
            <a:solidFill>
              <a:srgbClr val="36C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" y="3977639"/>
            <a:ext cx="4572000" cy="1234440"/>
          </a:xfrm>
          <a:prstGeom prst="roundRect">
            <a:avLst/>
          </a:prstGeom>
          <a:solidFill>
            <a:srgbClr val="F5F8FA"/>
          </a:solidFill>
          <a:ln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087368"/>
            <a:ext cx="4352544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500" b="1">
                <a:solidFill>
                  <a:srgbClr val="16324A"/>
                </a:solidFill>
                <a:latin typeface="Microsoft YaHei"/>
              </a:defRPr>
            </a:pPr>
            <a:r>
              <a:t>记录对象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4453127"/>
            <a:ext cx="4352544" cy="66751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版本清单、材料/批次记录、产品编码、检验记录。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977639"/>
            <a:ext cx="4572000" cy="1234440"/>
          </a:xfrm>
          <a:prstGeom prst="roundRect">
            <a:avLst/>
          </a:prstGeom>
          <a:solidFill>
            <a:srgbClr val="F5F8FA"/>
          </a:solidFill>
          <a:ln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4087368"/>
            <a:ext cx="4352544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500" b="1">
                <a:solidFill>
                  <a:srgbClr val="F6C453"/>
                </a:solidFill>
                <a:latin typeface="Microsoft YaHei"/>
              </a:defRPr>
            </a:pPr>
            <a:r>
              <a:t>待补样例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4453127"/>
            <a:ext cx="4352544" cy="66751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脱敏真实记录模板待补；不使用伪造样本。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92240"/>
            <a:ext cx="10972800" cy="16459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800" b="0">
                <a:solidFill>
                  <a:srgbClr val="1F2D3D"/>
                </a:solidFill>
                <a:latin typeface="Microsoft YaHei"/>
              </a:defRPr>
            </a:pPr>
            <a:r>
              <a:t>资料依据：质量/运营模板｜字段与保存期限待确认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09 / FACTORY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现场能力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0972800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真实现场素材是展示制造能力的证据，本页暂保留实拍待补位。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2148840" cy="1828800"/>
          </a:xfrm>
          <a:prstGeom prst="roundRect">
            <a:avLst/>
          </a:prstGeom>
          <a:solidFill>
            <a:srgbClr val="F5F8FA"/>
          </a:solidFill>
          <a:ln>
            <a:solidFill>
              <a:srgbClr val="1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02536"/>
            <a:ext cx="2057400" cy="17556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16324A"/>
                </a:solidFill>
                <a:latin typeface="Microsoft YaHei"/>
              </a:defRPr>
            </a:pPr>
            <a:r>
              <a:t>工厂实拍</a:t>
            </a:r>
            <a:br/>
            <a:r>
              <a:t>待补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965960"/>
            <a:ext cx="2148840" cy="1828800"/>
          </a:xfrm>
          <a:prstGeom prst="roundRect">
            <a:avLst/>
          </a:prstGeom>
          <a:solidFill>
            <a:srgbClr val="F5F8FA"/>
          </a:solidFill>
          <a:ln>
            <a:solidFill>
              <a:srgbClr val="79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39" y="2002536"/>
            <a:ext cx="2057400" cy="17556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7967B8"/>
                </a:solidFill>
                <a:latin typeface="Microsoft YaHei"/>
              </a:defRPr>
            </a:pPr>
            <a:r>
              <a:t>设备实拍</a:t>
            </a:r>
            <a:br/>
            <a:r>
              <a:t>待补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965960"/>
            <a:ext cx="2148840" cy="1828800"/>
          </a:xfrm>
          <a:prstGeom prst="roundRect">
            <a:avLst/>
          </a:prstGeom>
          <a:solidFill>
            <a:srgbClr val="F5F8FA"/>
          </a:solidFill>
          <a:ln>
            <a:solidFill>
              <a:srgbClr val="1C9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59" y="2002536"/>
            <a:ext cx="2057400" cy="17556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1C9C8C"/>
                </a:solidFill>
                <a:latin typeface="Microsoft YaHei"/>
              </a:defRPr>
            </a:pPr>
            <a:r>
              <a:t>模具实拍</a:t>
            </a:r>
            <a:br/>
            <a:r>
              <a:t>待补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59" y="1965960"/>
            <a:ext cx="2148840" cy="1828800"/>
          </a:xfrm>
          <a:prstGeom prst="roundRect">
            <a:avLst/>
          </a:prstGeom>
          <a:solidFill>
            <a:srgbClr val="F5F8FA"/>
          </a:solidFill>
          <a:ln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002536"/>
            <a:ext cx="2057400" cy="17556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F6C453"/>
                </a:solidFill>
                <a:latin typeface="Microsoft YaHei"/>
              </a:defRPr>
            </a:pPr>
            <a:r>
              <a:t>检验实拍</a:t>
            </a:r>
            <a:br/>
            <a:r>
              <a:t>待补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343400"/>
            <a:ext cx="9875520" cy="640080"/>
          </a:xfrm>
          <a:prstGeom prst="roundRect">
            <a:avLst/>
          </a:prstGeom>
          <a:solidFill>
            <a:srgbClr val="F6C453"/>
          </a:solidFill>
          <a:ln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498848"/>
            <a:ext cx="9418320" cy="29260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400" b="1">
                <a:solidFill>
                  <a:srgbClr val="1F2D3D"/>
                </a:solidFill>
                <a:latin typeface="Microsoft YaHei"/>
              </a:defRPr>
            </a:pPr>
            <a:r>
              <a:t>不以 AI 图替代真实工厂、设备、模具或检验照片；需取得授权后归档。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92240"/>
            <a:ext cx="10972800" cy="16459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800" b="0">
                <a:solidFill>
                  <a:srgbClr val="1F2D3D"/>
                </a:solidFill>
                <a:latin typeface="Microsoft YaHei"/>
              </a:defRPr>
            </a:pPr>
            <a:r>
              <a:t>现场照片、授权和来源：待补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10 / COOPERATION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合作方式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0972800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以需求评审、试制、量产、交付为主线组织合作。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31720"/>
            <a:ext cx="2103120" cy="914400"/>
          </a:xfrm>
          <a:prstGeom prst="roundRect">
            <a:avLst/>
          </a:prstGeom>
          <a:solidFill>
            <a:srgbClr val="F5F8FA"/>
          </a:solidFill>
          <a:ln>
            <a:solidFill>
              <a:srgbClr val="1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368296"/>
            <a:ext cx="2011679" cy="8412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16324A"/>
                </a:solidFill>
                <a:latin typeface="Microsoft YaHei"/>
              </a:defRPr>
            </a:pPr>
            <a:r>
              <a:t>需求输入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2331720"/>
            <a:ext cx="2103120" cy="914400"/>
          </a:xfrm>
          <a:prstGeom prst="roundRect">
            <a:avLst/>
          </a:prstGeom>
          <a:solidFill>
            <a:srgbClr val="F5F8FA"/>
          </a:solidFill>
          <a:ln>
            <a:solidFill>
              <a:srgbClr val="796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79" y="2368296"/>
            <a:ext cx="2011679" cy="8412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7967B8"/>
                </a:solidFill>
                <a:latin typeface="Microsoft YaHei"/>
              </a:defRPr>
            </a:pPr>
            <a:r>
              <a:t>工程评审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331720"/>
            <a:ext cx="2103120" cy="914400"/>
          </a:xfrm>
          <a:prstGeom prst="roundRect">
            <a:avLst/>
          </a:prstGeom>
          <a:solidFill>
            <a:srgbClr val="F5F8FA"/>
          </a:solidFill>
          <a:ln>
            <a:solidFill>
              <a:srgbClr val="1C9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368296"/>
            <a:ext cx="2011679" cy="8412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1C9C8C"/>
                </a:solidFill>
                <a:latin typeface="Microsoft YaHei"/>
              </a:defRPr>
            </a:pPr>
            <a:r>
              <a:t>样件/试制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2331720"/>
            <a:ext cx="2103120" cy="914400"/>
          </a:xfrm>
          <a:prstGeom prst="roundRect">
            <a:avLst/>
          </a:prstGeom>
          <a:solidFill>
            <a:srgbClr val="F5F8FA"/>
          </a:solidFill>
          <a:ln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368296"/>
            <a:ext cx="2011679" cy="8412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defRPr sz="1400" b="1">
                <a:solidFill>
                  <a:srgbClr val="F6C453"/>
                </a:solidFill>
                <a:latin typeface="Microsoft YaHei"/>
              </a:defRPr>
            </a:pPr>
            <a:r>
              <a:t>量产交付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26080" y="2788920"/>
            <a:ext cx="640080" cy="0"/>
          </a:xfrm>
          <a:prstGeom prst="line">
            <a:avLst/>
          </a:prstGeom>
          <a:ln w="25400">
            <a:solidFill>
              <a:srgbClr val="36C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669280" y="2788920"/>
            <a:ext cx="640080" cy="0"/>
          </a:xfrm>
          <a:prstGeom prst="line">
            <a:avLst/>
          </a:prstGeom>
          <a:ln w="25400">
            <a:solidFill>
              <a:srgbClr val="36C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412480" y="2788920"/>
            <a:ext cx="640080" cy="0"/>
          </a:xfrm>
          <a:prstGeom prst="line">
            <a:avLst/>
          </a:prstGeom>
          <a:ln w="25400">
            <a:solidFill>
              <a:srgbClr val="36C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" y="4160520"/>
            <a:ext cx="4480560" cy="1097280"/>
          </a:xfrm>
          <a:prstGeom prst="roundRect">
            <a:avLst/>
          </a:prstGeom>
          <a:solidFill>
            <a:srgbClr val="F5F8FA"/>
          </a:solidFill>
          <a:ln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270248"/>
            <a:ext cx="4261104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500" b="1">
                <a:solidFill>
                  <a:srgbClr val="16324A"/>
                </a:solidFill>
                <a:latin typeface="Microsoft YaHei"/>
              </a:defRPr>
            </a:pPr>
            <a:r>
              <a:t>客户提供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4636008"/>
            <a:ext cx="4261104" cy="53035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图纸/版本、材料要求、质量要求和交付需求。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160520"/>
            <a:ext cx="4480560" cy="1097280"/>
          </a:xfrm>
          <a:prstGeom prst="roundRect">
            <a:avLst/>
          </a:prstGeom>
          <a:solidFill>
            <a:srgbClr val="F5F8FA"/>
          </a:solidFill>
          <a:ln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4270248"/>
            <a:ext cx="4261104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500" b="1">
                <a:solidFill>
                  <a:srgbClr val="F6C453"/>
                </a:solidFill>
                <a:latin typeface="Microsoft YaHei"/>
              </a:defRPr>
            </a:pPr>
            <a:r>
              <a:t>待确认承诺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4636008"/>
            <a:ext cx="4261104" cy="53035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合作周期、样件节奏、产能与交付承诺需正式确认。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92240"/>
            <a:ext cx="10972800" cy="16459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800" b="0">
                <a:solidFill>
                  <a:srgbClr val="1F2D3D"/>
                </a:solidFill>
                <a:latin typeface="Microsoft YaHei"/>
              </a:defRPr>
            </a:pPr>
            <a:r>
              <a:t>资料依据：订单/供应商模板｜不写未确认周期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000" b="1">
                <a:solidFill>
                  <a:srgbClr val="1C9C8C"/>
                </a:solidFill>
                <a:latin typeface="Microsoft YaHei"/>
              </a:defRPr>
            </a:pPr>
            <a:r>
              <a:t>11 /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2700" b="1">
                <a:solidFill>
                  <a:srgbClr val="1F2D3D"/>
                </a:solidFill>
                <a:latin typeface="Microsoft YaHei"/>
              </a:defRPr>
            </a:pPr>
            <a:r>
              <a:t>能力扩展方向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0972800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只展示已确认的建设事项，并明确当前状态。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2743200" cy="2377440"/>
          </a:xfrm>
          <a:prstGeom prst="roundRect">
            <a:avLst/>
          </a:prstGeom>
          <a:solidFill>
            <a:srgbClr val="F5F8FA"/>
          </a:solidFill>
          <a:ln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84248"/>
            <a:ext cx="2523744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500" b="1">
                <a:solidFill>
                  <a:srgbClr val="16324A"/>
                </a:solidFill>
                <a:latin typeface="Microsoft YaHei"/>
              </a:defRPr>
            </a:pPr>
            <a:r>
              <a:t>现状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350008"/>
            <a:ext cx="2523744" cy="181051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已验证的产品、组织与质量关注点</a:t>
            </a:r>
            <a:br/>
            <a:br/>
            <a:r>
              <a:t>具体事项：待确认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6200" y="1874519"/>
            <a:ext cx="2743200" cy="2377440"/>
          </a:xfrm>
          <a:prstGeom prst="roundRect">
            <a:avLst/>
          </a:prstGeom>
          <a:solidFill>
            <a:srgbClr val="F5F8FA"/>
          </a:solidFill>
          <a:ln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95928" y="1984248"/>
            <a:ext cx="2523744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500" b="1">
                <a:solidFill>
                  <a:srgbClr val="1C9C8C"/>
                </a:solidFill>
                <a:latin typeface="Microsoft YaHei"/>
              </a:defRPr>
            </a:pPr>
            <a:r>
              <a:t>建设中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95928" y="2350008"/>
            <a:ext cx="2523744" cy="181051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有正式资料支持、正在补齐的证据</a:t>
            </a:r>
            <a:br/>
            <a:br/>
            <a:r>
              <a:t>具体事项：待确认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1874519"/>
            <a:ext cx="2743200" cy="2377440"/>
          </a:xfrm>
          <a:prstGeom prst="roundRect">
            <a:avLst/>
          </a:prstGeom>
          <a:solidFill>
            <a:srgbClr val="F5F8FA"/>
          </a:solidFill>
          <a:ln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50608" y="1984248"/>
            <a:ext cx="2523744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500" b="1">
                <a:solidFill>
                  <a:srgbClr val="F6C453"/>
                </a:solidFill>
                <a:latin typeface="Microsoft YaHei"/>
              </a:defRPr>
            </a:pPr>
            <a:r>
              <a:t>拟建立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0608" y="2350008"/>
            <a:ext cx="2523744" cy="181051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1F2D3D"/>
                </a:solidFill>
                <a:latin typeface="Microsoft YaHei"/>
              </a:defRPr>
            </a:pPr>
            <a:r>
              <a:t>规划事项，不能写成当前能力</a:t>
            </a:r>
            <a:br/>
            <a:br/>
            <a:r>
              <a:t>具体事项：待确认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00600"/>
            <a:ext cx="9052560" cy="502920"/>
          </a:xfrm>
          <a:prstGeom prst="roundRect">
            <a:avLst/>
          </a:prstGeom>
          <a:solidFill>
            <a:srgbClr val="F6C453"/>
          </a:solidFill>
          <a:ln>
            <a:solidFill>
              <a:srgbClr val="F6C4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01184"/>
            <a:ext cx="8686800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300" b="1">
                <a:solidFill>
                  <a:srgbClr val="1F2D3D"/>
                </a:solidFill>
                <a:latin typeface="Microsoft YaHei"/>
              </a:defRPr>
            </a:pPr>
            <a:r>
              <a:t>每项规划必须标注状态、负责人和证据来源；不使用“行业领先”等无证据表述。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92240"/>
            <a:ext cx="10972800" cy="16459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800" b="0">
                <a:solidFill>
                  <a:srgbClr val="1F2D3D"/>
                </a:solidFill>
                <a:latin typeface="Microsoft YaHei"/>
              </a:defRPr>
            </a:pPr>
            <a:r>
              <a:t>规划资料与状态：待确认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286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000" b="1">
                <a:solidFill>
                  <a:srgbClr val="36C2C9"/>
                </a:solidFill>
                <a:latin typeface="Microsoft YaHei"/>
              </a:defRPr>
            </a:pPr>
            <a:r>
              <a:t>12 /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2700" b="1">
                <a:solidFill>
                  <a:srgbClr val="F5F8FA"/>
                </a:solidFill>
                <a:latin typeface="Microsoft YaHei"/>
              </a:defRPr>
            </a:pPr>
            <a:r>
              <a:t>合作入口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0972800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B5C2D0"/>
                </a:solidFill>
                <a:latin typeface="Microsoft YaHei"/>
              </a:defRPr>
            </a:pPr>
            <a:r>
              <a:t>正式公司信息确认后，再开放对外联系方式。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4754880" cy="2560320"/>
          </a:xfrm>
          <a:prstGeom prst="roundRect">
            <a:avLst/>
          </a:prstGeom>
          <a:solidFill>
            <a:srgbClr val="16324A"/>
          </a:solidFill>
          <a:ln>
            <a:solidFill>
              <a:srgbClr val="163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38528"/>
            <a:ext cx="4535424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500" b="1">
                <a:solidFill>
                  <a:srgbClr val="F5F8FA"/>
                </a:solidFill>
                <a:latin typeface="Microsoft YaHei"/>
              </a:defRPr>
            </a:pPr>
            <a:r>
              <a:t>正式公司信息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304288"/>
            <a:ext cx="4535424" cy="199339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F5F8FA"/>
                </a:solidFill>
                <a:latin typeface="Microsoft YaHei"/>
              </a:defRPr>
            </a:pPr>
            <a:r>
              <a:t>公司全称：待确认</a:t>
            </a:r>
            <a:br/>
            <a:r>
              <a:t>对外简称：待确认</a:t>
            </a:r>
            <a:br/>
            <a:r>
              <a:t>地址：待确认</a:t>
            </a:r>
            <a:br/>
            <a:r>
              <a:t>电话 / 邮箱：待确认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4114800" cy="2560320"/>
          </a:xfrm>
          <a:prstGeom prst="roundRect">
            <a:avLst/>
          </a:prstGeom>
          <a:solidFill>
            <a:srgbClr val="1C9C8C"/>
          </a:solidFill>
          <a:ln>
            <a:solidFill>
              <a:srgbClr val="1C9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1938528"/>
            <a:ext cx="3895344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500" b="1">
                <a:solidFill>
                  <a:srgbClr val="F5F8FA"/>
                </a:solidFill>
                <a:latin typeface="Microsoft YaHei"/>
              </a:defRPr>
            </a:pPr>
            <a:r>
              <a:t>二维码与入口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2304288"/>
            <a:ext cx="3895344" cy="1993391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1200" b="0">
                <a:solidFill>
                  <a:srgbClr val="F5F8FA"/>
                </a:solidFill>
                <a:latin typeface="Microsoft YaHei"/>
              </a:defRPr>
            </a:pPr>
            <a:r>
              <a:t>二维码：待补</a:t>
            </a:r>
            <a:br/>
            <a:r>
              <a:t>联系人：待确认</a:t>
            </a:r>
            <a:br/>
            <a:br/>
            <a:r>
              <a:t>不生成虚假联系方式。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10972800" cy="16459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>
              <a:defRPr sz="800" b="0">
                <a:solidFill>
                  <a:srgbClr val="B5C2D0"/>
                </a:solidFill>
                <a:latin typeface="Microsoft YaHei"/>
              </a:defRPr>
            </a:pPr>
            <a:r>
              <a:t>对外介绍草案｜所有联系信息逐项核验后发布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