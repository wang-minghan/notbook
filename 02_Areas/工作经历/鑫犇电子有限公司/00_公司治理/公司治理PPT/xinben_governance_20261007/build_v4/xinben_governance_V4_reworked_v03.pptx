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  <Relationship Id="rId43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1.xml"/>
</Relationships>
</file>

<file path=ppt/notesSlides/_rels/notesSlide2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2.xml"/>
</Relationships>
</file>

<file path=ppt/notesSlides/_rels/notesSlide2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3.xml"/>
</Relationships>
</file>

<file path=ppt/notesSlides/_rels/notesSlide2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4.xml"/>
</Relationships>
</file>

<file path=ppt/notesSlides/_rels/notesSlide2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5.xml"/>
</Relationships>
</file>

<file path=ppt/notesSlides/_rels/notesSlide2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6.xml"/>
</Relationships>
</file>

<file path=ppt/notesSlides/_rels/notesSlide2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7.xml"/>
</Relationships>
</file>

<file path=ppt/notesSlides/_rels/notesSlide2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8.xml"/>
</Relationships>
</file>

<file path=ppt/notesSlides/_rels/notesSlide2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9.xml"/>
</Relationships>
</file>

<file path=ppt/notesSlides/_rels/notesSlide3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0.xml"/>
</Relationships>
</file>

<file path=ppt/notesSlides/_rels/notesSlide3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1.xml"/>
</Relationships>
</file>

<file path=ppt/notesSlides/_rels/notesSlide3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2.xml"/>
</Relationships>
</file>

<file path=ppt/notesSlides/_rels/notesSlide3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3.xml"/>
</Relationships>
</file>

<file path=ppt/notesSlides/_rels/notesSlide3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4.xml"/>
</Relationships>
</file>

<file path=ppt/notesSlides/_rels/notesSlide3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5.xml"/>
</Relationships>
</file>

<file path=ppt/notesSlides/_rels/notesSlide3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6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本页围绕“公司治理与部门协同管理体系”展开。重点不是介绍概念本身，而是说明鑫犇如何把责任、流程和证据组织起来，让客户能够理解并验证我们的管理方式。下一页将继续把这一方法落到具体治理场景。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本页围绕“文件定位与适用范围”展开。重点不是介绍概念本身，而是说明鑫犇如何把责任、流程和证据组织起来，让客户能够理解并验证我们的管理方式。下一页将继续把这一方法落到具体治理场景。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本页围绕“管理体系三层架构”展开。重点不是介绍概念本身，而是说明鑫犇如何把责任、流程和证据组织起来，让客户能够理解并验证我们的管理方式。下一页将继续把这一方法落到具体治理场景。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本页围绕“管理原则”展开。重点不是介绍概念本身，而是说明鑫犇如何把责任、流程和证据组织起来，让客户能够理解并验证我们的管理方式。下一页将继续把这一方法落到具体治理场景。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本页围绕“制度文件层级”展开。重点不是介绍概念本身，而是说明鑫犇如何把责任、流程和证据组织起来，让客户能够理解并验证我们的管理方式。下一页将继续把这一方法落到具体治理场景。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本页围绕“组织架构与决策边界”展开。重点不是介绍概念本身，而是说明鑫犇如何把责任、流程和证据组织起来，让客户能够理解并验证我们的管理方式。下一页将继续把这一方法落到具体治理场景。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本页围绕“决策与经营职责”展开。重点不是介绍概念本身，而是说明鑫犇如何把责任、流程和证据组织起来，让客户能够理解并验证我们的管理方式。下一页将继续把这一方法落到具体治理场景。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本页围绕“部门职责地图”展开。重点不是介绍概念本身，而是说明鑫犇如何把责任、流程和证据组织起来，让客户能够理解并验证我们的管理方式。下一页将继续把这一方法落到具体治理场景。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本页围绕“岗位责任与替代机制”展开。重点不是介绍概念本身，而是说明鑫犇如何把责任、流程和证据组织起来，让客户能够理解并验证我们的管理方式。下一页将继续把这一方法落到具体治理场景。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本页围绕“RACI责任规则”展开。重点不是介绍概念本身，而是说明鑫犇如何把责任、流程和证据组织起来，让客户能够理解并验证我们的管理方式。下一页将继续把这一方法落到具体治理场景。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本页围绕“授权审批矩阵”展开。重点不是介绍概念本身，而是说明鑫犇如何把责任、流程和证据组织起来，让客户能够理解并验证我们的管理方式。下一页将继续把这一方法落到具体治理场景。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本页围绕“越权与职责冲突处理”展开。重点不是介绍概念本身，而是说明鑫犇如何把责任、流程和证据组织起来，让客户能够理解并验证我们的管理方式。下一页将继续把这一方法落到具体治理场景。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本页围绕“订单到交付总流程”展开。重点不是介绍概念本身，而是说明鑫犇如何把责任、流程和证据组织起来，让客户能够理解并验证我们的管理方式。下一页将继续把这一方法落到具体治理场景。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本页围绕“订单与变更控制”展开。重点不是介绍概念本身，而是说明鑫犇如何把责任、流程和证据组织起来，让客户能够理解并验证我们的管理方式。下一页将继续把这一方法落到具体治理场景。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本页围绕“生产计划与任务下达”展开。重点不是介绍概念本身，而是说明鑫犇如何把责任、流程和证据组织起来，让客户能够理解并验证我们的管理方式。下一页将继续把这一方法落到具体治理场景。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本页围绕“采购到付款”展开。重点不是介绍概念本身，而是说明鑫犇如何把责任、流程和证据组织起来，让客户能够理解并验证我们的管理方式。下一页将继续把这一方法落到具体治理场景。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本页围绕“质量异常与放行”展开。重点不是介绍概念本身，而是说明鑫犇如何把责任、流程和证据组织起来，让客户能够理解并验证我们的管理方式。下一页将继续把这一方法落到具体治理场景。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本页围绕“客诉与纠正措施”展开。重点不是介绍概念本身，而是说明鑫犇如何把责任、流程和证据组织起来，让客户能够理解并验证我们的管理方式。下一页将继续把这一方法落到具体治理场景。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本页围绕“模具、设备与关键资源”展开。重点不是介绍概念本身，而是说明鑫犇如何把责任、流程和证据组织起来，让客户能够理解并验证我们的管理方式。下一页将继续把这一方法落到具体治理场景。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本页围绕“跨部门交接标准”展开。重点不是介绍概念本身，而是说明鑫犇如何把责任、流程和证据组织起来，让客户能够理解并验证我们的管理方式。下一页将继续把这一方法落到具体治理场景。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本页围绕“文件编制与版本控制”展开。重点不是介绍概念本身，而是说明鑫犇如何把责任、流程和证据组织起来，让客户能够理解并验证我们的管理方式。下一页将继续把这一方法落到具体治理场景。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本页围绕“记录与档案生命周期”展开。重点不是介绍概念本身，而是说明鑫犇如何把责任、流程和证据组织起来，让客户能够理解并验证我们的管理方式。下一页将继续把这一方法落到具体治理场景。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本页围绕“人员能力与岗位授权”展开。重点不是介绍概念本身，而是说明鑫犇如何把责任、流程和证据组织起来，让客户能够理解并验证我们的管理方式。下一页将继续把这一方法落到具体治理场景。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本页围绕“客户资料与信息权限”展开。重点不是介绍概念本身，而是说明鑫犇如何把责任、流程和证据组织起来，让客户能够理解并验证我们的管理方式。下一页将继续把这一方法落到具体治理场景。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本页围绕“经营会议与管理闭环”展开。重点不是介绍概念本身，而是说明鑫犇如何把责任、流程和证据组织起来，让客户能够理解并验证我们的管理方式。下一页将继续把这一方法落到具体治理场景。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本页围绕“管理指标看板”展开。重点不是介绍概念本身，而是说明鑫犇如何把责任、流程和证据组织起来，让客户能够理解并验证我们的管理方式。下一页将继续把这一方法落到具体治理场景。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本页围绕“风险登记与升级”展开。重点不是介绍概念本身，而是说明鑫犇如何把责任、流程和证据组织起来，让客户能够理解并验证我们的管理方式。下一页将继续把这一方法落到具体治理场景。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本页围绕“安全、环保与应急”展开。重点不是介绍概念本身，而是说明鑫犇如何把责任、流程和证据组织起来，让客户能够理解并验证我们的管理方式。下一页将继续把这一方法落到具体治理场景。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本页围绕“内部检查与管理评审”展开。重点不是介绍概念本身，而是说明鑫犇如何把责任、流程和证据组织起来，让客户能够理解并验证我们的管理方式。下一页将继续把这一方法落到具体治理场景。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本页围绕“不符合项与整改关闭”展开。重点不是介绍概念本身，而是说明鑫犇如何把责任、流程和证据组织起来，让客户能够理解并验证我们的管理方式。下一页将继续把这一方法落到具体治理场景。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本页围绕“PDCA持续改进”展开。重点不是介绍概念本身，而是说明鑫犇如何把责任、流程和证据组织起来，让客户能够理解并验证我们的管理方式。下一页将继续把这一方法落到具体治理场景。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本页围绕“部门协同RACI示例”展开。重点不是介绍概念本身，而是说明鑫犇如何把责任、流程和证据组织起来，让客户能够理解并验证我们的管理方式。下一页将继续把这一方法落到具体治理场景。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本页围绕“管理体系证据链”展开。重点不是介绍概念本身，而是说明鑫犇如何把责任、流程和证据组织起来，让客户能够理解并验证我们的管理方式。下一页将继续把这一方法落到具体治理场景。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本页围绕“90天落地路线”展开。重点不是介绍概念本身，而是说明鑫犇如何把责任、流程和证据组织起来，让客户能够理解并验证我们的管理方式。下一页将继续把这一方法落到具体治理场景。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本页围绕“待确认事项清单”展开。重点不是介绍概念本身，而是说明鑫犇如何把责任、流程和证据组织起来，让客户能够理解并验证我们的管理方式。下一页将继续把这一方法落到具体治理场景。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本页围绕“附件与另册文件”展开。重点不是介绍概念本身，而是说明鑫犇如何把责任、流程和证据组织起来，让客户能够理解并验证我们的管理方式。下一页将继续把这一方法落到具体治理场景。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2f2cea7521e72097.jp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1e3229a8e2335edd.svg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2bde6058845307ff.jpg"/>
  <Relationship Id="rId3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1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2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3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4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5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6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8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9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0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1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2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3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4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5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6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0" y="0"/>
            <a:ext cx="600075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6191250" y="0"/>
            <a:ext cx="6000750" cy="6858000"/>
          </a:xfrm>
          <a:prstGeom prst="rect">
            <a:avLst/>
          </a:prstGeom>
          <a:solidFill>
            <a:srgbClr val="F7F9FC">
              <a:alpha val="55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7048500" cy="6858000"/>
          </a:xfrm>
          <a:prstGeom prst="rect">
            <a:avLst/>
          </a:prstGeom>
          <a:solidFill>
            <a:srgbClr val="F7F9FC">
              <a:alpha val="9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59892" y="806768"/>
            <a:ext cx="189891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XINBEN ELECTRONICS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47700" y="1718310"/>
            <a:ext cx="3260903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7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公司治理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47700" y="2527935"/>
            <a:ext cx="4066604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700" b="1" dirty="0">
                <a:solidFill>
                  <a:srgbClr val="E27A21"/>
                </a:solidFill>
                <a:latin typeface="Arial"/>
                <a:ea typeface="Microsoft YaHei"/>
                <a:cs typeface="Arial"/>
              </a:rPr>
              <a:t>与管理方法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55320" y="3567112"/>
            <a:ext cx="577786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让客户看见一家制造企业如何被可靠地管理</a:t>
            </a:r>
          </a:p>
        </p:txBody>
      </p:sp>
      <p:sp>
        <p:nvSpPr>
          <p:cNvPr id="9" name="Line 9"/>
          <p:cNvSpPr/>
          <p:nvPr/>
        </p:nvSpPr>
        <p:spPr>
          <a:xfrm>
            <a:off x="666750" y="4381500"/>
            <a:ext cx="3810000" cy="9525"/>
          </a:xfrm>
          <a:custGeom>
            <a:avLst/>
            <a:gdLst/>
            <a:ahLst/>
            <a:cxnLst/>
            <a:rect l="l" t="t" r="r" b="b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/>
          <a:ln w="47625">
            <a:solidFill>
              <a:srgbClr val="E27A21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658368" y="4774882"/>
            <a:ext cx="38188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公司治理与部门协同管理体系｜V3.0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59130" y="5314950"/>
            <a:ext cx="22364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惠州市鑫犇电子有限公司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59892" y="6045518"/>
            <a:ext cx="41353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02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文件定位与适用范围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64599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本文件规定治理边界和跨部门协同，不替代部门SOP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809625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81564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公司层治理</a:t>
            </a:r>
          </a:p>
        </p:txBody>
      </p:sp>
      <p:sp>
        <p:nvSpPr>
          <p:cNvPr id="12" name="Line 12"/>
          <p:cNvSpPr/>
          <p:nvPr/>
        </p:nvSpPr>
        <p:spPr>
          <a:xfrm>
            <a:off x="4305300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Freeform 13"/>
          <p:cNvSpPr/>
          <p:nvPr/>
        </p:nvSpPr>
        <p:spPr>
          <a:xfrm>
            <a:off x="3448050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41458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8260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部门接口</a:t>
            </a:r>
          </a:p>
        </p:txBody>
      </p:sp>
      <p:sp>
        <p:nvSpPr>
          <p:cNvPr id="16" name="Line 16"/>
          <p:cNvSpPr/>
          <p:nvPr/>
        </p:nvSpPr>
        <p:spPr>
          <a:xfrm>
            <a:off x="694372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6086475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7842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644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流程控制</a:t>
            </a:r>
          </a:p>
        </p:txBody>
      </p:sp>
      <p:sp>
        <p:nvSpPr>
          <p:cNvPr id="20" name="Freeform 20"/>
          <p:cNvSpPr/>
          <p:nvPr/>
        </p:nvSpPr>
        <p:spPr>
          <a:xfrm>
            <a:off x="8724900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4227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890826" y="27527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执行文件另册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24" name="Freeform 24"/>
          <p:cNvSpPr/>
          <p:nvPr/>
        </p:nvSpPr>
        <p:spPr>
          <a:xfrm>
            <a:off x="428625" y="1762125"/>
            <a:ext cx="11334750" cy="4095750"/>
          </a:xfrm>
          <a:custGeom>
            <a:avLst/>
            <a:gdLst/>
            <a:ahLst/>
            <a:cxnLst/>
            <a:rect l="l" t="t" r="r" b="b"/>
            <a:pathLst>
              <a:path w="11334750" h="4095750">
                <a:moveTo>
                  <a:pt x="114300" y="0"/>
                </a:moveTo>
                <a:lnTo>
                  <a:pt x="11220450" y="0"/>
                </a:lnTo>
                <a:cubicBezTo>
                  <a:pt x="11283576" y="0"/>
                  <a:pt x="11334750" y="51174"/>
                  <a:pt x="11334750" y="114300"/>
                </a:cubicBezTo>
                <a:lnTo>
                  <a:pt x="11334750" y="3981450"/>
                </a:lnTo>
                <a:cubicBezTo>
                  <a:pt x="11334750" y="4044576"/>
                  <a:pt x="11283576" y="4095750"/>
                  <a:pt x="11220450" y="4095750"/>
                </a:cubicBezTo>
                <a:lnTo>
                  <a:pt x="114300" y="4095750"/>
                </a:lnTo>
                <a:cubicBezTo>
                  <a:pt x="51174" y="4095750"/>
                  <a:pt x="0" y="4044576"/>
                  <a:pt x="0" y="3981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25" name="Imag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30023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03 / GOVERNANCE ARCHITECTURE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25175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管理体系三层架构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81888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治理要求向下落到责任、流程和证据，再由结果和风险向上反馈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6096000" y="2571750"/>
            <a:ext cx="9525" cy="1714500"/>
          </a:xfrm>
          <a:custGeom>
            <a:avLst/>
            <a:gdLst/>
            <a:ahLst/>
            <a:cxnLst/>
            <a:rect l="l" t="t" r="r" b="b"/>
            <a:pathLst>
              <a:path w="9525" h="1714500">
                <a:moveTo>
                  <a:pt x="0" y="0"/>
                </a:moveTo>
                <a:lnTo>
                  <a:pt x="0" y="285750"/>
                </a:lnTo>
                <a:moveTo>
                  <a:pt x="0" y="1428750"/>
                </a:moveTo>
                <a:lnTo>
                  <a:pt x="0" y="1714500"/>
                </a:lnTo>
              </a:path>
            </a:pathLst>
          </a:custGeom>
          <a:solidFill>
            <a:srgbClr val="000000"/>
          </a:solidFill>
          <a:ln w="38100">
            <a:solidFill>
              <a:srgbClr val="8091A5"/>
            </a:solidFill>
            <a:tailEnd type="triangle" w="lg" len="lg"/>
          </a:ln>
        </p:spPr>
      </p:sp>
      <p:sp>
        <p:nvSpPr>
          <p:cNvPr id="9" name="Freeform 9"/>
          <p:cNvSpPr/>
          <p:nvPr/>
        </p:nvSpPr>
        <p:spPr>
          <a:xfrm>
            <a:off x="7810500" y="2381250"/>
            <a:ext cx="2857500" cy="2857500"/>
          </a:xfrm>
          <a:custGeom>
            <a:avLst/>
            <a:gdLst/>
            <a:ahLst/>
            <a:cxnLst/>
            <a:rect l="l" t="t" r="r" b="b"/>
            <a:pathLst>
              <a:path w="2857500" h="2857500">
                <a:moveTo>
                  <a:pt x="2000250" y="2857500"/>
                </a:moveTo>
                <a:cubicBezTo>
                  <a:pt x="2857500" y="2857500"/>
                  <a:pt x="2857500" y="0"/>
                  <a:pt x="0" y="0"/>
                </a:cubicBezTo>
              </a:path>
            </a:pathLst>
          </a:custGeom>
          <a:noFill/>
          <a:ln w="38100">
            <a:solidFill>
              <a:srgbClr val="1C9C8C"/>
            </a:solidFill>
            <a:custDash>
              <a:ds d="250000" sp="175000"/>
            </a:custDash>
            <a:tailEnd type="triangle" w="lg" len="lg"/>
          </a:ln>
        </p:spPr>
      </p:sp>
      <p:sp>
        <p:nvSpPr>
          <p:cNvPr id="10" name="TextBox 10"/>
          <p:cNvSpPr txBox="1"/>
          <p:nvPr/>
        </p:nvSpPr>
        <p:spPr>
          <a:xfrm>
            <a:off x="10091166" y="3744278"/>
            <a:ext cx="14948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结果、风险、改进反馈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2286000" y="1952625"/>
            <a:ext cx="7620000" cy="876300"/>
            <a:chOff x="2286000" y="1952625"/>
            <a:chExt cx="7620000" cy="87630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11" name="Freeform 11"/>
            <p:cNvSpPr/>
            <p:nvPr/>
          </p:nvSpPr>
          <p:spPr>
            <a:xfrm>
              <a:off x="2286000" y="1952625"/>
              <a:ext cx="7620000" cy="876300"/>
            </a:xfrm>
            <a:custGeom>
              <a:avLst/>
              <a:gdLst/>
              <a:ahLst/>
              <a:cxnLst/>
              <a:rect l="l" t="t" r="r" b="b"/>
              <a:pathLst>
                <a:path w="7620000" h="876300">
                  <a:moveTo>
                    <a:pt x="171450" y="0"/>
                  </a:moveTo>
                  <a:lnTo>
                    <a:pt x="7448550" y="0"/>
                  </a:lnTo>
                  <a:cubicBezTo>
                    <a:pt x="7543239" y="0"/>
                    <a:pt x="7620000" y="76761"/>
                    <a:pt x="7620000" y="171450"/>
                  </a:cubicBezTo>
                  <a:lnTo>
                    <a:pt x="7620000" y="704850"/>
                  </a:lnTo>
                  <a:cubicBezTo>
                    <a:pt x="7620000" y="799539"/>
                    <a:pt x="7543239" y="876300"/>
                    <a:pt x="7448550" y="876300"/>
                  </a:cubicBezTo>
                  <a:lnTo>
                    <a:pt x="171450" y="876300"/>
                  </a:lnTo>
                  <a:cubicBezTo>
                    <a:pt x="76761" y="876300"/>
                    <a:pt x="0" y="799539"/>
                    <a:pt x="0" y="7048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FF2E7"/>
            </a:solidFill>
            <a:ln w="19050">
              <a:solidFill>
                <a:srgbClr val="C56A25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12" name="TextBox 12"/>
            <p:cNvSpPr txBox="1"/>
            <p:nvPr/>
          </p:nvSpPr>
          <p:spPr>
            <a:xfrm>
              <a:off x="5721491" y="2099786"/>
              <a:ext cx="749017" cy="33737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治理层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22141" y="2442210"/>
              <a:ext cx="4147718" cy="23469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方向与目标 · 组织权责 · 授权审批 · 重大风险 · 监督改进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286000" y="3190875"/>
            <a:ext cx="7620000" cy="876300"/>
            <a:chOff x="2286000" y="3190875"/>
            <a:chExt cx="7620000" cy="87630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15" name="Freeform 15"/>
            <p:cNvSpPr/>
            <p:nvPr/>
          </p:nvSpPr>
          <p:spPr>
            <a:xfrm>
              <a:off x="2286000" y="3190875"/>
              <a:ext cx="7620000" cy="876300"/>
            </a:xfrm>
            <a:custGeom>
              <a:avLst/>
              <a:gdLst/>
              <a:ahLst/>
              <a:cxnLst/>
              <a:rect l="l" t="t" r="r" b="b"/>
              <a:pathLst>
                <a:path w="7620000" h="876300">
                  <a:moveTo>
                    <a:pt x="171450" y="0"/>
                  </a:moveTo>
                  <a:lnTo>
                    <a:pt x="7448550" y="0"/>
                  </a:lnTo>
                  <a:cubicBezTo>
                    <a:pt x="7543239" y="0"/>
                    <a:pt x="7620000" y="76761"/>
                    <a:pt x="7620000" y="171450"/>
                  </a:cubicBezTo>
                  <a:lnTo>
                    <a:pt x="7620000" y="704850"/>
                  </a:lnTo>
                  <a:cubicBezTo>
                    <a:pt x="7620000" y="799539"/>
                    <a:pt x="7543239" y="876300"/>
                    <a:pt x="7448550" y="876300"/>
                  </a:cubicBezTo>
                  <a:lnTo>
                    <a:pt x="171450" y="876300"/>
                  </a:lnTo>
                  <a:cubicBezTo>
                    <a:pt x="76761" y="876300"/>
                    <a:pt x="0" y="799539"/>
                    <a:pt x="0" y="7048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EAF0FF"/>
            </a:solidFill>
            <a:ln w="19050">
              <a:solidFill>
                <a:srgbClr val="2F6BFF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16" name="TextBox 16"/>
            <p:cNvSpPr txBox="1"/>
            <p:nvPr/>
          </p:nvSpPr>
          <p:spPr>
            <a:xfrm>
              <a:off x="5477661" y="3338036"/>
              <a:ext cx="1236678" cy="33737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部门协同层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022141" y="3680460"/>
              <a:ext cx="4147718" cy="23469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订单到交付 · 变更控制 · 资源协同 · 异常升级 · 会议闭环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286000" y="4429125"/>
            <a:ext cx="7620000" cy="876300"/>
            <a:chOff x="2286000" y="4429125"/>
            <a:chExt cx="7620000" cy="87630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19" name="Freeform 19"/>
            <p:cNvSpPr/>
            <p:nvPr/>
          </p:nvSpPr>
          <p:spPr>
            <a:xfrm>
              <a:off x="2286000" y="4429125"/>
              <a:ext cx="7620000" cy="876300"/>
            </a:xfrm>
            <a:custGeom>
              <a:avLst/>
              <a:gdLst/>
              <a:ahLst/>
              <a:cxnLst/>
              <a:rect l="l" t="t" r="r" b="b"/>
              <a:pathLst>
                <a:path w="7620000" h="876300">
                  <a:moveTo>
                    <a:pt x="171450" y="0"/>
                  </a:moveTo>
                  <a:lnTo>
                    <a:pt x="7448550" y="0"/>
                  </a:lnTo>
                  <a:cubicBezTo>
                    <a:pt x="7543239" y="0"/>
                    <a:pt x="7620000" y="76761"/>
                    <a:pt x="7620000" y="171450"/>
                  </a:cubicBezTo>
                  <a:lnTo>
                    <a:pt x="7620000" y="704850"/>
                  </a:lnTo>
                  <a:cubicBezTo>
                    <a:pt x="7620000" y="799539"/>
                    <a:pt x="7543239" y="876300"/>
                    <a:pt x="7448550" y="876300"/>
                  </a:cubicBezTo>
                  <a:lnTo>
                    <a:pt x="171450" y="876300"/>
                  </a:lnTo>
                  <a:cubicBezTo>
                    <a:pt x="76761" y="876300"/>
                    <a:pt x="0" y="799539"/>
                    <a:pt x="0" y="7048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EAF7F4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20" name="TextBox 20"/>
            <p:cNvSpPr txBox="1"/>
            <p:nvPr/>
          </p:nvSpPr>
          <p:spPr>
            <a:xfrm>
              <a:off x="5477661" y="4576286"/>
              <a:ext cx="1236678" cy="33737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执行文件层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956304" y="4918710"/>
              <a:ext cx="4279392" cy="23469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制度程序 · SOP · 检验/点检方法 · 表单台账 · 过程记录</a:t>
              </a:r>
            </a:p>
          </p:txBody>
        </p:sp>
      </p:grpSp>
      <p:sp>
        <p:nvSpPr>
          <p:cNvPr id="23" name="Freeform 23"/>
          <p:cNvSpPr/>
          <p:nvPr/>
        </p:nvSpPr>
        <p:spPr>
          <a:xfrm>
            <a:off x="952500" y="5905500"/>
            <a:ext cx="10287000" cy="419100"/>
          </a:xfrm>
          <a:custGeom>
            <a:avLst/>
            <a:gdLst/>
            <a:ahLst/>
            <a:cxnLst/>
            <a:rect l="l" t="t" r="r" b="b"/>
            <a:pathLst>
              <a:path w="10287000" h="419100">
                <a:moveTo>
                  <a:pt x="209550" y="0"/>
                </a:moveTo>
                <a:lnTo>
                  <a:pt x="10077450" y="0"/>
                </a:lnTo>
                <a:cubicBezTo>
                  <a:pt x="10193181" y="0"/>
                  <a:pt x="10287000" y="93819"/>
                  <a:pt x="10287000" y="209550"/>
                </a:cubicBezTo>
                <a:lnTo>
                  <a:pt x="10287000" y="209550"/>
                </a:lnTo>
                <a:cubicBezTo>
                  <a:pt x="10287000" y="325281"/>
                  <a:pt x="10193181" y="419100"/>
                  <a:pt x="10077450" y="419100"/>
                </a:cubicBezTo>
                <a:lnTo>
                  <a:pt x="209550" y="419100"/>
                </a:lnTo>
                <a:cubicBezTo>
                  <a:pt x="93819" y="419100"/>
                  <a:pt x="0" y="325281"/>
                  <a:pt x="0" y="209550"/>
                </a:cubicBezTo>
                <a:lnTo>
                  <a:pt x="0" y="209550"/>
                </a:lnTo>
                <a:cubicBezTo>
                  <a:pt x="0" y="93819"/>
                  <a:pt x="93819" y="0"/>
                  <a:pt x="2095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2759269" y="6050756"/>
            <a:ext cx="667346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本PPT正文聚焦治理层与部门协同层；执行文件层作为另册文件管理，不在此展开操作步骤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66738" y="6494145"/>
            <a:ext cx="391687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向下：要求具体化 向上：结果可见化 未发布内容以“拟建立/待确认”为准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04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1726692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管理原则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8103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权责清晰、授权经营、过程受控、异常升级、记录可追溯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857250" y="2095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857250" y="2095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权责清晰</a:t>
            </a:r>
          </a:p>
        </p:txBody>
      </p:sp>
      <p:sp>
        <p:nvSpPr>
          <p:cNvPr id="12" name="Freeform 12"/>
          <p:cNvSpPr/>
          <p:nvPr/>
        </p:nvSpPr>
        <p:spPr>
          <a:xfrm>
            <a:off x="6191250" y="2095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Freeform 13"/>
          <p:cNvSpPr/>
          <p:nvPr/>
        </p:nvSpPr>
        <p:spPr>
          <a:xfrm>
            <a:off x="6191250" y="2095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授权经营</a:t>
            </a:r>
          </a:p>
        </p:txBody>
      </p:sp>
      <p:sp>
        <p:nvSpPr>
          <p:cNvPr id="16" name="Freeform 16"/>
          <p:cNvSpPr/>
          <p:nvPr/>
        </p:nvSpPr>
        <p:spPr>
          <a:xfrm>
            <a:off x="857250" y="30480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857250" y="30480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过程受控</a:t>
            </a:r>
          </a:p>
        </p:txBody>
      </p:sp>
      <p:sp>
        <p:nvSpPr>
          <p:cNvPr id="20" name="Freeform 20"/>
          <p:cNvSpPr/>
          <p:nvPr/>
        </p:nvSpPr>
        <p:spPr>
          <a:xfrm>
            <a:off x="6191250" y="30480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Freeform 21"/>
          <p:cNvSpPr/>
          <p:nvPr/>
        </p:nvSpPr>
        <p:spPr>
          <a:xfrm>
            <a:off x="6191250" y="30480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异常必升级</a:t>
            </a:r>
          </a:p>
        </p:txBody>
      </p:sp>
      <p:sp>
        <p:nvSpPr>
          <p:cNvPr id="24" name="Freeform 24"/>
          <p:cNvSpPr/>
          <p:nvPr/>
        </p:nvSpPr>
        <p:spPr>
          <a:xfrm>
            <a:off x="857250" y="4000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Freeform 25"/>
          <p:cNvSpPr/>
          <p:nvPr/>
        </p:nvSpPr>
        <p:spPr>
          <a:xfrm>
            <a:off x="857250" y="4000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记录可追溯</a:t>
            </a:r>
          </a:p>
        </p:txBody>
      </p:sp>
      <p:sp>
        <p:nvSpPr>
          <p:cNvPr id="28" name="Freeform 28"/>
          <p:cNvSpPr/>
          <p:nvPr/>
        </p:nvSpPr>
        <p:spPr>
          <a:xfrm>
            <a:off x="6191250" y="4000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Freeform 29"/>
          <p:cNvSpPr/>
          <p:nvPr/>
        </p:nvSpPr>
        <p:spPr>
          <a:xfrm>
            <a:off x="6191250" y="4000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持续改进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制度文件层级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23481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从治理原则到执行记录，层级不同、控制对象不同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850392" y="1949768"/>
            <a:ext cx="344854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控制关系：上层定义边界，下层承接执行</a:t>
            </a:r>
          </a:p>
        </p:txBody>
      </p:sp>
      <p:sp>
        <p:nvSpPr>
          <p:cNvPr id="9" name="Freeform 9"/>
          <p:cNvSpPr/>
          <p:nvPr/>
        </p:nvSpPr>
        <p:spPr>
          <a:xfrm>
            <a:off x="6096000" y="2381250"/>
            <a:ext cx="9525" cy="3048000"/>
          </a:xfrm>
          <a:custGeom>
            <a:avLst/>
            <a:gdLst/>
            <a:ahLst/>
            <a:cxnLst/>
            <a:rect l="l" t="t" r="r" b="b"/>
            <a:pathLst>
              <a:path w="9525" h="3048000">
                <a:moveTo>
                  <a:pt x="0" y="0"/>
                </a:moveTo>
                <a:lnTo>
                  <a:pt x="0" y="3048000"/>
                </a:lnTo>
              </a:path>
            </a:pathLst>
          </a:custGeom>
          <a:solidFill>
            <a:srgbClr val="000000"/>
          </a:solidFill>
          <a:ln w="38100">
            <a:solidFill>
              <a:srgbClr val="8091A5"/>
            </a:solidFill>
            <a:tailEnd type="triangle" w="lg" len="lg"/>
          </a:ln>
        </p:spPr>
      </p:sp>
      <p:sp>
        <p:nvSpPr>
          <p:cNvPr id="10" name="Freeform 10"/>
          <p:cNvSpPr/>
          <p:nvPr/>
        </p:nvSpPr>
        <p:spPr>
          <a:xfrm>
            <a:off x="1524000" y="2381250"/>
            <a:ext cx="9144000" cy="666750"/>
          </a:xfrm>
          <a:custGeom>
            <a:avLst/>
            <a:gdLst/>
            <a:ahLst/>
            <a:cxnLst/>
            <a:rect l="l" t="t" r="r" b="b"/>
            <a:pathLst>
              <a:path w="9144000" h="666750">
                <a:moveTo>
                  <a:pt x="133350" y="0"/>
                </a:moveTo>
                <a:lnTo>
                  <a:pt x="9010650" y="0"/>
                </a:lnTo>
                <a:cubicBezTo>
                  <a:pt x="9084297" y="0"/>
                  <a:pt x="9144000" y="59703"/>
                  <a:pt x="9144000" y="133350"/>
                </a:cubicBezTo>
                <a:lnTo>
                  <a:pt x="9144000" y="533400"/>
                </a:lnTo>
                <a:cubicBezTo>
                  <a:pt x="9144000" y="607047"/>
                  <a:pt x="9084297" y="666750"/>
                  <a:pt x="9010650" y="666750"/>
                </a:cubicBezTo>
                <a:lnTo>
                  <a:pt x="133350" y="666750"/>
                </a:lnTo>
                <a:cubicBezTo>
                  <a:pt x="59703" y="666750"/>
                  <a:pt x="0" y="607047"/>
                  <a:pt x="0" y="533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1991868" y="2622232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治理原则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55642" y="2654618"/>
            <a:ext cx="237629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战略｜权责｜授权｜风险边界</a:t>
            </a:r>
          </a:p>
        </p:txBody>
      </p:sp>
      <p:sp>
        <p:nvSpPr>
          <p:cNvPr id="13" name="Freeform 13"/>
          <p:cNvSpPr/>
          <p:nvPr/>
        </p:nvSpPr>
        <p:spPr>
          <a:xfrm>
            <a:off x="2095500" y="3286125"/>
            <a:ext cx="8001000" cy="666750"/>
          </a:xfrm>
          <a:custGeom>
            <a:avLst/>
            <a:gdLst/>
            <a:ahLst/>
            <a:cxnLst/>
            <a:rect l="l" t="t" r="r" b="b"/>
            <a:pathLst>
              <a:path w="8001000" h="666750">
                <a:moveTo>
                  <a:pt x="133350" y="0"/>
                </a:moveTo>
                <a:lnTo>
                  <a:pt x="7867650" y="0"/>
                </a:lnTo>
                <a:cubicBezTo>
                  <a:pt x="7941297" y="0"/>
                  <a:pt x="8001000" y="59703"/>
                  <a:pt x="8001000" y="133350"/>
                </a:cubicBezTo>
                <a:lnTo>
                  <a:pt x="8001000" y="533400"/>
                </a:lnTo>
                <a:cubicBezTo>
                  <a:pt x="8001000" y="607047"/>
                  <a:pt x="7941297" y="666750"/>
                  <a:pt x="7867650" y="666750"/>
                </a:cubicBezTo>
                <a:lnTo>
                  <a:pt x="133350" y="666750"/>
                </a:lnTo>
                <a:cubicBezTo>
                  <a:pt x="59703" y="666750"/>
                  <a:pt x="0" y="607047"/>
                  <a:pt x="0" y="533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2563368" y="3527108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管理制度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136642" y="3559492"/>
            <a:ext cx="419366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人事｜合同｜采购｜生产｜品质｜财务｜安全｜信息</a:t>
            </a:r>
          </a:p>
        </p:txBody>
      </p:sp>
      <p:sp>
        <p:nvSpPr>
          <p:cNvPr id="16" name="Freeform 16"/>
          <p:cNvSpPr/>
          <p:nvPr/>
        </p:nvSpPr>
        <p:spPr>
          <a:xfrm>
            <a:off x="2667000" y="4191000"/>
            <a:ext cx="6858000" cy="666750"/>
          </a:xfrm>
          <a:custGeom>
            <a:avLst/>
            <a:gdLst/>
            <a:ahLst/>
            <a:cxnLst/>
            <a:rect l="l" t="t" r="r" b="b"/>
            <a:pathLst>
              <a:path w="6858000" h="666750">
                <a:moveTo>
                  <a:pt x="133350" y="0"/>
                </a:moveTo>
                <a:lnTo>
                  <a:pt x="6724650" y="0"/>
                </a:lnTo>
                <a:cubicBezTo>
                  <a:pt x="6798297" y="0"/>
                  <a:pt x="6858000" y="59703"/>
                  <a:pt x="6858000" y="133350"/>
                </a:cubicBezTo>
                <a:lnTo>
                  <a:pt x="6858000" y="533400"/>
                </a:lnTo>
                <a:cubicBezTo>
                  <a:pt x="6858000" y="607047"/>
                  <a:pt x="6798297" y="666750"/>
                  <a:pt x="6724650" y="666750"/>
                </a:cubicBezTo>
                <a:lnTo>
                  <a:pt x="133350" y="666750"/>
                </a:lnTo>
                <a:cubicBezTo>
                  <a:pt x="59703" y="666750"/>
                  <a:pt x="0" y="607047"/>
                  <a:pt x="0" y="533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3134868" y="4431982"/>
            <a:ext cx="174178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流程程序 / SOP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993892" y="4464368"/>
            <a:ext cx="201282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步骤、控制点、岗位接口</a:t>
            </a:r>
          </a:p>
        </p:txBody>
      </p:sp>
      <p:sp>
        <p:nvSpPr>
          <p:cNvPr id="19" name="Freeform 19"/>
          <p:cNvSpPr/>
          <p:nvPr/>
        </p:nvSpPr>
        <p:spPr>
          <a:xfrm>
            <a:off x="3238500" y="5095875"/>
            <a:ext cx="5715000" cy="666750"/>
          </a:xfrm>
          <a:custGeom>
            <a:avLst/>
            <a:gdLst/>
            <a:ahLst/>
            <a:cxnLst/>
            <a:rect l="l" t="t" r="r" b="b"/>
            <a:pathLst>
              <a:path w="5715000" h="666750">
                <a:moveTo>
                  <a:pt x="133350" y="0"/>
                </a:moveTo>
                <a:lnTo>
                  <a:pt x="5581650" y="0"/>
                </a:lnTo>
                <a:cubicBezTo>
                  <a:pt x="5655297" y="0"/>
                  <a:pt x="5715000" y="59703"/>
                  <a:pt x="5715000" y="133350"/>
                </a:cubicBezTo>
                <a:lnTo>
                  <a:pt x="5715000" y="533400"/>
                </a:lnTo>
                <a:cubicBezTo>
                  <a:pt x="5715000" y="607047"/>
                  <a:pt x="5655297" y="666750"/>
                  <a:pt x="5581650" y="666750"/>
                </a:cubicBezTo>
                <a:lnTo>
                  <a:pt x="133350" y="666750"/>
                </a:lnTo>
                <a:cubicBezTo>
                  <a:pt x="59703" y="666750"/>
                  <a:pt x="0" y="607047"/>
                  <a:pt x="0" y="533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3706368" y="5336858"/>
            <a:ext cx="195256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7657B8"/>
                </a:solidFill>
                <a:latin typeface="Arial"/>
                <a:ea typeface="Microsoft YaHei"/>
                <a:cs typeface="Arial"/>
              </a:rPr>
              <a:t>表单 / 台账 / 记录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565392" y="5369242"/>
            <a:ext cx="128587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执行证据与追溯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4570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06 / GOVERNANCE · ORGANIZATION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65460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组织架构与决策边界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64724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正式组织树表达归属；专业汇报与重大决策另以接口机制说明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1428750" y="2324100"/>
            <a:ext cx="9334500" cy="1409700"/>
          </a:xfrm>
          <a:custGeom>
            <a:avLst/>
            <a:gdLst/>
            <a:ahLst/>
            <a:cxnLst/>
            <a:rect l="l" t="t" r="r" b="b"/>
            <a:pathLst>
              <a:path w="9334500" h="1409700">
                <a:moveTo>
                  <a:pt x="4667250" y="0"/>
                </a:moveTo>
                <a:lnTo>
                  <a:pt x="4667250" y="304800"/>
                </a:lnTo>
                <a:moveTo>
                  <a:pt x="4667250" y="914400"/>
                </a:moveTo>
                <a:lnTo>
                  <a:pt x="4667250" y="1152525"/>
                </a:lnTo>
                <a:moveTo>
                  <a:pt x="0" y="1152525"/>
                </a:moveTo>
                <a:lnTo>
                  <a:pt x="9334500" y="1152525"/>
                </a:lnTo>
                <a:moveTo>
                  <a:pt x="0" y="1152525"/>
                </a:moveTo>
                <a:lnTo>
                  <a:pt x="0" y="1409700"/>
                </a:lnTo>
                <a:moveTo>
                  <a:pt x="2333625" y="1152525"/>
                </a:moveTo>
                <a:lnTo>
                  <a:pt x="2333625" y="1409700"/>
                </a:lnTo>
                <a:moveTo>
                  <a:pt x="4667250" y="1152525"/>
                </a:moveTo>
                <a:lnTo>
                  <a:pt x="4667250" y="1409700"/>
                </a:lnTo>
                <a:moveTo>
                  <a:pt x="7000875" y="1152525"/>
                </a:moveTo>
                <a:lnTo>
                  <a:pt x="7000875" y="1409700"/>
                </a:lnTo>
                <a:moveTo>
                  <a:pt x="9334500" y="1152525"/>
                </a:moveTo>
                <a:lnTo>
                  <a:pt x="9334500" y="1409700"/>
                </a:lnTo>
              </a:path>
            </a:pathLst>
          </a:custGeom>
          <a:noFill/>
          <a:ln w="28575">
            <a:solidFill>
              <a:srgbClr val="9AA9BA"/>
            </a:solidFill>
            <a:tailEnd type="triangle" w="lg" len="lg"/>
          </a:ln>
        </p:spPr>
      </p:sp>
      <p:grpSp>
        <p:nvGrpSpPr>
          <p:cNvPr id="11" name="Group 11"/>
          <p:cNvGrpSpPr/>
          <p:nvPr/>
        </p:nvGrpSpPr>
        <p:grpSpPr>
          <a:xfrm>
            <a:off x="4333875" y="1809750"/>
            <a:ext cx="3524250" cy="533400"/>
            <a:chOff x="4333875" y="1809750"/>
            <a:chExt cx="3524250" cy="5334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9" name="Rectangle 9"/>
            <p:cNvSpPr/>
            <p:nvPr/>
          </p:nvSpPr>
          <p:spPr>
            <a:xfrm>
              <a:off x="4333875" y="1809750"/>
              <a:ext cx="3524250" cy="533400"/>
            </a:xfrm>
            <a:prstGeom prst="roundRect">
              <a:avLst>
                <a:gd name="adj" fmla="val 25000"/>
              </a:avLst>
            </a:prstGeom>
            <a:solidFill>
              <a:srgbClr val="FFF2E7"/>
            </a:solidFill>
            <a:ln w="19050">
              <a:solidFill>
                <a:srgbClr val="C56A25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0" name="TextBox 10"/>
            <p:cNvSpPr txBox="1"/>
            <p:nvPr/>
          </p:nvSpPr>
          <p:spPr>
            <a:xfrm>
              <a:off x="4804858" y="1965008"/>
              <a:ext cx="2582285" cy="322707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惠州市鑫犇电子有限公司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714875" y="2647950"/>
            <a:ext cx="2762250" cy="594551"/>
            <a:chOff x="4714875" y="2647950"/>
            <a:chExt cx="2762250" cy="594551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12" name="Rectangle 12"/>
            <p:cNvSpPr/>
            <p:nvPr/>
          </p:nvSpPr>
          <p:spPr>
            <a:xfrm>
              <a:off x="4714875" y="2647950"/>
              <a:ext cx="2762250" cy="590550"/>
            </a:xfrm>
            <a:prstGeom prst="roundRect">
              <a:avLst>
                <a:gd name="adj" fmla="val 22581"/>
              </a:avLst>
            </a:prstGeom>
            <a:solidFill>
              <a:srgbClr val="EAF0FF"/>
            </a:solidFill>
            <a:ln w="19050">
              <a:solidFill>
                <a:srgbClr val="2F6BFF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3" name="TextBox 13"/>
            <p:cNvSpPr txBox="1"/>
            <p:nvPr/>
          </p:nvSpPr>
          <p:spPr>
            <a:xfrm>
              <a:off x="5793829" y="2782252"/>
              <a:ext cx="604342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公司层级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364011" y="2978468"/>
              <a:ext cx="1463977" cy="264033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董事长 ｜ 总经理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23875" y="3752850"/>
            <a:ext cx="1809750" cy="1143000"/>
            <a:chOff x="523875" y="3752850"/>
            <a:chExt cx="1809750" cy="11430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16" name="Rectangle 16"/>
            <p:cNvSpPr/>
            <p:nvPr/>
          </p:nvSpPr>
          <p:spPr>
            <a:xfrm>
              <a:off x="523875" y="3752850"/>
              <a:ext cx="1809750" cy="1143000"/>
            </a:xfrm>
            <a:prstGeom prst="roundRect">
              <a:avLst>
                <a:gd name="adj" fmla="val 11667"/>
              </a:avLst>
            </a:prstGeom>
            <a:solidFill>
              <a:srgbClr val="FFFFFF"/>
            </a:solidFill>
            <a:ln w="19050">
              <a:solidFill>
                <a:srgbClr val="2F6BFF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7" name="TextBox 17"/>
            <p:cNvSpPr txBox="1"/>
            <p:nvPr/>
          </p:nvSpPr>
          <p:spPr>
            <a:xfrm>
              <a:off x="1200788" y="3925252"/>
              <a:ext cx="455924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生产部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95661" y="4180999"/>
              <a:ext cx="666179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工程技术组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93939" y="4390549"/>
              <a:ext cx="869623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冲压/清洗车间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95661" y="4600099"/>
              <a:ext cx="666179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模具维修组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619375" y="3752850"/>
            <a:ext cx="1809750" cy="1143000"/>
            <a:chOff x="2619375" y="3752850"/>
            <a:chExt cx="1809750" cy="11430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22" name="Rectangle 22"/>
            <p:cNvSpPr/>
            <p:nvPr/>
          </p:nvSpPr>
          <p:spPr>
            <a:xfrm>
              <a:off x="2619375" y="3752850"/>
              <a:ext cx="1809750" cy="1143000"/>
            </a:xfrm>
            <a:prstGeom prst="roundRect">
              <a:avLst>
                <a:gd name="adj" fmla="val 11667"/>
              </a:avLst>
            </a:prstGeom>
            <a:solidFill>
              <a:srgbClr val="FFFFFF"/>
            </a:solidFill>
            <a:ln w="19050">
              <a:solidFill>
                <a:srgbClr val="7657B8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23" name="TextBox 23"/>
            <p:cNvSpPr txBox="1"/>
            <p:nvPr/>
          </p:nvSpPr>
          <p:spPr>
            <a:xfrm>
              <a:off x="3296288" y="3925252"/>
              <a:ext cx="455924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品质部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191161" y="4200049"/>
              <a:ext cx="666179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制程巡检组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059906" y="4447699"/>
              <a:ext cx="928688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成品出货检验组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156013" y="4684395"/>
              <a:ext cx="736473" cy="176212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质量判断独立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714875" y="3752850"/>
            <a:ext cx="1809750" cy="1143000"/>
            <a:chOff x="4714875" y="3752850"/>
            <a:chExt cx="1809750" cy="11430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28" name="Rectangle 28"/>
            <p:cNvSpPr/>
            <p:nvPr/>
          </p:nvSpPr>
          <p:spPr>
            <a:xfrm>
              <a:off x="4714875" y="3752850"/>
              <a:ext cx="1809750" cy="1143000"/>
            </a:xfrm>
            <a:prstGeom prst="roundRect">
              <a:avLst>
                <a:gd name="adj" fmla="val 11667"/>
              </a:avLst>
            </a:prstGeom>
            <a:solidFill>
              <a:srgbClr val="FFFFFF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29" name="TextBox 29"/>
            <p:cNvSpPr txBox="1"/>
            <p:nvPr/>
          </p:nvSpPr>
          <p:spPr>
            <a:xfrm>
              <a:off x="5391788" y="3925252"/>
              <a:ext cx="455924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营运部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201345" y="4200049"/>
              <a:ext cx="836809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业务组 采购组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417915" y="4447699"/>
              <a:ext cx="403670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仓储组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190934" y="4684395"/>
              <a:ext cx="857631" cy="176212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订单与供应协同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810375" y="3752850"/>
            <a:ext cx="1809750" cy="1143000"/>
            <a:chOff x="6810375" y="3752850"/>
            <a:chExt cx="1809750" cy="11430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34" name="Rectangle 34"/>
            <p:cNvSpPr/>
            <p:nvPr/>
          </p:nvSpPr>
          <p:spPr>
            <a:xfrm>
              <a:off x="6810375" y="3752850"/>
              <a:ext cx="1809750" cy="1143000"/>
            </a:xfrm>
            <a:prstGeom prst="roundRect">
              <a:avLst>
                <a:gd name="adj" fmla="val 11667"/>
              </a:avLst>
            </a:prstGeom>
            <a:solidFill>
              <a:srgbClr val="FFFFFF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35" name="TextBox 35"/>
            <p:cNvSpPr txBox="1"/>
            <p:nvPr/>
          </p:nvSpPr>
          <p:spPr>
            <a:xfrm>
              <a:off x="7487288" y="3925252"/>
              <a:ext cx="455924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行政部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296845" y="4200049"/>
              <a:ext cx="836809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人事组 后勤组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286434" y="4474845"/>
              <a:ext cx="857631" cy="176212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人员与综合保障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905875" y="3752850"/>
            <a:ext cx="1809750" cy="1143000"/>
            <a:chOff x="8905875" y="3752850"/>
            <a:chExt cx="1809750" cy="11430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39" name="Rectangle 39"/>
            <p:cNvSpPr/>
            <p:nvPr/>
          </p:nvSpPr>
          <p:spPr>
            <a:xfrm>
              <a:off x="8905875" y="3752850"/>
              <a:ext cx="1809750" cy="1143000"/>
            </a:xfrm>
            <a:prstGeom prst="roundRect">
              <a:avLst>
                <a:gd name="adj" fmla="val 11667"/>
              </a:avLst>
            </a:prstGeom>
            <a:solidFill>
              <a:srgbClr val="FFFFFF"/>
            </a:solidFill>
            <a:ln w="19050">
              <a:solidFill>
                <a:srgbClr val="C56A25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40" name="TextBox 40"/>
            <p:cNvSpPr txBox="1"/>
            <p:nvPr/>
          </p:nvSpPr>
          <p:spPr>
            <a:xfrm>
              <a:off x="9582788" y="3925252"/>
              <a:ext cx="455924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财务部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392345" y="4200049"/>
              <a:ext cx="836809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会计组 出纳组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260776" y="4474845"/>
              <a:ext cx="1099947" cy="176212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资金与核算职责分离</a:t>
              </a:r>
            </a:p>
          </p:txBody>
        </p:sp>
      </p:grpSp>
      <p:sp>
        <p:nvSpPr>
          <p:cNvPr id="44" name="Rectangle 44"/>
          <p:cNvSpPr/>
          <p:nvPr/>
        </p:nvSpPr>
        <p:spPr>
          <a:xfrm>
            <a:off x="1143000" y="5572125"/>
            <a:ext cx="9906000" cy="552450"/>
          </a:xfrm>
          <a:prstGeom prst="roundRect">
            <a:avLst>
              <a:gd name="adj" fmla="val 48276"/>
            </a:avLst>
          </a:prstGeom>
          <a:solidFill>
            <a:srgbClr val="EAF7F4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3534041" y="5688806"/>
            <a:ext cx="512391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实线＝组织归属 虚线＝专业汇报/信息升级 董事长与总经理同属公司层级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819078" y="5922645"/>
            <a:ext cx="255384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金额权限、特殊放行和时限以正式授权文件为准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66738" y="6494145"/>
            <a:ext cx="551307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依据：鑫犇电子_公司组织架构与职责矩阵模板.xlsx；本页为 OneDrive 项目修正版草稿，未覆盖基线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07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决策与经营职责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0838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战略监督与日常经营衔接，但不混淆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762000" y="2143125"/>
            <a:ext cx="4953000" cy="2857500"/>
          </a:xfrm>
          <a:custGeom>
            <a:avLst/>
            <a:gdLst/>
            <a:ahLst/>
            <a:cxnLst/>
            <a:rect l="l" t="t" r="r" b="b"/>
            <a:pathLst>
              <a:path w="4953000" h="28575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2724150"/>
                </a:lnTo>
                <a:cubicBezTo>
                  <a:pt x="4953000" y="2797797"/>
                  <a:pt x="4893297" y="2857500"/>
                  <a:pt x="4819650" y="2857500"/>
                </a:cubicBezTo>
                <a:lnTo>
                  <a:pt x="133350" y="2857500"/>
                </a:lnTo>
                <a:cubicBezTo>
                  <a:pt x="59703" y="2857500"/>
                  <a:pt x="0" y="2797797"/>
                  <a:pt x="0" y="27241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6477000" y="2143125"/>
            <a:ext cx="4953000" cy="2857500"/>
          </a:xfrm>
          <a:custGeom>
            <a:avLst/>
            <a:gdLst/>
            <a:ahLst/>
            <a:cxnLst/>
            <a:rect l="l" t="t" r="r" b="b"/>
            <a:pathLst>
              <a:path w="4953000" h="28575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2724150"/>
                </a:lnTo>
                <a:cubicBezTo>
                  <a:pt x="4953000" y="2797797"/>
                  <a:pt x="4893297" y="2857500"/>
                  <a:pt x="4819650" y="2857500"/>
                </a:cubicBezTo>
                <a:lnTo>
                  <a:pt x="133350" y="2857500"/>
                </a:lnTo>
                <a:cubicBezTo>
                  <a:pt x="59703" y="2857500"/>
                  <a:pt x="0" y="2797797"/>
                  <a:pt x="0" y="27241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27A21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134618" y="2441258"/>
            <a:ext cx="164936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左侧：治理定位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49618" y="2441258"/>
            <a:ext cx="164936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E27A21"/>
                </a:solidFill>
                <a:latin typeface="Arial"/>
                <a:ea typeface="Microsoft YaHei"/>
                <a:cs typeface="Arial"/>
              </a:rPr>
              <a:t>右侧：客户感知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33094" y="2932748"/>
            <a:ext cx="1949253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重大方向和风险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48094" y="2932748"/>
            <a:ext cx="4154329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经营目标和资源｜跨部门裁决｜部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48094" y="3313748"/>
            <a:ext cx="1397984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门结果责任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51194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08 / GOVERNANCE · INTERFACE MAP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446058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部门职责地图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602037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以五个正式一级部门呈现关键输入、输出与协同接口；班组归属按受控组织矩阵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1809750"/>
            <a:ext cx="2076450" cy="3257550"/>
          </a:xfrm>
          <a:prstGeom prst="roundRect">
            <a:avLst>
              <a:gd name="adj" fmla="val 6422"/>
            </a:avLst>
          </a:prstGeom>
          <a:solidFill>
            <a:srgbClr val="FFFFFF"/>
          </a:solidFill>
          <a:ln w="19050">
            <a:solidFill>
              <a:srgbClr val="2F6BF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316631" y="1997392"/>
            <a:ext cx="58618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生产部</a:t>
            </a:r>
          </a:p>
        </p:txBody>
      </p:sp>
      <p:sp>
        <p:nvSpPr>
          <p:cNvPr id="10" name="Line 10"/>
          <p:cNvSpPr/>
          <p:nvPr/>
        </p:nvSpPr>
        <p:spPr>
          <a:xfrm>
            <a:off x="742950" y="2286000"/>
            <a:ext cx="1733550" cy="9525"/>
          </a:xfrm>
          <a:custGeom>
            <a:avLst/>
            <a:gdLst/>
            <a:ahLst/>
            <a:cxnLst/>
            <a:rect l="l" t="t" r="r" b="b"/>
            <a:pathLst>
              <a:path w="1733550" h="9525">
                <a:moveTo>
                  <a:pt x="0" y="0"/>
                </a:moveTo>
                <a:lnTo>
                  <a:pt x="173355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719138" y="2522220"/>
            <a:ext cx="206921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输入：订单评审、物料齐套、质量要求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19138" y="3188970"/>
            <a:ext cx="177237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输出：生产任务与产量/异常记录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19138" y="3855720"/>
            <a:ext cx="170573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接口：品质判定；营运交期协同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9138" y="4519612"/>
            <a:ext cx="217522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工程技术组 / 冲压车间 / 模具维修组 / 清洗车间</a:t>
            </a:r>
          </a:p>
        </p:txBody>
      </p:sp>
      <p:sp>
        <p:nvSpPr>
          <p:cNvPr id="15" name="Rectangle 15"/>
          <p:cNvSpPr/>
          <p:nvPr/>
        </p:nvSpPr>
        <p:spPr>
          <a:xfrm>
            <a:off x="2800350" y="1809750"/>
            <a:ext cx="2076450" cy="3257550"/>
          </a:xfrm>
          <a:prstGeom prst="roundRect">
            <a:avLst>
              <a:gd name="adj" fmla="val 6422"/>
            </a:avLst>
          </a:prstGeom>
          <a:solidFill>
            <a:srgbClr val="FFFFFF"/>
          </a:solidFill>
          <a:ln w="19050">
            <a:solidFill>
              <a:srgbClr val="7657B8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3545481" y="1997392"/>
            <a:ext cx="58618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7657B8"/>
                </a:solidFill>
                <a:latin typeface="Arial"/>
                <a:ea typeface="Microsoft YaHei"/>
                <a:cs typeface="Arial"/>
              </a:rPr>
              <a:t>品质部</a:t>
            </a:r>
          </a:p>
        </p:txBody>
      </p:sp>
      <p:sp>
        <p:nvSpPr>
          <p:cNvPr id="17" name="Line 17"/>
          <p:cNvSpPr/>
          <p:nvPr/>
        </p:nvSpPr>
        <p:spPr>
          <a:xfrm>
            <a:off x="2971800" y="2286000"/>
            <a:ext cx="1733550" cy="9525"/>
          </a:xfrm>
          <a:custGeom>
            <a:avLst/>
            <a:gdLst/>
            <a:ahLst/>
            <a:cxnLst/>
            <a:rect l="l" t="t" r="r" b="b"/>
            <a:pathLst>
              <a:path w="1733550" h="9525">
                <a:moveTo>
                  <a:pt x="0" y="0"/>
                </a:moveTo>
                <a:lnTo>
                  <a:pt x="173355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2947988" y="2522220"/>
            <a:ext cx="189353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输入：来料、首件/制程、成品待检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947988" y="3188970"/>
            <a:ext cx="219036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输出：检验记录、不合格处置、客诉闭环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947988" y="3855720"/>
            <a:ext cx="213584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657B8"/>
                </a:solidFill>
                <a:latin typeface="Arial"/>
                <a:ea typeface="Microsoft YaHei"/>
                <a:cs typeface="Arial"/>
              </a:rPr>
              <a:t>接口：独立质量判断；向营运/生产反馈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947988" y="4519612"/>
            <a:ext cx="133721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制程巡检组 / 成品出货检验组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029200" y="1809750"/>
            <a:ext cx="2076450" cy="3257550"/>
          </a:xfrm>
          <a:prstGeom prst="roundRect">
            <a:avLst>
              <a:gd name="adj" fmla="val 6422"/>
            </a:avLst>
          </a:pr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5774331" y="1997392"/>
            <a:ext cx="58618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营运部</a:t>
            </a:r>
          </a:p>
        </p:txBody>
      </p:sp>
      <p:sp>
        <p:nvSpPr>
          <p:cNvPr id="24" name="Line 24"/>
          <p:cNvSpPr/>
          <p:nvPr/>
        </p:nvSpPr>
        <p:spPr>
          <a:xfrm>
            <a:off x="5200650" y="2286000"/>
            <a:ext cx="1733550" cy="9525"/>
          </a:xfrm>
          <a:custGeom>
            <a:avLst/>
            <a:gdLst/>
            <a:ahLst/>
            <a:cxnLst/>
            <a:rect l="l" t="t" r="r" b="b"/>
            <a:pathLst>
              <a:path w="1733550" h="9525">
                <a:moveTo>
                  <a:pt x="0" y="0"/>
                </a:moveTo>
                <a:lnTo>
                  <a:pt x="173355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5176838" y="2522220"/>
            <a:ext cx="213584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输入：客户订单、产能/质量意见、需求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176838" y="3188970"/>
            <a:ext cx="249932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输出：订单评审、采购订单、出入库/交付协同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176838" y="3855720"/>
            <a:ext cx="182689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接口：业务、采购、仓储分工执行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176838" y="4519612"/>
            <a:ext cx="115043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业务组 / 采购组 / 仓储组</a:t>
            </a:r>
          </a:p>
        </p:txBody>
      </p:sp>
      <p:sp>
        <p:nvSpPr>
          <p:cNvPr id="29" name="Rectangle 29"/>
          <p:cNvSpPr/>
          <p:nvPr/>
        </p:nvSpPr>
        <p:spPr>
          <a:xfrm>
            <a:off x="7258050" y="1809750"/>
            <a:ext cx="2076450" cy="3257550"/>
          </a:xfrm>
          <a:prstGeom prst="roundRect">
            <a:avLst>
              <a:gd name="adj" fmla="val 6422"/>
            </a:avLst>
          </a:pr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8003181" y="1997392"/>
            <a:ext cx="58618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行政部</a:t>
            </a:r>
          </a:p>
        </p:txBody>
      </p:sp>
      <p:sp>
        <p:nvSpPr>
          <p:cNvPr id="31" name="Line 31"/>
          <p:cNvSpPr/>
          <p:nvPr/>
        </p:nvSpPr>
        <p:spPr>
          <a:xfrm>
            <a:off x="7429500" y="2286000"/>
            <a:ext cx="1733550" cy="9525"/>
          </a:xfrm>
          <a:custGeom>
            <a:avLst/>
            <a:gdLst/>
            <a:ahLst/>
            <a:cxnLst/>
            <a:rect l="l" t="t" r="r" b="b"/>
            <a:pathLst>
              <a:path w="1733550" h="9525">
                <a:moveTo>
                  <a:pt x="0" y="0"/>
                </a:moveTo>
                <a:lnTo>
                  <a:pt x="173355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7405688" y="2522220"/>
            <a:ext cx="182689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输入：用工需求、制度与后勤事项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405688" y="3188970"/>
            <a:ext cx="194805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输出：人事档案、入离职与后勤记录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405688" y="3855720"/>
            <a:ext cx="153005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接口：跨部门人员/保障协同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405688" y="4519612"/>
            <a:ext cx="73142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人事组 / 后勤组</a:t>
            </a:r>
          </a:p>
        </p:txBody>
      </p:sp>
      <p:sp>
        <p:nvSpPr>
          <p:cNvPr id="36" name="Rectangle 36"/>
          <p:cNvSpPr/>
          <p:nvPr/>
        </p:nvSpPr>
        <p:spPr>
          <a:xfrm>
            <a:off x="9486900" y="1809750"/>
            <a:ext cx="2076450" cy="3257550"/>
          </a:xfrm>
          <a:prstGeom prst="roundRect">
            <a:avLst>
              <a:gd name="adj" fmla="val 6422"/>
            </a:avLst>
          </a:pr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10232031" y="1997392"/>
            <a:ext cx="58618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财务部</a:t>
            </a:r>
          </a:p>
        </p:txBody>
      </p:sp>
      <p:sp>
        <p:nvSpPr>
          <p:cNvPr id="38" name="Line 38"/>
          <p:cNvSpPr/>
          <p:nvPr/>
        </p:nvSpPr>
        <p:spPr>
          <a:xfrm>
            <a:off x="9658350" y="2286000"/>
            <a:ext cx="1733550" cy="9525"/>
          </a:xfrm>
          <a:custGeom>
            <a:avLst/>
            <a:gdLst/>
            <a:ahLst/>
            <a:cxnLst/>
            <a:rect l="l" t="t" r="r" b="b"/>
            <a:pathLst>
              <a:path w="1733550" h="9525">
                <a:moveTo>
                  <a:pt x="0" y="0"/>
                </a:moveTo>
                <a:lnTo>
                  <a:pt x="173355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9634538" y="2522220"/>
            <a:ext cx="237816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输入：业务单据、费用/付款申请、经营数据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634538" y="3188970"/>
            <a:ext cx="219036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输出：会计凭证、报表、资金与付款记录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634538" y="3855720"/>
            <a:ext cx="213584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接口：财务审核/执行；审批依授权边界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634538" y="4519612"/>
            <a:ext cx="73142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会计组 / 出纳组</a:t>
            </a:r>
          </a:p>
        </p:txBody>
      </p:sp>
      <p:sp>
        <p:nvSpPr>
          <p:cNvPr id="43" name="Rectangle 43"/>
          <p:cNvSpPr/>
          <p:nvPr/>
        </p:nvSpPr>
        <p:spPr>
          <a:xfrm>
            <a:off x="571500" y="5286375"/>
            <a:ext cx="11049000" cy="742950"/>
          </a:xfrm>
          <a:prstGeom prst="roundRect">
            <a:avLst>
              <a:gd name="adj" fmla="val 15385"/>
            </a:avLst>
          </a:prstGeom>
          <a:solidFill>
            <a:srgbClr val="FFF7DF"/>
          </a:solidFill>
          <a:ln w="19050">
            <a:solidFill>
              <a:srgbClr val="A87519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2844500" y="5439728"/>
            <a:ext cx="650299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805B12"/>
                </a:solidFill>
                <a:latin typeface="Arial"/>
                <a:ea typeface="Microsoft YaHei"/>
                <a:cs typeface="Arial"/>
              </a:rPr>
              <a:t>正式事实：五部门及下属组织名称/归属依受控矩阵；输入输出为职责地图摘要，不替代SOP。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626744" y="5704999"/>
            <a:ext cx="493851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805B12"/>
                </a:solidFill>
                <a:latin typeface="Arial"/>
                <a:ea typeface="Microsoft YaHei"/>
                <a:cs typeface="Arial"/>
              </a:rPr>
              <a:t>待确认边界：具体时限、金额阈值、岗位替代与例外授权以正式制度/授权文件为准。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66738" y="6494145"/>
            <a:ext cx="361425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依据：受控组织矩阵、review_report.md；OneDrive 修正版草稿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09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岗位责任与替代机制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46748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岗位变更、兼岗和离岗必须保持责任连续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857250" y="2095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857250" y="2095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岗位目的</a:t>
            </a:r>
          </a:p>
        </p:txBody>
      </p:sp>
      <p:sp>
        <p:nvSpPr>
          <p:cNvPr id="12" name="Freeform 12"/>
          <p:cNvSpPr/>
          <p:nvPr/>
        </p:nvSpPr>
        <p:spPr>
          <a:xfrm>
            <a:off x="6191250" y="2095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Freeform 13"/>
          <p:cNvSpPr/>
          <p:nvPr/>
        </p:nvSpPr>
        <p:spPr>
          <a:xfrm>
            <a:off x="6191250" y="2095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核心职责</a:t>
            </a:r>
          </a:p>
        </p:txBody>
      </p:sp>
      <p:sp>
        <p:nvSpPr>
          <p:cNvPr id="16" name="Freeform 16"/>
          <p:cNvSpPr/>
          <p:nvPr/>
        </p:nvSpPr>
        <p:spPr>
          <a:xfrm>
            <a:off x="857250" y="30480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857250" y="30480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关键权限</a:t>
            </a:r>
          </a:p>
        </p:txBody>
      </p:sp>
      <p:sp>
        <p:nvSpPr>
          <p:cNvPr id="20" name="Freeform 20"/>
          <p:cNvSpPr/>
          <p:nvPr/>
        </p:nvSpPr>
        <p:spPr>
          <a:xfrm>
            <a:off x="6191250" y="30480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Freeform 21"/>
          <p:cNvSpPr/>
          <p:nvPr/>
        </p:nvSpPr>
        <p:spPr>
          <a:xfrm>
            <a:off x="6191250" y="30480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能力确认</a:t>
            </a:r>
          </a:p>
        </p:txBody>
      </p:sp>
      <p:sp>
        <p:nvSpPr>
          <p:cNvPr id="24" name="Freeform 24"/>
          <p:cNvSpPr/>
          <p:nvPr/>
        </p:nvSpPr>
        <p:spPr>
          <a:xfrm>
            <a:off x="857250" y="4000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Freeform 25"/>
          <p:cNvSpPr/>
          <p:nvPr/>
        </p:nvSpPr>
        <p:spPr>
          <a:xfrm>
            <a:off x="857250" y="4000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替代岗位</a:t>
            </a:r>
          </a:p>
        </p:txBody>
      </p:sp>
      <p:sp>
        <p:nvSpPr>
          <p:cNvPr id="28" name="Freeform 28"/>
          <p:cNvSpPr/>
          <p:nvPr/>
        </p:nvSpPr>
        <p:spPr>
          <a:xfrm>
            <a:off x="6191250" y="4000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Freeform 29"/>
          <p:cNvSpPr/>
          <p:nvPr/>
        </p:nvSpPr>
        <p:spPr>
          <a:xfrm>
            <a:off x="6191250" y="4000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权限回收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17435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10 / GOVERNANCE · RACI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561593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RACI责任规则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502744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一项事项只能有一个A；不能用“大家负责”替代授权和结果责任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857250" y="2000250"/>
            <a:ext cx="7239000" cy="3333750"/>
          </a:xfrm>
          <a:custGeom>
            <a:avLst/>
            <a:gdLst/>
            <a:ahLst/>
            <a:cxnLst/>
            <a:rect l="l" t="t" r="r" b="b"/>
            <a:pathLst>
              <a:path w="7239000" h="3333750">
                <a:moveTo>
                  <a:pt x="133350" y="0"/>
                </a:moveTo>
                <a:lnTo>
                  <a:pt x="7105650" y="0"/>
                </a:lnTo>
                <a:cubicBezTo>
                  <a:pt x="7179297" y="0"/>
                  <a:pt x="7239000" y="59703"/>
                  <a:pt x="7239000" y="133350"/>
                </a:cubicBezTo>
                <a:lnTo>
                  <a:pt x="7239000" y="3200400"/>
                </a:lnTo>
                <a:cubicBezTo>
                  <a:pt x="7239000" y="3274047"/>
                  <a:pt x="7179297" y="3333750"/>
                  <a:pt x="7105650" y="3333750"/>
                </a:cubicBezTo>
                <a:lnTo>
                  <a:pt x="133350" y="3333750"/>
                </a:lnTo>
                <a:cubicBezTo>
                  <a:pt x="59703" y="3333750"/>
                  <a:pt x="0" y="3274047"/>
                  <a:pt x="0" y="3200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857250" y="2000250"/>
            <a:ext cx="7239000" cy="552450"/>
          </a:xfrm>
          <a:custGeom>
            <a:avLst/>
            <a:gdLst/>
            <a:ahLst/>
            <a:cxnLst/>
            <a:rect l="l" t="t" r="r" b="b"/>
            <a:pathLst>
              <a:path w="7239000" h="552450">
                <a:moveTo>
                  <a:pt x="133350" y="0"/>
                </a:moveTo>
                <a:lnTo>
                  <a:pt x="7105650" y="0"/>
                </a:lnTo>
                <a:cubicBezTo>
                  <a:pt x="7179297" y="0"/>
                  <a:pt x="7239000" y="59703"/>
                  <a:pt x="7239000" y="133350"/>
                </a:cubicBezTo>
                <a:lnTo>
                  <a:pt x="7239000" y="419100"/>
                </a:lnTo>
                <a:cubicBezTo>
                  <a:pt x="7239000" y="492747"/>
                  <a:pt x="7179297" y="552450"/>
                  <a:pt x="7105650" y="552450"/>
                </a:cubicBezTo>
                <a:lnTo>
                  <a:pt x="133350" y="552450"/>
                </a:lnTo>
                <a:cubicBezTo>
                  <a:pt x="59703" y="552450"/>
                  <a:pt x="0" y="492747"/>
                  <a:pt x="0" y="4191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EAF0F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36904" y="2213610"/>
            <a:ext cx="88574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事项 / 角色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835222" y="2213610"/>
            <a:ext cx="5210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营运部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51516" y="2213610"/>
            <a:ext cx="783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7657B8"/>
                </a:solidFill>
                <a:latin typeface="Arial"/>
                <a:ea typeface="Microsoft YaHei"/>
                <a:cs typeface="Arial"/>
              </a:rPr>
              <a:t>品质/工程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799266" y="2213610"/>
            <a:ext cx="783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生产/仓储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08851" y="2213610"/>
            <a:ext cx="860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经营负责人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137285" y="2888456"/>
            <a:ext cx="1003411" cy="1934528"/>
            <a:chOff x="1137285" y="2888456"/>
            <a:chExt cx="1003411" cy="1934528"/>
          </a:xfrm>
        </p:grpSpPr>
        <p:sp>
          <p:nvSpPr>
            <p:cNvPr id="15" name="TextBox 15"/>
            <p:cNvSpPr txBox="1"/>
            <p:nvPr/>
          </p:nvSpPr>
          <p:spPr>
            <a:xfrm>
              <a:off x="1137285" y="2888456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订单评审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37285" y="3459956"/>
              <a:ext cx="10034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技术/图纸变更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37285" y="4031456"/>
              <a:ext cx="9201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质量异常处置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37285" y="4602956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出货放行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57250" y="2000250"/>
            <a:ext cx="7239000" cy="3333750"/>
            <a:chOff x="857250" y="2000250"/>
            <a:chExt cx="7239000" cy="3333750"/>
          </a:xfrm>
        </p:grpSpPr>
        <p:sp>
          <p:nvSpPr>
            <p:cNvPr id="20" name="Line 20"/>
            <p:cNvSpPr/>
            <p:nvPr/>
          </p:nvSpPr>
          <p:spPr>
            <a:xfrm>
              <a:off x="857250" y="25527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857250" y="31242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857250" y="36957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857250" y="42672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857250" y="48387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3714750" y="200025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4619625" y="200025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5667375" y="200025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6715125" y="200025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4033445" y="2762250"/>
            <a:ext cx="3443680" cy="2095500"/>
            <a:chOff x="4033445" y="2762250"/>
            <a:chExt cx="3443680" cy="2095500"/>
          </a:xfrm>
        </p:grpSpPr>
        <p:sp>
          <p:nvSpPr>
            <p:cNvPr id="30" name="TextBox 30"/>
            <p:cNvSpPr txBox="1"/>
            <p:nvPr/>
          </p:nvSpPr>
          <p:spPr>
            <a:xfrm>
              <a:off x="4033445" y="2864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081195" y="2864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7657B8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5953125" y="2762250"/>
              <a:ext cx="476250" cy="381000"/>
            </a:xfrm>
            <a:custGeom>
              <a:avLst/>
              <a:gdLst/>
              <a:ahLst/>
              <a:cxnLst/>
              <a:rect l="l" t="t" r="r" b="b"/>
              <a:pathLst>
                <a:path w="476250" h="381000">
                  <a:moveTo>
                    <a:pt x="76200" y="0"/>
                  </a:moveTo>
                  <a:lnTo>
                    <a:pt x="400050" y="0"/>
                  </a:lnTo>
                  <a:cubicBezTo>
                    <a:pt x="442134" y="0"/>
                    <a:pt x="476250" y="34116"/>
                    <a:pt x="476250" y="76200"/>
                  </a:cubicBezTo>
                  <a:lnTo>
                    <a:pt x="476250" y="304800"/>
                  </a:lnTo>
                  <a:cubicBezTo>
                    <a:pt x="476250" y="346884"/>
                    <a:pt x="442134" y="381000"/>
                    <a:pt x="400050" y="381000"/>
                  </a:cubicBezTo>
                  <a:lnTo>
                    <a:pt x="76200" y="381000"/>
                  </a:lnTo>
                  <a:cubicBezTo>
                    <a:pt x="34116" y="381000"/>
                    <a:pt x="0" y="346884"/>
                    <a:pt x="0" y="304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2E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128945" y="2864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176695" y="2864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033445" y="3435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4905375" y="3333750"/>
              <a:ext cx="476250" cy="381000"/>
            </a:xfrm>
            <a:custGeom>
              <a:avLst/>
              <a:gdLst/>
              <a:ahLst/>
              <a:cxnLst/>
              <a:rect l="l" t="t" r="r" b="b"/>
              <a:pathLst>
                <a:path w="476250" h="381000">
                  <a:moveTo>
                    <a:pt x="76200" y="0"/>
                  </a:moveTo>
                  <a:lnTo>
                    <a:pt x="400050" y="0"/>
                  </a:lnTo>
                  <a:cubicBezTo>
                    <a:pt x="442134" y="0"/>
                    <a:pt x="476250" y="34116"/>
                    <a:pt x="476250" y="76200"/>
                  </a:cubicBezTo>
                  <a:lnTo>
                    <a:pt x="476250" y="304800"/>
                  </a:lnTo>
                  <a:cubicBezTo>
                    <a:pt x="476250" y="346884"/>
                    <a:pt x="442134" y="381000"/>
                    <a:pt x="400050" y="381000"/>
                  </a:cubicBezTo>
                  <a:lnTo>
                    <a:pt x="76200" y="381000"/>
                  </a:lnTo>
                  <a:cubicBezTo>
                    <a:pt x="34116" y="381000"/>
                    <a:pt x="0" y="346884"/>
                    <a:pt x="0" y="304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2E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081195" y="3435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128945" y="3435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201898" y="3435668"/>
              <a:ext cx="742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526173"/>
                  </a:solidFill>
                  <a:latin typeface="Arial"/>
                  <a:ea typeface="Arial"/>
                  <a:cs typeface="Arial"/>
                </a:rPr>
                <a:t>I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033445" y="4007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4905375" y="3905250"/>
              <a:ext cx="476250" cy="381000"/>
            </a:xfrm>
            <a:custGeom>
              <a:avLst/>
              <a:gdLst/>
              <a:ahLst/>
              <a:cxnLst/>
              <a:rect l="l" t="t" r="r" b="b"/>
              <a:pathLst>
                <a:path w="476250" h="381000">
                  <a:moveTo>
                    <a:pt x="76200" y="0"/>
                  </a:moveTo>
                  <a:lnTo>
                    <a:pt x="400050" y="0"/>
                  </a:lnTo>
                  <a:cubicBezTo>
                    <a:pt x="442134" y="0"/>
                    <a:pt x="476250" y="34116"/>
                    <a:pt x="476250" y="76200"/>
                  </a:cubicBezTo>
                  <a:lnTo>
                    <a:pt x="476250" y="304800"/>
                  </a:lnTo>
                  <a:cubicBezTo>
                    <a:pt x="476250" y="346884"/>
                    <a:pt x="442134" y="381000"/>
                    <a:pt x="400050" y="381000"/>
                  </a:cubicBezTo>
                  <a:lnTo>
                    <a:pt x="76200" y="381000"/>
                  </a:lnTo>
                  <a:cubicBezTo>
                    <a:pt x="34116" y="381000"/>
                    <a:pt x="0" y="346884"/>
                    <a:pt x="0" y="304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2E7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081195" y="4007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128945" y="4007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201898" y="4007168"/>
              <a:ext cx="742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526173"/>
                  </a:solidFill>
                  <a:latin typeface="Arial"/>
                  <a:ea typeface="Arial"/>
                  <a:cs typeface="Arial"/>
                </a:rPr>
                <a:t>I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033445" y="4578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081195" y="4578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7657B8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128945" y="4578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48" name="Freeform 48"/>
            <p:cNvSpPr/>
            <p:nvPr/>
          </p:nvSpPr>
          <p:spPr>
            <a:xfrm>
              <a:off x="7000875" y="4476750"/>
              <a:ext cx="476250" cy="381000"/>
            </a:xfrm>
            <a:custGeom>
              <a:avLst/>
              <a:gdLst/>
              <a:ahLst/>
              <a:cxnLst/>
              <a:rect l="l" t="t" r="r" b="b"/>
              <a:pathLst>
                <a:path w="476250" h="381000">
                  <a:moveTo>
                    <a:pt x="76200" y="0"/>
                  </a:moveTo>
                  <a:lnTo>
                    <a:pt x="400050" y="0"/>
                  </a:lnTo>
                  <a:cubicBezTo>
                    <a:pt x="442134" y="0"/>
                    <a:pt x="476250" y="34116"/>
                    <a:pt x="476250" y="76200"/>
                  </a:cubicBezTo>
                  <a:lnTo>
                    <a:pt x="476250" y="304800"/>
                  </a:lnTo>
                  <a:cubicBezTo>
                    <a:pt x="476250" y="346884"/>
                    <a:pt x="442134" y="381000"/>
                    <a:pt x="400050" y="381000"/>
                  </a:cubicBezTo>
                  <a:lnTo>
                    <a:pt x="76200" y="381000"/>
                  </a:lnTo>
                  <a:cubicBezTo>
                    <a:pt x="34116" y="381000"/>
                    <a:pt x="0" y="346884"/>
                    <a:pt x="0" y="304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2E7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176695" y="4578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</p:grpSp>
      <p:sp>
        <p:nvSpPr>
          <p:cNvPr id="51" name="Freeform 51"/>
          <p:cNvSpPr/>
          <p:nvPr/>
        </p:nvSpPr>
        <p:spPr>
          <a:xfrm>
            <a:off x="8667750" y="2000250"/>
            <a:ext cx="2667000" cy="3333750"/>
          </a:xfrm>
          <a:custGeom>
            <a:avLst/>
            <a:gdLst/>
            <a:ahLst/>
            <a:cxnLst/>
            <a:rect l="l" t="t" r="r" b="b"/>
            <a:pathLst>
              <a:path w="2667000" h="3333750">
                <a:moveTo>
                  <a:pt x="133350" y="0"/>
                </a:moveTo>
                <a:lnTo>
                  <a:pt x="2533650" y="0"/>
                </a:lnTo>
                <a:cubicBezTo>
                  <a:pt x="2607297" y="0"/>
                  <a:pt x="2667000" y="59703"/>
                  <a:pt x="2667000" y="133350"/>
                </a:cubicBezTo>
                <a:lnTo>
                  <a:pt x="2667000" y="3200400"/>
                </a:lnTo>
                <a:cubicBezTo>
                  <a:pt x="2667000" y="3274047"/>
                  <a:pt x="2607297" y="3333750"/>
                  <a:pt x="2533650" y="3333750"/>
                </a:cubicBezTo>
                <a:lnTo>
                  <a:pt x="133350" y="3333750"/>
                </a:lnTo>
                <a:cubicBezTo>
                  <a:pt x="59703" y="3333750"/>
                  <a:pt x="0" y="3274047"/>
                  <a:pt x="0" y="3200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9569577" y="226695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判定规则</a:t>
            </a:r>
          </a:p>
        </p:txBody>
      </p:sp>
      <p:sp>
        <p:nvSpPr>
          <p:cNvPr id="53" name="Ellipse 53"/>
          <p:cNvSpPr/>
          <p:nvPr/>
        </p:nvSpPr>
        <p:spPr>
          <a:xfrm>
            <a:off x="8905875" y="2809875"/>
            <a:ext cx="285750" cy="285750"/>
          </a:xfrm>
          <a:prstGeom prst="ellipse">
            <a:avLst/>
          </a:prstGeom>
          <a:solidFill>
            <a:srgbClr val="FFF2E7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8986445" y="2864168"/>
            <a:ext cx="1246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C56A2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9328785" y="2888456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批准 / 结果责任</a:t>
            </a:r>
          </a:p>
        </p:txBody>
      </p:sp>
      <p:sp>
        <p:nvSpPr>
          <p:cNvPr id="56" name="Ellipse 56"/>
          <p:cNvSpPr/>
          <p:nvPr/>
        </p:nvSpPr>
        <p:spPr>
          <a:xfrm>
            <a:off x="8905875" y="3333750"/>
            <a:ext cx="285750" cy="285750"/>
          </a:xfrm>
          <a:prstGeom prst="ellipse">
            <a:avLst/>
          </a:prstGeom>
          <a:solidFill>
            <a:srgbClr val="EAF0FF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8986445" y="3388042"/>
            <a:ext cx="1246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2F6BFF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9328785" y="3412331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执行 / 交付结果</a:t>
            </a:r>
          </a:p>
        </p:txBody>
      </p:sp>
      <p:sp>
        <p:nvSpPr>
          <p:cNvPr id="59" name="Ellipse 59"/>
          <p:cNvSpPr/>
          <p:nvPr/>
        </p:nvSpPr>
        <p:spPr>
          <a:xfrm>
            <a:off x="8905875" y="3857625"/>
            <a:ext cx="285750" cy="285750"/>
          </a:xfrm>
          <a:prstGeom prst="ellipse">
            <a:avLst/>
          </a:prstGeom>
          <a:solidFill>
            <a:srgbClr val="F2ECFF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8986445" y="3911918"/>
            <a:ext cx="1246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7657B8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9328785" y="3936206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会签 / 专业意见</a:t>
            </a:r>
          </a:p>
        </p:txBody>
      </p:sp>
      <p:sp>
        <p:nvSpPr>
          <p:cNvPr id="62" name="Ellipse 62"/>
          <p:cNvSpPr/>
          <p:nvPr/>
        </p:nvSpPr>
        <p:spPr>
          <a:xfrm>
            <a:off x="8905875" y="4381500"/>
            <a:ext cx="285750" cy="285750"/>
          </a:xfrm>
          <a:prstGeom prst="ellipse">
            <a:avLst/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9011648" y="4435792"/>
            <a:ext cx="7420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9328785" y="4460081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知会 / 信息同步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9011888" y="4942999"/>
            <a:ext cx="197872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示例，最终角色以公司确认版为准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566738" y="6494145"/>
            <a:ext cx="335074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橙色A必须唯一；若无明确A，事项不得默认通过或自行承诺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71580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11 / GOVERNANCE · APPROVAL MATRIX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446058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授权审批矩阵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655990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事项分拆呈现经办、专业复核/咨询与批准；C仅表示事前咨询，不代表复核或审批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666750" y="1762125"/>
            <a:ext cx="2476500" cy="400050"/>
          </a:xfrm>
          <a:prstGeom prst="roundRect">
            <a:avLst>
              <a:gd name="adj" fmla="val 1428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545168" y="1914049"/>
            <a:ext cx="71966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事项 / 来源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333750" y="1762125"/>
            <a:ext cx="1905000" cy="400050"/>
          </a:xfrm>
          <a:prstGeom prst="roundRect">
            <a:avLst>
              <a:gd name="adj" fmla="val 1428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4073791" y="1914049"/>
            <a:ext cx="42491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经办 R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429250" y="1762125"/>
            <a:ext cx="1905000" cy="400050"/>
          </a:xfrm>
          <a:prstGeom prst="roundRect">
            <a:avLst>
              <a:gd name="adj" fmla="val 1428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5884100" y="1914049"/>
            <a:ext cx="99529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专业复核 / 咨询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524750" y="1762125"/>
            <a:ext cx="1524000" cy="400050"/>
          </a:xfrm>
          <a:prstGeom prst="roundRect">
            <a:avLst>
              <a:gd name="adj" fmla="val 1428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8074291" y="1914049"/>
            <a:ext cx="42491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批准 A</a:t>
            </a:r>
          </a:p>
        </p:txBody>
      </p:sp>
      <p:sp>
        <p:nvSpPr>
          <p:cNvPr id="16" name="Rectangle 16"/>
          <p:cNvSpPr/>
          <p:nvPr/>
        </p:nvSpPr>
        <p:spPr>
          <a:xfrm>
            <a:off x="9239250" y="1762125"/>
            <a:ext cx="2381250" cy="400050"/>
          </a:xfrm>
          <a:prstGeom prst="roundRect">
            <a:avLst>
              <a:gd name="adj" fmla="val 1428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10080379" y="1914049"/>
            <a:ext cx="69899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待确认边界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66750" y="2238375"/>
            <a:ext cx="247650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757238" y="2387441"/>
            <a:ext cx="113694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订单评审｜RACI-004</a:t>
            </a:r>
          </a:p>
        </p:txBody>
      </p:sp>
      <p:sp>
        <p:nvSpPr>
          <p:cNvPr id="20" name="Rectangle 20"/>
          <p:cNvSpPr/>
          <p:nvPr/>
        </p:nvSpPr>
        <p:spPr>
          <a:xfrm>
            <a:off x="3333750" y="2238375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3424238" y="2387441"/>
            <a:ext cx="211969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生产、品质、工程技术、业务、采购、仓储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429250" y="2238375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5519738" y="2387441"/>
            <a:ext cx="124754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专业输入（C按原矩阵）</a:t>
            </a:r>
          </a:p>
        </p:txBody>
      </p:sp>
      <p:sp>
        <p:nvSpPr>
          <p:cNvPr id="24" name="Rectangle 24"/>
          <p:cNvSpPr/>
          <p:nvPr/>
        </p:nvSpPr>
        <p:spPr>
          <a:xfrm>
            <a:off x="7524750" y="2238375"/>
            <a:ext cx="152400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7615238" y="2387441"/>
            <a:ext cx="35936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营运部</a:t>
            </a:r>
          </a:p>
        </p:txBody>
      </p:sp>
      <p:sp>
        <p:nvSpPr>
          <p:cNvPr id="26" name="Rectangle 26"/>
          <p:cNvSpPr/>
          <p:nvPr/>
        </p:nvSpPr>
        <p:spPr>
          <a:xfrm>
            <a:off x="9239250" y="2238375"/>
            <a:ext cx="238125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9329738" y="2387441"/>
            <a:ext cx="123120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订单承诺例外权限待确认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66750" y="2924175"/>
            <a:ext cx="2476500" cy="590550"/>
          </a:xfrm>
          <a:prstGeom prst="roundRect">
            <a:avLst>
              <a:gd name="adj" fmla="val 9677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757238" y="3073241"/>
            <a:ext cx="138337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采购寻源下单｜RACI-005</a:t>
            </a:r>
          </a:p>
        </p:txBody>
      </p:sp>
      <p:sp>
        <p:nvSpPr>
          <p:cNvPr id="30" name="Rectangle 30"/>
          <p:cNvSpPr/>
          <p:nvPr/>
        </p:nvSpPr>
        <p:spPr>
          <a:xfrm>
            <a:off x="3333750" y="2924175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3424238" y="3073241"/>
            <a:ext cx="123120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业务组、采购组、仓储组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429250" y="2924175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5519738" y="3073241"/>
            <a:ext cx="137662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生产/品质/财务咨询（C）</a:t>
            </a:r>
          </a:p>
        </p:txBody>
      </p:sp>
      <p:sp>
        <p:nvSpPr>
          <p:cNvPr id="34" name="Rectangle 34"/>
          <p:cNvSpPr/>
          <p:nvPr/>
        </p:nvSpPr>
        <p:spPr>
          <a:xfrm>
            <a:off x="7524750" y="2924175"/>
            <a:ext cx="1524000" cy="590550"/>
          </a:xfrm>
          <a:prstGeom prst="roundRect">
            <a:avLst>
              <a:gd name="adj" fmla="val 9677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7615238" y="3073241"/>
            <a:ext cx="35936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营运部</a:t>
            </a:r>
          </a:p>
        </p:txBody>
      </p:sp>
      <p:sp>
        <p:nvSpPr>
          <p:cNvPr id="36" name="Rectangle 36"/>
          <p:cNvSpPr/>
          <p:nvPr/>
        </p:nvSpPr>
        <p:spPr>
          <a:xfrm>
            <a:off x="9239250" y="2924175"/>
            <a:ext cx="2381250" cy="590550"/>
          </a:xfrm>
          <a:prstGeom prst="roundRect">
            <a:avLst>
              <a:gd name="adj" fmla="val 9677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9329738" y="3073241"/>
            <a:ext cx="145332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金额阈值、供应商例外待确认</a:t>
            </a:r>
          </a:p>
        </p:txBody>
      </p:sp>
      <p:sp>
        <p:nvSpPr>
          <p:cNvPr id="38" name="Rectangle 38"/>
          <p:cNvSpPr/>
          <p:nvPr/>
        </p:nvSpPr>
        <p:spPr>
          <a:xfrm>
            <a:off x="666750" y="3609975"/>
            <a:ext cx="247650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757238" y="3759041"/>
            <a:ext cx="113694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来料检验｜RACI-011</a:t>
            </a:r>
          </a:p>
        </p:txBody>
      </p:sp>
      <p:sp>
        <p:nvSpPr>
          <p:cNvPr id="40" name="Rectangle 40"/>
          <p:cNvSpPr/>
          <p:nvPr/>
        </p:nvSpPr>
        <p:spPr>
          <a:xfrm>
            <a:off x="3333750" y="3609975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3424238" y="3759041"/>
            <a:ext cx="78695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成品出货检验组</a:t>
            </a:r>
          </a:p>
        </p:txBody>
      </p:sp>
      <p:sp>
        <p:nvSpPr>
          <p:cNvPr id="42" name="Rectangle 42"/>
          <p:cNvSpPr/>
          <p:nvPr/>
        </p:nvSpPr>
        <p:spPr>
          <a:xfrm>
            <a:off x="5429250" y="3609975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5519738" y="3759041"/>
            <a:ext cx="149397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营运部/采购/仓储咨询（C）</a:t>
            </a:r>
          </a:p>
        </p:txBody>
      </p:sp>
      <p:sp>
        <p:nvSpPr>
          <p:cNvPr id="44" name="Rectangle 44"/>
          <p:cNvSpPr/>
          <p:nvPr/>
        </p:nvSpPr>
        <p:spPr>
          <a:xfrm>
            <a:off x="7524750" y="3609975"/>
            <a:ext cx="152400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7615238" y="3759041"/>
            <a:ext cx="35936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品质部</a:t>
            </a:r>
          </a:p>
        </p:txBody>
      </p:sp>
      <p:sp>
        <p:nvSpPr>
          <p:cNvPr id="46" name="Rectangle 46"/>
          <p:cNvSpPr/>
          <p:nvPr/>
        </p:nvSpPr>
        <p:spPr>
          <a:xfrm>
            <a:off x="9239250" y="3609975"/>
            <a:ext cx="238125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9329738" y="3759041"/>
            <a:ext cx="129228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特采/让步放行权限待确认</a:t>
            </a:r>
          </a:p>
        </p:txBody>
      </p:sp>
      <p:sp>
        <p:nvSpPr>
          <p:cNvPr id="48" name="Rectangle 48"/>
          <p:cNvSpPr/>
          <p:nvPr/>
        </p:nvSpPr>
        <p:spPr>
          <a:xfrm>
            <a:off x="666750" y="4295775"/>
            <a:ext cx="2476500" cy="590550"/>
          </a:xfrm>
          <a:prstGeom prst="roundRect">
            <a:avLst>
              <a:gd name="adj" fmla="val 9677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757238" y="4444841"/>
            <a:ext cx="150659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付款与费用审批｜RACI-015</a:t>
            </a:r>
          </a:p>
        </p:txBody>
      </p:sp>
      <p:sp>
        <p:nvSpPr>
          <p:cNvPr id="50" name="Rectangle 50"/>
          <p:cNvSpPr/>
          <p:nvPr/>
        </p:nvSpPr>
        <p:spPr>
          <a:xfrm>
            <a:off x="3333750" y="4295775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3424238" y="4444841"/>
            <a:ext cx="34271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财务部</a:t>
            </a:r>
          </a:p>
        </p:txBody>
      </p:sp>
      <p:sp>
        <p:nvSpPr>
          <p:cNvPr id="52" name="Rectangle 52"/>
          <p:cNvSpPr/>
          <p:nvPr/>
        </p:nvSpPr>
        <p:spPr>
          <a:xfrm>
            <a:off x="5429250" y="4295775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5519738" y="4444841"/>
            <a:ext cx="137662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生产/品质/营运咨询（C）</a:t>
            </a:r>
          </a:p>
        </p:txBody>
      </p:sp>
      <p:sp>
        <p:nvSpPr>
          <p:cNvPr id="54" name="Rectangle 54"/>
          <p:cNvSpPr/>
          <p:nvPr/>
        </p:nvSpPr>
        <p:spPr>
          <a:xfrm>
            <a:off x="7524750" y="4295775"/>
            <a:ext cx="1524000" cy="590550"/>
          </a:xfrm>
          <a:prstGeom prst="roundRect">
            <a:avLst>
              <a:gd name="adj" fmla="val 9677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7615238" y="4444841"/>
            <a:ext cx="35936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总经理</a:t>
            </a:r>
          </a:p>
        </p:txBody>
      </p:sp>
      <p:sp>
        <p:nvSpPr>
          <p:cNvPr id="56" name="Rectangle 56"/>
          <p:cNvSpPr/>
          <p:nvPr/>
        </p:nvSpPr>
        <p:spPr>
          <a:xfrm>
            <a:off x="9239250" y="4295775"/>
            <a:ext cx="2381250" cy="590550"/>
          </a:xfrm>
          <a:prstGeom prst="roundRect">
            <a:avLst>
              <a:gd name="adj" fmla="val 9677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9329738" y="4444841"/>
            <a:ext cx="162547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金额分级、超限/替代批准待确认</a:t>
            </a:r>
          </a:p>
        </p:txBody>
      </p:sp>
      <p:sp>
        <p:nvSpPr>
          <p:cNvPr id="58" name="Rectangle 58"/>
          <p:cNvSpPr/>
          <p:nvPr/>
        </p:nvSpPr>
        <p:spPr>
          <a:xfrm>
            <a:off x="666750" y="5191125"/>
            <a:ext cx="11049000" cy="800100"/>
          </a:xfrm>
          <a:prstGeom prst="roundRect">
            <a:avLst>
              <a:gd name="adj" fmla="val 14286"/>
            </a:avLst>
          </a:prstGeom>
          <a:solidFill>
            <a:srgbClr val="FFF7DF"/>
          </a:solidFill>
          <a:ln w="19050">
            <a:solidFill>
              <a:srgbClr val="A87519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3300435" y="5363528"/>
            <a:ext cx="578162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805B12"/>
                </a:solidFill>
                <a:latin typeface="Arial"/>
                <a:ea typeface="Microsoft YaHei"/>
                <a:cs typeface="Arial"/>
              </a:rPr>
              <a:t>授权事实：仅列受控RACI明确的A/R；C=事前咨询（双向专业输入），不是“复核”。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3787621" y="5638324"/>
            <a:ext cx="480725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805B12"/>
                </a:solidFill>
                <a:latin typeface="Arial"/>
                <a:ea typeface="Microsoft YaHei"/>
                <a:cs typeface="Arial"/>
              </a:rPr>
              <a:t>边界：金额权限、付款分级、特殊放行及代理/替代批准人均待正式授权文件确认。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566738" y="6494145"/>
            <a:ext cx="499574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审批角色与RACI参与语义分栏；具体复核岗位未由源矩阵明确的，不推定为既有批准权。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12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越权与职责冲突处理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76948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先暂停、再升级、后决定、留痕关闭；冲突不能沿着原路径继续推进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grpSp>
        <p:nvGrpSpPr>
          <p:cNvPr id="39" name="Group 39"/>
          <p:cNvGrpSpPr/>
          <p:nvPr/>
        </p:nvGrpSpPr>
        <p:grpSpPr>
          <a:xfrm>
            <a:off x="1381125" y="1476375"/>
            <a:ext cx="8810625" cy="3810000"/>
            <a:chOff x="1381125" y="1476375"/>
            <a:chExt cx="8810625" cy="3810000"/>
          </a:xfrm>
        </p:grpSpPr>
        <p:sp>
          <p:nvSpPr>
            <p:cNvPr id="8" name="Freeform 8"/>
            <p:cNvSpPr/>
            <p:nvPr/>
          </p:nvSpPr>
          <p:spPr>
            <a:xfrm>
              <a:off x="2381250" y="1952625"/>
              <a:ext cx="7429500" cy="2857500"/>
            </a:xfrm>
            <a:custGeom>
              <a:avLst/>
              <a:gdLst/>
              <a:ahLst/>
              <a:cxnLst/>
              <a:rect l="l" t="t" r="r" b="b"/>
              <a:pathLst>
                <a:path w="7429500" h="2857500">
                  <a:moveTo>
                    <a:pt x="0" y="952500"/>
                  </a:moveTo>
                  <a:cubicBezTo>
                    <a:pt x="0" y="285750"/>
                    <a:pt x="952500" y="0"/>
                    <a:pt x="1714500" y="0"/>
                  </a:cubicBezTo>
                  <a:lnTo>
                    <a:pt x="5715000" y="0"/>
                  </a:lnTo>
                  <a:cubicBezTo>
                    <a:pt x="6667500" y="0"/>
                    <a:pt x="7429500" y="523875"/>
                    <a:pt x="7429500" y="1381125"/>
                  </a:cubicBezTo>
                  <a:cubicBezTo>
                    <a:pt x="7429500" y="2286000"/>
                    <a:pt x="6667500" y="2857500"/>
                    <a:pt x="5715000" y="2857500"/>
                  </a:cubicBezTo>
                  <a:lnTo>
                    <a:pt x="1714500" y="2857500"/>
                  </a:lnTo>
                  <a:cubicBezTo>
                    <a:pt x="762000" y="2857500"/>
                    <a:pt x="0" y="2286000"/>
                    <a:pt x="0" y="1524000"/>
                  </a:cubicBezTo>
                </a:path>
              </a:pathLst>
            </a:custGeom>
            <a:noFill/>
            <a:ln w="47625">
              <a:solidFill>
                <a:srgbClr val="8091A5"/>
              </a:solidFill>
              <a:tailEnd type="triangle" w="lg" len="lg"/>
            </a:ln>
          </p:spPr>
        </p:sp>
        <p:sp>
          <p:nvSpPr>
            <p:cNvPr id="9" name="Freeform 9"/>
            <p:cNvSpPr/>
            <p:nvPr/>
          </p:nvSpPr>
          <p:spPr>
            <a:xfrm>
              <a:off x="2381250" y="3476625"/>
              <a:ext cx="1714500" cy="1333500"/>
            </a:xfrm>
            <a:custGeom>
              <a:avLst/>
              <a:gdLst/>
              <a:ahLst/>
              <a:cxnLst/>
              <a:rect l="l" t="t" r="r" b="b"/>
              <a:pathLst>
                <a:path w="1714500" h="1333500">
                  <a:moveTo>
                    <a:pt x="1714500" y="1333500"/>
                  </a:moveTo>
                  <a:cubicBezTo>
                    <a:pt x="762000" y="1333500"/>
                    <a:pt x="0" y="762000"/>
                    <a:pt x="0" y="0"/>
                  </a:cubicBezTo>
                </a:path>
              </a:pathLst>
            </a:custGeom>
            <a:noFill/>
            <a:ln w="47625">
              <a:solidFill>
                <a:srgbClr val="D95C5C"/>
              </a:solidFill>
              <a:custDash>
                <a:ds d="240000" sp="160000"/>
              </a:custDash>
              <a:tailEnd type="triangle" w="lg" len="lg"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381125" y="2571750"/>
              <a:ext cx="2000250" cy="952500"/>
              <a:chOff x="1381125" y="2571750"/>
              <a:chExt cx="200025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0" name="Freeform 10"/>
              <p:cNvSpPr/>
              <p:nvPr/>
            </p:nvSpPr>
            <p:spPr>
              <a:xfrm>
                <a:off x="1381125" y="2571750"/>
                <a:ext cx="200025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2000250" h="952500">
                    <a:moveTo>
                      <a:pt x="171450" y="0"/>
                    </a:moveTo>
                    <a:lnTo>
                      <a:pt x="1828800" y="0"/>
                    </a:lnTo>
                    <a:cubicBezTo>
                      <a:pt x="1923489" y="0"/>
                      <a:pt x="2000250" y="76761"/>
                      <a:pt x="2000250" y="171450"/>
                    </a:cubicBezTo>
                    <a:lnTo>
                      <a:pt x="2000250" y="781050"/>
                    </a:lnTo>
                    <a:cubicBezTo>
                      <a:pt x="2000250" y="875739"/>
                      <a:pt x="1923489" y="952500"/>
                      <a:pt x="1828800" y="952500"/>
                    </a:cubicBezTo>
                    <a:lnTo>
                      <a:pt x="171450" y="952500"/>
                    </a:lnTo>
                    <a:cubicBezTo>
                      <a:pt x="76761" y="952500"/>
                      <a:pt x="0" y="875739"/>
                      <a:pt x="0" y="7810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2F6BFF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2281862" y="2775585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E27A21"/>
                    </a:solidFill>
                    <a:latin typeface="Arial"/>
                    <a:ea typeface="Arial"/>
                    <a:cs typeface="Arial"/>
                  </a:rPr>
                  <a:t>01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906410" y="30413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发现冲突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654397" y="3323749"/>
                <a:ext cx="1453706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事实、授权、责任不一致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3714750" y="1476375"/>
              <a:ext cx="2095500" cy="952500"/>
              <a:chOff x="3714750" y="1476375"/>
              <a:chExt cx="209550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5" name="Freeform 15"/>
              <p:cNvSpPr/>
              <p:nvPr/>
            </p:nvSpPr>
            <p:spPr>
              <a:xfrm>
                <a:off x="3714750" y="1476375"/>
                <a:ext cx="209550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95250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781050"/>
                    </a:lnTo>
                    <a:cubicBezTo>
                      <a:pt x="2095500" y="875739"/>
                      <a:pt x="2018739" y="952500"/>
                      <a:pt x="1924050" y="952500"/>
                    </a:cubicBezTo>
                    <a:lnTo>
                      <a:pt x="171450" y="952500"/>
                    </a:lnTo>
                    <a:cubicBezTo>
                      <a:pt x="76761" y="952500"/>
                      <a:pt x="0" y="875739"/>
                      <a:pt x="0" y="7810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FF0F0"/>
              </a:solidFill>
              <a:ln w="19050">
                <a:solidFill>
                  <a:srgbClr val="D95C5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4663112" y="16802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D95C5C"/>
                    </a:solidFill>
                    <a:latin typeface="Arial"/>
                    <a:ea typeface="Arial"/>
                    <a:cs typeface="Arial"/>
                  </a:rPr>
                  <a:t>02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287660" y="1945958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暂停动作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035647" y="2228374"/>
                <a:ext cx="1453706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先隔离，不继续越权执行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6381750" y="1476375"/>
              <a:ext cx="2095500" cy="952500"/>
              <a:chOff x="6381750" y="1476375"/>
              <a:chExt cx="209550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0" name="Freeform 20"/>
              <p:cNvSpPr/>
              <p:nvPr/>
            </p:nvSpPr>
            <p:spPr>
              <a:xfrm>
                <a:off x="6381750" y="1476375"/>
                <a:ext cx="209550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95250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781050"/>
                    </a:lnTo>
                    <a:cubicBezTo>
                      <a:pt x="2095500" y="875739"/>
                      <a:pt x="2018739" y="952500"/>
                      <a:pt x="1924050" y="952500"/>
                    </a:cubicBezTo>
                    <a:lnTo>
                      <a:pt x="171450" y="952500"/>
                    </a:lnTo>
                    <a:cubicBezTo>
                      <a:pt x="76761" y="952500"/>
                      <a:pt x="0" y="875739"/>
                      <a:pt x="0" y="7810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FF7DF"/>
              </a:solidFill>
              <a:ln w="19050">
                <a:solidFill>
                  <a:srgbClr val="D79A2B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7330112" y="16802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805B12"/>
                    </a:solidFill>
                    <a:latin typeface="Arial"/>
                    <a:ea typeface="Arial"/>
                    <a:cs typeface="Arial"/>
                  </a:rPr>
                  <a:t>03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954660" y="1945958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升级判定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833902" y="2228374"/>
                <a:ext cx="1191197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提交事实与影响范围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8096250" y="2857500"/>
              <a:ext cx="2095500" cy="952500"/>
              <a:chOff x="8096250" y="2857500"/>
              <a:chExt cx="209550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5" name="Freeform 25"/>
              <p:cNvSpPr/>
              <p:nvPr/>
            </p:nvSpPr>
            <p:spPr>
              <a:xfrm>
                <a:off x="8096250" y="2857500"/>
                <a:ext cx="209550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95250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781050"/>
                    </a:lnTo>
                    <a:cubicBezTo>
                      <a:pt x="2095500" y="875739"/>
                      <a:pt x="2018739" y="952500"/>
                      <a:pt x="1924050" y="952500"/>
                    </a:cubicBezTo>
                    <a:lnTo>
                      <a:pt x="171450" y="952500"/>
                    </a:lnTo>
                    <a:cubicBezTo>
                      <a:pt x="76761" y="952500"/>
                      <a:pt x="0" y="875739"/>
                      <a:pt x="0" y="7810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FF2E7"/>
              </a:solidFill>
              <a:ln w="19050">
                <a:solidFill>
                  <a:srgbClr val="C56A25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9044612" y="3061335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C56A25"/>
                    </a:solidFill>
                    <a:latin typeface="Arial"/>
                    <a:ea typeface="Arial"/>
                    <a:cs typeface="Arial"/>
                  </a:rPr>
                  <a:t>04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669160" y="33270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授权决定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548402" y="3609499"/>
                <a:ext cx="1191197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明确责任与处理边界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5429250" y="4333875"/>
              <a:ext cx="2095500" cy="952500"/>
              <a:chOff x="5429250" y="4333875"/>
              <a:chExt cx="209550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30" name="Freeform 30"/>
              <p:cNvSpPr/>
              <p:nvPr/>
            </p:nvSpPr>
            <p:spPr>
              <a:xfrm>
                <a:off x="5429250" y="4333875"/>
                <a:ext cx="209550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95250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781050"/>
                    </a:lnTo>
                    <a:cubicBezTo>
                      <a:pt x="2095500" y="875739"/>
                      <a:pt x="2018739" y="952500"/>
                      <a:pt x="1924050" y="952500"/>
                    </a:cubicBezTo>
                    <a:lnTo>
                      <a:pt x="171450" y="952500"/>
                    </a:lnTo>
                    <a:cubicBezTo>
                      <a:pt x="76761" y="952500"/>
                      <a:pt x="0" y="875739"/>
                      <a:pt x="0" y="7810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6377612" y="45377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1C9C8C"/>
                    </a:solidFill>
                    <a:latin typeface="Arial"/>
                    <a:ea typeface="Arial"/>
                    <a:cs typeface="Arial"/>
                  </a:rPr>
                  <a:t>05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002160" y="4803458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留痕关闭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5684520" y="5085874"/>
                <a:ext cx="1584960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记录决定、验证结果和复盘</a:t>
                </a:r>
              </a:p>
            </p:txBody>
          </p:sp>
        </p:grpSp>
        <p:sp>
          <p:nvSpPr>
            <p:cNvPr id="35" name="Freeform 35"/>
            <p:cNvSpPr/>
            <p:nvPr/>
          </p:nvSpPr>
          <p:spPr>
            <a:xfrm>
              <a:off x="3381375" y="3048000"/>
              <a:ext cx="333375" cy="9525"/>
            </a:xfrm>
            <a:custGeom>
              <a:avLst/>
              <a:gdLst/>
              <a:ahLst/>
              <a:cxnLst/>
              <a:rect l="l" t="t" r="r" b="b"/>
              <a:pathLst>
                <a:path w="333375" h="9525">
                  <a:moveTo>
                    <a:pt x="0" y="0"/>
                  </a:moveTo>
                  <a:lnTo>
                    <a:pt x="333375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6" name="Freeform 36"/>
            <p:cNvSpPr/>
            <p:nvPr/>
          </p:nvSpPr>
          <p:spPr>
            <a:xfrm>
              <a:off x="5810250" y="1952625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7" name="Freeform 37"/>
            <p:cNvSpPr/>
            <p:nvPr/>
          </p:nvSpPr>
          <p:spPr>
            <a:xfrm>
              <a:off x="8477250" y="2428875"/>
              <a:ext cx="666750" cy="428625"/>
            </a:xfrm>
            <a:custGeom>
              <a:avLst/>
              <a:gdLst/>
              <a:ahLst/>
              <a:cxnLst/>
              <a:rect l="l" t="t" r="r" b="b"/>
              <a:pathLst>
                <a:path w="666750" h="428625">
                  <a:moveTo>
                    <a:pt x="0" y="0"/>
                  </a:moveTo>
                  <a:cubicBezTo>
                    <a:pt x="381000" y="142875"/>
                    <a:pt x="571500" y="285750"/>
                    <a:pt x="666750" y="428625"/>
                  </a:cubicBezTo>
                </a:path>
              </a:pathLst>
            </a:custGeom>
            <a:noFill/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8" name="Freeform 38"/>
            <p:cNvSpPr/>
            <p:nvPr/>
          </p:nvSpPr>
          <p:spPr>
            <a:xfrm>
              <a:off x="7334250" y="381000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0"/>
                  </a:moveTo>
                  <a:cubicBezTo>
                    <a:pt x="381000" y="333375"/>
                    <a:pt x="0" y="523875"/>
                    <a:pt x="190500" y="762000"/>
                  </a:cubicBezTo>
                </a:path>
              </a:pathLst>
            </a:custGeom>
            <a:noFill/>
            <a:ln w="38100">
              <a:solidFill>
                <a:srgbClr val="8091A5"/>
              </a:solidFill>
              <a:tailEnd type="triangle" w="lg" len="lg"/>
            </a:ln>
          </p:spPr>
        </p:sp>
      </p:grpSp>
      <p:sp>
        <p:nvSpPr>
          <p:cNvPr id="40" name="Freeform 40"/>
          <p:cNvSpPr/>
          <p:nvPr/>
        </p:nvSpPr>
        <p:spPr>
          <a:xfrm>
            <a:off x="1143000" y="5905500"/>
            <a:ext cx="9906000" cy="419100"/>
          </a:xfrm>
          <a:custGeom>
            <a:avLst/>
            <a:gdLst/>
            <a:ahLst/>
            <a:cxnLst/>
            <a:rect l="l" t="t" r="r" b="b"/>
            <a:pathLst>
              <a:path w="9906000" h="419100">
                <a:moveTo>
                  <a:pt x="209550" y="0"/>
                </a:moveTo>
                <a:lnTo>
                  <a:pt x="9696450" y="0"/>
                </a:lnTo>
                <a:cubicBezTo>
                  <a:pt x="9812181" y="0"/>
                  <a:pt x="9906000" y="93819"/>
                  <a:pt x="9906000" y="209550"/>
                </a:cubicBezTo>
                <a:lnTo>
                  <a:pt x="9906000" y="209550"/>
                </a:lnTo>
                <a:cubicBezTo>
                  <a:pt x="9906000" y="325281"/>
                  <a:pt x="9812181" y="419100"/>
                  <a:pt x="9696450" y="419100"/>
                </a:cubicBezTo>
                <a:lnTo>
                  <a:pt x="209550" y="419100"/>
                </a:lnTo>
                <a:cubicBezTo>
                  <a:pt x="93819" y="419100"/>
                  <a:pt x="0" y="325281"/>
                  <a:pt x="0" y="209550"/>
                </a:cubicBezTo>
                <a:lnTo>
                  <a:pt x="0" y="209550"/>
                </a:lnTo>
                <a:cubicBezTo>
                  <a:pt x="0" y="93819"/>
                  <a:pt x="93819" y="0"/>
                  <a:pt x="2095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3180221" y="6050756"/>
            <a:ext cx="583155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红色虚线＝退回或再升级 实线＝正常闭环 每次冲突必须留下事实、决定和验证证据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66738" y="6494145"/>
            <a:ext cx="291731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任何未确认的权限，不得在流程图中被表达为既成授权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64378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13｜订单到交付总流程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5354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五泳道端到端流程：责任主体、交接、决策和异常回路分开表达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870585"/>
            <a:ext cx="430118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阅读方向：左→右；泳道表示责任主体，跨泳道连线表示交接</a:t>
            </a:r>
          </a:p>
        </p:txBody>
      </p:sp>
      <p:sp>
        <p:nvSpPr>
          <p:cNvPr id="6" name="Rectangle 6"/>
          <p:cNvSpPr/>
          <p:nvPr/>
        </p:nvSpPr>
        <p:spPr>
          <a:xfrm>
            <a:off x="495300" y="1143000"/>
            <a:ext cx="11201400" cy="7810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495300" y="1143000"/>
            <a:ext cx="1200150" cy="781050"/>
          </a:xfrm>
          <a:prstGeom prst="roundRect">
            <a:avLst>
              <a:gd name="adj" fmla="val 4878"/>
            </a:avLst>
          </a:prstGeom>
          <a:solidFill>
            <a:srgbClr val="EAF0FF"/>
          </a:solidFill>
          <a:ln w="9525">
            <a:solidFill>
              <a:srgbClr val="D7E0EA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927735" y="14611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客户</a:t>
            </a:r>
          </a:p>
        </p:txBody>
      </p:sp>
      <p:sp>
        <p:nvSpPr>
          <p:cNvPr id="9" name="Rectangle 9"/>
          <p:cNvSpPr/>
          <p:nvPr/>
        </p:nvSpPr>
        <p:spPr>
          <a:xfrm>
            <a:off x="495300" y="1924050"/>
            <a:ext cx="11201400" cy="7810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495300" y="1924050"/>
            <a:ext cx="1200150" cy="781050"/>
          </a:xfrm>
          <a:prstGeom prst="roundRect">
            <a:avLst>
              <a:gd name="adj" fmla="val 4878"/>
            </a:avLst>
          </a:prstGeom>
          <a:solidFill>
            <a:srgbClr val="EAF7F4"/>
          </a:solidFill>
          <a:ln w="9525">
            <a:solidFill>
              <a:srgbClr val="D7E0EA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846963" y="224218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营运部</a:t>
            </a:r>
          </a:p>
        </p:txBody>
      </p:sp>
      <p:sp>
        <p:nvSpPr>
          <p:cNvPr id="12" name="Rectangle 12"/>
          <p:cNvSpPr/>
          <p:nvPr/>
        </p:nvSpPr>
        <p:spPr>
          <a:xfrm>
            <a:off x="495300" y="2705100"/>
            <a:ext cx="11201400" cy="7810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495300" y="2705100"/>
            <a:ext cx="1200150" cy="781050"/>
          </a:xfrm>
          <a:prstGeom prst="roundRect">
            <a:avLst>
              <a:gd name="adj" fmla="val 4878"/>
            </a:avLst>
          </a:prstGeom>
          <a:solidFill>
            <a:srgbClr val="F2ECFF"/>
          </a:solidFill>
          <a:ln w="9525">
            <a:solidFill>
              <a:srgbClr val="D7E0EA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721766" y="3023235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技术/工程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95300" y="3486150"/>
            <a:ext cx="11201400" cy="7810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495300" y="3486150"/>
            <a:ext cx="1200150" cy="781050"/>
          </a:xfrm>
          <a:prstGeom prst="roundRect">
            <a:avLst>
              <a:gd name="adj" fmla="val 4878"/>
            </a:avLst>
          </a:prstGeom>
          <a:solidFill>
            <a:srgbClr val="FFF7DF"/>
          </a:solidFill>
          <a:ln w="9525">
            <a:solidFill>
              <a:srgbClr val="D7E0EA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846963" y="380428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生产部</a:t>
            </a:r>
          </a:p>
        </p:txBody>
      </p:sp>
      <p:sp>
        <p:nvSpPr>
          <p:cNvPr id="18" name="Rectangle 18"/>
          <p:cNvSpPr/>
          <p:nvPr/>
        </p:nvSpPr>
        <p:spPr>
          <a:xfrm>
            <a:off x="495300" y="4267200"/>
            <a:ext cx="11201400" cy="7810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495300" y="4267200"/>
            <a:ext cx="1200150" cy="781050"/>
          </a:xfrm>
          <a:prstGeom prst="roundRect">
            <a:avLst>
              <a:gd name="adj" fmla="val 4878"/>
            </a:avLst>
          </a:prstGeom>
          <a:solidFill>
            <a:srgbClr val="FFF2E7"/>
          </a:solidFill>
          <a:ln w="9525">
            <a:solidFill>
              <a:srgbClr val="D7E0EA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721766" y="4585335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品质/仓储</a:t>
            </a:r>
          </a:p>
        </p:txBody>
      </p:sp>
      <p:sp>
        <p:nvSpPr>
          <p:cNvPr id="21" name="Rectangle 21"/>
          <p:cNvSpPr/>
          <p:nvPr/>
        </p:nvSpPr>
        <p:spPr>
          <a:xfrm>
            <a:off x="1857375" y="1304925"/>
            <a:ext cx="10477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F6BFF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2087071" y="1483995"/>
            <a:ext cx="5883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需求/图纸</a:t>
            </a:r>
          </a:p>
        </p:txBody>
      </p:sp>
      <p:sp>
        <p:nvSpPr>
          <p:cNvPr id="23" name="Rectangle 23"/>
          <p:cNvSpPr/>
          <p:nvPr/>
        </p:nvSpPr>
        <p:spPr>
          <a:xfrm>
            <a:off x="3238500" y="2085975"/>
            <a:ext cx="10477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3503181" y="2265045"/>
            <a:ext cx="51838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需求确认</a:t>
            </a:r>
          </a:p>
        </p:txBody>
      </p:sp>
      <p:sp>
        <p:nvSpPr>
          <p:cNvPr id="25" name="Rectangle 25"/>
          <p:cNvSpPr/>
          <p:nvPr/>
        </p:nvSpPr>
        <p:spPr>
          <a:xfrm>
            <a:off x="4619625" y="2867025"/>
            <a:ext cx="10477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7657B8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4884306" y="3046095"/>
            <a:ext cx="51838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工程评审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000750" y="3648075"/>
            <a:ext cx="10477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6230446" y="3827145"/>
            <a:ext cx="5883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排产/制造</a:t>
            </a:r>
          </a:p>
        </p:txBody>
      </p:sp>
      <p:sp>
        <p:nvSpPr>
          <p:cNvPr id="29" name="Rectangle 29"/>
          <p:cNvSpPr/>
          <p:nvPr/>
        </p:nvSpPr>
        <p:spPr>
          <a:xfrm>
            <a:off x="7381875" y="4429125"/>
            <a:ext cx="10477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7611571" y="4608195"/>
            <a:ext cx="5883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检验/入库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763000" y="2085975"/>
            <a:ext cx="10477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F6BFF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9027681" y="2265045"/>
            <a:ext cx="51838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交付确认</a:t>
            </a:r>
          </a:p>
        </p:txBody>
      </p:sp>
      <p:sp>
        <p:nvSpPr>
          <p:cNvPr id="33" name="Freeform 33"/>
          <p:cNvSpPr/>
          <p:nvPr/>
        </p:nvSpPr>
        <p:spPr>
          <a:xfrm>
            <a:off x="2905125" y="1533525"/>
            <a:ext cx="333375" cy="781050"/>
          </a:xfrm>
          <a:custGeom>
            <a:avLst/>
            <a:gdLst/>
            <a:ahLst/>
            <a:cxnLst/>
            <a:rect l="l" t="t" r="r" b="b"/>
            <a:pathLst>
              <a:path w="333375" h="781050">
                <a:moveTo>
                  <a:pt x="0" y="0"/>
                </a:moveTo>
                <a:cubicBezTo>
                  <a:pt x="190500" y="0"/>
                  <a:pt x="142875" y="781050"/>
                  <a:pt x="333375" y="781050"/>
                </a:cubicBezTo>
              </a:path>
            </a:pathLst>
          </a:cu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34" name="Freeform 34"/>
          <p:cNvSpPr/>
          <p:nvPr/>
        </p:nvSpPr>
        <p:spPr>
          <a:xfrm>
            <a:off x="4286250" y="2314575"/>
            <a:ext cx="333375" cy="781050"/>
          </a:xfrm>
          <a:custGeom>
            <a:avLst/>
            <a:gdLst/>
            <a:ahLst/>
            <a:cxnLst/>
            <a:rect l="l" t="t" r="r" b="b"/>
            <a:pathLst>
              <a:path w="333375" h="781050">
                <a:moveTo>
                  <a:pt x="0" y="0"/>
                </a:moveTo>
                <a:cubicBezTo>
                  <a:pt x="190500" y="0"/>
                  <a:pt x="142875" y="781050"/>
                  <a:pt x="333375" y="781050"/>
                </a:cubicBezTo>
              </a:path>
            </a:pathLst>
          </a:cu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35" name="Freeform 35"/>
          <p:cNvSpPr/>
          <p:nvPr/>
        </p:nvSpPr>
        <p:spPr>
          <a:xfrm>
            <a:off x="5667375" y="3095625"/>
            <a:ext cx="333375" cy="781050"/>
          </a:xfrm>
          <a:custGeom>
            <a:avLst/>
            <a:gdLst/>
            <a:ahLst/>
            <a:cxnLst/>
            <a:rect l="l" t="t" r="r" b="b"/>
            <a:pathLst>
              <a:path w="333375" h="781050">
                <a:moveTo>
                  <a:pt x="0" y="0"/>
                </a:moveTo>
                <a:cubicBezTo>
                  <a:pt x="190500" y="0"/>
                  <a:pt x="142875" y="781050"/>
                  <a:pt x="333375" y="781050"/>
                </a:cubicBezTo>
              </a:path>
            </a:pathLst>
          </a:cu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36" name="Freeform 36"/>
          <p:cNvSpPr/>
          <p:nvPr/>
        </p:nvSpPr>
        <p:spPr>
          <a:xfrm>
            <a:off x="7048500" y="3876675"/>
            <a:ext cx="333375" cy="781050"/>
          </a:xfrm>
          <a:custGeom>
            <a:avLst/>
            <a:gdLst/>
            <a:ahLst/>
            <a:cxnLst/>
            <a:rect l="l" t="t" r="r" b="b"/>
            <a:pathLst>
              <a:path w="333375" h="781050">
                <a:moveTo>
                  <a:pt x="0" y="0"/>
                </a:moveTo>
                <a:cubicBezTo>
                  <a:pt x="190500" y="0"/>
                  <a:pt x="142875" y="781050"/>
                  <a:pt x="333375" y="781050"/>
                </a:cubicBezTo>
              </a:path>
            </a:pathLst>
          </a:cu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37" name="Freeform 37"/>
          <p:cNvSpPr/>
          <p:nvPr/>
        </p:nvSpPr>
        <p:spPr>
          <a:xfrm>
            <a:off x="8429625" y="2314575"/>
            <a:ext cx="333375" cy="2343150"/>
          </a:xfrm>
          <a:custGeom>
            <a:avLst/>
            <a:gdLst/>
            <a:ahLst/>
            <a:cxnLst/>
            <a:rect l="l" t="t" r="r" b="b"/>
            <a:pathLst>
              <a:path w="333375" h="2343150">
                <a:moveTo>
                  <a:pt x="0" y="2343150"/>
                </a:moveTo>
                <a:cubicBezTo>
                  <a:pt x="190500" y="2343150"/>
                  <a:pt x="142875" y="0"/>
                  <a:pt x="333375" y="0"/>
                </a:cubicBezTo>
              </a:path>
            </a:pathLst>
          </a:cu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38" name="Polygon 38"/>
          <p:cNvSpPr/>
          <p:nvPr/>
        </p:nvSpPr>
        <p:spPr>
          <a:xfrm>
            <a:off x="9525000" y="3638550"/>
            <a:ext cx="666750" cy="666750"/>
          </a:xfrm>
          <a:custGeom>
            <a:avLst/>
            <a:gdLst/>
            <a:ahLst/>
            <a:cxnLst/>
            <a:rect l="l" t="t" r="r" b="b"/>
            <a:pathLst>
              <a:path w="666750" h="666750">
                <a:moveTo>
                  <a:pt x="333375" y="0"/>
                </a:moveTo>
                <a:lnTo>
                  <a:pt x="666750" y="333375"/>
                </a:lnTo>
                <a:lnTo>
                  <a:pt x="333375" y="666750"/>
                </a:lnTo>
                <a:lnTo>
                  <a:pt x="0" y="333375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9690735" y="38138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是否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646310" y="3947160"/>
            <a:ext cx="42412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放行?</a:t>
            </a:r>
          </a:p>
        </p:txBody>
      </p:sp>
      <p:sp>
        <p:nvSpPr>
          <p:cNvPr id="41" name="Freeform 41"/>
          <p:cNvSpPr/>
          <p:nvPr/>
        </p:nvSpPr>
        <p:spPr>
          <a:xfrm>
            <a:off x="9810750" y="2314575"/>
            <a:ext cx="47625" cy="1323975"/>
          </a:xfrm>
          <a:custGeom>
            <a:avLst/>
            <a:gdLst/>
            <a:ahLst/>
            <a:cxnLst/>
            <a:rect l="l" t="t" r="r" b="b"/>
            <a:pathLst>
              <a:path w="47625" h="1323975">
                <a:moveTo>
                  <a:pt x="0" y="0"/>
                </a:moveTo>
                <a:lnTo>
                  <a:pt x="47625" y="1323975"/>
                </a:lnTo>
              </a:path>
            </a:pathLst>
          </a:cu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42" name="Freeform 42"/>
          <p:cNvSpPr/>
          <p:nvPr/>
        </p:nvSpPr>
        <p:spPr>
          <a:xfrm>
            <a:off x="4000500" y="3876675"/>
            <a:ext cx="5524500" cy="1838325"/>
          </a:xfrm>
          <a:custGeom>
            <a:avLst/>
            <a:gdLst/>
            <a:ahLst/>
            <a:cxnLst/>
            <a:rect l="l" t="t" r="r" b="b"/>
            <a:pathLst>
              <a:path w="5524500" h="1838325">
                <a:moveTo>
                  <a:pt x="5524500" y="95250"/>
                </a:moveTo>
                <a:cubicBezTo>
                  <a:pt x="5048250" y="1409700"/>
                  <a:pt x="4095750" y="1838325"/>
                  <a:pt x="2190750" y="1838325"/>
                </a:cubicBezTo>
                <a:cubicBezTo>
                  <a:pt x="476250" y="1838325"/>
                  <a:pt x="0" y="1076325"/>
                  <a:pt x="952500" y="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43" name="TextBox 43"/>
          <p:cNvSpPr txBox="1"/>
          <p:nvPr/>
        </p:nvSpPr>
        <p:spPr>
          <a:xfrm>
            <a:off x="7232904" y="5737860"/>
            <a:ext cx="392963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异常：隔离/补充资料/升级评审 → 回到工程或制造确认</a:t>
            </a:r>
          </a:p>
        </p:txBody>
      </p:sp>
      <p:sp>
        <p:nvSpPr>
          <p:cNvPr id="44" name="Rectangle 44"/>
          <p:cNvSpPr/>
          <p:nvPr/>
        </p:nvSpPr>
        <p:spPr>
          <a:xfrm>
            <a:off x="10287000" y="1143000"/>
            <a:ext cx="14097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10423779" y="125158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证据节点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423779" y="1489710"/>
            <a:ext cx="120761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· 订单/图纸版本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423779" y="1699260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· 评审记录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0423779" y="1908810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· 检验记录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0423779" y="2118360"/>
            <a:ext cx="120761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· 放行/交付记录</a:t>
            </a:r>
          </a:p>
        </p:txBody>
      </p:sp>
      <p:sp>
        <p:nvSpPr>
          <p:cNvPr id="50" name="Line 50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14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订单与变更控制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57765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口头变化必须转化为受控评审；批准、拒绝和旧版隔离都要有证据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grpSp>
        <p:nvGrpSpPr>
          <p:cNvPr id="41" name="Group 41"/>
          <p:cNvGrpSpPr/>
          <p:nvPr/>
        </p:nvGrpSpPr>
        <p:grpSpPr>
          <a:xfrm>
            <a:off x="1190625" y="1381125"/>
            <a:ext cx="9239250" cy="4095750"/>
            <a:chOff x="1190625" y="1381125"/>
            <a:chExt cx="9239250" cy="4095750"/>
          </a:xfrm>
        </p:grpSpPr>
        <p:sp>
          <p:nvSpPr>
            <p:cNvPr id="8" name="Freeform 8"/>
            <p:cNvSpPr/>
            <p:nvPr/>
          </p:nvSpPr>
          <p:spPr>
            <a:xfrm>
              <a:off x="2238375" y="1857375"/>
              <a:ext cx="7524750" cy="3095625"/>
            </a:xfrm>
            <a:custGeom>
              <a:avLst/>
              <a:gdLst/>
              <a:ahLst/>
              <a:cxnLst/>
              <a:rect l="l" t="t" r="r" b="b"/>
              <a:pathLst>
                <a:path w="7524750" h="3095625">
                  <a:moveTo>
                    <a:pt x="0" y="1000125"/>
                  </a:moveTo>
                  <a:cubicBezTo>
                    <a:pt x="0" y="238125"/>
                    <a:pt x="904875" y="0"/>
                    <a:pt x="1762125" y="0"/>
                  </a:cubicBezTo>
                  <a:lnTo>
                    <a:pt x="5381625" y="0"/>
                  </a:lnTo>
                  <a:cubicBezTo>
                    <a:pt x="6619875" y="0"/>
                    <a:pt x="7524750" y="666750"/>
                    <a:pt x="7524750" y="1571625"/>
                  </a:cubicBezTo>
                  <a:cubicBezTo>
                    <a:pt x="7524750" y="2476500"/>
                    <a:pt x="6619875" y="3095625"/>
                    <a:pt x="5381625" y="3095625"/>
                  </a:cubicBezTo>
                  <a:lnTo>
                    <a:pt x="1762125" y="3095625"/>
                  </a:lnTo>
                  <a:cubicBezTo>
                    <a:pt x="904875" y="3095625"/>
                    <a:pt x="0" y="2619375"/>
                    <a:pt x="0" y="1857375"/>
                  </a:cubicBezTo>
                </a:path>
              </a:pathLst>
            </a:custGeom>
            <a:noFill/>
            <a:ln w="47625">
              <a:solidFill>
                <a:srgbClr val="8091A5"/>
              </a:solidFill>
              <a:tailEnd type="triangle" w="lg" len="lg"/>
            </a:ln>
          </p:spPr>
        </p:sp>
        <p:sp>
          <p:nvSpPr>
            <p:cNvPr id="9" name="Freeform 9"/>
            <p:cNvSpPr/>
            <p:nvPr/>
          </p:nvSpPr>
          <p:spPr>
            <a:xfrm>
              <a:off x="2238375" y="3714750"/>
              <a:ext cx="1762125" cy="1238250"/>
            </a:xfrm>
            <a:custGeom>
              <a:avLst/>
              <a:gdLst/>
              <a:ahLst/>
              <a:cxnLst/>
              <a:rect l="l" t="t" r="r" b="b"/>
              <a:pathLst>
                <a:path w="1762125" h="1238250">
                  <a:moveTo>
                    <a:pt x="1762125" y="1238250"/>
                  </a:moveTo>
                  <a:cubicBezTo>
                    <a:pt x="809625" y="1238250"/>
                    <a:pt x="0" y="762000"/>
                    <a:pt x="0" y="0"/>
                  </a:cubicBezTo>
                </a:path>
              </a:pathLst>
            </a:custGeom>
            <a:noFill/>
            <a:ln w="47625">
              <a:solidFill>
                <a:srgbClr val="D95C5C"/>
              </a:solidFill>
              <a:custDash>
                <a:ds d="240000" sp="160000"/>
              </a:custDash>
              <a:tailEnd type="triangle" w="lg" len="lg"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190625" y="2619375"/>
              <a:ext cx="2095500" cy="1047750"/>
              <a:chOff x="1190625" y="2619375"/>
              <a:chExt cx="2095500" cy="10477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0" name="Freeform 10"/>
              <p:cNvSpPr/>
              <p:nvPr/>
            </p:nvSpPr>
            <p:spPr>
              <a:xfrm>
                <a:off x="1190625" y="2619375"/>
                <a:ext cx="2095500" cy="104775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104775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876300"/>
                    </a:lnTo>
                    <a:cubicBezTo>
                      <a:pt x="2095500" y="970989"/>
                      <a:pt x="2018739" y="1047750"/>
                      <a:pt x="1924050" y="1047750"/>
                    </a:cubicBezTo>
                    <a:lnTo>
                      <a:pt x="171450" y="1047750"/>
                    </a:lnTo>
                    <a:cubicBezTo>
                      <a:pt x="76761" y="1047750"/>
                      <a:pt x="0" y="970989"/>
                      <a:pt x="0" y="87630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2F6BFF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2138987" y="28232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2F6BFF"/>
                    </a:solidFill>
                    <a:latin typeface="Arial"/>
                    <a:ea typeface="Arial"/>
                    <a:cs typeface="Arial"/>
                  </a:rPr>
                  <a:t>01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763535" y="30794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需求登记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577149" y="3371374"/>
                <a:ext cx="1322451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来源、版本、影响范围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3667125" y="1381125"/>
              <a:ext cx="2095500" cy="1047750"/>
              <a:chOff x="3667125" y="1381125"/>
              <a:chExt cx="2095500" cy="10477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5" name="Freeform 15"/>
              <p:cNvSpPr/>
              <p:nvPr/>
            </p:nvSpPr>
            <p:spPr>
              <a:xfrm>
                <a:off x="3667125" y="1381125"/>
                <a:ext cx="2095500" cy="104775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104775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876300"/>
                    </a:lnTo>
                    <a:cubicBezTo>
                      <a:pt x="2095500" y="970989"/>
                      <a:pt x="2018739" y="1047750"/>
                      <a:pt x="1924050" y="1047750"/>
                    </a:cubicBezTo>
                    <a:lnTo>
                      <a:pt x="171450" y="1047750"/>
                    </a:lnTo>
                    <a:cubicBezTo>
                      <a:pt x="76761" y="1047750"/>
                      <a:pt x="0" y="970989"/>
                      <a:pt x="0" y="87630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4615487" y="158496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1C9C8C"/>
                    </a:solidFill>
                    <a:latin typeface="Arial"/>
                    <a:ea typeface="Arial"/>
                    <a:cs typeface="Arial"/>
                  </a:rPr>
                  <a:t>02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240035" y="18411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影响评估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988022" y="2133124"/>
                <a:ext cx="1453706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交期、成本、质量、资源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6429375" y="1381125"/>
              <a:ext cx="2095500" cy="1047750"/>
              <a:chOff x="6429375" y="1381125"/>
              <a:chExt cx="2095500" cy="10477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0" name="Freeform 20"/>
              <p:cNvSpPr/>
              <p:nvPr/>
            </p:nvSpPr>
            <p:spPr>
              <a:xfrm>
                <a:off x="6429375" y="1381125"/>
                <a:ext cx="2095500" cy="104775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104775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876300"/>
                    </a:lnTo>
                    <a:cubicBezTo>
                      <a:pt x="2095500" y="970989"/>
                      <a:pt x="2018739" y="1047750"/>
                      <a:pt x="1924050" y="1047750"/>
                    </a:cubicBezTo>
                    <a:lnTo>
                      <a:pt x="171450" y="1047750"/>
                    </a:lnTo>
                    <a:cubicBezTo>
                      <a:pt x="76761" y="1047750"/>
                      <a:pt x="0" y="970989"/>
                      <a:pt x="0" y="87630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FF2E7"/>
              </a:solidFill>
              <a:ln w="19050">
                <a:solidFill>
                  <a:srgbClr val="C56A25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7377737" y="158496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C56A25"/>
                    </a:solidFill>
                    <a:latin typeface="Arial"/>
                    <a:ea typeface="Arial"/>
                    <a:cs typeface="Arial"/>
                  </a:rPr>
                  <a:t>03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868178" y="1841182"/>
                <a:ext cx="1217894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批准 / 拒绝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815900" y="2133124"/>
                <a:ext cx="1322451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授权节点，不默认通过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8334375" y="2809875"/>
              <a:ext cx="2095500" cy="1047750"/>
              <a:chOff x="8334375" y="2809875"/>
              <a:chExt cx="2095500" cy="10477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5" name="Freeform 25"/>
              <p:cNvSpPr/>
              <p:nvPr/>
            </p:nvSpPr>
            <p:spPr>
              <a:xfrm>
                <a:off x="8334375" y="2809875"/>
                <a:ext cx="2095500" cy="104775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104775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876300"/>
                    </a:lnTo>
                    <a:cubicBezTo>
                      <a:pt x="2095500" y="970989"/>
                      <a:pt x="2018739" y="1047750"/>
                      <a:pt x="1924050" y="1047750"/>
                    </a:cubicBezTo>
                    <a:lnTo>
                      <a:pt x="171450" y="1047750"/>
                    </a:lnTo>
                    <a:cubicBezTo>
                      <a:pt x="76761" y="1047750"/>
                      <a:pt x="0" y="970989"/>
                      <a:pt x="0" y="87630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2ECFF"/>
              </a:solidFill>
              <a:ln w="19050">
                <a:solidFill>
                  <a:srgbClr val="7657B8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9282737" y="30137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7657B8"/>
                    </a:solidFill>
                    <a:latin typeface="Arial"/>
                    <a:ea typeface="Arial"/>
                    <a:cs typeface="Arial"/>
                  </a:rPr>
                  <a:t>04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907285" y="32699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更新版本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720900" y="3561874"/>
                <a:ext cx="1322451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发布新版本并回收旧版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5810250" y="4429125"/>
              <a:ext cx="2095500" cy="1047750"/>
              <a:chOff x="5810250" y="4429125"/>
              <a:chExt cx="2095500" cy="10477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30" name="Freeform 30"/>
              <p:cNvSpPr/>
              <p:nvPr/>
            </p:nvSpPr>
            <p:spPr>
              <a:xfrm>
                <a:off x="5810250" y="4429125"/>
                <a:ext cx="2095500" cy="104775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104775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876300"/>
                    </a:lnTo>
                    <a:cubicBezTo>
                      <a:pt x="2095500" y="970989"/>
                      <a:pt x="2018739" y="1047750"/>
                      <a:pt x="1924050" y="1047750"/>
                    </a:cubicBezTo>
                    <a:lnTo>
                      <a:pt x="171450" y="1047750"/>
                    </a:lnTo>
                    <a:cubicBezTo>
                      <a:pt x="76761" y="1047750"/>
                      <a:pt x="0" y="970989"/>
                      <a:pt x="0" y="87630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6758612" y="463296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1C9C8C"/>
                    </a:solidFill>
                    <a:latin typeface="Arial"/>
                    <a:ea typeface="Arial"/>
                    <a:cs typeface="Arial"/>
                  </a:rPr>
                  <a:t>05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383160" y="48891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验证关闭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196774" y="5181124"/>
                <a:ext cx="1322451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确认变更已生效并留痕</a:t>
                </a:r>
              </a:p>
            </p:txBody>
          </p:sp>
        </p:grpSp>
        <p:sp>
          <p:nvSpPr>
            <p:cNvPr id="35" name="Freeform 35"/>
            <p:cNvSpPr/>
            <p:nvPr/>
          </p:nvSpPr>
          <p:spPr>
            <a:xfrm>
              <a:off x="3286125" y="31432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6" name="Freeform 36"/>
            <p:cNvSpPr/>
            <p:nvPr/>
          </p:nvSpPr>
          <p:spPr>
            <a:xfrm>
              <a:off x="5762625" y="190500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7" name="Freeform 37"/>
            <p:cNvSpPr/>
            <p:nvPr/>
          </p:nvSpPr>
          <p:spPr>
            <a:xfrm>
              <a:off x="8524875" y="2381250"/>
              <a:ext cx="857250" cy="428625"/>
            </a:xfrm>
            <a:custGeom>
              <a:avLst/>
              <a:gdLst/>
              <a:ahLst/>
              <a:cxnLst/>
              <a:rect l="l" t="t" r="r" b="b"/>
              <a:pathLst>
                <a:path w="857250" h="428625">
                  <a:moveTo>
                    <a:pt x="0" y="0"/>
                  </a:moveTo>
                  <a:cubicBezTo>
                    <a:pt x="523875" y="95250"/>
                    <a:pt x="809625" y="238125"/>
                    <a:pt x="857250" y="428625"/>
                  </a:cubicBezTo>
                </a:path>
              </a:pathLst>
            </a:custGeom>
            <a:noFill/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8" name="Freeform 38"/>
            <p:cNvSpPr/>
            <p:nvPr/>
          </p:nvSpPr>
          <p:spPr>
            <a:xfrm>
              <a:off x="7572375" y="3857625"/>
              <a:ext cx="762000" cy="857250"/>
            </a:xfrm>
            <a:custGeom>
              <a:avLst/>
              <a:gdLst/>
              <a:ahLst/>
              <a:cxnLst/>
              <a:rect l="l" t="t" r="r" b="b"/>
              <a:pathLst>
                <a:path w="762000" h="857250">
                  <a:moveTo>
                    <a:pt x="762000" y="0"/>
                  </a:moveTo>
                  <a:cubicBezTo>
                    <a:pt x="428625" y="333375"/>
                    <a:pt x="0" y="571500"/>
                    <a:pt x="47625" y="857250"/>
                  </a:cubicBezTo>
                </a:path>
              </a:pathLst>
            </a:custGeom>
            <a:noFill/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9" name="Freeform 39"/>
            <p:cNvSpPr/>
            <p:nvPr/>
          </p:nvSpPr>
          <p:spPr>
            <a:xfrm>
              <a:off x="5667375" y="2381250"/>
              <a:ext cx="762000" cy="714375"/>
            </a:xfrm>
            <a:custGeom>
              <a:avLst/>
              <a:gdLst/>
              <a:ahLst/>
              <a:cxnLst/>
              <a:rect l="l" t="t" r="r" b="b"/>
              <a:pathLst>
                <a:path w="762000" h="714375">
                  <a:moveTo>
                    <a:pt x="762000" y="0"/>
                  </a:moveTo>
                  <a:cubicBezTo>
                    <a:pt x="381000" y="238125"/>
                    <a:pt x="142875" y="428625"/>
                    <a:pt x="0" y="714375"/>
                  </a:cubicBezTo>
                </a:path>
              </a:pathLst>
            </a:custGeom>
            <a:noFill/>
            <a:ln w="38100">
              <a:solidFill>
                <a:srgbClr val="D95C5C"/>
              </a:solidFill>
              <a:custDash>
                <a:ds d="250000" sp="175000"/>
              </a:custDash>
              <a:tailEnd type="triangle" w="lg" len="lg"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328666" y="2791778"/>
              <a:ext cx="10213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84747"/>
                  </a:solidFill>
                  <a:latin typeface="Arial"/>
                  <a:ea typeface="Microsoft YaHei"/>
                  <a:cs typeface="Arial"/>
                </a:rPr>
                <a:t>拒绝 / 退回补充</a:t>
              </a:r>
            </a:p>
          </p:txBody>
        </p:sp>
      </p:grpSp>
      <p:sp>
        <p:nvSpPr>
          <p:cNvPr id="42" name="Freeform 42"/>
          <p:cNvSpPr/>
          <p:nvPr/>
        </p:nvSpPr>
        <p:spPr>
          <a:xfrm>
            <a:off x="1143000" y="5905500"/>
            <a:ext cx="9906000" cy="419100"/>
          </a:xfrm>
          <a:custGeom>
            <a:avLst/>
            <a:gdLst/>
            <a:ahLst/>
            <a:cxnLst/>
            <a:rect l="l" t="t" r="r" b="b"/>
            <a:pathLst>
              <a:path w="9906000" h="419100">
                <a:moveTo>
                  <a:pt x="209550" y="0"/>
                </a:moveTo>
                <a:lnTo>
                  <a:pt x="9696450" y="0"/>
                </a:lnTo>
                <a:cubicBezTo>
                  <a:pt x="9812181" y="0"/>
                  <a:pt x="9906000" y="93819"/>
                  <a:pt x="9906000" y="209550"/>
                </a:cubicBezTo>
                <a:lnTo>
                  <a:pt x="9906000" y="209550"/>
                </a:lnTo>
                <a:cubicBezTo>
                  <a:pt x="9906000" y="325281"/>
                  <a:pt x="9812181" y="419100"/>
                  <a:pt x="9696450" y="419100"/>
                </a:cubicBezTo>
                <a:lnTo>
                  <a:pt x="209550" y="419100"/>
                </a:lnTo>
                <a:cubicBezTo>
                  <a:pt x="93819" y="419100"/>
                  <a:pt x="0" y="325281"/>
                  <a:pt x="0" y="209550"/>
                </a:cubicBezTo>
                <a:lnTo>
                  <a:pt x="0" y="209550"/>
                </a:lnTo>
                <a:cubicBezTo>
                  <a:pt x="0" y="93819"/>
                  <a:pt x="93819" y="0"/>
                  <a:pt x="209550" y="0"/>
                </a:cubicBezTo>
                <a:close/>
              </a:path>
            </a:pathLst>
          </a:cu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3458506" y="6050756"/>
            <a:ext cx="527498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805B12"/>
                </a:solidFill>
                <a:latin typeface="Arial"/>
                <a:ea typeface="Microsoft YaHei"/>
                <a:cs typeface="Arial"/>
              </a:rPr>
              <a:t>变更不是“改一处文字”：必须评估影响、冻结版本、回收旧版，再验证关闭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66738" y="6494145"/>
            <a:ext cx="368061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红色虚线＝拒绝或退回 回环＝变更后仍需回到验证，而不是直达结束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生产计划与任务下达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653681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开工前确认产品、资源、交期和受控版本；条件不满足时必须回到补充与升级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grpSp>
        <p:nvGrpSpPr>
          <p:cNvPr id="38" name="Group 38"/>
          <p:cNvGrpSpPr/>
          <p:nvPr/>
        </p:nvGrpSpPr>
        <p:grpSpPr>
          <a:xfrm>
            <a:off x="857250" y="2333625"/>
            <a:ext cx="10572750" cy="3162300"/>
            <a:chOff x="857250" y="2333625"/>
            <a:chExt cx="10572750" cy="3162300"/>
          </a:xfrm>
        </p:grpSpPr>
        <p:grpSp>
          <p:nvGrpSpPr>
            <p:cNvPr id="12" name="Group 12"/>
            <p:cNvGrpSpPr/>
            <p:nvPr/>
          </p:nvGrpSpPr>
          <p:grpSpPr>
            <a:xfrm>
              <a:off x="857250" y="2571750"/>
              <a:ext cx="2000250" cy="952500"/>
              <a:chOff x="857250" y="2571750"/>
              <a:chExt cx="200025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8" name="Freeform 8"/>
              <p:cNvSpPr/>
              <p:nvPr/>
            </p:nvSpPr>
            <p:spPr>
              <a:xfrm>
                <a:off x="857250" y="2571750"/>
                <a:ext cx="200025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2000250" h="952500">
                    <a:moveTo>
                      <a:pt x="171450" y="0"/>
                    </a:moveTo>
                    <a:lnTo>
                      <a:pt x="1828800" y="0"/>
                    </a:lnTo>
                    <a:cubicBezTo>
                      <a:pt x="1923489" y="0"/>
                      <a:pt x="2000250" y="76761"/>
                      <a:pt x="2000250" y="171450"/>
                    </a:cubicBezTo>
                    <a:lnTo>
                      <a:pt x="2000250" y="781050"/>
                    </a:lnTo>
                    <a:cubicBezTo>
                      <a:pt x="2000250" y="875739"/>
                      <a:pt x="1923489" y="952500"/>
                      <a:pt x="1828800" y="952500"/>
                    </a:cubicBezTo>
                    <a:lnTo>
                      <a:pt x="171450" y="952500"/>
                    </a:lnTo>
                    <a:cubicBezTo>
                      <a:pt x="76761" y="952500"/>
                      <a:pt x="0" y="875739"/>
                      <a:pt x="0" y="7810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2F6BFF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627251" y="2775585"/>
                <a:ext cx="460248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2F6BFF"/>
                    </a:solidFill>
                    <a:latin typeface="Arial"/>
                    <a:ea typeface="Arial"/>
                    <a:cs typeface="Arial"/>
                  </a:rPr>
                  <a:t>INPUT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382535" y="30413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订单输入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130522" y="3323749"/>
                <a:ext cx="1453706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产品、数量、交期、版本</a:t>
                </a:r>
              </a:p>
            </p:txBody>
          </p:sp>
        </p:grpSp>
        <p:sp>
          <p:nvSpPr>
            <p:cNvPr id="13" name="Freeform 13"/>
            <p:cNvSpPr/>
            <p:nvPr/>
          </p:nvSpPr>
          <p:spPr>
            <a:xfrm>
              <a:off x="2857500" y="3048000"/>
              <a:ext cx="857250" cy="9525"/>
            </a:xfrm>
            <a:custGeom>
              <a:avLst/>
              <a:gdLst/>
              <a:ahLst/>
              <a:cxnLst/>
              <a:rect l="l" t="t" r="r" b="b"/>
              <a:pathLst>
                <a:path w="857250" h="9525">
                  <a:moveTo>
                    <a:pt x="0" y="0"/>
                  </a:moveTo>
                  <a:lnTo>
                    <a:pt x="857250" y="0"/>
                  </a:lnTo>
                </a:path>
              </a:pathLst>
            </a:custGeom>
            <a:solidFill>
              <a:srgbClr val="000000"/>
            </a:solidFill>
            <a:ln w="47625">
              <a:solidFill>
                <a:srgbClr val="8091A5"/>
              </a:solidFill>
              <a:tailEnd type="triangle" w="lg" len="lg"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3714750" y="2571750"/>
              <a:ext cx="2095500" cy="952500"/>
              <a:chOff x="3714750" y="2571750"/>
              <a:chExt cx="209550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4" name="Freeform 14"/>
              <p:cNvSpPr/>
              <p:nvPr/>
            </p:nvSpPr>
            <p:spPr>
              <a:xfrm>
                <a:off x="3714750" y="2571750"/>
                <a:ext cx="209550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95250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781050"/>
                    </a:lnTo>
                    <a:cubicBezTo>
                      <a:pt x="2095500" y="875739"/>
                      <a:pt x="2018739" y="952500"/>
                      <a:pt x="1924050" y="952500"/>
                    </a:cubicBezTo>
                    <a:lnTo>
                      <a:pt x="171450" y="952500"/>
                    </a:lnTo>
                    <a:cubicBezTo>
                      <a:pt x="76761" y="952500"/>
                      <a:pt x="0" y="875739"/>
                      <a:pt x="0" y="7810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4509973" y="2775585"/>
                <a:ext cx="505054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1C9C8C"/>
                    </a:solidFill>
                    <a:latin typeface="Arial"/>
                    <a:ea typeface="Arial"/>
                    <a:cs typeface="Arial"/>
                  </a:rPr>
                  <a:t>CHECK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287660" y="30413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能力确认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035647" y="3323749"/>
                <a:ext cx="1453706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产能、物料、模具、人员</a:t>
                </a:r>
              </a:p>
            </p:txBody>
          </p:sp>
        </p:grpSp>
        <p:sp>
          <p:nvSpPr>
            <p:cNvPr id="19" name="Freeform 19"/>
            <p:cNvSpPr/>
            <p:nvPr/>
          </p:nvSpPr>
          <p:spPr>
            <a:xfrm>
              <a:off x="5810250" y="3048000"/>
              <a:ext cx="809625" cy="9525"/>
            </a:xfrm>
            <a:custGeom>
              <a:avLst/>
              <a:gdLst/>
              <a:ahLst/>
              <a:cxnLst/>
              <a:rect l="l" t="t" r="r" b="b"/>
              <a:pathLst>
                <a:path w="809625" h="9525">
                  <a:moveTo>
                    <a:pt x="0" y="0"/>
                  </a:moveTo>
                  <a:lnTo>
                    <a:pt x="809625" y="0"/>
                  </a:lnTo>
                </a:path>
              </a:pathLst>
            </a:custGeom>
            <a:solidFill>
              <a:srgbClr val="000000"/>
            </a:solidFill>
            <a:ln w="47625">
              <a:solidFill>
                <a:srgbClr val="8091A5"/>
              </a:solidFill>
              <a:tailEnd type="triangle" w="lg" len="lg"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6477000" y="2333625"/>
              <a:ext cx="2095500" cy="1428750"/>
              <a:chOff x="6477000" y="2333625"/>
              <a:chExt cx="2095500" cy="14287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0" name="Freeform 20"/>
              <p:cNvSpPr/>
              <p:nvPr/>
            </p:nvSpPr>
            <p:spPr>
              <a:xfrm>
                <a:off x="6477000" y="2333625"/>
                <a:ext cx="2095500" cy="142875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1428750">
                    <a:moveTo>
                      <a:pt x="1047750" y="0"/>
                    </a:moveTo>
                    <a:lnTo>
                      <a:pt x="2095500" y="714375"/>
                    </a:lnTo>
                    <a:lnTo>
                      <a:pt x="1047750" y="1428750"/>
                    </a:lnTo>
                    <a:lnTo>
                      <a:pt x="0" y="714375"/>
                    </a:lnTo>
                    <a:close/>
                  </a:path>
                </a:pathLst>
              </a:custGeom>
              <a:solidFill>
                <a:srgbClr val="FFF7DF"/>
              </a:solidFill>
              <a:ln w="28575">
                <a:solidFill>
                  <a:srgbClr val="D79A2B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6987064" y="2838450"/>
                <a:ext cx="1075372" cy="29337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805B12"/>
                    </a:solidFill>
                    <a:latin typeface="Arial"/>
                    <a:ea typeface="Microsoft YaHei"/>
                    <a:cs typeface="Arial"/>
                  </a:rPr>
                  <a:t>条件满足？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060406" y="3133249"/>
                <a:ext cx="928688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805B12"/>
                    </a:solidFill>
                    <a:latin typeface="Arial"/>
                    <a:ea typeface="Microsoft YaHei"/>
                    <a:cs typeface="Arial"/>
                  </a:rPr>
                  <a:t>是否可按期执行</a:t>
                </a:r>
              </a:p>
            </p:txBody>
          </p:sp>
        </p:grpSp>
        <p:sp>
          <p:nvSpPr>
            <p:cNvPr id="24" name="Freeform 24"/>
            <p:cNvSpPr/>
            <p:nvPr/>
          </p:nvSpPr>
          <p:spPr>
            <a:xfrm>
              <a:off x="8572500" y="3048000"/>
              <a:ext cx="857250" cy="9525"/>
            </a:xfrm>
            <a:custGeom>
              <a:avLst/>
              <a:gdLst/>
              <a:ahLst/>
              <a:cxnLst/>
              <a:rect l="l" t="t" r="r" b="b"/>
              <a:pathLst>
                <a:path w="857250" h="9525">
                  <a:moveTo>
                    <a:pt x="0" y="0"/>
                  </a:moveTo>
                  <a:lnTo>
                    <a:pt x="857250" y="0"/>
                  </a:lnTo>
                </a:path>
              </a:pathLst>
            </a:custGeom>
            <a:solidFill>
              <a:srgbClr val="000000"/>
            </a:solidFill>
            <a:ln w="47625">
              <a:solidFill>
                <a:srgbClr val="8091A5"/>
              </a:solidFill>
              <a:tailEnd type="triangle" w="lg" len="lg"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900541" y="2791778"/>
              <a:ext cx="1590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是</a:t>
              </a: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9429750" y="2571750"/>
              <a:ext cx="2000250" cy="952500"/>
              <a:chOff x="9429750" y="2571750"/>
              <a:chExt cx="200025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6" name="Freeform 26"/>
              <p:cNvSpPr/>
              <p:nvPr/>
            </p:nvSpPr>
            <p:spPr>
              <a:xfrm>
                <a:off x="9429750" y="2571750"/>
                <a:ext cx="200025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2000250" h="952500">
                    <a:moveTo>
                      <a:pt x="171450" y="0"/>
                    </a:moveTo>
                    <a:lnTo>
                      <a:pt x="1828800" y="0"/>
                    </a:lnTo>
                    <a:cubicBezTo>
                      <a:pt x="1923489" y="0"/>
                      <a:pt x="2000250" y="76761"/>
                      <a:pt x="2000250" y="171450"/>
                    </a:cubicBezTo>
                    <a:lnTo>
                      <a:pt x="2000250" y="781050"/>
                    </a:lnTo>
                    <a:cubicBezTo>
                      <a:pt x="2000250" y="875739"/>
                      <a:pt x="1923489" y="952500"/>
                      <a:pt x="1828800" y="952500"/>
                    </a:cubicBezTo>
                    <a:lnTo>
                      <a:pt x="171450" y="952500"/>
                    </a:lnTo>
                    <a:cubicBezTo>
                      <a:pt x="76761" y="952500"/>
                      <a:pt x="0" y="875739"/>
                      <a:pt x="0" y="7810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EAF0FF"/>
              </a:solidFill>
              <a:ln w="19050">
                <a:solidFill>
                  <a:srgbClr val="2F6BFF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0078776" y="2775585"/>
                <a:ext cx="702198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2F6BFF"/>
                    </a:solidFill>
                    <a:latin typeface="Arial"/>
                    <a:ea typeface="Arial"/>
                    <a:cs typeface="Arial"/>
                  </a:rPr>
                  <a:t>RELEASE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9955035" y="30413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任务发布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9768650" y="3323749"/>
                <a:ext cx="1322451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受控版本、责任、节点</a:t>
                </a:r>
              </a:p>
            </p:txBody>
          </p:sp>
        </p:grpSp>
        <p:sp>
          <p:nvSpPr>
            <p:cNvPr id="31" name="Freeform 31"/>
            <p:cNvSpPr/>
            <p:nvPr/>
          </p:nvSpPr>
          <p:spPr>
            <a:xfrm>
              <a:off x="4429125" y="3524250"/>
              <a:ext cx="3095625" cy="1762125"/>
            </a:xfrm>
            <a:custGeom>
              <a:avLst/>
              <a:gdLst/>
              <a:ahLst/>
              <a:cxnLst/>
              <a:rect l="l" t="t" r="r" b="b"/>
              <a:pathLst>
                <a:path w="3095625" h="1762125">
                  <a:moveTo>
                    <a:pt x="3095625" y="238125"/>
                  </a:moveTo>
                  <a:cubicBezTo>
                    <a:pt x="3095625" y="1238250"/>
                    <a:pt x="1381125" y="1762125"/>
                    <a:pt x="333375" y="762000"/>
                  </a:cubicBezTo>
                  <a:cubicBezTo>
                    <a:pt x="0" y="428625"/>
                    <a:pt x="47625" y="142875"/>
                    <a:pt x="333375" y="0"/>
                  </a:cubicBezTo>
                </a:path>
              </a:pathLst>
            </a:custGeom>
            <a:noFill/>
            <a:ln w="47625">
              <a:solidFill>
                <a:srgbClr val="D95C5C"/>
              </a:solidFill>
              <a:custDash>
                <a:ds d="240000" sp="160000"/>
              </a:custDash>
              <a:tailEnd type="triangle" w="lg" len="lg"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233541" y="4839652"/>
              <a:ext cx="26822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84747"/>
                  </a:solidFill>
                  <a:latin typeface="Arial"/>
                  <a:ea typeface="Microsoft YaHei"/>
                  <a:cs typeface="Arial"/>
                </a:rPr>
                <a:t>否：形成风险清单，补充资源或升级承诺</a:t>
              </a:r>
            </a:p>
          </p:txBody>
        </p:sp>
        <p:grpSp>
          <p:nvGrpSpPr>
            <p:cNvPr id="36" name="Group 36"/>
            <p:cNvGrpSpPr/>
            <p:nvPr/>
          </p:nvGrpSpPr>
          <p:grpSpPr>
            <a:xfrm>
              <a:off x="4000500" y="4810125"/>
              <a:ext cx="2190750" cy="685800"/>
              <a:chOff x="4000500" y="4810125"/>
              <a:chExt cx="2190750" cy="6858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33" name="Freeform 33"/>
              <p:cNvSpPr/>
              <p:nvPr/>
            </p:nvSpPr>
            <p:spPr>
              <a:xfrm>
                <a:off x="4000500" y="4810125"/>
                <a:ext cx="2190750" cy="685800"/>
              </a:xfrm>
              <a:custGeom>
                <a:avLst/>
                <a:gdLst/>
                <a:ahLst/>
                <a:cxnLst/>
                <a:rect l="l" t="t" r="r" b="b"/>
                <a:pathLst>
                  <a:path w="2190750" h="685800">
                    <a:moveTo>
                      <a:pt x="171450" y="0"/>
                    </a:moveTo>
                    <a:lnTo>
                      <a:pt x="2019300" y="0"/>
                    </a:lnTo>
                    <a:cubicBezTo>
                      <a:pt x="2113989" y="0"/>
                      <a:pt x="2190750" y="76761"/>
                      <a:pt x="2190750" y="171450"/>
                    </a:cubicBezTo>
                    <a:lnTo>
                      <a:pt x="2190750" y="514350"/>
                    </a:lnTo>
                    <a:cubicBezTo>
                      <a:pt x="2190750" y="609039"/>
                      <a:pt x="2113989" y="685800"/>
                      <a:pt x="2019300" y="685800"/>
                    </a:cubicBezTo>
                    <a:lnTo>
                      <a:pt x="171450" y="685800"/>
                    </a:lnTo>
                    <a:cubicBezTo>
                      <a:pt x="76761" y="685800"/>
                      <a:pt x="0" y="609039"/>
                      <a:pt x="0" y="5143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FF0F0"/>
              </a:solidFill>
              <a:ln w="19050">
                <a:solidFill>
                  <a:srgbClr val="D95C5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4569966" y="4961096"/>
                <a:ext cx="1051818" cy="27870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42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反馈 / 升级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4727638" y="5217795"/>
                <a:ext cx="736473" cy="17621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不得直接开工</a:t>
                </a:r>
              </a:p>
            </p:txBody>
          </p:sp>
        </p:grpSp>
        <p:sp>
          <p:nvSpPr>
            <p:cNvPr id="37" name="Freeform 37"/>
            <p:cNvSpPr/>
            <p:nvPr/>
          </p:nvSpPr>
          <p:spPr>
            <a:xfrm>
              <a:off x="3143250" y="3048000"/>
              <a:ext cx="857250" cy="2105025"/>
            </a:xfrm>
            <a:custGeom>
              <a:avLst/>
              <a:gdLst/>
              <a:ahLst/>
              <a:cxnLst/>
              <a:rect l="l" t="t" r="r" b="b"/>
              <a:pathLst>
                <a:path w="857250" h="2105025">
                  <a:moveTo>
                    <a:pt x="857250" y="2105025"/>
                  </a:moveTo>
                  <a:cubicBezTo>
                    <a:pt x="95250" y="1714500"/>
                    <a:pt x="0" y="571500"/>
                    <a:pt x="571500" y="0"/>
                  </a:cubicBezTo>
                </a:path>
              </a:pathLst>
            </a:custGeom>
            <a:noFill/>
            <a:ln w="38100">
              <a:solidFill>
                <a:srgbClr val="D95C5C"/>
              </a:solidFill>
              <a:custDash>
                <a:ds d="225000" sp="175000"/>
              </a:custDash>
              <a:tailEnd type="triangle" w="lg" len="lg"/>
            </a:ln>
          </p:spPr>
        </p:sp>
      </p:grpSp>
      <p:sp>
        <p:nvSpPr>
          <p:cNvPr id="39" name="Freeform 39"/>
          <p:cNvSpPr/>
          <p:nvPr/>
        </p:nvSpPr>
        <p:spPr>
          <a:xfrm>
            <a:off x="1143000" y="5905500"/>
            <a:ext cx="9906000" cy="419100"/>
          </a:xfrm>
          <a:custGeom>
            <a:avLst/>
            <a:gdLst/>
            <a:ahLst/>
            <a:cxnLst/>
            <a:rect l="l" t="t" r="r" b="b"/>
            <a:pathLst>
              <a:path w="9906000" h="419100">
                <a:moveTo>
                  <a:pt x="209550" y="0"/>
                </a:moveTo>
                <a:lnTo>
                  <a:pt x="9696450" y="0"/>
                </a:lnTo>
                <a:cubicBezTo>
                  <a:pt x="9812181" y="0"/>
                  <a:pt x="9906000" y="93819"/>
                  <a:pt x="9906000" y="209550"/>
                </a:cubicBezTo>
                <a:lnTo>
                  <a:pt x="9906000" y="209550"/>
                </a:lnTo>
                <a:cubicBezTo>
                  <a:pt x="9906000" y="325281"/>
                  <a:pt x="9812181" y="419100"/>
                  <a:pt x="9696450" y="419100"/>
                </a:cubicBezTo>
                <a:lnTo>
                  <a:pt x="209550" y="419100"/>
                </a:lnTo>
                <a:cubicBezTo>
                  <a:pt x="93819" y="419100"/>
                  <a:pt x="0" y="325281"/>
                  <a:pt x="0" y="209550"/>
                </a:cubicBezTo>
                <a:lnTo>
                  <a:pt x="0" y="209550"/>
                </a:lnTo>
                <a:cubicBezTo>
                  <a:pt x="0" y="93819"/>
                  <a:pt x="93819" y="0"/>
                  <a:pt x="2095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3657281" y="6050756"/>
            <a:ext cx="487743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实线＝正常放行 红色虚线＝资源不足或风险升级 菱形＝开工决策闸口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66738" y="6494145"/>
            <a:ext cx="352310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任务发布前必须完成能力确认；交期承诺不能绕过资源与版本检查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15915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16｜采购到付款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8585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职责分离泳道：申请、下单、收货、对账和付款由不同责任主体承接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94410"/>
            <a:ext cx="446272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同一笔采购至少经过申请、采购、收货、对账/付款的相互核对</a:t>
            </a:r>
          </a:p>
        </p:txBody>
      </p:sp>
      <p:sp>
        <p:nvSpPr>
          <p:cNvPr id="6" name="Rectangle 6"/>
          <p:cNvSpPr/>
          <p:nvPr/>
        </p:nvSpPr>
        <p:spPr>
          <a:xfrm>
            <a:off x="495300" y="1381125"/>
            <a:ext cx="11201400" cy="74295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495300" y="1381125"/>
            <a:ext cx="1352550" cy="742950"/>
          </a:xfrm>
          <a:prstGeom prst="roundRect">
            <a:avLst>
              <a:gd name="adj" fmla="val 5128"/>
            </a:avLst>
          </a:prstGeom>
          <a:solidFill>
            <a:srgbClr val="EAF0FF"/>
          </a:solidFill>
          <a:ln w="9525">
            <a:solidFill>
              <a:srgbClr val="D7E0EA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842391" y="167068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需求部门</a:t>
            </a:r>
          </a:p>
        </p:txBody>
      </p:sp>
      <p:sp>
        <p:nvSpPr>
          <p:cNvPr id="9" name="Rectangle 9"/>
          <p:cNvSpPr/>
          <p:nvPr/>
        </p:nvSpPr>
        <p:spPr>
          <a:xfrm>
            <a:off x="495300" y="2124075"/>
            <a:ext cx="11201400" cy="74295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495300" y="2124075"/>
            <a:ext cx="1352550" cy="742950"/>
          </a:xfrm>
          <a:prstGeom prst="roundRect">
            <a:avLst>
              <a:gd name="adj" fmla="val 5128"/>
            </a:avLst>
          </a:prstGeom>
          <a:solidFill>
            <a:srgbClr val="EAF7F4"/>
          </a:solidFill>
          <a:ln w="9525">
            <a:solidFill>
              <a:srgbClr val="D7E0EA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668731" y="2413635"/>
            <a:ext cx="10056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采购 / 营运部</a:t>
            </a:r>
          </a:p>
        </p:txBody>
      </p:sp>
      <p:sp>
        <p:nvSpPr>
          <p:cNvPr id="12" name="Rectangle 12"/>
          <p:cNvSpPr/>
          <p:nvPr/>
        </p:nvSpPr>
        <p:spPr>
          <a:xfrm>
            <a:off x="495300" y="2867025"/>
            <a:ext cx="11201400" cy="74295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495300" y="2867025"/>
            <a:ext cx="1352550" cy="742950"/>
          </a:xfrm>
          <a:prstGeom prst="roundRect">
            <a:avLst>
              <a:gd name="adj" fmla="val 5128"/>
            </a:avLst>
          </a:prstGeom>
          <a:solidFill>
            <a:srgbClr val="FFF7DF"/>
          </a:solidFill>
          <a:ln w="9525">
            <a:solidFill>
              <a:srgbClr val="D7E0EA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749503" y="3156585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仓储 / 收货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95300" y="3609975"/>
            <a:ext cx="11201400" cy="74295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495300" y="3609975"/>
            <a:ext cx="1352550" cy="742950"/>
          </a:xfrm>
          <a:prstGeom prst="roundRect">
            <a:avLst>
              <a:gd name="adj" fmla="val 5128"/>
            </a:avLst>
          </a:prstGeom>
          <a:solidFill>
            <a:srgbClr val="FFF2E7"/>
          </a:solidFill>
          <a:ln w="9525">
            <a:solidFill>
              <a:srgbClr val="D7E0EA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668731" y="3899535"/>
            <a:ext cx="10056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财务 / 授权人</a:t>
            </a:r>
          </a:p>
        </p:txBody>
      </p:sp>
      <p:sp>
        <p:nvSpPr>
          <p:cNvPr id="18" name="Rectangle 18"/>
          <p:cNvSpPr/>
          <p:nvPr/>
        </p:nvSpPr>
        <p:spPr>
          <a:xfrm>
            <a:off x="2095500" y="1524000"/>
            <a:ext cx="11430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F6BFF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2337816" y="15849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采购申请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257044" y="174688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需求与规格</a:t>
            </a:r>
          </a:p>
        </p:txBody>
      </p:sp>
      <p:sp>
        <p:nvSpPr>
          <p:cNvPr id="21" name="Rectangle 21"/>
          <p:cNvSpPr/>
          <p:nvPr/>
        </p:nvSpPr>
        <p:spPr>
          <a:xfrm>
            <a:off x="3714750" y="2266950"/>
            <a:ext cx="11430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3864178" y="2327910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询价 / 下单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795522" y="2489835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供应商与价格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334000" y="3009900"/>
            <a:ext cx="11430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5483428" y="3070860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收货 / 入库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495544" y="323278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数量与状态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953250" y="3752850"/>
            <a:ext cx="11430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7657B8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7102678" y="3813810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对账 / 付款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114794" y="397573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授权与留痕</a:t>
            </a:r>
          </a:p>
        </p:txBody>
      </p:sp>
      <p:sp>
        <p:nvSpPr>
          <p:cNvPr id="30" name="Freeform 30"/>
          <p:cNvSpPr/>
          <p:nvPr/>
        </p:nvSpPr>
        <p:spPr>
          <a:xfrm>
            <a:off x="3238500" y="1752600"/>
            <a:ext cx="476250" cy="742950"/>
          </a:xfrm>
          <a:custGeom>
            <a:avLst/>
            <a:gdLst/>
            <a:ahLst/>
            <a:cxnLst/>
            <a:rect l="l" t="t" r="r" b="b"/>
            <a:pathLst>
              <a:path w="476250" h="742950">
                <a:moveTo>
                  <a:pt x="0" y="0"/>
                </a:moveTo>
                <a:cubicBezTo>
                  <a:pt x="228600" y="0"/>
                  <a:pt x="247650" y="742950"/>
                  <a:pt x="476250" y="742950"/>
                </a:cubicBezTo>
              </a:path>
            </a:pathLst>
          </a:cu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31" name="Freeform 31"/>
          <p:cNvSpPr/>
          <p:nvPr/>
        </p:nvSpPr>
        <p:spPr>
          <a:xfrm>
            <a:off x="4857750" y="2495550"/>
            <a:ext cx="476250" cy="742950"/>
          </a:xfrm>
          <a:custGeom>
            <a:avLst/>
            <a:gdLst/>
            <a:ahLst/>
            <a:cxnLst/>
            <a:rect l="l" t="t" r="r" b="b"/>
            <a:pathLst>
              <a:path w="476250" h="742950">
                <a:moveTo>
                  <a:pt x="0" y="0"/>
                </a:moveTo>
                <a:cubicBezTo>
                  <a:pt x="228600" y="0"/>
                  <a:pt x="247650" y="742950"/>
                  <a:pt x="476250" y="742950"/>
                </a:cubicBezTo>
              </a:path>
            </a:pathLst>
          </a:cu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32" name="Freeform 32"/>
          <p:cNvSpPr/>
          <p:nvPr/>
        </p:nvSpPr>
        <p:spPr>
          <a:xfrm>
            <a:off x="6477000" y="3238500"/>
            <a:ext cx="476250" cy="742950"/>
          </a:xfrm>
          <a:custGeom>
            <a:avLst/>
            <a:gdLst/>
            <a:ahLst/>
            <a:cxnLst/>
            <a:rect l="l" t="t" r="r" b="b"/>
            <a:pathLst>
              <a:path w="476250" h="742950">
                <a:moveTo>
                  <a:pt x="0" y="0"/>
                </a:moveTo>
                <a:cubicBezTo>
                  <a:pt x="228600" y="0"/>
                  <a:pt x="247650" y="742950"/>
                  <a:pt x="476250" y="742950"/>
                </a:cubicBezTo>
              </a:path>
            </a:pathLst>
          </a:cu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33" name="Rectangle 33"/>
          <p:cNvSpPr/>
          <p:nvPr/>
        </p:nvSpPr>
        <p:spPr>
          <a:xfrm>
            <a:off x="8477250" y="1381125"/>
            <a:ext cx="321945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8709279" y="153733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三类相互核对资料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709279" y="1823085"/>
            <a:ext cx="11672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申请 / 订单资料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709279" y="2089785"/>
            <a:ext cx="11672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收货 / 入库资料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709279" y="2356485"/>
            <a:ext cx="11672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发票 / 付款资料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709279" y="2642235"/>
            <a:ext cx="22738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不得由同一角色独立完成全链路</a:t>
            </a:r>
          </a:p>
        </p:txBody>
      </p:sp>
      <p:sp>
        <p:nvSpPr>
          <p:cNvPr id="39" name="Freeform 39"/>
          <p:cNvSpPr/>
          <p:nvPr/>
        </p:nvSpPr>
        <p:spPr>
          <a:xfrm>
            <a:off x="2857500" y="3238500"/>
            <a:ext cx="5238750" cy="2190750"/>
          </a:xfrm>
          <a:custGeom>
            <a:avLst/>
            <a:gdLst/>
            <a:ahLst/>
            <a:cxnLst/>
            <a:rect l="l" t="t" r="r" b="b"/>
            <a:pathLst>
              <a:path w="5238750" h="2190750">
                <a:moveTo>
                  <a:pt x="5238750" y="742950"/>
                </a:moveTo>
                <a:cubicBezTo>
                  <a:pt x="4953000" y="1714500"/>
                  <a:pt x="2857500" y="2190750"/>
                  <a:pt x="1047750" y="1714500"/>
                </a:cubicBezTo>
                <a:cubicBezTo>
                  <a:pt x="190500" y="1476375"/>
                  <a:pt x="0" y="857250"/>
                  <a:pt x="1047750" y="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40" name="TextBox 40"/>
          <p:cNvSpPr txBox="1"/>
          <p:nvPr/>
        </p:nvSpPr>
        <p:spPr>
          <a:xfrm>
            <a:off x="4940960" y="5299710"/>
            <a:ext cx="345307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数量 / 质量 / 价格不一致：暂停付款并退回核对</a:t>
            </a:r>
          </a:p>
        </p:txBody>
      </p:sp>
      <p:sp>
        <p:nvSpPr>
          <p:cNvPr id="41" name="Rectangle 41"/>
          <p:cNvSpPr/>
          <p:nvPr/>
        </p:nvSpPr>
        <p:spPr>
          <a:xfrm>
            <a:off x="857250" y="5334000"/>
            <a:ext cx="10287000" cy="514350"/>
          </a:xfrm>
          <a:prstGeom prst="roundRect">
            <a:avLst>
              <a:gd name="adj" fmla="val 11111"/>
            </a:avLst>
          </a:pr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3006090" y="5442585"/>
            <a:ext cx="59893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87519"/>
                </a:solidFill>
                <a:latin typeface="Segoe UI"/>
                <a:ea typeface="Microsoft YaHei"/>
                <a:cs typeface="Segoe UI"/>
              </a:rPr>
              <a:t>具体金额、审批层级、例外授权：待正式授权文件确认；本页仅表达职责分离原则。</a:t>
            </a:r>
          </a:p>
        </p:txBody>
      </p:sp>
      <p:sp>
        <p:nvSpPr>
          <p:cNvPr id="43" name="Line 43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317842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17 / QUALITY GOVERNANCE · DECISION FLOW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848908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质量异常与放行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30396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先隔离和判断，再决定处置；交期压力不能替代质量授权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1619250" y="2857500"/>
            <a:ext cx="8953500" cy="9525"/>
          </a:xfrm>
          <a:custGeom>
            <a:avLst/>
            <a:gdLst/>
            <a:ahLst/>
            <a:cxnLst/>
            <a:rect l="l" t="t" r="r" b="b"/>
            <a:pathLst>
              <a:path w="8953500" h="9525">
                <a:moveTo>
                  <a:pt x="0" y="0"/>
                </a:moveTo>
                <a:lnTo>
                  <a:pt x="1238250" y="0"/>
                </a:lnTo>
                <a:moveTo>
                  <a:pt x="2571750" y="0"/>
                </a:moveTo>
                <a:lnTo>
                  <a:pt x="3810000" y="0"/>
                </a:lnTo>
                <a:moveTo>
                  <a:pt x="5143500" y="0"/>
                </a:moveTo>
                <a:lnTo>
                  <a:pt x="6381750" y="0"/>
                </a:lnTo>
                <a:moveTo>
                  <a:pt x="7715250" y="0"/>
                </a:moveTo>
                <a:lnTo>
                  <a:pt x="8953500" y="0"/>
                </a:lnTo>
              </a:path>
            </a:pathLst>
          </a:custGeom>
          <a:noFill/>
          <a:ln w="28575">
            <a:solidFill>
              <a:srgbClr val="8091A5"/>
            </a:solidFill>
            <a:tailEnd type="triangle" w="lg" len="lg"/>
          </a:ln>
        </p:spPr>
      </p:sp>
      <p:sp>
        <p:nvSpPr>
          <p:cNvPr id="9" name="Freeform 9"/>
          <p:cNvSpPr/>
          <p:nvPr/>
        </p:nvSpPr>
        <p:spPr>
          <a:xfrm>
            <a:off x="3714750" y="3429000"/>
            <a:ext cx="5810250" cy="1476375"/>
          </a:xfrm>
          <a:custGeom>
            <a:avLst/>
            <a:gdLst/>
            <a:ahLst/>
            <a:cxnLst/>
            <a:rect l="l" t="t" r="r" b="b"/>
            <a:pathLst>
              <a:path w="5810250" h="1476375">
                <a:moveTo>
                  <a:pt x="2381250" y="0"/>
                </a:moveTo>
                <a:lnTo>
                  <a:pt x="2381250" y="1047750"/>
                </a:lnTo>
                <a:lnTo>
                  <a:pt x="0" y="1047750"/>
                </a:lnTo>
                <a:lnTo>
                  <a:pt x="0" y="1476375"/>
                </a:lnTo>
                <a:moveTo>
                  <a:pt x="5048250" y="0"/>
                </a:moveTo>
                <a:lnTo>
                  <a:pt x="5048250" y="1047750"/>
                </a:lnTo>
                <a:lnTo>
                  <a:pt x="5810250" y="1047750"/>
                </a:lnTo>
                <a:lnTo>
                  <a:pt x="5810250" y="1476375"/>
                </a:ln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grpSp>
        <p:nvGrpSpPr>
          <p:cNvPr id="13" name="Group 13"/>
          <p:cNvGrpSpPr/>
          <p:nvPr/>
        </p:nvGrpSpPr>
        <p:grpSpPr>
          <a:xfrm>
            <a:off x="762000" y="2476500"/>
            <a:ext cx="1714500" cy="781050"/>
            <a:chOff x="762000" y="2476500"/>
            <a:chExt cx="1714500" cy="7810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10" name="Freeform 10"/>
            <p:cNvSpPr/>
            <p:nvPr/>
          </p:nvSpPr>
          <p:spPr>
            <a:xfrm>
              <a:off x="762000" y="2476500"/>
              <a:ext cx="1714500" cy="781050"/>
            </a:xfrm>
            <a:custGeom>
              <a:avLst/>
              <a:gdLst/>
              <a:ahLst/>
              <a:cxnLst/>
              <a:rect l="l" t="t" r="r" b="b"/>
              <a:pathLst>
                <a:path w="1714500" h="781050">
                  <a:moveTo>
                    <a:pt x="133350" y="0"/>
                  </a:moveTo>
                  <a:lnTo>
                    <a:pt x="1581150" y="0"/>
                  </a:lnTo>
                  <a:cubicBezTo>
                    <a:pt x="1654797" y="0"/>
                    <a:pt x="1714500" y="59703"/>
                    <a:pt x="1714500" y="133350"/>
                  </a:cubicBezTo>
                  <a:lnTo>
                    <a:pt x="1714500" y="647700"/>
                  </a:lnTo>
                  <a:cubicBezTo>
                    <a:pt x="1714500" y="721347"/>
                    <a:pt x="1654797" y="781050"/>
                    <a:pt x="1581150" y="781050"/>
                  </a:cubicBezTo>
                  <a:lnTo>
                    <a:pt x="133350" y="781050"/>
                  </a:lnTo>
                  <a:cubicBezTo>
                    <a:pt x="59703" y="781050"/>
                    <a:pt x="0" y="721347"/>
                    <a:pt x="0" y="6477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EAF0FF"/>
            </a:solidFill>
            <a:ln w="19050">
              <a:solidFill>
                <a:srgbClr val="2F6BFF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11" name="TextBox 11"/>
            <p:cNvSpPr txBox="1"/>
            <p:nvPr/>
          </p:nvSpPr>
          <p:spPr>
            <a:xfrm>
              <a:off x="1187577" y="2647950"/>
              <a:ext cx="863346" cy="29337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发现异常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9591" y="2952274"/>
              <a:ext cx="1099318" cy="19069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现场 / 客诉 / 检验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857500" y="2476500"/>
            <a:ext cx="1714500" cy="781050"/>
            <a:chOff x="2857500" y="2476500"/>
            <a:chExt cx="1714500" cy="7810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14" name="Freeform 14"/>
            <p:cNvSpPr/>
            <p:nvPr/>
          </p:nvSpPr>
          <p:spPr>
            <a:xfrm>
              <a:off x="2857500" y="2476500"/>
              <a:ext cx="1714500" cy="781050"/>
            </a:xfrm>
            <a:custGeom>
              <a:avLst/>
              <a:gdLst/>
              <a:ahLst/>
              <a:cxnLst/>
              <a:rect l="l" t="t" r="r" b="b"/>
              <a:pathLst>
                <a:path w="1714500" h="781050">
                  <a:moveTo>
                    <a:pt x="133350" y="0"/>
                  </a:moveTo>
                  <a:lnTo>
                    <a:pt x="1581150" y="0"/>
                  </a:lnTo>
                  <a:cubicBezTo>
                    <a:pt x="1654797" y="0"/>
                    <a:pt x="1714500" y="59703"/>
                    <a:pt x="1714500" y="133350"/>
                  </a:cubicBezTo>
                  <a:lnTo>
                    <a:pt x="1714500" y="647700"/>
                  </a:lnTo>
                  <a:cubicBezTo>
                    <a:pt x="1714500" y="721347"/>
                    <a:pt x="1654797" y="781050"/>
                    <a:pt x="1581150" y="781050"/>
                  </a:cubicBezTo>
                  <a:lnTo>
                    <a:pt x="133350" y="781050"/>
                  </a:lnTo>
                  <a:cubicBezTo>
                    <a:pt x="59703" y="781050"/>
                    <a:pt x="0" y="721347"/>
                    <a:pt x="0" y="6477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EAF7F4"/>
            </a:solidFill>
            <a:ln w="19050">
              <a:solidFill>
                <a:srgbClr val="1C9C8C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15" name="TextBox 15"/>
            <p:cNvSpPr txBox="1"/>
            <p:nvPr/>
          </p:nvSpPr>
          <p:spPr>
            <a:xfrm>
              <a:off x="3177064" y="2647950"/>
              <a:ext cx="1075372" cy="29337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隔离与标识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250406" y="2952274"/>
              <a:ext cx="928688" cy="19069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防止误用、误发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953000" y="2381250"/>
            <a:ext cx="2286000" cy="971550"/>
            <a:chOff x="4953000" y="2381250"/>
            <a:chExt cx="2286000" cy="9715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18" name="Freeform 18"/>
            <p:cNvSpPr/>
            <p:nvPr/>
          </p:nvSpPr>
          <p:spPr>
            <a:xfrm>
              <a:off x="4953000" y="2381250"/>
              <a:ext cx="2286000" cy="971550"/>
            </a:xfrm>
            <a:custGeom>
              <a:avLst/>
              <a:gdLst/>
              <a:ahLst/>
              <a:cxnLst/>
              <a:rect l="l" t="t" r="r" b="b"/>
              <a:pathLst>
                <a:path w="2286000" h="971550">
                  <a:moveTo>
                    <a:pt x="133350" y="0"/>
                  </a:moveTo>
                  <a:lnTo>
                    <a:pt x="2152650" y="0"/>
                  </a:lnTo>
                  <a:cubicBezTo>
                    <a:pt x="2226297" y="0"/>
                    <a:pt x="2286000" y="59703"/>
                    <a:pt x="2286000" y="133350"/>
                  </a:cubicBezTo>
                  <a:lnTo>
                    <a:pt x="2286000" y="838200"/>
                  </a:lnTo>
                  <a:cubicBezTo>
                    <a:pt x="2286000" y="911847"/>
                    <a:pt x="2226297" y="971550"/>
                    <a:pt x="2152650" y="971550"/>
                  </a:cubicBezTo>
                  <a:lnTo>
                    <a:pt x="133350" y="971550"/>
                  </a:lnTo>
                  <a:cubicBezTo>
                    <a:pt x="59703" y="971550"/>
                    <a:pt x="0" y="911847"/>
                    <a:pt x="0" y="8382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2ECFF"/>
            </a:solidFill>
            <a:ln w="19050">
              <a:solidFill>
                <a:srgbClr val="7657B8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19" name="TextBox 19"/>
            <p:cNvSpPr txBox="1"/>
            <p:nvPr/>
          </p:nvSpPr>
          <p:spPr>
            <a:xfrm>
              <a:off x="5664327" y="2562225"/>
              <a:ext cx="863346" cy="29337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专业判断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369147" y="2876074"/>
              <a:ext cx="1453706" cy="19069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确认影响范围、原因方向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5905500" y="3219450"/>
              <a:ext cx="381000" cy="114300"/>
            </a:xfrm>
            <a:custGeom>
              <a:avLst/>
              <a:gdLst/>
              <a:ahLst/>
              <a:cxnLst/>
              <a:rect l="l" t="t" r="r" b="b"/>
              <a:pathLst>
                <a:path w="381000" h="114300">
                  <a:moveTo>
                    <a:pt x="0" y="0"/>
                  </a:moveTo>
                  <a:lnTo>
                    <a:pt x="190500" y="114300"/>
                  </a:lnTo>
                  <a:lnTo>
                    <a:pt x="381000" y="0"/>
                  </a:lnTo>
                </a:path>
              </a:pathLst>
            </a:custGeom>
            <a:noFill/>
            <a:ln w="9525">
              <a:solidFill>
                <a:srgbClr val="7657B8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</p:grpSp>
      <p:grpSp>
        <p:nvGrpSpPr>
          <p:cNvPr id="26" name="Group 26"/>
          <p:cNvGrpSpPr/>
          <p:nvPr/>
        </p:nvGrpSpPr>
        <p:grpSpPr>
          <a:xfrm>
            <a:off x="8096250" y="2238375"/>
            <a:ext cx="1333500" cy="1238250"/>
            <a:chOff x="8096250" y="2238375"/>
            <a:chExt cx="1333500" cy="12382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23" name="Freeform 23"/>
            <p:cNvSpPr/>
            <p:nvPr/>
          </p:nvSpPr>
          <p:spPr>
            <a:xfrm>
              <a:off x="8096250" y="2238375"/>
              <a:ext cx="1333500" cy="1238250"/>
            </a:xfrm>
            <a:custGeom>
              <a:avLst/>
              <a:gdLst/>
              <a:ahLst/>
              <a:cxnLst/>
              <a:rect l="l" t="t" r="r" b="b"/>
              <a:pathLst>
                <a:path w="1333500" h="1238250">
                  <a:moveTo>
                    <a:pt x="666750" y="0"/>
                  </a:moveTo>
                  <a:lnTo>
                    <a:pt x="1333500" y="619125"/>
                  </a:lnTo>
                  <a:lnTo>
                    <a:pt x="666750" y="1238250"/>
                  </a:lnTo>
                  <a:lnTo>
                    <a:pt x="0" y="619125"/>
                  </a:lnTo>
                  <a:close/>
                </a:path>
              </a:pathLst>
            </a:custGeom>
            <a:solidFill>
              <a:srgbClr val="FFF7DF"/>
            </a:solidFill>
            <a:ln w="19050">
              <a:solidFill>
                <a:srgbClr val="A87519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24" name="TextBox 24"/>
            <p:cNvSpPr txBox="1"/>
            <p:nvPr/>
          </p:nvSpPr>
          <p:spPr>
            <a:xfrm>
              <a:off x="8305967" y="2681764"/>
              <a:ext cx="914067" cy="2493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805B12"/>
                  </a:solidFill>
                  <a:latin typeface="Arial"/>
                  <a:ea typeface="Microsoft YaHei"/>
                  <a:cs typeface="Arial"/>
                </a:rPr>
                <a:t>可否放行？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94764" y="2931795"/>
              <a:ext cx="736473" cy="176212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A87519"/>
                  </a:solidFill>
                  <a:latin typeface="Arial"/>
                  <a:ea typeface="Microsoft YaHei"/>
                  <a:cs typeface="Arial"/>
                </a:rPr>
                <a:t>依据受控标准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0001250" y="2476500"/>
            <a:ext cx="1428750" cy="781050"/>
            <a:chOff x="10001250" y="2476500"/>
            <a:chExt cx="1428750" cy="7810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27" name="Freeform 27"/>
            <p:cNvSpPr/>
            <p:nvPr/>
          </p:nvSpPr>
          <p:spPr>
            <a:xfrm>
              <a:off x="10001250" y="2476500"/>
              <a:ext cx="1428750" cy="781050"/>
            </a:xfrm>
            <a:custGeom>
              <a:avLst/>
              <a:gdLst/>
              <a:ahLst/>
              <a:cxnLst/>
              <a:rect l="l" t="t" r="r" b="b"/>
              <a:pathLst>
                <a:path w="1428750" h="781050">
                  <a:moveTo>
                    <a:pt x="133350" y="0"/>
                  </a:moveTo>
                  <a:lnTo>
                    <a:pt x="1295400" y="0"/>
                  </a:lnTo>
                  <a:cubicBezTo>
                    <a:pt x="1369047" y="0"/>
                    <a:pt x="1428750" y="59703"/>
                    <a:pt x="1428750" y="133350"/>
                  </a:cubicBezTo>
                  <a:lnTo>
                    <a:pt x="1428750" y="647700"/>
                  </a:lnTo>
                  <a:cubicBezTo>
                    <a:pt x="1428750" y="721347"/>
                    <a:pt x="1369047" y="781050"/>
                    <a:pt x="1295400" y="781050"/>
                  </a:cubicBezTo>
                  <a:lnTo>
                    <a:pt x="133350" y="781050"/>
                  </a:lnTo>
                  <a:cubicBezTo>
                    <a:pt x="59703" y="781050"/>
                    <a:pt x="0" y="721347"/>
                    <a:pt x="0" y="6477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EAF7F4"/>
            </a:solidFill>
            <a:ln w="19050">
              <a:solidFill>
                <a:srgbClr val="1C9C8C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28" name="TextBox 28"/>
            <p:cNvSpPr txBox="1"/>
            <p:nvPr/>
          </p:nvSpPr>
          <p:spPr>
            <a:xfrm>
              <a:off x="10283952" y="2647950"/>
              <a:ext cx="863346" cy="29337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验证关闭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120027" y="2952274"/>
              <a:ext cx="1191197" cy="19069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记录结果与复发控制</a:t>
              </a:r>
            </a:p>
          </p:txBody>
        </p:sp>
      </p:grpSp>
      <p:sp>
        <p:nvSpPr>
          <p:cNvPr id="31" name="Freeform 31"/>
          <p:cNvSpPr/>
          <p:nvPr/>
        </p:nvSpPr>
        <p:spPr>
          <a:xfrm>
            <a:off x="2190750" y="4762500"/>
            <a:ext cx="3048000" cy="666750"/>
          </a:xfrm>
          <a:custGeom>
            <a:avLst/>
            <a:gdLst/>
            <a:ahLst/>
            <a:cxnLst/>
            <a:rect l="l" t="t" r="r" b="b"/>
            <a:pathLst>
              <a:path w="3048000" h="666750">
                <a:moveTo>
                  <a:pt x="133350" y="0"/>
                </a:moveTo>
                <a:lnTo>
                  <a:pt x="2914650" y="0"/>
                </a:lnTo>
                <a:cubicBezTo>
                  <a:pt x="2988297" y="0"/>
                  <a:pt x="3048000" y="59703"/>
                  <a:pt x="3048000" y="133350"/>
                </a:cubicBezTo>
                <a:lnTo>
                  <a:pt x="3048000" y="533400"/>
                </a:lnTo>
                <a:cubicBezTo>
                  <a:pt x="3048000" y="607047"/>
                  <a:pt x="2988297" y="666750"/>
                  <a:pt x="2914650" y="666750"/>
                </a:cubicBezTo>
                <a:lnTo>
                  <a:pt x="133350" y="666750"/>
                </a:lnTo>
                <a:cubicBezTo>
                  <a:pt x="59703" y="666750"/>
                  <a:pt x="0" y="607047"/>
                  <a:pt x="0" y="533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0F0"/>
          </a:solidFill>
          <a:ln w="19050">
            <a:solidFill>
              <a:srgbClr val="D95C5C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2849185" y="4902518"/>
            <a:ext cx="173113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否：继续隔离并升级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856643" y="5162074"/>
            <a:ext cx="171621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形成异常单、风险和处置责任</a:t>
            </a:r>
          </a:p>
        </p:txBody>
      </p:sp>
      <p:sp>
        <p:nvSpPr>
          <p:cNvPr id="34" name="Freeform 34"/>
          <p:cNvSpPr/>
          <p:nvPr/>
        </p:nvSpPr>
        <p:spPr>
          <a:xfrm>
            <a:off x="7810500" y="4762500"/>
            <a:ext cx="3429000" cy="666750"/>
          </a:xfrm>
          <a:custGeom>
            <a:avLst/>
            <a:gdLst/>
            <a:ahLst/>
            <a:cxnLst/>
            <a:rect l="l" t="t" r="r" b="b"/>
            <a:pathLst>
              <a:path w="3429000" h="666750">
                <a:moveTo>
                  <a:pt x="133350" y="0"/>
                </a:moveTo>
                <a:lnTo>
                  <a:pt x="3295650" y="0"/>
                </a:lnTo>
                <a:cubicBezTo>
                  <a:pt x="3369297" y="0"/>
                  <a:pt x="3429000" y="59703"/>
                  <a:pt x="3429000" y="133350"/>
                </a:cubicBezTo>
                <a:lnTo>
                  <a:pt x="3429000" y="533400"/>
                </a:lnTo>
                <a:cubicBezTo>
                  <a:pt x="3429000" y="607047"/>
                  <a:pt x="3369297" y="666750"/>
                  <a:pt x="3295650" y="666750"/>
                </a:cubicBezTo>
                <a:lnTo>
                  <a:pt x="133350" y="666750"/>
                </a:lnTo>
                <a:cubicBezTo>
                  <a:pt x="59703" y="666750"/>
                  <a:pt x="0" y="607047"/>
                  <a:pt x="0" y="533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0F0"/>
          </a:solidFill>
          <a:ln w="19050">
            <a:solidFill>
              <a:srgbClr val="D95C5C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8468611" y="4902518"/>
            <a:ext cx="211277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授权不清：不得自行放行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338756" y="5162074"/>
            <a:ext cx="237248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提交有权负责人确认（权限待公司确认）</a:t>
            </a:r>
          </a:p>
        </p:txBody>
      </p:sp>
      <p:sp>
        <p:nvSpPr>
          <p:cNvPr id="37" name="Freeform 37"/>
          <p:cNvSpPr/>
          <p:nvPr/>
        </p:nvSpPr>
        <p:spPr>
          <a:xfrm>
            <a:off x="952500" y="5905500"/>
            <a:ext cx="10287000" cy="419100"/>
          </a:xfrm>
          <a:custGeom>
            <a:avLst/>
            <a:gdLst/>
            <a:ahLst/>
            <a:cxnLst/>
            <a:rect l="l" t="t" r="r" b="b"/>
            <a:pathLst>
              <a:path w="10287000" h="419100">
                <a:moveTo>
                  <a:pt x="209550" y="0"/>
                </a:moveTo>
                <a:lnTo>
                  <a:pt x="10077450" y="0"/>
                </a:lnTo>
                <a:cubicBezTo>
                  <a:pt x="10193181" y="0"/>
                  <a:pt x="10287000" y="93819"/>
                  <a:pt x="10287000" y="209550"/>
                </a:cubicBezTo>
                <a:lnTo>
                  <a:pt x="10287000" y="209550"/>
                </a:lnTo>
                <a:cubicBezTo>
                  <a:pt x="10287000" y="325281"/>
                  <a:pt x="10193181" y="419100"/>
                  <a:pt x="10077450" y="419100"/>
                </a:cubicBezTo>
                <a:lnTo>
                  <a:pt x="209550" y="419100"/>
                </a:lnTo>
                <a:cubicBezTo>
                  <a:pt x="93819" y="419100"/>
                  <a:pt x="0" y="325281"/>
                  <a:pt x="0" y="209550"/>
                </a:cubicBezTo>
                <a:lnTo>
                  <a:pt x="0" y="209550"/>
                </a:lnTo>
                <a:cubicBezTo>
                  <a:pt x="0" y="93819"/>
                  <a:pt x="93819" y="0"/>
                  <a:pt x="2095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3088785" y="6050756"/>
            <a:ext cx="601443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证据：异常记录 · 隔离标识 · 判断依据 · 处置批准 · 验证结果 · 客户沟通（如适用）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66738" y="6494145"/>
            <a:ext cx="456506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实线＝正常控制路径 虚线红线＝拒绝、隔离或升级 放行最终权限以正式授权文件为准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18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客诉与纠正措施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042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客户问题统一入口，处理、验证和回复形成闭环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2095500" y="2047875"/>
            <a:ext cx="8001000" cy="2381250"/>
          </a:xfrm>
          <a:custGeom>
            <a:avLst/>
            <a:gdLst/>
            <a:ahLst/>
            <a:cxnLst/>
            <a:rect l="l" t="t" r="r" b="b"/>
            <a:pathLst>
              <a:path w="8001000" h="2381250">
                <a:moveTo>
                  <a:pt x="0" y="1190625"/>
                </a:moveTo>
                <a:cubicBezTo>
                  <a:pt x="0" y="285750"/>
                  <a:pt x="2000250" y="0"/>
                  <a:pt x="4000500" y="0"/>
                </a:cubicBezTo>
                <a:cubicBezTo>
                  <a:pt x="6000750" y="0"/>
                  <a:pt x="8001000" y="285750"/>
                  <a:pt x="8001000" y="1190625"/>
                </a:cubicBezTo>
                <a:cubicBezTo>
                  <a:pt x="8001000" y="2095500"/>
                  <a:pt x="6000750" y="2381250"/>
                  <a:pt x="4000500" y="2381250"/>
                </a:cubicBezTo>
                <a:cubicBezTo>
                  <a:pt x="2000250" y="2381250"/>
                  <a:pt x="0" y="2095500"/>
                  <a:pt x="0" y="1190625"/>
                </a:cubicBezTo>
              </a:path>
            </a:pathLst>
          </a:custGeom>
          <a:noFill/>
          <a:ln w="28575">
            <a:solidFill>
              <a:srgbClr val="D7E0EA"/>
            </a:solidFill>
          </a:ln>
        </p:spPr>
      </p:sp>
      <p:grpSp>
        <p:nvGrpSpPr>
          <p:cNvPr id="27" name="Group 27"/>
          <p:cNvGrpSpPr/>
          <p:nvPr/>
        </p:nvGrpSpPr>
        <p:grpSpPr>
          <a:xfrm>
            <a:off x="952500" y="1762125"/>
            <a:ext cx="9715500" cy="3152775"/>
            <a:chOff x="952500" y="1762125"/>
            <a:chExt cx="9715500" cy="3152775"/>
          </a:xfrm>
        </p:grpSpPr>
        <p:sp>
          <p:nvSpPr>
            <p:cNvPr id="9" name="Freeform 9"/>
            <p:cNvSpPr/>
            <p:nvPr/>
          </p:nvSpPr>
          <p:spPr>
            <a:xfrm>
              <a:off x="952500" y="2781300"/>
              <a:ext cx="1809750" cy="914400"/>
            </a:xfrm>
            <a:custGeom>
              <a:avLst/>
              <a:gdLst/>
              <a:ahLst/>
              <a:cxnLst/>
              <a:rect l="l" t="t" r="r" b="b"/>
              <a:pathLst>
                <a:path w="1809750" h="914400">
                  <a:moveTo>
                    <a:pt x="152400" y="0"/>
                  </a:moveTo>
                  <a:lnTo>
                    <a:pt x="1657350" y="0"/>
                  </a:lnTo>
                  <a:cubicBezTo>
                    <a:pt x="1741518" y="0"/>
                    <a:pt x="1809750" y="68232"/>
                    <a:pt x="1809750" y="152400"/>
                  </a:cubicBezTo>
                  <a:lnTo>
                    <a:pt x="1809750" y="762000"/>
                  </a:lnTo>
                  <a:cubicBezTo>
                    <a:pt x="1809750" y="846168"/>
                    <a:pt x="1741518" y="914400"/>
                    <a:pt x="1657350" y="914400"/>
                  </a:cubicBezTo>
                  <a:lnTo>
                    <a:pt x="152400" y="914400"/>
                  </a:lnTo>
                  <a:cubicBezTo>
                    <a:pt x="68232" y="914400"/>
                    <a:pt x="0" y="846168"/>
                    <a:pt x="0" y="7620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2F6BF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35293" y="2997518"/>
              <a:ext cx="10441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01 接收分级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57312" y="329660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入口｜影响判定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3381375" y="1762125"/>
              <a:ext cx="1809750" cy="914400"/>
            </a:xfrm>
            <a:custGeom>
              <a:avLst/>
              <a:gdLst/>
              <a:ahLst/>
              <a:cxnLst/>
              <a:rect l="l" t="t" r="r" b="b"/>
              <a:pathLst>
                <a:path w="1809750" h="914400">
                  <a:moveTo>
                    <a:pt x="152400" y="0"/>
                  </a:moveTo>
                  <a:lnTo>
                    <a:pt x="1657350" y="0"/>
                  </a:lnTo>
                  <a:cubicBezTo>
                    <a:pt x="1741518" y="0"/>
                    <a:pt x="1809750" y="68232"/>
                    <a:pt x="1809750" y="152400"/>
                  </a:cubicBezTo>
                  <a:lnTo>
                    <a:pt x="1809750" y="762000"/>
                  </a:lnTo>
                  <a:cubicBezTo>
                    <a:pt x="1809750" y="846168"/>
                    <a:pt x="1741518" y="914400"/>
                    <a:pt x="1657350" y="914400"/>
                  </a:cubicBezTo>
                  <a:lnTo>
                    <a:pt x="152400" y="914400"/>
                  </a:lnTo>
                  <a:cubicBezTo>
                    <a:pt x="68232" y="914400"/>
                    <a:pt x="0" y="846168"/>
                    <a:pt x="0" y="7620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D95C5C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764168" y="1978342"/>
              <a:ext cx="10441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B84747"/>
                  </a:solidFill>
                  <a:latin typeface="Arial"/>
                  <a:ea typeface="Microsoft YaHei"/>
                  <a:cs typeface="Arial"/>
                </a:rPr>
                <a:t>02 临时措施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786188" y="227742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隔离｜遏制风险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6572250" y="1762125"/>
              <a:ext cx="1809750" cy="914400"/>
            </a:xfrm>
            <a:custGeom>
              <a:avLst/>
              <a:gdLst/>
              <a:ahLst/>
              <a:cxnLst/>
              <a:rect l="l" t="t" r="r" b="b"/>
              <a:pathLst>
                <a:path w="1809750" h="914400">
                  <a:moveTo>
                    <a:pt x="152400" y="0"/>
                  </a:moveTo>
                  <a:lnTo>
                    <a:pt x="1657350" y="0"/>
                  </a:lnTo>
                  <a:cubicBezTo>
                    <a:pt x="1741518" y="0"/>
                    <a:pt x="1809750" y="68232"/>
                    <a:pt x="1809750" y="152400"/>
                  </a:cubicBezTo>
                  <a:lnTo>
                    <a:pt x="1809750" y="762000"/>
                  </a:lnTo>
                  <a:cubicBezTo>
                    <a:pt x="1809750" y="846168"/>
                    <a:pt x="1741518" y="914400"/>
                    <a:pt x="1657350" y="914400"/>
                  </a:cubicBezTo>
                  <a:lnTo>
                    <a:pt x="152400" y="914400"/>
                  </a:lnTo>
                  <a:cubicBezTo>
                    <a:pt x="68232" y="914400"/>
                    <a:pt x="0" y="846168"/>
                    <a:pt x="0" y="7620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7657B8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955043" y="1978342"/>
              <a:ext cx="10441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03 原因分析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906387" y="227742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事实｜根因｜证据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8858250" y="2781300"/>
              <a:ext cx="1809750" cy="914400"/>
            </a:xfrm>
            <a:custGeom>
              <a:avLst/>
              <a:gdLst/>
              <a:ahLst/>
              <a:cxnLst/>
              <a:rect l="l" t="t" r="r" b="b"/>
              <a:pathLst>
                <a:path w="1809750" h="914400">
                  <a:moveTo>
                    <a:pt x="152400" y="0"/>
                  </a:moveTo>
                  <a:lnTo>
                    <a:pt x="1657350" y="0"/>
                  </a:lnTo>
                  <a:cubicBezTo>
                    <a:pt x="1741518" y="0"/>
                    <a:pt x="1809750" y="68232"/>
                    <a:pt x="1809750" y="152400"/>
                  </a:cubicBezTo>
                  <a:lnTo>
                    <a:pt x="1809750" y="762000"/>
                  </a:lnTo>
                  <a:cubicBezTo>
                    <a:pt x="1809750" y="846168"/>
                    <a:pt x="1741518" y="914400"/>
                    <a:pt x="1657350" y="914400"/>
                  </a:cubicBezTo>
                  <a:lnTo>
                    <a:pt x="152400" y="914400"/>
                  </a:lnTo>
                  <a:cubicBezTo>
                    <a:pt x="68232" y="914400"/>
                    <a:pt x="0" y="846168"/>
                    <a:pt x="0" y="7620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C56A25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241043" y="2997518"/>
              <a:ext cx="10441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04 纠正措施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192387" y="32966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责任｜期限｜记录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6572250" y="4000500"/>
              <a:ext cx="1809750" cy="914400"/>
            </a:xfrm>
            <a:custGeom>
              <a:avLst/>
              <a:gdLst/>
              <a:ahLst/>
              <a:cxnLst/>
              <a:rect l="l" t="t" r="r" b="b"/>
              <a:pathLst>
                <a:path w="1809750" h="914400">
                  <a:moveTo>
                    <a:pt x="152400" y="0"/>
                  </a:moveTo>
                  <a:lnTo>
                    <a:pt x="1657350" y="0"/>
                  </a:lnTo>
                  <a:cubicBezTo>
                    <a:pt x="1741518" y="0"/>
                    <a:pt x="1809750" y="68232"/>
                    <a:pt x="1809750" y="152400"/>
                  </a:cubicBezTo>
                  <a:lnTo>
                    <a:pt x="1809750" y="762000"/>
                  </a:lnTo>
                  <a:cubicBezTo>
                    <a:pt x="1809750" y="846168"/>
                    <a:pt x="1741518" y="914400"/>
                    <a:pt x="1657350" y="914400"/>
                  </a:cubicBezTo>
                  <a:lnTo>
                    <a:pt x="152400" y="914400"/>
                  </a:lnTo>
                  <a:cubicBezTo>
                    <a:pt x="68232" y="914400"/>
                    <a:pt x="0" y="846168"/>
                    <a:pt x="0" y="7620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1C9C8C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955043" y="4216718"/>
              <a:ext cx="10441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05 效果验证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906387" y="45158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有效性｜复发控制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3381375" y="4000500"/>
              <a:ext cx="1809750" cy="914400"/>
            </a:xfrm>
            <a:custGeom>
              <a:avLst/>
              <a:gdLst/>
              <a:ahLst/>
              <a:cxnLst/>
              <a:rect l="l" t="t" r="r" b="b"/>
              <a:pathLst>
                <a:path w="1809750" h="914400">
                  <a:moveTo>
                    <a:pt x="152400" y="0"/>
                  </a:moveTo>
                  <a:lnTo>
                    <a:pt x="1657350" y="0"/>
                  </a:lnTo>
                  <a:cubicBezTo>
                    <a:pt x="1741518" y="0"/>
                    <a:pt x="1809750" y="68232"/>
                    <a:pt x="1809750" y="152400"/>
                  </a:cubicBezTo>
                  <a:lnTo>
                    <a:pt x="1809750" y="762000"/>
                  </a:lnTo>
                  <a:cubicBezTo>
                    <a:pt x="1809750" y="846168"/>
                    <a:pt x="1741518" y="914400"/>
                    <a:pt x="1657350" y="914400"/>
                  </a:cubicBezTo>
                  <a:lnTo>
                    <a:pt x="152400" y="914400"/>
                  </a:lnTo>
                  <a:cubicBezTo>
                    <a:pt x="68232" y="914400"/>
                    <a:pt x="0" y="846168"/>
                    <a:pt x="0" y="7620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1C9C8C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764168" y="4216718"/>
              <a:ext cx="10441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06 客户回复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786188" y="451580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结论｜关闭证据</a:t>
              </a:r>
            </a:p>
          </p:txBody>
        </p:sp>
      </p:grpSp>
      <p:sp>
        <p:nvSpPr>
          <p:cNvPr id="28" name="Freeform 28"/>
          <p:cNvSpPr/>
          <p:nvPr/>
        </p:nvSpPr>
        <p:spPr>
          <a:xfrm>
            <a:off x="5191125" y="4457700"/>
            <a:ext cx="1381125" cy="9525"/>
          </a:xfrm>
          <a:custGeom>
            <a:avLst/>
            <a:gdLst/>
            <a:ahLst/>
            <a:cxnLst/>
            <a:rect l="l" t="t" r="r" b="b"/>
            <a:pathLst>
              <a:path w="1381125" h="9525">
                <a:moveTo>
                  <a:pt x="0" y="0"/>
                </a:moveTo>
                <a:lnTo>
                  <a:pt x="1381125" y="0"/>
                </a:lnTo>
              </a:path>
            </a:pathLst>
          </a:custGeom>
          <a:solidFill>
            <a:srgbClr val="000000"/>
          </a:solidFill>
          <a:ln w="38100">
            <a:solidFill>
              <a:srgbClr val="1C9C8C"/>
            </a:solidFill>
            <a:tailEnd type="triangle" w="lg" len="lg"/>
          </a:ln>
        </p:spPr>
      </p:sp>
      <p:sp>
        <p:nvSpPr>
          <p:cNvPr id="29" name="Freeform 29"/>
          <p:cNvSpPr/>
          <p:nvPr/>
        </p:nvSpPr>
        <p:spPr>
          <a:xfrm>
            <a:off x="2095500" y="3695700"/>
            <a:ext cx="1285875" cy="762000"/>
          </a:xfrm>
          <a:custGeom>
            <a:avLst/>
            <a:gdLst/>
            <a:ahLst/>
            <a:cxnLst/>
            <a:rect l="l" t="t" r="r" b="b"/>
            <a:pathLst>
              <a:path w="1285875" h="762000">
                <a:moveTo>
                  <a:pt x="1285875" y="762000"/>
                </a:moveTo>
                <a:cubicBezTo>
                  <a:pt x="381000" y="762000"/>
                  <a:pt x="0" y="304800"/>
                  <a:pt x="0" y="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300000" sp="233333"/>
            </a:custDash>
            <a:tailEnd type="triangle" w="lg" len="lg"/>
          </a:ln>
        </p:spPr>
      </p:sp>
      <p:sp>
        <p:nvSpPr>
          <p:cNvPr id="30" name="TextBox 30"/>
          <p:cNvSpPr txBox="1"/>
          <p:nvPr/>
        </p:nvSpPr>
        <p:spPr>
          <a:xfrm>
            <a:off x="850773" y="5434489"/>
            <a:ext cx="439836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未验证或重复发生：回到原因分析/纠正措施，不直接关闭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19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427101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模具、设备与关键资源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6184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治理层规定状态、责任、批准和履历，不规定维修动作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grpSp>
        <p:nvGrpSpPr>
          <p:cNvPr id="33" name="Group 33"/>
          <p:cNvGrpSpPr/>
          <p:nvPr/>
        </p:nvGrpSpPr>
        <p:grpSpPr>
          <a:xfrm>
            <a:off x="571500" y="1952625"/>
            <a:ext cx="11049000" cy="3524250"/>
            <a:chOff x="571500" y="1952625"/>
            <a:chExt cx="11049000" cy="3524250"/>
          </a:xfrm>
        </p:grpSpPr>
        <p:sp>
          <p:nvSpPr>
            <p:cNvPr id="8" name="Freeform 8"/>
            <p:cNvSpPr/>
            <p:nvPr/>
          </p:nvSpPr>
          <p:spPr>
            <a:xfrm>
              <a:off x="571500" y="1952625"/>
              <a:ext cx="6572250" cy="3524250"/>
            </a:xfrm>
            <a:custGeom>
              <a:avLst/>
              <a:gdLst/>
              <a:ahLst/>
              <a:cxnLst/>
              <a:rect l="l" t="t" r="r" b="b"/>
              <a:pathLst>
                <a:path w="6572250" h="3524250">
                  <a:moveTo>
                    <a:pt x="209550" y="0"/>
                  </a:moveTo>
                  <a:lnTo>
                    <a:pt x="6362700" y="0"/>
                  </a:lnTo>
                  <a:cubicBezTo>
                    <a:pt x="6478431" y="0"/>
                    <a:pt x="6572250" y="93819"/>
                    <a:pt x="6572250" y="209550"/>
                  </a:cubicBezTo>
                  <a:lnTo>
                    <a:pt x="6572250" y="3314700"/>
                  </a:lnTo>
                  <a:cubicBezTo>
                    <a:pt x="6572250" y="3430431"/>
                    <a:pt x="6478431" y="3524250"/>
                    <a:pt x="6362700" y="3524250"/>
                  </a:cubicBezTo>
                  <a:lnTo>
                    <a:pt x="209550" y="3524250"/>
                  </a:lnTo>
                  <a:cubicBezTo>
                    <a:pt x="93819" y="3524250"/>
                    <a:pt x="0" y="3430431"/>
                    <a:pt x="0" y="3314700"/>
                  </a:cubicBez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7E0EA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9" name="TextBox 9"/>
            <p:cNvSpPr txBox="1"/>
            <p:nvPr/>
          </p:nvSpPr>
          <p:spPr>
            <a:xfrm>
              <a:off x="898398" y="2195989"/>
              <a:ext cx="14547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关键资源状态闭环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1666875" y="2571750"/>
              <a:ext cx="4810125" cy="1952625"/>
            </a:xfrm>
            <a:custGeom>
              <a:avLst/>
              <a:gdLst/>
              <a:ahLst/>
              <a:cxnLst/>
              <a:rect l="l" t="t" r="r" b="b"/>
              <a:pathLst>
                <a:path w="4810125" h="1952625">
                  <a:moveTo>
                    <a:pt x="0" y="762000"/>
                  </a:moveTo>
                  <a:cubicBezTo>
                    <a:pt x="0" y="142875"/>
                    <a:pt x="666750" y="0"/>
                    <a:pt x="1285875" y="0"/>
                  </a:cubicBezTo>
                  <a:lnTo>
                    <a:pt x="3476625" y="0"/>
                  </a:lnTo>
                  <a:cubicBezTo>
                    <a:pt x="4286250" y="0"/>
                    <a:pt x="4810125" y="428625"/>
                    <a:pt x="4810125" y="952500"/>
                  </a:cubicBezTo>
                  <a:cubicBezTo>
                    <a:pt x="4810125" y="1524000"/>
                    <a:pt x="4286250" y="1952625"/>
                    <a:pt x="3476625" y="1952625"/>
                  </a:cubicBezTo>
                  <a:lnTo>
                    <a:pt x="1285875" y="1952625"/>
                  </a:lnTo>
                  <a:cubicBezTo>
                    <a:pt x="666750" y="1952625"/>
                    <a:pt x="0" y="1571625"/>
                    <a:pt x="0" y="1143000"/>
                  </a:cubicBezTo>
                </a:path>
              </a:pathLst>
            </a:custGeom>
            <a:noFill/>
            <a:ln w="38100">
              <a:solidFill>
                <a:srgbClr val="8091A5"/>
              </a:solidFill>
              <a:tailEnd type="triangle" w="lg" len="lg"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000125" y="3143250"/>
              <a:ext cx="1619250" cy="781050"/>
              <a:chOff x="1000125" y="3143250"/>
              <a:chExt cx="1619250" cy="7810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1" name="Freeform 11"/>
              <p:cNvSpPr/>
              <p:nvPr/>
            </p:nvSpPr>
            <p:spPr>
              <a:xfrm>
                <a:off x="1000125" y="3143250"/>
                <a:ext cx="1619250" cy="781050"/>
              </a:xfrm>
              <a:custGeom>
                <a:avLst/>
                <a:gdLst/>
                <a:ahLst/>
                <a:cxnLst/>
                <a:rect l="l" t="t" r="r" b="b"/>
                <a:pathLst>
                  <a:path w="1619250" h="781050">
                    <a:moveTo>
                      <a:pt x="152400" y="0"/>
                    </a:moveTo>
                    <a:lnTo>
                      <a:pt x="1466850" y="0"/>
                    </a:lnTo>
                    <a:cubicBezTo>
                      <a:pt x="1551018" y="0"/>
                      <a:pt x="1619250" y="68232"/>
                      <a:pt x="1619250" y="152400"/>
                    </a:cubicBezTo>
                    <a:lnTo>
                      <a:pt x="1619250" y="628650"/>
                    </a:lnTo>
                    <a:cubicBezTo>
                      <a:pt x="1619250" y="712818"/>
                      <a:pt x="1551018" y="781050"/>
                      <a:pt x="1466850" y="781050"/>
                    </a:cubicBezTo>
                    <a:lnTo>
                      <a:pt x="152400" y="781050"/>
                    </a:lnTo>
                    <a:cubicBezTo>
                      <a:pt x="68232" y="781050"/>
                      <a:pt x="0" y="712818"/>
                      <a:pt x="0" y="628650"/>
                    </a:cubicBezTo>
                    <a:lnTo>
                      <a:pt x="0" y="152400"/>
                    </a:lnTo>
                    <a:cubicBezTo>
                      <a:pt x="0" y="68232"/>
                      <a:pt x="68232" y="0"/>
                      <a:pt x="152400" y="0"/>
                    </a:cubicBezTo>
                    <a:close/>
                  </a:path>
                </a:pathLst>
              </a:custGeom>
              <a:solidFill>
                <a:srgbClr val="EAF0FF"/>
              </a:solidFill>
              <a:ln w="19050">
                <a:solidFill>
                  <a:srgbClr val="2F6BFF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378077" y="3314700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登记建档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432427" y="3598545"/>
                <a:ext cx="754647" cy="17621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编号 / 责任人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2714625" y="2381250"/>
              <a:ext cx="1619250" cy="781050"/>
              <a:chOff x="2714625" y="2381250"/>
              <a:chExt cx="1619250" cy="7810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5" name="Freeform 15"/>
              <p:cNvSpPr/>
              <p:nvPr/>
            </p:nvSpPr>
            <p:spPr>
              <a:xfrm>
                <a:off x="2714625" y="2381250"/>
                <a:ext cx="1619250" cy="781050"/>
              </a:xfrm>
              <a:custGeom>
                <a:avLst/>
                <a:gdLst/>
                <a:ahLst/>
                <a:cxnLst/>
                <a:rect l="l" t="t" r="r" b="b"/>
                <a:pathLst>
                  <a:path w="1619250" h="781050">
                    <a:moveTo>
                      <a:pt x="152400" y="0"/>
                    </a:moveTo>
                    <a:lnTo>
                      <a:pt x="1466850" y="0"/>
                    </a:lnTo>
                    <a:cubicBezTo>
                      <a:pt x="1551018" y="0"/>
                      <a:pt x="1619250" y="68232"/>
                      <a:pt x="1619250" y="152400"/>
                    </a:cubicBezTo>
                    <a:lnTo>
                      <a:pt x="1619250" y="628650"/>
                    </a:lnTo>
                    <a:cubicBezTo>
                      <a:pt x="1619250" y="712818"/>
                      <a:pt x="1551018" y="781050"/>
                      <a:pt x="1466850" y="781050"/>
                    </a:cubicBezTo>
                    <a:lnTo>
                      <a:pt x="152400" y="781050"/>
                    </a:lnTo>
                    <a:cubicBezTo>
                      <a:pt x="68232" y="781050"/>
                      <a:pt x="0" y="712818"/>
                      <a:pt x="0" y="628650"/>
                    </a:cubicBezTo>
                    <a:lnTo>
                      <a:pt x="0" y="152400"/>
                    </a:lnTo>
                    <a:cubicBezTo>
                      <a:pt x="0" y="68232"/>
                      <a:pt x="68232" y="0"/>
                      <a:pt x="152400" y="0"/>
                    </a:cubicBezTo>
                    <a:close/>
                  </a:path>
                </a:pathLst>
              </a:cu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3092577" y="2552700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状态评估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3016682" y="2836545"/>
                <a:ext cx="1015136" cy="17621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可用 / 待修 / 封存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4572000" y="2381250"/>
              <a:ext cx="1619250" cy="781050"/>
              <a:chOff x="4572000" y="2381250"/>
              <a:chExt cx="1619250" cy="7810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9" name="Freeform 19"/>
              <p:cNvSpPr/>
              <p:nvPr/>
            </p:nvSpPr>
            <p:spPr>
              <a:xfrm>
                <a:off x="4572000" y="2381250"/>
                <a:ext cx="1619250" cy="781050"/>
              </a:xfrm>
              <a:custGeom>
                <a:avLst/>
                <a:gdLst/>
                <a:ahLst/>
                <a:cxnLst/>
                <a:rect l="l" t="t" r="r" b="b"/>
                <a:pathLst>
                  <a:path w="1619250" h="781050">
                    <a:moveTo>
                      <a:pt x="152400" y="0"/>
                    </a:moveTo>
                    <a:lnTo>
                      <a:pt x="1466850" y="0"/>
                    </a:lnTo>
                    <a:cubicBezTo>
                      <a:pt x="1551018" y="0"/>
                      <a:pt x="1619250" y="68232"/>
                      <a:pt x="1619250" y="152400"/>
                    </a:cubicBezTo>
                    <a:lnTo>
                      <a:pt x="1619250" y="628650"/>
                    </a:lnTo>
                    <a:cubicBezTo>
                      <a:pt x="1619250" y="712818"/>
                      <a:pt x="1551018" y="781050"/>
                      <a:pt x="1466850" y="781050"/>
                    </a:cubicBezTo>
                    <a:lnTo>
                      <a:pt x="152400" y="781050"/>
                    </a:lnTo>
                    <a:cubicBezTo>
                      <a:pt x="68232" y="781050"/>
                      <a:pt x="0" y="712818"/>
                      <a:pt x="0" y="628650"/>
                    </a:cubicBezTo>
                    <a:lnTo>
                      <a:pt x="0" y="152400"/>
                    </a:lnTo>
                    <a:cubicBezTo>
                      <a:pt x="0" y="68232"/>
                      <a:pt x="68232" y="0"/>
                      <a:pt x="152400" y="0"/>
                    </a:cubicBezTo>
                    <a:close/>
                  </a:path>
                </a:pathLst>
              </a:custGeom>
              <a:solidFill>
                <a:srgbClr val="FFF2E7"/>
              </a:solidFill>
              <a:ln w="19050">
                <a:solidFill>
                  <a:srgbClr val="C56A25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4949952" y="2552700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批准使用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874057" y="2836545"/>
                <a:ext cx="1015136" cy="17621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责任 / 条件 / 期限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3810000" y="4095750"/>
              <a:ext cx="1809750" cy="781050"/>
              <a:chOff x="3810000" y="4095750"/>
              <a:chExt cx="1809750" cy="7810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3" name="Freeform 23"/>
              <p:cNvSpPr/>
              <p:nvPr/>
            </p:nvSpPr>
            <p:spPr>
              <a:xfrm>
                <a:off x="3810000" y="4095750"/>
                <a:ext cx="1809750" cy="781050"/>
              </a:xfrm>
              <a:custGeom>
                <a:avLst/>
                <a:gdLst/>
                <a:ahLst/>
                <a:cxnLst/>
                <a:rect l="l" t="t" r="r" b="b"/>
                <a:pathLst>
                  <a:path w="1809750" h="781050">
                    <a:moveTo>
                      <a:pt x="152400" y="0"/>
                    </a:moveTo>
                    <a:lnTo>
                      <a:pt x="1657350" y="0"/>
                    </a:lnTo>
                    <a:cubicBezTo>
                      <a:pt x="1741518" y="0"/>
                      <a:pt x="1809750" y="68232"/>
                      <a:pt x="1809750" y="152400"/>
                    </a:cubicBezTo>
                    <a:lnTo>
                      <a:pt x="1809750" y="628650"/>
                    </a:lnTo>
                    <a:cubicBezTo>
                      <a:pt x="1809750" y="712818"/>
                      <a:pt x="1741518" y="781050"/>
                      <a:pt x="1657350" y="781050"/>
                    </a:cubicBezTo>
                    <a:lnTo>
                      <a:pt x="152400" y="781050"/>
                    </a:lnTo>
                    <a:cubicBezTo>
                      <a:pt x="68232" y="781050"/>
                      <a:pt x="0" y="712818"/>
                      <a:pt x="0" y="628650"/>
                    </a:cubicBezTo>
                    <a:lnTo>
                      <a:pt x="0" y="152400"/>
                    </a:lnTo>
                    <a:cubicBezTo>
                      <a:pt x="0" y="68232"/>
                      <a:pt x="68232" y="0"/>
                      <a:pt x="152400" y="0"/>
                    </a:cubicBezTo>
                    <a:close/>
                  </a:path>
                </a:pathLst>
              </a:custGeom>
              <a:solidFill>
                <a:srgbClr val="FFF7DF"/>
              </a:solidFill>
              <a:ln w="19050">
                <a:solidFill>
                  <a:srgbClr val="D79A2B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4283202" y="4267200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履历更新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086149" y="4551045"/>
                <a:ext cx="1257452" cy="17621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维修 / 点检 / 变更证据</a:t>
                </a:r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899160" y="5069681"/>
              <a:ext cx="3494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治理字段：目的｜责任｜输入｜输出｜记录｜控制点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7572375" y="1952625"/>
              <a:ext cx="4048125" cy="3524250"/>
            </a:xfrm>
            <a:custGeom>
              <a:avLst/>
              <a:gdLst/>
              <a:ahLst/>
              <a:cxnLst/>
              <a:rect l="l" t="t" r="r" b="b"/>
              <a:pathLst>
                <a:path w="4048125" h="3524250">
                  <a:moveTo>
                    <a:pt x="209550" y="0"/>
                  </a:moveTo>
                  <a:lnTo>
                    <a:pt x="3838575" y="0"/>
                  </a:lnTo>
                  <a:cubicBezTo>
                    <a:pt x="3954306" y="0"/>
                    <a:pt x="4048125" y="93819"/>
                    <a:pt x="4048125" y="209550"/>
                  </a:cubicBezTo>
                  <a:lnTo>
                    <a:pt x="4048125" y="3314700"/>
                  </a:lnTo>
                  <a:cubicBezTo>
                    <a:pt x="4048125" y="3430431"/>
                    <a:pt x="3954306" y="3524250"/>
                    <a:pt x="3838575" y="3524250"/>
                  </a:cubicBezTo>
                  <a:lnTo>
                    <a:pt x="209550" y="3524250"/>
                  </a:lnTo>
                  <a:cubicBezTo>
                    <a:pt x="93819" y="3524250"/>
                    <a:pt x="0" y="3430431"/>
                    <a:pt x="0" y="3314700"/>
                  </a:cubicBez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  <a:solidFill>
              <a:srgbClr val="1F2D3D"/>
            </a:solidFill>
            <a:ln>
              <a:noFill/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15250" y="2095500"/>
              <a:ext cx="3762375" cy="2571750"/>
            </a:xfrm>
            <a:prstGeom prst="rect">
              <a:avLst/>
            </a:prstGeom>
          </p:spPr>
        </p:pic>
        <p:sp>
          <p:nvSpPr>
            <p:cNvPr id="30" name="Rectangle 30"/>
            <p:cNvSpPr/>
            <p:nvPr/>
          </p:nvSpPr>
          <p:spPr>
            <a:xfrm>
              <a:off x="7715250" y="2095500"/>
              <a:ext cx="3762375" cy="2571750"/>
            </a:xfrm>
            <a:prstGeom prst="rect">
              <a:avLst/>
            </a:prstGeom>
            <a:solidFill>
              <a:srgbClr val="1F2D3D">
                <a:alpha val="12000"/>
              </a:srgbClr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944993" y="4822508"/>
              <a:ext cx="21391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模具不是“设备清单”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947660" y="5136356"/>
              <a:ext cx="33432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AA9BA"/>
                  </a:solidFill>
                  <a:latin typeface="Arial"/>
                  <a:ea typeface="Microsoft YaHei"/>
                  <a:cs typeface="Arial"/>
                </a:rPr>
                <a:t>而是有状态、有责任、有批准、有履历的关键资源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78637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20 / GOVERNANCE · HANDOFF CONTROL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848908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跨部门交接标准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500769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交接完成不是“发出去了”，而是输入完整、责任明确、输出可验证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762000" y="2171700"/>
            <a:ext cx="2476500" cy="1809750"/>
          </a:xfrm>
          <a:custGeom>
            <a:avLst/>
            <a:gdLst/>
            <a:ahLst/>
            <a:cxnLst/>
            <a:rect l="l" t="t" r="r" b="b"/>
            <a:pathLst>
              <a:path w="2476500" h="1809750">
                <a:moveTo>
                  <a:pt x="171450" y="0"/>
                </a:moveTo>
                <a:lnTo>
                  <a:pt x="2305050" y="0"/>
                </a:lnTo>
                <a:cubicBezTo>
                  <a:pt x="2399739" y="0"/>
                  <a:pt x="2476500" y="76761"/>
                  <a:pt x="2476500" y="171450"/>
                </a:cubicBezTo>
                <a:lnTo>
                  <a:pt x="2476500" y="1638300"/>
                </a:lnTo>
                <a:cubicBezTo>
                  <a:pt x="2476500" y="1732989"/>
                  <a:pt x="2399739" y="1809750"/>
                  <a:pt x="2305050" y="1809750"/>
                </a:cubicBezTo>
                <a:lnTo>
                  <a:pt x="171450" y="1809750"/>
                </a:lnTo>
                <a:cubicBezTo>
                  <a:pt x="76761" y="1809750"/>
                  <a:pt x="0" y="1732989"/>
                  <a:pt x="0" y="16383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EAF0FF"/>
          </a:solidFill>
          <a:ln w="19050">
            <a:solidFill>
              <a:srgbClr val="2F6BF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311197" y="2368868"/>
            <a:ext cx="137810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交出方 · 输入包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84529" y="277558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受控版本 / 图纸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4529" y="3080385"/>
            <a:ext cx="14418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数量、状态、期限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84529" y="3385185"/>
            <a:ext cx="14418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责任人与异常说明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84529" y="3689985"/>
            <a:ext cx="11187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输出验收标准</a:t>
            </a:r>
          </a:p>
        </p:txBody>
      </p:sp>
      <p:sp>
        <p:nvSpPr>
          <p:cNvPr id="14" name="Freeform 14"/>
          <p:cNvSpPr/>
          <p:nvPr/>
        </p:nvSpPr>
        <p:spPr>
          <a:xfrm>
            <a:off x="3238500" y="3076575"/>
            <a:ext cx="857250" cy="9525"/>
          </a:xfrm>
          <a:custGeom>
            <a:avLst/>
            <a:gdLst/>
            <a:ahLst/>
            <a:cxnLst/>
            <a:rect l="l" t="t" r="r" b="b"/>
            <a:pathLst>
              <a:path w="857250" h="9525">
                <a:moveTo>
                  <a:pt x="0" y="0"/>
                </a:moveTo>
                <a:lnTo>
                  <a:pt x="857250" y="0"/>
                </a:lnTo>
              </a:path>
            </a:pathLst>
          </a:custGeom>
          <a:noFill/>
          <a:ln w="38100">
            <a:solidFill>
              <a:srgbClr val="2F6BFF"/>
            </a:solidFill>
            <a:tailEnd type="triangle" w="lg" len="lg"/>
          </a:ln>
        </p:spPr>
      </p:sp>
      <p:sp>
        <p:nvSpPr>
          <p:cNvPr id="15" name="Freeform 15"/>
          <p:cNvSpPr/>
          <p:nvPr/>
        </p:nvSpPr>
        <p:spPr>
          <a:xfrm>
            <a:off x="4095750" y="2095500"/>
            <a:ext cx="3048000" cy="1952625"/>
          </a:xfrm>
          <a:custGeom>
            <a:avLst/>
            <a:gdLst/>
            <a:ahLst/>
            <a:cxnLst/>
            <a:rect l="l" t="t" r="r" b="b"/>
            <a:pathLst>
              <a:path w="3048000" h="1952625">
                <a:moveTo>
                  <a:pt x="171450" y="0"/>
                </a:moveTo>
                <a:lnTo>
                  <a:pt x="2876550" y="0"/>
                </a:lnTo>
                <a:cubicBezTo>
                  <a:pt x="2971239" y="0"/>
                  <a:pt x="3048000" y="76761"/>
                  <a:pt x="3048000" y="171450"/>
                </a:cubicBezTo>
                <a:lnTo>
                  <a:pt x="3048000" y="1781175"/>
                </a:lnTo>
                <a:cubicBezTo>
                  <a:pt x="3048000" y="1875864"/>
                  <a:pt x="2971239" y="1952625"/>
                  <a:pt x="2876550" y="1952625"/>
                </a:cubicBezTo>
                <a:lnTo>
                  <a:pt x="171450" y="1952625"/>
                </a:lnTo>
                <a:cubicBezTo>
                  <a:pt x="76761" y="1952625"/>
                  <a:pt x="0" y="1875864"/>
                  <a:pt x="0" y="1781175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5108948" y="2303621"/>
            <a:ext cx="102160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完整性闸口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565904" y="2727960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01 资料齐全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565904" y="3013710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02 版本一致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565904" y="3299460"/>
            <a:ext cx="136916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03 责任与期限明确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65904" y="3585210"/>
            <a:ext cx="136916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04 接收标准可判断</a:t>
            </a:r>
          </a:p>
        </p:txBody>
      </p:sp>
      <p:sp>
        <p:nvSpPr>
          <p:cNvPr id="21" name="Freeform 21"/>
          <p:cNvSpPr/>
          <p:nvPr/>
        </p:nvSpPr>
        <p:spPr>
          <a:xfrm>
            <a:off x="4953000" y="3810000"/>
            <a:ext cx="1333500" cy="266700"/>
          </a:xfrm>
          <a:custGeom>
            <a:avLst/>
            <a:gdLst/>
            <a:ahLst/>
            <a:cxnLst/>
            <a:rect l="l" t="t" r="r" b="b"/>
            <a:pathLst>
              <a:path w="1333500" h="266700">
                <a:moveTo>
                  <a:pt x="133350" y="0"/>
                </a:moveTo>
                <a:lnTo>
                  <a:pt x="1200150" y="0"/>
                </a:lnTo>
                <a:cubicBezTo>
                  <a:pt x="1273797" y="0"/>
                  <a:pt x="1333500" y="59703"/>
                  <a:pt x="1333500" y="133350"/>
                </a:cubicBezTo>
                <a:lnTo>
                  <a:pt x="1333500" y="133350"/>
                </a:lnTo>
                <a:cubicBezTo>
                  <a:pt x="1333500" y="206997"/>
                  <a:pt x="1273797" y="266700"/>
                  <a:pt x="1200150" y="266700"/>
                </a:cubicBezTo>
                <a:lnTo>
                  <a:pt x="133350" y="266700"/>
                </a:lnTo>
                <a:cubicBezTo>
                  <a:pt x="59703" y="266700"/>
                  <a:pt x="0" y="206997"/>
                  <a:pt x="0" y="1333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7DF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5201345" y="3895249"/>
            <a:ext cx="83680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确认后才放行</a:t>
            </a:r>
          </a:p>
        </p:txBody>
      </p:sp>
      <p:sp>
        <p:nvSpPr>
          <p:cNvPr id="23" name="Freeform 23"/>
          <p:cNvSpPr/>
          <p:nvPr/>
        </p:nvSpPr>
        <p:spPr>
          <a:xfrm>
            <a:off x="7143750" y="3076575"/>
            <a:ext cx="857250" cy="9525"/>
          </a:xfrm>
          <a:custGeom>
            <a:avLst/>
            <a:gdLst/>
            <a:ahLst/>
            <a:cxnLst/>
            <a:rect l="l" t="t" r="r" b="b"/>
            <a:pathLst>
              <a:path w="857250" h="9525">
                <a:moveTo>
                  <a:pt x="0" y="0"/>
                </a:moveTo>
                <a:lnTo>
                  <a:pt x="857250" y="0"/>
                </a:lnTo>
              </a:path>
            </a:pathLst>
          </a:custGeom>
          <a:noFill/>
          <a:ln w="38100">
            <a:solidFill>
              <a:srgbClr val="1C9C8C"/>
            </a:solidFill>
            <a:tailEnd type="triangle" w="lg" len="lg"/>
          </a:ln>
        </p:spPr>
      </p:sp>
      <p:sp>
        <p:nvSpPr>
          <p:cNvPr id="24" name="Freeform 24"/>
          <p:cNvSpPr/>
          <p:nvPr/>
        </p:nvSpPr>
        <p:spPr>
          <a:xfrm>
            <a:off x="8001000" y="2171700"/>
            <a:ext cx="2857500" cy="1809750"/>
          </a:xfrm>
          <a:custGeom>
            <a:avLst/>
            <a:gdLst/>
            <a:ahLst/>
            <a:cxnLst/>
            <a:rect l="l" t="t" r="r" b="b"/>
            <a:pathLst>
              <a:path w="2857500" h="1809750">
                <a:moveTo>
                  <a:pt x="171450" y="0"/>
                </a:moveTo>
                <a:lnTo>
                  <a:pt x="2686050" y="0"/>
                </a:lnTo>
                <a:cubicBezTo>
                  <a:pt x="2780739" y="0"/>
                  <a:pt x="2857500" y="76761"/>
                  <a:pt x="2857500" y="171450"/>
                </a:cubicBezTo>
                <a:lnTo>
                  <a:pt x="2857500" y="1638300"/>
                </a:lnTo>
                <a:cubicBezTo>
                  <a:pt x="2857500" y="1732989"/>
                  <a:pt x="2780739" y="1809750"/>
                  <a:pt x="2686050" y="1809750"/>
                </a:cubicBezTo>
                <a:lnTo>
                  <a:pt x="171450" y="1809750"/>
                </a:lnTo>
                <a:cubicBezTo>
                  <a:pt x="76761" y="1809750"/>
                  <a:pt x="0" y="1732989"/>
                  <a:pt x="0" y="16383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EAF7F4"/>
          </a:solidFill>
          <a:ln w="19050">
            <a:solidFill>
              <a:srgbClr val="1C9C8C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8740697" y="2368868"/>
            <a:ext cx="137810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接收方 · 验收包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423529" y="277558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接收确认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23529" y="308038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差异 / 缺项记录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423529" y="3385185"/>
            <a:ext cx="14418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任务进入受控状态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423529" y="3689985"/>
            <a:ext cx="14418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异常升级责任明确</a:t>
            </a:r>
          </a:p>
        </p:txBody>
      </p:sp>
      <p:sp>
        <p:nvSpPr>
          <p:cNvPr id="30" name="Freeform 30"/>
          <p:cNvSpPr/>
          <p:nvPr/>
        </p:nvSpPr>
        <p:spPr>
          <a:xfrm>
            <a:off x="2000250" y="3981450"/>
            <a:ext cx="3619500" cy="685800"/>
          </a:xfrm>
          <a:custGeom>
            <a:avLst/>
            <a:gdLst/>
            <a:ahLst/>
            <a:cxnLst/>
            <a:rect l="l" t="t" r="r" b="b"/>
            <a:pathLst>
              <a:path w="3619500" h="685800">
                <a:moveTo>
                  <a:pt x="3619500" y="66675"/>
                </a:moveTo>
                <a:lnTo>
                  <a:pt x="3619500" y="685800"/>
                </a:lnTo>
                <a:lnTo>
                  <a:pt x="0" y="68580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31" name="TextBox 31"/>
          <p:cNvSpPr txBox="1"/>
          <p:nvPr/>
        </p:nvSpPr>
        <p:spPr>
          <a:xfrm>
            <a:off x="1804610" y="4450556"/>
            <a:ext cx="40107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D95C5C"/>
                </a:solidFill>
                <a:latin typeface="Arial"/>
                <a:ea typeface="Microsoft YaHei"/>
                <a:cs typeface="Arial"/>
              </a:rPr>
              <a:t>缺项 / 版本不一致：退回交出方，不得直接进入下一部门</a:t>
            </a:r>
          </a:p>
        </p:txBody>
      </p:sp>
      <p:sp>
        <p:nvSpPr>
          <p:cNvPr id="32" name="Freeform 32"/>
          <p:cNvSpPr/>
          <p:nvPr/>
        </p:nvSpPr>
        <p:spPr>
          <a:xfrm>
            <a:off x="762000" y="5286375"/>
            <a:ext cx="10096500" cy="628650"/>
          </a:xfrm>
          <a:custGeom>
            <a:avLst/>
            <a:gdLst/>
            <a:ahLst/>
            <a:cxnLst/>
            <a:rect l="l" t="t" r="r" b="b"/>
            <a:pathLst>
              <a:path w="10096500" h="628650">
                <a:moveTo>
                  <a:pt x="152400" y="0"/>
                </a:moveTo>
                <a:lnTo>
                  <a:pt x="9944100" y="0"/>
                </a:lnTo>
                <a:cubicBezTo>
                  <a:pt x="10028268" y="0"/>
                  <a:pt x="10096500" y="68232"/>
                  <a:pt x="10096500" y="152400"/>
                </a:cubicBezTo>
                <a:lnTo>
                  <a:pt x="10096500" y="476250"/>
                </a:lnTo>
                <a:cubicBezTo>
                  <a:pt x="10096500" y="560418"/>
                  <a:pt x="10028268" y="628650"/>
                  <a:pt x="9944100" y="628650"/>
                </a:cubicBezTo>
                <a:lnTo>
                  <a:pt x="152400" y="628650"/>
                </a:lnTo>
                <a:cubicBezTo>
                  <a:pt x="68232" y="628650"/>
                  <a:pt x="0" y="560418"/>
                  <a:pt x="0" y="47625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CE4EE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041654" y="553783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交接证据</a:t>
            </a:r>
          </a:p>
        </p:txBody>
      </p:sp>
      <p:sp>
        <p:nvSpPr>
          <p:cNvPr id="34" name="Freeform 34"/>
          <p:cNvSpPr/>
          <p:nvPr/>
        </p:nvSpPr>
        <p:spPr>
          <a:xfrm>
            <a:off x="2381250" y="5467350"/>
            <a:ext cx="1809750" cy="285750"/>
          </a:xfrm>
          <a:custGeom>
            <a:avLst/>
            <a:gdLst/>
            <a:ahLst/>
            <a:cxnLst/>
            <a:rect l="l" t="t" r="r" b="b"/>
            <a:pathLst>
              <a:path w="1809750" h="285750">
                <a:moveTo>
                  <a:pt x="142875" y="0"/>
                </a:moveTo>
                <a:lnTo>
                  <a:pt x="1666875" y="0"/>
                </a:lnTo>
                <a:cubicBezTo>
                  <a:pt x="1745783" y="0"/>
                  <a:pt x="1809750" y="63967"/>
                  <a:pt x="1809750" y="142875"/>
                </a:cubicBezTo>
                <a:lnTo>
                  <a:pt x="1809750" y="142875"/>
                </a:lnTo>
                <a:cubicBezTo>
                  <a:pt x="1809750" y="221783"/>
                  <a:pt x="1745783" y="285750"/>
                  <a:pt x="1666875" y="285750"/>
                </a:cubicBezTo>
                <a:lnTo>
                  <a:pt x="142875" y="285750"/>
                </a:lnTo>
                <a:cubicBezTo>
                  <a:pt x="63967" y="285750"/>
                  <a:pt x="0" y="221783"/>
                  <a:pt x="0" y="142875"/>
                </a:cubicBezTo>
                <a:lnTo>
                  <a:pt x="0" y="142875"/>
                </a:lnTo>
                <a:cubicBezTo>
                  <a:pt x="0" y="63967"/>
                  <a:pt x="63967" y="0"/>
                  <a:pt x="142875" y="0"/>
                </a:cubicBezTo>
                <a:close/>
              </a:path>
            </a:pathLst>
          </a:custGeom>
          <a:solidFill>
            <a:srgbClr val="EAF0FF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2746310" y="5562124"/>
            <a:ext cx="107963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交接清单 / 版本号</a:t>
            </a:r>
          </a:p>
        </p:txBody>
      </p:sp>
      <p:sp>
        <p:nvSpPr>
          <p:cNvPr id="36" name="Freeform 36"/>
          <p:cNvSpPr/>
          <p:nvPr/>
        </p:nvSpPr>
        <p:spPr>
          <a:xfrm>
            <a:off x="4476750" y="5467350"/>
            <a:ext cx="1809750" cy="285750"/>
          </a:xfrm>
          <a:custGeom>
            <a:avLst/>
            <a:gdLst/>
            <a:ahLst/>
            <a:cxnLst/>
            <a:rect l="l" t="t" r="r" b="b"/>
            <a:pathLst>
              <a:path w="1809750" h="285750">
                <a:moveTo>
                  <a:pt x="142875" y="0"/>
                </a:moveTo>
                <a:lnTo>
                  <a:pt x="1666875" y="0"/>
                </a:lnTo>
                <a:cubicBezTo>
                  <a:pt x="1745783" y="0"/>
                  <a:pt x="1809750" y="63967"/>
                  <a:pt x="1809750" y="142875"/>
                </a:cubicBezTo>
                <a:lnTo>
                  <a:pt x="1809750" y="142875"/>
                </a:lnTo>
                <a:cubicBezTo>
                  <a:pt x="1809750" y="221783"/>
                  <a:pt x="1745783" y="285750"/>
                  <a:pt x="1666875" y="285750"/>
                </a:cubicBezTo>
                <a:lnTo>
                  <a:pt x="142875" y="285750"/>
                </a:lnTo>
                <a:cubicBezTo>
                  <a:pt x="63967" y="285750"/>
                  <a:pt x="0" y="221783"/>
                  <a:pt x="0" y="142875"/>
                </a:cubicBezTo>
                <a:lnTo>
                  <a:pt x="0" y="142875"/>
                </a:lnTo>
                <a:cubicBezTo>
                  <a:pt x="0" y="63967"/>
                  <a:pt x="63967" y="0"/>
                  <a:pt x="142875" y="0"/>
                </a:cubicBezTo>
                <a:close/>
              </a:path>
            </a:pathLst>
          </a:custGeom>
          <a:solidFill>
            <a:srgbClr val="EAF7F4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4776183" y="5562124"/>
            <a:ext cx="121088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接收确认 / 差异记录</a:t>
            </a:r>
          </a:p>
        </p:txBody>
      </p:sp>
      <p:sp>
        <p:nvSpPr>
          <p:cNvPr id="38" name="Freeform 38"/>
          <p:cNvSpPr/>
          <p:nvPr/>
        </p:nvSpPr>
        <p:spPr>
          <a:xfrm>
            <a:off x="6572250" y="5467350"/>
            <a:ext cx="1809750" cy="285750"/>
          </a:xfrm>
          <a:custGeom>
            <a:avLst/>
            <a:gdLst/>
            <a:ahLst/>
            <a:cxnLst/>
            <a:rect l="l" t="t" r="r" b="b"/>
            <a:pathLst>
              <a:path w="1809750" h="285750">
                <a:moveTo>
                  <a:pt x="142875" y="0"/>
                </a:moveTo>
                <a:lnTo>
                  <a:pt x="1666875" y="0"/>
                </a:lnTo>
                <a:cubicBezTo>
                  <a:pt x="1745783" y="0"/>
                  <a:pt x="1809750" y="63967"/>
                  <a:pt x="1809750" y="142875"/>
                </a:cubicBezTo>
                <a:lnTo>
                  <a:pt x="1809750" y="142875"/>
                </a:lnTo>
                <a:cubicBezTo>
                  <a:pt x="1809750" y="221783"/>
                  <a:pt x="1745783" y="285750"/>
                  <a:pt x="1666875" y="285750"/>
                </a:cubicBezTo>
                <a:lnTo>
                  <a:pt x="142875" y="285750"/>
                </a:lnTo>
                <a:cubicBezTo>
                  <a:pt x="63967" y="285750"/>
                  <a:pt x="0" y="221783"/>
                  <a:pt x="0" y="142875"/>
                </a:cubicBezTo>
                <a:lnTo>
                  <a:pt x="0" y="142875"/>
                </a:lnTo>
                <a:cubicBezTo>
                  <a:pt x="0" y="63967"/>
                  <a:pt x="63967" y="0"/>
                  <a:pt x="142875" y="0"/>
                </a:cubicBezTo>
                <a:close/>
              </a:path>
            </a:pathLst>
          </a:custGeom>
          <a:solidFill>
            <a:srgbClr val="FFF2E7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6937310" y="5562124"/>
            <a:ext cx="107963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责任人 / 截止日期</a:t>
            </a:r>
          </a:p>
        </p:txBody>
      </p:sp>
      <p:sp>
        <p:nvSpPr>
          <p:cNvPr id="40" name="Freeform 40"/>
          <p:cNvSpPr/>
          <p:nvPr/>
        </p:nvSpPr>
        <p:spPr>
          <a:xfrm>
            <a:off x="8667750" y="5467350"/>
            <a:ext cx="1809750" cy="285750"/>
          </a:xfrm>
          <a:custGeom>
            <a:avLst/>
            <a:gdLst/>
            <a:ahLst/>
            <a:cxnLst/>
            <a:rect l="l" t="t" r="r" b="b"/>
            <a:pathLst>
              <a:path w="1809750" h="285750">
                <a:moveTo>
                  <a:pt x="142875" y="0"/>
                </a:moveTo>
                <a:lnTo>
                  <a:pt x="1666875" y="0"/>
                </a:lnTo>
                <a:cubicBezTo>
                  <a:pt x="1745783" y="0"/>
                  <a:pt x="1809750" y="63967"/>
                  <a:pt x="1809750" y="142875"/>
                </a:cubicBezTo>
                <a:lnTo>
                  <a:pt x="1809750" y="142875"/>
                </a:lnTo>
                <a:cubicBezTo>
                  <a:pt x="1809750" y="221783"/>
                  <a:pt x="1745783" y="285750"/>
                  <a:pt x="1666875" y="285750"/>
                </a:cubicBezTo>
                <a:lnTo>
                  <a:pt x="142875" y="285750"/>
                </a:lnTo>
                <a:cubicBezTo>
                  <a:pt x="63967" y="285750"/>
                  <a:pt x="0" y="221783"/>
                  <a:pt x="0" y="142875"/>
                </a:cubicBezTo>
                <a:lnTo>
                  <a:pt x="0" y="142875"/>
                </a:lnTo>
                <a:cubicBezTo>
                  <a:pt x="0" y="63967"/>
                  <a:pt x="63967" y="0"/>
                  <a:pt x="142875" y="0"/>
                </a:cubicBezTo>
                <a:close/>
              </a:path>
            </a:pathLst>
          </a:custGeom>
          <a:solidFill>
            <a:srgbClr val="FFF0F0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9173908" y="5562124"/>
            <a:ext cx="79743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异常升级记录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66738" y="6475095"/>
            <a:ext cx="387446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图例：蓝色＝输入 橙色＝完整性闸口 青绿色＝验收 红色虚线＝缺项退回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90399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21 / GOVERNANCE · DOCUMENT CONTROL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65460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文件编制与版本控制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293084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新版本必须可追溯，旧版本必须被隔离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2190750" y="1952625"/>
            <a:ext cx="7810500" cy="2190750"/>
          </a:xfrm>
          <a:custGeom>
            <a:avLst/>
            <a:gdLst/>
            <a:ahLst/>
            <a:cxnLst/>
            <a:rect l="l" t="t" r="r" b="b"/>
            <a:pathLst>
              <a:path w="7810500" h="2190750">
                <a:moveTo>
                  <a:pt x="0" y="1095375"/>
                </a:moveTo>
                <a:cubicBezTo>
                  <a:pt x="0" y="142875"/>
                  <a:pt x="1524000" y="0"/>
                  <a:pt x="2286000" y="619125"/>
                </a:cubicBezTo>
                <a:cubicBezTo>
                  <a:pt x="2952750" y="1143000"/>
                  <a:pt x="3143250" y="1762125"/>
                  <a:pt x="3905250" y="1762125"/>
                </a:cubicBezTo>
                <a:cubicBezTo>
                  <a:pt x="4667250" y="1762125"/>
                  <a:pt x="4857750" y="1143000"/>
                  <a:pt x="5524500" y="619125"/>
                </a:cubicBezTo>
                <a:cubicBezTo>
                  <a:pt x="6286500" y="0"/>
                  <a:pt x="7810500" y="142875"/>
                  <a:pt x="7810500" y="1095375"/>
                </a:cubicBezTo>
                <a:cubicBezTo>
                  <a:pt x="7810500" y="2047875"/>
                  <a:pt x="6286500" y="2190750"/>
                  <a:pt x="5524500" y="1571625"/>
                </a:cubicBezTo>
                <a:cubicBezTo>
                  <a:pt x="4857750" y="1047750"/>
                  <a:pt x="4667250" y="428625"/>
                  <a:pt x="3905250" y="428625"/>
                </a:cubicBezTo>
                <a:cubicBezTo>
                  <a:pt x="3143250" y="428625"/>
                  <a:pt x="2952750" y="1047750"/>
                  <a:pt x="2286000" y="1571625"/>
                </a:cubicBezTo>
                <a:cubicBezTo>
                  <a:pt x="1524000" y="2190750"/>
                  <a:pt x="0" y="2047875"/>
                  <a:pt x="0" y="1095375"/>
                </a:cubicBezTo>
                <a:close/>
              </a:path>
            </a:pathLst>
          </a:custGeom>
          <a:noFill/>
          <a:ln w="47625">
            <a:solidFill>
              <a:srgbClr val="2F6BFF"/>
            </a:solidFill>
            <a:tailEnd type="triangle" w="lg" len="lg"/>
          </a:ln>
        </p:spPr>
      </p:sp>
      <p:grpSp>
        <p:nvGrpSpPr>
          <p:cNvPr id="24" name="Group 24"/>
          <p:cNvGrpSpPr/>
          <p:nvPr/>
        </p:nvGrpSpPr>
        <p:grpSpPr>
          <a:xfrm>
            <a:off x="1381125" y="2047875"/>
            <a:ext cx="9429750" cy="2095500"/>
            <a:chOff x="1381125" y="2047875"/>
            <a:chExt cx="9429750" cy="2095500"/>
          </a:xfrm>
        </p:grpSpPr>
        <p:sp>
          <p:nvSpPr>
            <p:cNvPr id="9" name="Freeform 9"/>
            <p:cNvSpPr/>
            <p:nvPr/>
          </p:nvSpPr>
          <p:spPr>
            <a:xfrm>
              <a:off x="1381125" y="2714625"/>
              <a:ext cx="1619250" cy="666750"/>
            </a:xfrm>
            <a:custGeom>
              <a:avLst/>
              <a:gdLst/>
              <a:ahLst/>
              <a:cxnLst/>
              <a:rect l="l" t="t" r="r" b="b"/>
              <a:pathLst>
                <a:path w="1619250" h="666750">
                  <a:moveTo>
                    <a:pt x="133350" y="0"/>
                  </a:moveTo>
                  <a:lnTo>
                    <a:pt x="1485900" y="0"/>
                  </a:lnTo>
                  <a:cubicBezTo>
                    <a:pt x="1559547" y="0"/>
                    <a:pt x="1619250" y="59703"/>
                    <a:pt x="1619250" y="133350"/>
                  </a:cubicBezTo>
                  <a:lnTo>
                    <a:pt x="1619250" y="533400"/>
                  </a:lnTo>
                  <a:cubicBezTo>
                    <a:pt x="1619250" y="607047"/>
                    <a:pt x="1559547" y="666750"/>
                    <a:pt x="1485900" y="666750"/>
                  </a:cubicBezTo>
                  <a:lnTo>
                    <a:pt x="133350" y="666750"/>
                  </a:lnTo>
                  <a:cubicBezTo>
                    <a:pt x="59703" y="666750"/>
                    <a:pt x="0" y="607047"/>
                    <a:pt x="0" y="533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EAF0FF"/>
            </a:solidFill>
            <a:ln w="19050">
              <a:solidFill>
                <a:srgbClr val="2F6BF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015033" y="28708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起草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822514" y="3122295"/>
              <a:ext cx="736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需求与版本号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3714750" y="2047875"/>
              <a:ext cx="1619250" cy="666750"/>
            </a:xfrm>
            <a:custGeom>
              <a:avLst/>
              <a:gdLst/>
              <a:ahLst/>
              <a:cxnLst/>
              <a:rect l="l" t="t" r="r" b="b"/>
              <a:pathLst>
                <a:path w="1619250" h="666750">
                  <a:moveTo>
                    <a:pt x="133350" y="0"/>
                  </a:moveTo>
                  <a:lnTo>
                    <a:pt x="1485900" y="0"/>
                  </a:lnTo>
                  <a:cubicBezTo>
                    <a:pt x="1559547" y="0"/>
                    <a:pt x="1619250" y="59703"/>
                    <a:pt x="1619250" y="133350"/>
                  </a:cubicBezTo>
                  <a:lnTo>
                    <a:pt x="1619250" y="533400"/>
                  </a:lnTo>
                  <a:cubicBezTo>
                    <a:pt x="1619250" y="607047"/>
                    <a:pt x="1559547" y="666750"/>
                    <a:pt x="1485900" y="666750"/>
                  </a:cubicBezTo>
                  <a:lnTo>
                    <a:pt x="133350" y="666750"/>
                  </a:lnTo>
                  <a:cubicBezTo>
                    <a:pt x="59703" y="666750"/>
                    <a:pt x="0" y="607047"/>
                    <a:pt x="0" y="533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C9C8C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348658" y="220408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评审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277296" y="24555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专业意见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5286375" y="3476625"/>
              <a:ext cx="1619250" cy="666750"/>
            </a:xfrm>
            <a:custGeom>
              <a:avLst/>
              <a:gdLst/>
              <a:ahLst/>
              <a:cxnLst/>
              <a:rect l="l" t="t" r="r" b="b"/>
              <a:pathLst>
                <a:path w="1619250" h="666750">
                  <a:moveTo>
                    <a:pt x="133350" y="0"/>
                  </a:moveTo>
                  <a:lnTo>
                    <a:pt x="1485900" y="0"/>
                  </a:lnTo>
                  <a:cubicBezTo>
                    <a:pt x="1559547" y="0"/>
                    <a:pt x="1619250" y="59703"/>
                    <a:pt x="1619250" y="133350"/>
                  </a:cubicBezTo>
                  <a:lnTo>
                    <a:pt x="1619250" y="533400"/>
                  </a:lnTo>
                  <a:cubicBezTo>
                    <a:pt x="1619250" y="607047"/>
                    <a:pt x="1559547" y="666750"/>
                    <a:pt x="1485900" y="666750"/>
                  </a:cubicBezTo>
                  <a:lnTo>
                    <a:pt x="133350" y="666750"/>
                  </a:lnTo>
                  <a:cubicBezTo>
                    <a:pt x="59703" y="666750"/>
                    <a:pt x="0" y="607047"/>
                    <a:pt x="0" y="533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2E7"/>
            </a:solidFill>
            <a:ln w="19050">
              <a:solidFill>
                <a:srgbClr val="C56A25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750662" y="363283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批准发布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848921" y="388429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受控清单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6858000" y="2047875"/>
              <a:ext cx="1619250" cy="666750"/>
            </a:xfrm>
            <a:custGeom>
              <a:avLst/>
              <a:gdLst/>
              <a:ahLst/>
              <a:cxnLst/>
              <a:rect l="l" t="t" r="r" b="b"/>
              <a:pathLst>
                <a:path w="1619250" h="666750">
                  <a:moveTo>
                    <a:pt x="133350" y="0"/>
                  </a:moveTo>
                  <a:lnTo>
                    <a:pt x="1485900" y="0"/>
                  </a:lnTo>
                  <a:cubicBezTo>
                    <a:pt x="1559547" y="0"/>
                    <a:pt x="1619250" y="59703"/>
                    <a:pt x="1619250" y="133350"/>
                  </a:cubicBezTo>
                  <a:lnTo>
                    <a:pt x="1619250" y="533400"/>
                  </a:lnTo>
                  <a:cubicBezTo>
                    <a:pt x="1619250" y="607047"/>
                    <a:pt x="1559547" y="666750"/>
                    <a:pt x="1485900" y="666750"/>
                  </a:cubicBezTo>
                  <a:lnTo>
                    <a:pt x="133350" y="666750"/>
                  </a:lnTo>
                  <a:cubicBezTo>
                    <a:pt x="59703" y="666750"/>
                    <a:pt x="0" y="607047"/>
                    <a:pt x="0" y="533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EAF7F4"/>
            </a:solidFill>
            <a:ln w="19050">
              <a:solidFill>
                <a:srgbClr val="1C9C8C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237476" y="2204085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执行与培训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20546" y="24555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使用记录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9191625" y="2714625"/>
              <a:ext cx="1619250" cy="666750"/>
            </a:xfrm>
            <a:custGeom>
              <a:avLst/>
              <a:gdLst/>
              <a:ahLst/>
              <a:cxnLst/>
              <a:rect l="l" t="t" r="r" b="b"/>
              <a:pathLst>
                <a:path w="1619250" h="666750">
                  <a:moveTo>
                    <a:pt x="133350" y="0"/>
                  </a:moveTo>
                  <a:lnTo>
                    <a:pt x="1485900" y="0"/>
                  </a:lnTo>
                  <a:cubicBezTo>
                    <a:pt x="1559547" y="0"/>
                    <a:pt x="1619250" y="59703"/>
                    <a:pt x="1619250" y="133350"/>
                  </a:cubicBezTo>
                  <a:lnTo>
                    <a:pt x="1619250" y="533400"/>
                  </a:lnTo>
                  <a:cubicBezTo>
                    <a:pt x="1619250" y="607047"/>
                    <a:pt x="1559547" y="666750"/>
                    <a:pt x="1485900" y="666750"/>
                  </a:cubicBezTo>
                  <a:lnTo>
                    <a:pt x="133350" y="666750"/>
                  </a:lnTo>
                  <a:cubicBezTo>
                    <a:pt x="59703" y="666750"/>
                    <a:pt x="0" y="607047"/>
                    <a:pt x="0" y="533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2ECFF"/>
            </a:solidFill>
            <a:ln w="19050">
              <a:solidFill>
                <a:srgbClr val="7657B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558379" y="2870835"/>
              <a:ext cx="8857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复审 / 修订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693592" y="3122295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触发新版本</a:t>
              </a:r>
            </a:p>
          </p:txBody>
        </p:sp>
      </p:grpSp>
      <p:sp>
        <p:nvSpPr>
          <p:cNvPr id="25" name="Freeform 25"/>
          <p:cNvSpPr/>
          <p:nvPr/>
        </p:nvSpPr>
        <p:spPr>
          <a:xfrm>
            <a:off x="8810625" y="4476750"/>
            <a:ext cx="2381250" cy="952500"/>
          </a:xfrm>
          <a:custGeom>
            <a:avLst/>
            <a:gdLst/>
            <a:ahLst/>
            <a:cxnLst/>
            <a:rect l="l" t="t" r="r" b="b"/>
            <a:pathLst>
              <a:path w="2381250" h="952500">
                <a:moveTo>
                  <a:pt x="152400" y="0"/>
                </a:moveTo>
                <a:lnTo>
                  <a:pt x="2228850" y="0"/>
                </a:lnTo>
                <a:cubicBezTo>
                  <a:pt x="2313018" y="0"/>
                  <a:pt x="2381250" y="68232"/>
                  <a:pt x="2381250" y="152400"/>
                </a:cubicBezTo>
                <a:lnTo>
                  <a:pt x="2381250" y="800100"/>
                </a:lnTo>
                <a:cubicBezTo>
                  <a:pt x="2381250" y="884268"/>
                  <a:pt x="2313018" y="952500"/>
                  <a:pt x="2228850" y="952500"/>
                </a:cubicBezTo>
                <a:lnTo>
                  <a:pt x="152400" y="952500"/>
                </a:lnTo>
                <a:cubicBezTo>
                  <a:pt x="68232" y="952500"/>
                  <a:pt x="0" y="884268"/>
                  <a:pt x="0" y="8001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0F0"/>
          </a:solidFill>
          <a:ln w="19050">
            <a:solidFill>
              <a:srgbClr val="D95C5C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9260366" y="4672489"/>
            <a:ext cx="148176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旧版本隔离 / 作废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430512" y="4982528"/>
            <a:ext cx="114147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回收、标识、留痕</a:t>
            </a:r>
          </a:p>
        </p:txBody>
      </p:sp>
      <p:sp>
        <p:nvSpPr>
          <p:cNvPr id="28" name="Freeform 28"/>
          <p:cNvSpPr/>
          <p:nvPr/>
        </p:nvSpPr>
        <p:spPr>
          <a:xfrm>
            <a:off x="8477250" y="2714625"/>
            <a:ext cx="333375" cy="1762125"/>
          </a:xfrm>
          <a:custGeom>
            <a:avLst/>
            <a:gdLst/>
            <a:ahLst/>
            <a:cxnLst/>
            <a:rect l="l" t="t" r="r" b="b"/>
            <a:pathLst>
              <a:path w="333375" h="1762125">
                <a:moveTo>
                  <a:pt x="0" y="0"/>
                </a:moveTo>
                <a:lnTo>
                  <a:pt x="0" y="1762125"/>
                </a:lnTo>
                <a:lnTo>
                  <a:pt x="333375" y="1762125"/>
                </a:ln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29" name="Freeform 29"/>
          <p:cNvSpPr/>
          <p:nvPr/>
        </p:nvSpPr>
        <p:spPr>
          <a:xfrm>
            <a:off x="666750" y="5572125"/>
            <a:ext cx="10477500" cy="457200"/>
          </a:xfrm>
          <a:custGeom>
            <a:avLst/>
            <a:gdLst/>
            <a:ahLst/>
            <a:cxnLst/>
            <a:rect l="l" t="t" r="r" b="b"/>
            <a:pathLst>
              <a:path w="10477500" h="457200">
                <a:moveTo>
                  <a:pt x="228600" y="0"/>
                </a:moveTo>
                <a:lnTo>
                  <a:pt x="10248900" y="0"/>
                </a:lnTo>
                <a:cubicBezTo>
                  <a:pt x="10375152" y="0"/>
                  <a:pt x="10477500" y="102348"/>
                  <a:pt x="10477500" y="228600"/>
                </a:cubicBezTo>
                <a:lnTo>
                  <a:pt x="10477500" y="228600"/>
                </a:lnTo>
                <a:cubicBezTo>
                  <a:pt x="10477500" y="354852"/>
                  <a:pt x="10375152" y="457200"/>
                  <a:pt x="10248900" y="457200"/>
                </a:cubicBezTo>
                <a:lnTo>
                  <a:pt x="228600" y="457200"/>
                </a:lnTo>
                <a:cubicBezTo>
                  <a:pt x="102348" y="457200"/>
                  <a:pt x="0" y="354852"/>
                  <a:pt x="0" y="228600"/>
                </a:cubicBezTo>
                <a:lnTo>
                  <a:pt x="0" y="228600"/>
                </a:lnTo>
                <a:cubicBezTo>
                  <a:pt x="0" y="102348"/>
                  <a:pt x="102348" y="0"/>
                  <a:pt x="2286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CE4EE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3658362" y="5736431"/>
            <a:ext cx="449427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证据：版本清单 · 审批记录 · 发布通知 · 培训记录 · 旧版回收记录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66738" y="6475095"/>
            <a:ext cx="331713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主环＝受控文件生命周期 红色分支＝旧版隔离，不回流主流程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99024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22 / GOVERNANCE · RECORD TRACEABILITY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65460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记录与档案生命周期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13232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记录要能形成、找到、看懂，并在到期时有依据地处置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755904" y="1965960"/>
            <a:ext cx="437993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形成 → 审核 → 编码归档 → 权限保存 → 检索借阅 → 到期处置</a:t>
            </a:r>
          </a:p>
        </p:txBody>
      </p:sp>
      <p:sp>
        <p:nvSpPr>
          <p:cNvPr id="9" name="Line 9"/>
          <p:cNvSpPr/>
          <p:nvPr/>
        </p:nvSpPr>
        <p:spPr>
          <a:xfrm>
            <a:off x="1047750" y="2714625"/>
            <a:ext cx="7620000" cy="1"/>
          </a:xfrm>
          <a:prstGeom prst="line">
            <a:avLst/>
          </a:prstGeom>
          <a:noFill/>
          <a:ln w="47625">
            <a:solidFill>
              <a:srgbClr val="2F6BFF"/>
            </a:solidFill>
            <a:tailEnd type="triangle" w="lg" len="lg"/>
          </a:ln>
        </p:spPr>
      </p:sp>
      <p:grpSp>
        <p:nvGrpSpPr>
          <p:cNvPr id="22" name="Group 22"/>
          <p:cNvGrpSpPr/>
          <p:nvPr/>
        </p:nvGrpSpPr>
        <p:grpSpPr>
          <a:xfrm>
            <a:off x="838200" y="2314575"/>
            <a:ext cx="8420100" cy="800100"/>
            <a:chOff x="838200" y="2314575"/>
            <a:chExt cx="8420100" cy="800100"/>
          </a:xfrm>
        </p:grpSpPr>
        <p:sp>
          <p:nvSpPr>
            <p:cNvPr id="10" name="Ellipse 10"/>
            <p:cNvSpPr/>
            <p:nvPr/>
          </p:nvSpPr>
          <p:spPr>
            <a:xfrm>
              <a:off x="838200" y="2314575"/>
              <a:ext cx="800100" cy="800100"/>
            </a:xfrm>
            <a:prstGeom prst="ellipse">
              <a:avLst/>
            </a:prstGeom>
            <a:solidFill>
              <a:srgbClr val="EAF0FF"/>
            </a:solidFill>
            <a:ln w="19050">
              <a:solidFill>
                <a:srgbClr val="2F6BF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62533" y="26422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形成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2362200" y="2314575"/>
              <a:ext cx="800100" cy="800100"/>
            </a:xfrm>
            <a:prstGeom prst="ellipse">
              <a:avLst/>
            </a:prstGeom>
            <a:solidFill>
              <a:srgbClr val="EAF7F4"/>
            </a:solidFill>
            <a:ln w="19050">
              <a:solidFill>
                <a:srgbClr val="1C9C8C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586533" y="26422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审核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3886200" y="2314575"/>
              <a:ext cx="800100" cy="8001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7657B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110533" y="26422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归档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410200" y="2314575"/>
              <a:ext cx="800100" cy="800100"/>
            </a:xfrm>
            <a:prstGeom prst="ellipse">
              <a:avLst/>
            </a:prstGeom>
            <a:solidFill>
              <a:srgbClr val="FFF2E7"/>
            </a:solidFill>
            <a:ln w="19050">
              <a:solidFill>
                <a:srgbClr val="C56A25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634533" y="26422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保存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6934200" y="2314575"/>
              <a:ext cx="800100" cy="800100"/>
            </a:xfrm>
            <a:prstGeom prst="ellipse">
              <a:avLst/>
            </a:prstGeom>
            <a:solidFill>
              <a:srgbClr val="EAF7F4"/>
            </a:solidFill>
            <a:ln w="19050">
              <a:solidFill>
                <a:srgbClr val="1C9C8C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158533" y="26422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检索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8458200" y="2314575"/>
              <a:ext cx="800100" cy="800100"/>
            </a:xfrm>
            <a:prstGeom prst="ellipse">
              <a:avLst/>
            </a:prstGeom>
            <a:solidFill>
              <a:srgbClr val="FFF7DF"/>
            </a:solidFill>
            <a:ln w="19050">
              <a:solidFill>
                <a:srgbClr val="A87519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82533" y="26422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A87519"/>
                  </a:solidFill>
                  <a:latin typeface="Arial"/>
                  <a:ea typeface="Microsoft YaHei"/>
                  <a:cs typeface="Arial"/>
                </a:rPr>
                <a:t>处置</a:t>
              </a:r>
            </a:p>
          </p:txBody>
        </p:sp>
      </p:grpSp>
      <p:sp>
        <p:nvSpPr>
          <p:cNvPr id="23" name="Freeform 23"/>
          <p:cNvSpPr/>
          <p:nvPr/>
        </p:nvSpPr>
        <p:spPr>
          <a:xfrm>
            <a:off x="4286250" y="3143250"/>
            <a:ext cx="5715000" cy="762000"/>
          </a:xfrm>
          <a:custGeom>
            <a:avLst/>
            <a:gdLst/>
            <a:ahLst/>
            <a:cxnLst/>
            <a:rect l="l" t="t" r="r" b="b"/>
            <a:pathLst>
              <a:path w="5715000" h="762000">
                <a:moveTo>
                  <a:pt x="0" y="0"/>
                </a:moveTo>
                <a:lnTo>
                  <a:pt x="0" y="762000"/>
                </a:lnTo>
                <a:lnTo>
                  <a:pt x="5715000" y="762000"/>
                </a:lnTo>
              </a:path>
            </a:pathLst>
          </a:cu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24" name="Freeform 24"/>
          <p:cNvSpPr/>
          <p:nvPr/>
        </p:nvSpPr>
        <p:spPr>
          <a:xfrm>
            <a:off x="952500" y="3667125"/>
            <a:ext cx="2381250" cy="1143000"/>
          </a:xfrm>
          <a:custGeom>
            <a:avLst/>
            <a:gdLst/>
            <a:ahLst/>
            <a:cxnLst/>
            <a:rect l="l" t="t" r="r" b="b"/>
            <a:pathLst>
              <a:path w="2381250" h="1143000">
                <a:moveTo>
                  <a:pt x="152400" y="0"/>
                </a:moveTo>
                <a:lnTo>
                  <a:pt x="2228850" y="0"/>
                </a:lnTo>
                <a:cubicBezTo>
                  <a:pt x="2313018" y="0"/>
                  <a:pt x="2381250" y="68232"/>
                  <a:pt x="2381250" y="152400"/>
                </a:cubicBezTo>
                <a:lnTo>
                  <a:pt x="2381250" y="990600"/>
                </a:lnTo>
                <a:cubicBezTo>
                  <a:pt x="2381250" y="1074768"/>
                  <a:pt x="2313018" y="1143000"/>
                  <a:pt x="2228850" y="1143000"/>
                </a:cubicBezTo>
                <a:lnTo>
                  <a:pt x="152400" y="1143000"/>
                </a:lnTo>
                <a:cubicBezTo>
                  <a:pt x="68232" y="1143000"/>
                  <a:pt x="0" y="1074768"/>
                  <a:pt x="0" y="990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1776203" y="3862864"/>
            <a:ext cx="733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7657B8"/>
                </a:solidFill>
                <a:latin typeface="Arial"/>
                <a:ea typeface="Microsoft YaHei"/>
                <a:cs typeface="Arial"/>
              </a:rPr>
              <a:t>档案分层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32916" y="4172902"/>
            <a:ext cx="130403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普通记录 · 受限记录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32916" y="4420552"/>
            <a:ext cx="130403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关键经营 / 质量记录</a:t>
            </a:r>
          </a:p>
        </p:txBody>
      </p:sp>
      <p:sp>
        <p:nvSpPr>
          <p:cNvPr id="28" name="Freeform 28"/>
          <p:cNvSpPr/>
          <p:nvPr/>
        </p:nvSpPr>
        <p:spPr>
          <a:xfrm>
            <a:off x="3810000" y="3667125"/>
            <a:ext cx="2381250" cy="1143000"/>
          </a:xfrm>
          <a:custGeom>
            <a:avLst/>
            <a:gdLst/>
            <a:ahLst/>
            <a:cxnLst/>
            <a:rect l="l" t="t" r="r" b="b"/>
            <a:pathLst>
              <a:path w="2381250" h="1143000">
                <a:moveTo>
                  <a:pt x="152400" y="0"/>
                </a:moveTo>
                <a:lnTo>
                  <a:pt x="2228850" y="0"/>
                </a:lnTo>
                <a:cubicBezTo>
                  <a:pt x="2313018" y="0"/>
                  <a:pt x="2381250" y="68232"/>
                  <a:pt x="2381250" y="152400"/>
                </a:cubicBezTo>
                <a:lnTo>
                  <a:pt x="2381250" y="990600"/>
                </a:lnTo>
                <a:cubicBezTo>
                  <a:pt x="2381250" y="1074768"/>
                  <a:pt x="2313018" y="1143000"/>
                  <a:pt x="2228850" y="1143000"/>
                </a:cubicBezTo>
                <a:lnTo>
                  <a:pt x="152400" y="1143000"/>
                </a:lnTo>
                <a:cubicBezTo>
                  <a:pt x="68232" y="1143000"/>
                  <a:pt x="0" y="1074768"/>
                  <a:pt x="0" y="990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2E7"/>
          </a:solidFill>
          <a:ln w="9525">
            <a:solidFill>
              <a:srgbClr val="C56A25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4543592" y="3862864"/>
            <a:ext cx="91406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权限与留痕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090416" y="4172902"/>
            <a:ext cx="10213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谁可看 · 谁借阅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090416" y="4420552"/>
            <a:ext cx="130403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访问记录 · 归还记录</a:t>
            </a:r>
          </a:p>
        </p:txBody>
      </p:sp>
      <p:sp>
        <p:nvSpPr>
          <p:cNvPr id="32" name="Freeform 32"/>
          <p:cNvSpPr/>
          <p:nvPr/>
        </p:nvSpPr>
        <p:spPr>
          <a:xfrm>
            <a:off x="6667500" y="3667125"/>
            <a:ext cx="2381250" cy="1143000"/>
          </a:xfrm>
          <a:custGeom>
            <a:avLst/>
            <a:gdLst/>
            <a:ahLst/>
            <a:cxnLst/>
            <a:rect l="l" t="t" r="r" b="b"/>
            <a:pathLst>
              <a:path w="2381250" h="1143000">
                <a:moveTo>
                  <a:pt x="152400" y="0"/>
                </a:moveTo>
                <a:lnTo>
                  <a:pt x="2228850" y="0"/>
                </a:lnTo>
                <a:cubicBezTo>
                  <a:pt x="2313018" y="0"/>
                  <a:pt x="2381250" y="68232"/>
                  <a:pt x="2381250" y="152400"/>
                </a:cubicBezTo>
                <a:lnTo>
                  <a:pt x="2381250" y="990600"/>
                </a:lnTo>
                <a:cubicBezTo>
                  <a:pt x="2381250" y="1074768"/>
                  <a:pt x="2313018" y="1143000"/>
                  <a:pt x="2228850" y="1143000"/>
                </a:cubicBezTo>
                <a:lnTo>
                  <a:pt x="152400" y="1143000"/>
                </a:lnTo>
                <a:cubicBezTo>
                  <a:pt x="68232" y="1143000"/>
                  <a:pt x="0" y="1074768"/>
                  <a:pt x="0" y="990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7DF"/>
          </a:solidFill>
          <a:ln w="9525">
            <a:solidFill>
              <a:srgbClr val="A87519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7491203" y="3862864"/>
            <a:ext cx="733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到期决策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947916" y="4172902"/>
            <a:ext cx="118388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保留 / 延期 / 销毁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947916" y="4420552"/>
            <a:ext cx="130403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审批依据 · 处置留痕</a:t>
            </a:r>
          </a:p>
        </p:txBody>
      </p:sp>
      <p:sp>
        <p:nvSpPr>
          <p:cNvPr id="36" name="Freeform 36"/>
          <p:cNvSpPr/>
          <p:nvPr/>
        </p:nvSpPr>
        <p:spPr>
          <a:xfrm>
            <a:off x="9334500" y="2000250"/>
            <a:ext cx="2000250" cy="1809750"/>
          </a:xfrm>
          <a:custGeom>
            <a:avLst/>
            <a:gdLst/>
            <a:ahLst/>
            <a:cxnLst/>
            <a:rect l="l" t="t" r="r" b="b"/>
            <a:pathLst>
              <a:path w="2000250" h="1809750">
                <a:moveTo>
                  <a:pt x="171450" y="0"/>
                </a:moveTo>
                <a:lnTo>
                  <a:pt x="1828800" y="0"/>
                </a:lnTo>
                <a:cubicBezTo>
                  <a:pt x="1923489" y="0"/>
                  <a:pt x="2000250" y="76761"/>
                  <a:pt x="2000250" y="171450"/>
                </a:cubicBezTo>
                <a:lnTo>
                  <a:pt x="2000250" y="1638300"/>
                </a:lnTo>
                <a:cubicBezTo>
                  <a:pt x="2000250" y="1732989"/>
                  <a:pt x="1923489" y="1809750"/>
                  <a:pt x="1828800" y="1809750"/>
                </a:cubicBezTo>
                <a:lnTo>
                  <a:pt x="171450" y="1809750"/>
                </a:lnTo>
                <a:cubicBezTo>
                  <a:pt x="76761" y="1809750"/>
                  <a:pt x="0" y="1732989"/>
                  <a:pt x="0" y="16383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9850707" y="2235518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可追溯标准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709785" y="2640806"/>
            <a:ext cx="89739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有唯一标识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709785" y="2974181"/>
            <a:ext cx="104884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找得到原记录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709785" y="3307556"/>
            <a:ext cx="120029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看得到访问痕迹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709785" y="3640931"/>
            <a:ext cx="89739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处置有批准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66738" y="6475095"/>
            <a:ext cx="371696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主线＝记录时间轴 下方＝档案分层与权限控制 处置必须保留决策证据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364888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23 / GOVERNANCE · COMPETENCE &amp; AUTHORIZATION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65460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人员能力与岗位授权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361740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培训不等于授权：能力确认是权限打开前的闸门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850392" y="1997392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7657B8"/>
                </a:solidFill>
                <a:latin typeface="Arial"/>
                <a:ea typeface="Microsoft YaHei"/>
                <a:cs typeface="Arial"/>
              </a:rPr>
              <a:t>能力确认阶梯</a:t>
            </a:r>
          </a:p>
        </p:txBody>
      </p:sp>
      <p:sp>
        <p:nvSpPr>
          <p:cNvPr id="9" name="Freeform 9"/>
          <p:cNvSpPr/>
          <p:nvPr/>
        </p:nvSpPr>
        <p:spPr>
          <a:xfrm>
            <a:off x="1047750" y="3143250"/>
            <a:ext cx="7239000" cy="1714500"/>
          </a:xfrm>
          <a:custGeom>
            <a:avLst/>
            <a:gdLst/>
            <a:ahLst/>
            <a:cxnLst/>
            <a:rect l="l" t="t" r="r" b="b"/>
            <a:pathLst>
              <a:path w="7239000" h="1714500">
                <a:moveTo>
                  <a:pt x="0" y="1714500"/>
                </a:moveTo>
                <a:lnTo>
                  <a:pt x="1809750" y="1714500"/>
                </a:lnTo>
                <a:lnTo>
                  <a:pt x="1809750" y="1143000"/>
                </a:lnTo>
                <a:lnTo>
                  <a:pt x="3619500" y="1143000"/>
                </a:lnTo>
                <a:lnTo>
                  <a:pt x="3619500" y="571500"/>
                </a:lnTo>
                <a:lnTo>
                  <a:pt x="5429250" y="571500"/>
                </a:lnTo>
                <a:lnTo>
                  <a:pt x="5429250" y="0"/>
                </a:lnTo>
                <a:lnTo>
                  <a:pt x="7239000" y="0"/>
                </a:lnTo>
              </a:path>
            </a:pathLst>
          </a:custGeom>
          <a:noFill/>
          <a:ln w="47625">
            <a:solidFill>
              <a:srgbClr val="7657B8"/>
            </a:solidFill>
            <a:tailEnd type="triangle" w="lg" len="lg"/>
          </a:ln>
        </p:spPr>
      </p:sp>
      <p:grpSp>
        <p:nvGrpSpPr>
          <p:cNvPr id="18" name="Group 18"/>
          <p:cNvGrpSpPr/>
          <p:nvPr/>
        </p:nvGrpSpPr>
        <p:grpSpPr>
          <a:xfrm>
            <a:off x="952500" y="2809875"/>
            <a:ext cx="7048500" cy="2305050"/>
            <a:chOff x="952500" y="2809875"/>
            <a:chExt cx="7048500" cy="2305050"/>
          </a:xfrm>
        </p:grpSpPr>
        <p:sp>
          <p:nvSpPr>
            <p:cNvPr id="10" name="Freeform 10"/>
            <p:cNvSpPr/>
            <p:nvPr/>
          </p:nvSpPr>
          <p:spPr>
            <a:xfrm>
              <a:off x="952500" y="4524375"/>
              <a:ext cx="1619250" cy="590550"/>
            </a:xfrm>
            <a:custGeom>
              <a:avLst/>
              <a:gdLst/>
              <a:ahLst/>
              <a:cxnLst/>
              <a:rect l="l" t="t" r="r" b="b"/>
              <a:pathLst>
                <a:path w="1619250" h="590550">
                  <a:moveTo>
                    <a:pt x="114300" y="0"/>
                  </a:moveTo>
                  <a:lnTo>
                    <a:pt x="1504950" y="0"/>
                  </a:lnTo>
                  <a:cubicBezTo>
                    <a:pt x="1568076" y="0"/>
                    <a:pt x="1619250" y="51174"/>
                    <a:pt x="1619250" y="114300"/>
                  </a:cubicBezTo>
                  <a:lnTo>
                    <a:pt x="1619250" y="476250"/>
                  </a:lnTo>
                  <a:cubicBezTo>
                    <a:pt x="1619250" y="539376"/>
                    <a:pt x="1568076" y="590550"/>
                    <a:pt x="1504950" y="590550"/>
                  </a:cubicBezTo>
                  <a:lnTo>
                    <a:pt x="114300" y="590550"/>
                  </a:lnTo>
                  <a:cubicBezTo>
                    <a:pt x="51174" y="590550"/>
                    <a:pt x="0" y="539376"/>
                    <a:pt x="0" y="4762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2ECFF"/>
            </a:solidFill>
            <a:ln w="9525">
              <a:solidFill>
                <a:srgbClr val="7657B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575425" y="4739164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培训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2762250" y="3952875"/>
              <a:ext cx="1619250" cy="590550"/>
            </a:xfrm>
            <a:custGeom>
              <a:avLst/>
              <a:gdLst/>
              <a:ahLst/>
              <a:cxnLst/>
              <a:rect l="l" t="t" r="r" b="b"/>
              <a:pathLst>
                <a:path w="1619250" h="590550">
                  <a:moveTo>
                    <a:pt x="114300" y="0"/>
                  </a:moveTo>
                  <a:lnTo>
                    <a:pt x="1504950" y="0"/>
                  </a:lnTo>
                  <a:cubicBezTo>
                    <a:pt x="1568076" y="0"/>
                    <a:pt x="1619250" y="51174"/>
                    <a:pt x="1619250" y="114300"/>
                  </a:cubicBezTo>
                  <a:lnTo>
                    <a:pt x="1619250" y="476250"/>
                  </a:lnTo>
                  <a:cubicBezTo>
                    <a:pt x="1619250" y="539376"/>
                    <a:pt x="1568076" y="590550"/>
                    <a:pt x="1504950" y="590550"/>
                  </a:cubicBezTo>
                  <a:lnTo>
                    <a:pt x="114300" y="590550"/>
                  </a:lnTo>
                  <a:cubicBezTo>
                    <a:pt x="51174" y="590550"/>
                    <a:pt x="0" y="539376"/>
                    <a:pt x="0" y="4762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2ECFF"/>
            </a:solidFill>
            <a:ln w="9525">
              <a:solidFill>
                <a:srgbClr val="7657B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204953" y="416766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能力确认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4572000" y="3381375"/>
              <a:ext cx="1619250" cy="590550"/>
            </a:xfrm>
            <a:custGeom>
              <a:avLst/>
              <a:gdLst/>
              <a:ahLst/>
              <a:cxnLst/>
              <a:rect l="l" t="t" r="r" b="b"/>
              <a:pathLst>
                <a:path w="1619250" h="590550">
                  <a:moveTo>
                    <a:pt x="114300" y="0"/>
                  </a:moveTo>
                  <a:lnTo>
                    <a:pt x="1504950" y="0"/>
                  </a:lnTo>
                  <a:cubicBezTo>
                    <a:pt x="1568076" y="0"/>
                    <a:pt x="1619250" y="51174"/>
                    <a:pt x="1619250" y="114300"/>
                  </a:cubicBezTo>
                  <a:lnTo>
                    <a:pt x="1619250" y="476250"/>
                  </a:lnTo>
                  <a:cubicBezTo>
                    <a:pt x="1619250" y="539376"/>
                    <a:pt x="1568076" y="590550"/>
                    <a:pt x="1504950" y="590550"/>
                  </a:cubicBezTo>
                  <a:lnTo>
                    <a:pt x="114300" y="590550"/>
                  </a:lnTo>
                  <a:cubicBezTo>
                    <a:pt x="51174" y="590550"/>
                    <a:pt x="0" y="539376"/>
                    <a:pt x="0" y="4762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2E7"/>
            </a:solidFill>
            <a:ln w="9525">
              <a:solidFill>
                <a:srgbClr val="C56A25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014703" y="359616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岗位授权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6381750" y="2809875"/>
              <a:ext cx="1619250" cy="590550"/>
            </a:xfrm>
            <a:custGeom>
              <a:avLst/>
              <a:gdLst/>
              <a:ahLst/>
              <a:cxnLst/>
              <a:rect l="l" t="t" r="r" b="b"/>
              <a:pathLst>
                <a:path w="1619250" h="590550">
                  <a:moveTo>
                    <a:pt x="114300" y="0"/>
                  </a:moveTo>
                  <a:lnTo>
                    <a:pt x="1504950" y="0"/>
                  </a:lnTo>
                  <a:cubicBezTo>
                    <a:pt x="1568076" y="0"/>
                    <a:pt x="1619250" y="51174"/>
                    <a:pt x="1619250" y="114300"/>
                  </a:cubicBezTo>
                  <a:lnTo>
                    <a:pt x="1619250" y="476250"/>
                  </a:lnTo>
                  <a:cubicBezTo>
                    <a:pt x="1619250" y="539376"/>
                    <a:pt x="1568076" y="590550"/>
                    <a:pt x="1504950" y="590550"/>
                  </a:cubicBezTo>
                  <a:lnTo>
                    <a:pt x="114300" y="590550"/>
                  </a:lnTo>
                  <a:cubicBezTo>
                    <a:pt x="51174" y="590550"/>
                    <a:pt x="0" y="539376"/>
                    <a:pt x="0" y="4762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EAF7F4"/>
            </a:solidFill>
            <a:ln w="9525">
              <a:solidFill>
                <a:srgbClr val="1C9C8C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824453" y="302466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授权记录</a:t>
              </a:r>
            </a:p>
          </p:txBody>
        </p:sp>
      </p:grpSp>
      <p:sp>
        <p:nvSpPr>
          <p:cNvPr id="19" name="Freeform 19"/>
          <p:cNvSpPr/>
          <p:nvPr/>
        </p:nvSpPr>
        <p:spPr>
          <a:xfrm>
            <a:off x="857250" y="5429250"/>
            <a:ext cx="7429500" cy="495300"/>
          </a:xfrm>
          <a:custGeom>
            <a:avLst/>
            <a:gdLst/>
            <a:ahLst/>
            <a:cxnLst/>
            <a:rect l="l" t="t" r="r" b="b"/>
            <a:pathLst>
              <a:path w="7429500" h="495300">
                <a:moveTo>
                  <a:pt x="247650" y="0"/>
                </a:moveTo>
                <a:lnTo>
                  <a:pt x="7181850" y="0"/>
                </a:lnTo>
                <a:cubicBezTo>
                  <a:pt x="7318623" y="0"/>
                  <a:pt x="7429500" y="110877"/>
                  <a:pt x="7429500" y="247650"/>
                </a:cubicBezTo>
                <a:lnTo>
                  <a:pt x="7429500" y="247650"/>
                </a:lnTo>
                <a:cubicBezTo>
                  <a:pt x="7429500" y="384423"/>
                  <a:pt x="7318623" y="495300"/>
                  <a:pt x="7181850" y="495300"/>
                </a:cubicBezTo>
                <a:lnTo>
                  <a:pt x="247650" y="495300"/>
                </a:lnTo>
                <a:cubicBezTo>
                  <a:pt x="110877" y="495300"/>
                  <a:pt x="0" y="384423"/>
                  <a:pt x="0" y="247650"/>
                </a:cubicBezTo>
                <a:lnTo>
                  <a:pt x="0" y="247650"/>
                </a:lnTo>
                <a:cubicBezTo>
                  <a:pt x="0" y="110877"/>
                  <a:pt x="110877" y="0"/>
                  <a:pt x="2476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CE4EE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2411944" y="5612606"/>
            <a:ext cx="43201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每一级都要有证据：培训记录 · 评价结果 · 授权批准 · 复核日期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851392" y="1997392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授权生命周期</a:t>
            </a:r>
          </a:p>
        </p:txBody>
      </p:sp>
      <p:sp>
        <p:nvSpPr>
          <p:cNvPr id="22" name="Freeform 22"/>
          <p:cNvSpPr/>
          <p:nvPr/>
        </p:nvSpPr>
        <p:spPr>
          <a:xfrm>
            <a:off x="8572500" y="2476500"/>
            <a:ext cx="2571750" cy="2381250"/>
          </a:xfrm>
          <a:custGeom>
            <a:avLst/>
            <a:gdLst/>
            <a:ahLst/>
            <a:cxnLst/>
            <a:rect l="l" t="t" r="r" b="b"/>
            <a:pathLst>
              <a:path w="2571750" h="2381250">
                <a:moveTo>
                  <a:pt x="171450" y="0"/>
                </a:moveTo>
                <a:lnTo>
                  <a:pt x="2400300" y="0"/>
                </a:lnTo>
                <a:cubicBezTo>
                  <a:pt x="2494989" y="0"/>
                  <a:pt x="2571750" y="76761"/>
                  <a:pt x="2571750" y="171450"/>
                </a:cubicBezTo>
                <a:lnTo>
                  <a:pt x="2571750" y="2209800"/>
                </a:lnTo>
                <a:cubicBezTo>
                  <a:pt x="2571750" y="2304489"/>
                  <a:pt x="2494989" y="2381250"/>
                  <a:pt x="2400300" y="2381250"/>
                </a:cubicBezTo>
                <a:lnTo>
                  <a:pt x="171450" y="2381250"/>
                </a:lnTo>
                <a:cubicBezTo>
                  <a:pt x="76761" y="2381250"/>
                  <a:pt x="0" y="2304489"/>
                  <a:pt x="0" y="22098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23" name="Freeform 23"/>
          <p:cNvSpPr/>
          <p:nvPr/>
        </p:nvSpPr>
        <p:spPr>
          <a:xfrm>
            <a:off x="8858250" y="2857500"/>
            <a:ext cx="2000250" cy="1428750"/>
          </a:xfrm>
          <a:custGeom>
            <a:avLst/>
            <a:gdLst/>
            <a:ahLst/>
            <a:cxnLst/>
            <a:rect l="l" t="t" r="r" b="b"/>
            <a:pathLst>
              <a:path w="2000250" h="1428750">
                <a:moveTo>
                  <a:pt x="1000125" y="0"/>
                </a:moveTo>
                <a:cubicBezTo>
                  <a:pt x="1714500" y="0"/>
                  <a:pt x="2000250" y="476250"/>
                  <a:pt x="1714500" y="952500"/>
                </a:cubicBezTo>
                <a:cubicBezTo>
                  <a:pt x="1428750" y="1428750"/>
                  <a:pt x="571500" y="1428750"/>
                  <a:pt x="285750" y="952500"/>
                </a:cubicBezTo>
                <a:cubicBezTo>
                  <a:pt x="0" y="476250"/>
                  <a:pt x="285750" y="0"/>
                  <a:pt x="1000125" y="0"/>
                </a:cubicBezTo>
                <a:close/>
              </a:path>
            </a:pathLst>
          </a:custGeom>
          <a:noFill/>
          <a:ln w="38100">
            <a:solidFill>
              <a:srgbClr val="1C9C8C"/>
            </a:solidFill>
            <a:tailEnd type="triangle" w="lg" len="lg"/>
          </a:ln>
        </p:spPr>
      </p:sp>
      <p:sp>
        <p:nvSpPr>
          <p:cNvPr id="24" name="TextBox 24"/>
          <p:cNvSpPr txBox="1"/>
          <p:nvPr/>
        </p:nvSpPr>
        <p:spPr>
          <a:xfrm>
            <a:off x="9428226" y="3204210"/>
            <a:ext cx="860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维护与复核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224153" y="3593306"/>
            <a:ext cx="126844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复训 / 调岗 / 替代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474041" y="3974306"/>
            <a:ext cx="76866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失效时暂停</a:t>
            </a:r>
          </a:p>
        </p:txBody>
      </p:sp>
      <p:sp>
        <p:nvSpPr>
          <p:cNvPr id="27" name="Freeform 27"/>
          <p:cNvSpPr/>
          <p:nvPr/>
        </p:nvSpPr>
        <p:spPr>
          <a:xfrm>
            <a:off x="6667500" y="4857750"/>
            <a:ext cx="3190875" cy="428625"/>
          </a:xfrm>
          <a:custGeom>
            <a:avLst/>
            <a:gdLst/>
            <a:ahLst/>
            <a:cxnLst/>
            <a:rect l="l" t="t" r="r" b="b"/>
            <a:pathLst>
              <a:path w="3190875" h="428625">
                <a:moveTo>
                  <a:pt x="3190875" y="0"/>
                </a:moveTo>
                <a:lnTo>
                  <a:pt x="3190875" y="428625"/>
                </a:lnTo>
                <a:lnTo>
                  <a:pt x="0" y="428625"/>
                </a:ln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28" name="TextBox 28"/>
          <p:cNvSpPr txBox="1"/>
          <p:nvPr/>
        </p:nvSpPr>
        <p:spPr>
          <a:xfrm>
            <a:off x="9073233" y="5077778"/>
            <a:ext cx="166553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离岗 / 不合格：回收权限</a:t>
            </a:r>
          </a:p>
        </p:txBody>
      </p:sp>
      <p:sp>
        <p:nvSpPr>
          <p:cNvPr id="29" name="Freeform 29"/>
          <p:cNvSpPr/>
          <p:nvPr/>
        </p:nvSpPr>
        <p:spPr>
          <a:xfrm>
            <a:off x="857250" y="2476500"/>
            <a:ext cx="2571750" cy="1047750"/>
          </a:xfrm>
          <a:custGeom>
            <a:avLst/>
            <a:gdLst/>
            <a:ahLst/>
            <a:cxnLst/>
            <a:rect l="l" t="t" r="r" b="b"/>
            <a:pathLst>
              <a:path w="2571750" h="1047750">
                <a:moveTo>
                  <a:pt x="152400" y="0"/>
                </a:moveTo>
                <a:lnTo>
                  <a:pt x="2419350" y="0"/>
                </a:lnTo>
                <a:cubicBezTo>
                  <a:pt x="2503518" y="0"/>
                  <a:pt x="2571750" y="68232"/>
                  <a:pt x="2571750" y="152400"/>
                </a:cubicBezTo>
                <a:lnTo>
                  <a:pt x="2571750" y="895350"/>
                </a:lnTo>
                <a:cubicBezTo>
                  <a:pt x="2571750" y="979518"/>
                  <a:pt x="2503518" y="1047750"/>
                  <a:pt x="2419350" y="1047750"/>
                </a:cubicBezTo>
                <a:lnTo>
                  <a:pt x="152400" y="1047750"/>
                </a:lnTo>
                <a:cubicBezTo>
                  <a:pt x="68232" y="1047750"/>
                  <a:pt x="0" y="979518"/>
                  <a:pt x="0" y="89535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7DF"/>
          </a:solidFill>
          <a:ln w="19050">
            <a:solidFill>
              <a:srgbClr val="A87519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1776203" y="2719864"/>
            <a:ext cx="733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能力闸门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68814" y="3069431"/>
            <a:ext cx="154862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未确认能力 → 不得授权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738" y="6475095"/>
            <a:ext cx="369878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紫色＝能力判断 橙色＝授权 青绿色＝有效维护 红色虚线＝暂停/回收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8053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24｜客户资料与信息权限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0507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权限矩阵与控制闭环：按需批准、使用留痕、变化即回收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94410"/>
            <a:ext cx="5359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权限矩阵只回答“谁可以做什么”；申请、批准、留痕和回收另列为控制闭环</a:t>
            </a:r>
          </a:p>
        </p:txBody>
      </p:sp>
      <p:sp>
        <p:nvSpPr>
          <p:cNvPr id="6" name="Rectangle 6"/>
          <p:cNvSpPr/>
          <p:nvPr/>
        </p:nvSpPr>
        <p:spPr>
          <a:xfrm>
            <a:off x="552450" y="1619250"/>
            <a:ext cx="1714500" cy="457200"/>
          </a:xfrm>
          <a:prstGeom prst="rect">
            <a:avLst/>
          </a:prstGeom>
          <a:solidFill>
            <a:srgbClr val="EAF0FF"/>
          </a:solidFill>
          <a:ln w="9525">
            <a:solidFill>
              <a:srgbClr val="D7E0EA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080516" y="17754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资料类型</a:t>
            </a:r>
          </a:p>
        </p:txBody>
      </p:sp>
      <p:sp>
        <p:nvSpPr>
          <p:cNvPr id="8" name="Rectangle 8"/>
          <p:cNvSpPr/>
          <p:nvPr/>
        </p:nvSpPr>
        <p:spPr>
          <a:xfrm>
            <a:off x="2266950" y="1619250"/>
            <a:ext cx="1714500" cy="457200"/>
          </a:xfrm>
          <a:prstGeom prst="rect">
            <a:avLst/>
          </a:prstGeom>
          <a:solidFill>
            <a:srgbClr val="EAF0FF"/>
          </a:solidFill>
          <a:ln w="9525">
            <a:solidFill>
              <a:srgbClr val="D7E0EA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2750591" y="177546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业务/营运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981450" y="1619250"/>
            <a:ext cx="1714500" cy="457200"/>
          </a:xfrm>
          <a:prstGeom prst="rect">
            <a:avLst/>
          </a:prstGeom>
          <a:solidFill>
            <a:srgbClr val="EAF0FF"/>
          </a:solidFill>
          <a:ln w="9525">
            <a:solidFill>
              <a:srgbClr val="D7E0EA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4465091" y="177546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技术/品质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695950" y="1619250"/>
            <a:ext cx="1714500" cy="457200"/>
          </a:xfrm>
          <a:prstGeom prst="rect">
            <a:avLst/>
          </a:prstGeom>
          <a:solidFill>
            <a:srgbClr val="EAF0FF"/>
          </a:solidFill>
          <a:ln w="9525">
            <a:solidFill>
              <a:srgbClr val="D7E0EA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6304788" y="177546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管理层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410450" y="1619250"/>
            <a:ext cx="2286000" cy="457200"/>
          </a:xfrm>
          <a:prstGeom prst="rect">
            <a:avLst/>
          </a:prstGeom>
          <a:solidFill>
            <a:srgbClr val="FFF7DF"/>
          </a:solidFill>
          <a:ln w="9525">
            <a:solidFill>
              <a:srgbClr val="D7E0EA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8224266" y="17754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控制动作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52450" y="2076450"/>
            <a:ext cx="1714500" cy="552450"/>
          </a:xfrm>
          <a:prstGeom prst="rect">
            <a:avLst/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987628" y="2280285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报价 / 订单</a:t>
            </a:r>
          </a:p>
        </p:txBody>
      </p:sp>
      <p:sp>
        <p:nvSpPr>
          <p:cNvPr id="18" name="Rectangle 18"/>
          <p:cNvSpPr/>
          <p:nvPr/>
        </p:nvSpPr>
        <p:spPr>
          <a:xfrm>
            <a:off x="2266950" y="207645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2956560" y="22802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20" name="Rectangle 20"/>
          <p:cNvSpPr/>
          <p:nvPr/>
        </p:nvSpPr>
        <p:spPr>
          <a:xfrm>
            <a:off x="3981450" y="2076450"/>
            <a:ext cx="1714500" cy="552450"/>
          </a:xfrm>
          <a:prstGeom prst="rect">
            <a:avLst/>
          </a:prstGeom>
          <a:solidFill>
            <a:srgbClr val="FFF7DF"/>
          </a:solidFill>
          <a:ln w="9525">
            <a:solidFill>
              <a:srgbClr val="C56A25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4590288" y="228028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需审批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695950" y="207645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6385560" y="22802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24" name="Rectangle 24"/>
          <p:cNvSpPr/>
          <p:nvPr/>
        </p:nvSpPr>
        <p:spPr>
          <a:xfrm>
            <a:off x="7410450" y="2076450"/>
            <a:ext cx="2286000" cy="552450"/>
          </a:xfrm>
          <a:prstGeom prst="rect">
            <a:avLst/>
          </a:prstGeom>
          <a:solidFill>
            <a:srgbClr val="FFF7DF"/>
          </a:solidFill>
          <a:ln w="9525">
            <a:solidFill>
              <a:srgbClr val="C56A25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7973873" y="2280285"/>
            <a:ext cx="115915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申请→批准→留痕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52450" y="2628900"/>
            <a:ext cx="1714500" cy="552450"/>
          </a:xfrm>
          <a:prstGeom prst="rect">
            <a:avLst/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987628" y="2832735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图纸 / 工艺</a:t>
            </a:r>
          </a:p>
        </p:txBody>
      </p:sp>
      <p:sp>
        <p:nvSpPr>
          <p:cNvPr id="28" name="Rectangle 28"/>
          <p:cNvSpPr/>
          <p:nvPr/>
        </p:nvSpPr>
        <p:spPr>
          <a:xfrm>
            <a:off x="2266950" y="2628900"/>
            <a:ext cx="1714500" cy="552450"/>
          </a:xfrm>
          <a:prstGeom prst="rect">
            <a:avLst/>
          </a:prstGeom>
          <a:solidFill>
            <a:srgbClr val="FFF7DF"/>
          </a:solidFill>
          <a:ln w="9525">
            <a:solidFill>
              <a:srgbClr val="C56A25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2875788" y="28327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按项目</a:t>
            </a:r>
          </a:p>
        </p:txBody>
      </p:sp>
      <p:sp>
        <p:nvSpPr>
          <p:cNvPr id="30" name="Rectangle 30"/>
          <p:cNvSpPr/>
          <p:nvPr/>
        </p:nvSpPr>
        <p:spPr>
          <a:xfrm>
            <a:off x="3981450" y="262890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4671060" y="28327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695950" y="262890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6385560" y="28327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34" name="Rectangle 34"/>
          <p:cNvSpPr/>
          <p:nvPr/>
        </p:nvSpPr>
        <p:spPr>
          <a:xfrm>
            <a:off x="7410450" y="2628900"/>
            <a:ext cx="2286000" cy="552450"/>
          </a:xfrm>
          <a:prstGeom prst="rect">
            <a:avLst/>
          </a:prstGeom>
          <a:solidFill>
            <a:srgbClr val="FFF7DF"/>
          </a:solidFill>
          <a:ln w="9525">
            <a:solidFill>
              <a:srgbClr val="C56A25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8018297" y="2832735"/>
            <a:ext cx="107030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项目结束→复核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52450" y="3181350"/>
            <a:ext cx="1714500" cy="552450"/>
          </a:xfrm>
          <a:prstGeom prst="rect">
            <a:avLst/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987628" y="3385185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质量 / 客诉</a:t>
            </a:r>
          </a:p>
        </p:txBody>
      </p:sp>
      <p:sp>
        <p:nvSpPr>
          <p:cNvPr id="38" name="Rectangle 38"/>
          <p:cNvSpPr/>
          <p:nvPr/>
        </p:nvSpPr>
        <p:spPr>
          <a:xfrm>
            <a:off x="2266950" y="318135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2956560" y="33851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40" name="Rectangle 40"/>
          <p:cNvSpPr/>
          <p:nvPr/>
        </p:nvSpPr>
        <p:spPr>
          <a:xfrm>
            <a:off x="3981450" y="318135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4671060" y="33851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42" name="Rectangle 42"/>
          <p:cNvSpPr/>
          <p:nvPr/>
        </p:nvSpPr>
        <p:spPr>
          <a:xfrm>
            <a:off x="5695950" y="318135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6385560" y="33851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44" name="Rectangle 44"/>
          <p:cNvSpPr/>
          <p:nvPr/>
        </p:nvSpPr>
        <p:spPr>
          <a:xfrm>
            <a:off x="7410450" y="3181350"/>
            <a:ext cx="2286000" cy="552450"/>
          </a:xfrm>
          <a:prstGeom prst="rect">
            <a:avLst/>
          </a:prstGeom>
          <a:solidFill>
            <a:srgbClr val="FFF7DF"/>
          </a:solidFill>
          <a:ln w="9525">
            <a:solidFill>
              <a:srgbClr val="C56A25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7973873" y="3385185"/>
            <a:ext cx="115915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异常→上报→关闭</a:t>
            </a:r>
          </a:p>
        </p:txBody>
      </p:sp>
      <p:sp>
        <p:nvSpPr>
          <p:cNvPr id="46" name="Rectangle 46"/>
          <p:cNvSpPr/>
          <p:nvPr/>
        </p:nvSpPr>
        <p:spPr>
          <a:xfrm>
            <a:off x="552450" y="3733800"/>
            <a:ext cx="1714500" cy="552450"/>
          </a:xfrm>
          <a:prstGeom prst="rect">
            <a:avLst/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987628" y="3937635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经营 / 人事</a:t>
            </a:r>
          </a:p>
        </p:txBody>
      </p:sp>
      <p:sp>
        <p:nvSpPr>
          <p:cNvPr id="48" name="Rectangle 48"/>
          <p:cNvSpPr/>
          <p:nvPr/>
        </p:nvSpPr>
        <p:spPr>
          <a:xfrm>
            <a:off x="2266950" y="3733800"/>
            <a:ext cx="1714500" cy="552450"/>
          </a:xfrm>
          <a:prstGeom prst="rect">
            <a:avLst/>
          </a:prstGeom>
          <a:solidFill>
            <a:srgbClr val="FFF0F0"/>
          </a:solidFill>
          <a:ln w="9525">
            <a:solidFill>
              <a:srgbClr val="D95C5C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2875788" y="39376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不可见</a:t>
            </a:r>
          </a:p>
        </p:txBody>
      </p:sp>
      <p:sp>
        <p:nvSpPr>
          <p:cNvPr id="50" name="Rectangle 50"/>
          <p:cNvSpPr/>
          <p:nvPr/>
        </p:nvSpPr>
        <p:spPr>
          <a:xfrm>
            <a:off x="3981450" y="3733800"/>
            <a:ext cx="1714500" cy="552450"/>
          </a:xfrm>
          <a:prstGeom prst="rect">
            <a:avLst/>
          </a:prstGeom>
          <a:solidFill>
            <a:srgbClr val="FFF0F0"/>
          </a:solidFill>
          <a:ln w="9525">
            <a:solidFill>
              <a:srgbClr val="D95C5C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4590288" y="39376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不可见</a:t>
            </a:r>
          </a:p>
        </p:txBody>
      </p:sp>
      <p:sp>
        <p:nvSpPr>
          <p:cNvPr id="52" name="Rectangle 52"/>
          <p:cNvSpPr/>
          <p:nvPr/>
        </p:nvSpPr>
        <p:spPr>
          <a:xfrm>
            <a:off x="5695950" y="373380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6385560" y="39376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54" name="Rectangle 54"/>
          <p:cNvSpPr/>
          <p:nvPr/>
        </p:nvSpPr>
        <p:spPr>
          <a:xfrm>
            <a:off x="7410450" y="3733800"/>
            <a:ext cx="2286000" cy="552450"/>
          </a:xfrm>
          <a:prstGeom prst="rect">
            <a:avLst/>
          </a:prstGeom>
          <a:solidFill>
            <a:srgbClr val="FFF7DF"/>
          </a:solidFill>
          <a:ln w="9525">
            <a:solidFill>
              <a:srgbClr val="C56A25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8018297" y="3937635"/>
            <a:ext cx="107030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离岗→立即回收</a:t>
            </a:r>
          </a:p>
        </p:txBody>
      </p:sp>
      <p:sp>
        <p:nvSpPr>
          <p:cNvPr id="56" name="Rectangle 56"/>
          <p:cNvSpPr/>
          <p:nvPr/>
        </p:nvSpPr>
        <p:spPr>
          <a:xfrm>
            <a:off x="552450" y="4524375"/>
            <a:ext cx="1114425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774954" y="4680585"/>
            <a:ext cx="388924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权限控制闭环：四个动作对应矩阵中的每一次权限变化</a:t>
            </a:r>
          </a:p>
        </p:txBody>
      </p:sp>
      <p:sp>
        <p:nvSpPr>
          <p:cNvPr id="58" name="Rectangle 58"/>
          <p:cNvSpPr/>
          <p:nvPr/>
        </p:nvSpPr>
        <p:spPr>
          <a:xfrm>
            <a:off x="781050" y="5048250"/>
            <a:ext cx="2095500" cy="4000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F6BFF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1592504" y="5090160"/>
            <a:ext cx="4725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1 申请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338072" y="5252085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说明业务需要</a:t>
            </a:r>
          </a:p>
        </p:txBody>
      </p:sp>
      <p:sp>
        <p:nvSpPr>
          <p:cNvPr id="61" name="Line 61"/>
          <p:cNvSpPr/>
          <p:nvPr/>
        </p:nvSpPr>
        <p:spPr>
          <a:xfrm>
            <a:off x="2876550" y="5248275"/>
            <a:ext cx="476250" cy="1"/>
          </a:xfrm>
          <a:prstGeom prst="line">
            <a:avLst/>
          </a:pr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62" name="Rectangle 62"/>
          <p:cNvSpPr/>
          <p:nvPr/>
        </p:nvSpPr>
        <p:spPr>
          <a:xfrm>
            <a:off x="3448050" y="5048250"/>
            <a:ext cx="2095500" cy="4000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4259504" y="5090160"/>
            <a:ext cx="4725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 批准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4005072" y="5252085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最小必要权限</a:t>
            </a:r>
          </a:p>
        </p:txBody>
      </p:sp>
      <p:sp>
        <p:nvSpPr>
          <p:cNvPr id="65" name="Line 65"/>
          <p:cNvSpPr/>
          <p:nvPr/>
        </p:nvSpPr>
        <p:spPr>
          <a:xfrm>
            <a:off x="5543550" y="5248275"/>
            <a:ext cx="476250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66" name="Rectangle 66"/>
          <p:cNvSpPr/>
          <p:nvPr/>
        </p:nvSpPr>
        <p:spPr>
          <a:xfrm>
            <a:off x="6115050" y="5048250"/>
            <a:ext cx="2095500" cy="4000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67" name="TextBox 67"/>
          <p:cNvSpPr txBox="1"/>
          <p:nvPr/>
        </p:nvSpPr>
        <p:spPr>
          <a:xfrm>
            <a:off x="6764960" y="5090160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3 使用留痕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6752844" y="525208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访问可追溯</a:t>
            </a:r>
          </a:p>
        </p:txBody>
      </p:sp>
      <p:sp>
        <p:nvSpPr>
          <p:cNvPr id="69" name="Line 69"/>
          <p:cNvSpPr/>
          <p:nvPr/>
        </p:nvSpPr>
        <p:spPr>
          <a:xfrm>
            <a:off x="8210550" y="5248275"/>
            <a:ext cx="476250" cy="1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70" name="Rectangle 70"/>
          <p:cNvSpPr/>
          <p:nvPr/>
        </p:nvSpPr>
        <p:spPr>
          <a:xfrm>
            <a:off x="8782050" y="5048250"/>
            <a:ext cx="2095500" cy="4000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D95C5C"/>
            </a:solidFill>
          </a:ln>
        </p:spPr>
      </p:sp>
      <p:sp>
        <p:nvSpPr>
          <p:cNvPr id="71" name="TextBox 71"/>
          <p:cNvSpPr txBox="1"/>
          <p:nvPr/>
        </p:nvSpPr>
        <p:spPr>
          <a:xfrm>
            <a:off x="9387535" y="5090160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4 复核/回收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8935212" y="5252085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岗位变化或异常立即处理</a:t>
            </a:r>
          </a:p>
        </p:txBody>
      </p:sp>
      <p:sp>
        <p:nvSpPr>
          <p:cNvPr id="73" name="Line 73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74" name="TextBox 74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81773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25 / GOVERNANCE · MANAGEMENT LOOP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65460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经营会议与管理闭环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64724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会议不是终点：决定必须转化为责任、期限、验证和关闭证据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Ellipse 8"/>
          <p:cNvSpPr/>
          <p:nvPr/>
        </p:nvSpPr>
        <p:spPr>
          <a:xfrm>
            <a:off x="5095875" y="2524125"/>
            <a:ext cx="2000250" cy="2000250"/>
          </a:xfrm>
          <a:prstGeom prst="ellipse">
            <a:avLst/>
          </a:prstGeom>
          <a:solidFill>
            <a:srgbClr val="EAF0FF"/>
          </a:solidFill>
          <a:ln w="28575">
            <a:solidFill>
              <a:srgbClr val="2F6BF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5621160" y="3250882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经营会议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397413" y="3612356"/>
            <a:ext cx="139717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管理评审 / 决策中心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52500" y="2095500"/>
            <a:ext cx="10287000" cy="3095625"/>
            <a:chOff x="952500" y="2095500"/>
            <a:chExt cx="10287000" cy="3095625"/>
          </a:xfrm>
        </p:grpSpPr>
        <p:sp>
          <p:nvSpPr>
            <p:cNvPr id="11" name="Freeform 11"/>
            <p:cNvSpPr/>
            <p:nvPr/>
          </p:nvSpPr>
          <p:spPr>
            <a:xfrm>
              <a:off x="952500" y="2095500"/>
              <a:ext cx="2286000" cy="857250"/>
            </a:xfrm>
            <a:custGeom>
              <a:avLst/>
              <a:gdLst/>
              <a:ahLst/>
              <a:cxnLst/>
              <a:rect l="l" t="t" r="r" b="b"/>
              <a:pathLst>
                <a:path w="2286000" h="857250">
                  <a:moveTo>
                    <a:pt x="152400" y="0"/>
                  </a:moveTo>
                  <a:lnTo>
                    <a:pt x="2133600" y="0"/>
                  </a:lnTo>
                  <a:cubicBezTo>
                    <a:pt x="2217768" y="0"/>
                    <a:pt x="2286000" y="68232"/>
                    <a:pt x="2286000" y="152400"/>
                  </a:cubicBezTo>
                  <a:lnTo>
                    <a:pt x="2286000" y="704850"/>
                  </a:lnTo>
                  <a:cubicBezTo>
                    <a:pt x="2286000" y="789018"/>
                    <a:pt x="2217768" y="857250"/>
                    <a:pt x="2133600" y="857250"/>
                  </a:cubicBezTo>
                  <a:lnTo>
                    <a:pt x="152400" y="857250"/>
                  </a:lnTo>
                  <a:cubicBezTo>
                    <a:pt x="68232" y="857250"/>
                    <a:pt x="0" y="789018"/>
                    <a:pt x="0" y="7048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EAF7F4"/>
            </a:solidFill>
            <a:ln w="19050">
              <a:solidFill>
                <a:srgbClr val="1C9C8C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728578" y="2291239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数据输入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58304" y="2572702"/>
              <a:ext cx="20743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交付 · 质量 · 供应 · 现金 · 能力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8953500" y="2095500"/>
              <a:ext cx="2286000" cy="857250"/>
            </a:xfrm>
            <a:custGeom>
              <a:avLst/>
              <a:gdLst/>
              <a:ahLst/>
              <a:cxnLst/>
              <a:rect l="l" t="t" r="r" b="b"/>
              <a:pathLst>
                <a:path w="2286000" h="857250">
                  <a:moveTo>
                    <a:pt x="152400" y="0"/>
                  </a:moveTo>
                  <a:lnTo>
                    <a:pt x="2133600" y="0"/>
                  </a:lnTo>
                  <a:cubicBezTo>
                    <a:pt x="2217768" y="0"/>
                    <a:pt x="2286000" y="68232"/>
                    <a:pt x="2286000" y="152400"/>
                  </a:cubicBezTo>
                  <a:lnTo>
                    <a:pt x="2286000" y="704850"/>
                  </a:lnTo>
                  <a:cubicBezTo>
                    <a:pt x="2286000" y="789018"/>
                    <a:pt x="2217768" y="857250"/>
                    <a:pt x="2133600" y="857250"/>
                  </a:cubicBezTo>
                  <a:lnTo>
                    <a:pt x="152400" y="857250"/>
                  </a:lnTo>
                  <a:cubicBezTo>
                    <a:pt x="68232" y="857250"/>
                    <a:pt x="0" y="789018"/>
                    <a:pt x="0" y="7048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2E7"/>
            </a:solidFill>
            <a:ln w="19050">
              <a:solidFill>
                <a:srgbClr val="C56A25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729578" y="2291239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会议输出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69905" y="2572702"/>
              <a:ext cx="20531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决定 · 责任人 · 期限 · 验收标准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952500" y="4333875"/>
              <a:ext cx="2286000" cy="857250"/>
            </a:xfrm>
            <a:custGeom>
              <a:avLst/>
              <a:gdLst/>
              <a:ahLst/>
              <a:cxnLst/>
              <a:rect l="l" t="t" r="r" b="b"/>
              <a:pathLst>
                <a:path w="2286000" h="857250">
                  <a:moveTo>
                    <a:pt x="152400" y="0"/>
                  </a:moveTo>
                  <a:lnTo>
                    <a:pt x="2133600" y="0"/>
                  </a:lnTo>
                  <a:cubicBezTo>
                    <a:pt x="2217768" y="0"/>
                    <a:pt x="2286000" y="68232"/>
                    <a:pt x="2286000" y="152400"/>
                  </a:cubicBezTo>
                  <a:lnTo>
                    <a:pt x="2286000" y="704850"/>
                  </a:lnTo>
                  <a:cubicBezTo>
                    <a:pt x="2286000" y="789018"/>
                    <a:pt x="2217768" y="857250"/>
                    <a:pt x="2133600" y="857250"/>
                  </a:cubicBezTo>
                  <a:lnTo>
                    <a:pt x="152400" y="857250"/>
                  </a:lnTo>
                  <a:cubicBezTo>
                    <a:pt x="68232" y="857250"/>
                    <a:pt x="0" y="789018"/>
                    <a:pt x="0" y="7048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2ECFF"/>
            </a:solidFill>
            <a:ln w="19050">
              <a:solidFill>
                <a:srgbClr val="7657B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728578" y="452961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跟踪验证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54086" y="481107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按期检查结果与证据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8953500" y="4333875"/>
              <a:ext cx="2286000" cy="857250"/>
            </a:xfrm>
            <a:custGeom>
              <a:avLst/>
              <a:gdLst/>
              <a:ahLst/>
              <a:cxnLst/>
              <a:rect l="l" t="t" r="r" b="b"/>
              <a:pathLst>
                <a:path w="2286000" h="857250">
                  <a:moveTo>
                    <a:pt x="152400" y="0"/>
                  </a:moveTo>
                  <a:lnTo>
                    <a:pt x="2133600" y="0"/>
                  </a:lnTo>
                  <a:cubicBezTo>
                    <a:pt x="2217768" y="0"/>
                    <a:pt x="2286000" y="68232"/>
                    <a:pt x="2286000" y="152400"/>
                  </a:cubicBezTo>
                  <a:lnTo>
                    <a:pt x="2286000" y="704850"/>
                  </a:lnTo>
                  <a:cubicBezTo>
                    <a:pt x="2286000" y="789018"/>
                    <a:pt x="2217768" y="857250"/>
                    <a:pt x="2133600" y="857250"/>
                  </a:cubicBezTo>
                  <a:lnTo>
                    <a:pt x="152400" y="857250"/>
                  </a:lnTo>
                  <a:cubicBezTo>
                    <a:pt x="68232" y="857250"/>
                    <a:pt x="0" y="789018"/>
                    <a:pt x="0" y="7048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EAF7F4"/>
            </a:solidFill>
            <a:ln w="19050">
              <a:solidFill>
                <a:srgbClr val="1C9C8C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729578" y="452961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归档关闭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4485" y="4811078"/>
              <a:ext cx="13040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完成证据 · 复盘结论</a:t>
              </a:r>
            </a:p>
          </p:txBody>
        </p:sp>
      </p:grpSp>
      <p:sp>
        <p:nvSpPr>
          <p:cNvPr id="24" name="Freeform 24"/>
          <p:cNvSpPr/>
          <p:nvPr/>
        </p:nvSpPr>
        <p:spPr>
          <a:xfrm>
            <a:off x="3238500" y="2524125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25" name="Freeform 25"/>
          <p:cNvSpPr/>
          <p:nvPr/>
        </p:nvSpPr>
        <p:spPr>
          <a:xfrm>
            <a:off x="7524750" y="2524125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26" name="Freeform 26"/>
          <p:cNvSpPr/>
          <p:nvPr/>
        </p:nvSpPr>
        <p:spPr>
          <a:xfrm>
            <a:off x="7524750" y="4762500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1428750" y="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27" name="Freeform 27"/>
          <p:cNvSpPr/>
          <p:nvPr/>
        </p:nvSpPr>
        <p:spPr>
          <a:xfrm>
            <a:off x="3238500" y="4762500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1428750" y="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28" name="Freeform 28"/>
          <p:cNvSpPr/>
          <p:nvPr/>
        </p:nvSpPr>
        <p:spPr>
          <a:xfrm>
            <a:off x="2095500" y="3524250"/>
            <a:ext cx="3000375" cy="809625"/>
          </a:xfrm>
          <a:custGeom>
            <a:avLst/>
            <a:gdLst/>
            <a:ahLst/>
            <a:cxnLst/>
            <a:rect l="l" t="t" r="r" b="b"/>
            <a:pathLst>
              <a:path w="3000375" h="809625">
                <a:moveTo>
                  <a:pt x="0" y="809625"/>
                </a:moveTo>
                <a:lnTo>
                  <a:pt x="0" y="0"/>
                </a:lnTo>
                <a:lnTo>
                  <a:pt x="3000375" y="0"/>
                </a:lnTo>
              </a:path>
            </a:pathLst>
          </a:cu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29" name="Freeform 29"/>
          <p:cNvSpPr/>
          <p:nvPr/>
        </p:nvSpPr>
        <p:spPr>
          <a:xfrm>
            <a:off x="7096125" y="3524250"/>
            <a:ext cx="3000375" cy="809625"/>
          </a:xfrm>
          <a:custGeom>
            <a:avLst/>
            <a:gdLst/>
            <a:ahLst/>
            <a:cxnLst/>
            <a:rect l="l" t="t" r="r" b="b"/>
            <a:pathLst>
              <a:path w="3000375" h="809625">
                <a:moveTo>
                  <a:pt x="0" y="0"/>
                </a:moveTo>
                <a:lnTo>
                  <a:pt x="3000375" y="0"/>
                </a:lnTo>
                <a:lnTo>
                  <a:pt x="3000375" y="809625"/>
                </a:lnTo>
              </a:path>
            </a:pathLst>
          </a:cu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30" name="Freeform 30"/>
          <p:cNvSpPr/>
          <p:nvPr/>
        </p:nvSpPr>
        <p:spPr>
          <a:xfrm>
            <a:off x="2095500" y="4762500"/>
            <a:ext cx="9144000" cy="952500"/>
          </a:xfrm>
          <a:custGeom>
            <a:avLst/>
            <a:gdLst/>
            <a:ahLst/>
            <a:cxnLst/>
            <a:rect l="l" t="t" r="r" b="b"/>
            <a:pathLst>
              <a:path w="9144000" h="952500">
                <a:moveTo>
                  <a:pt x="9144000" y="0"/>
                </a:moveTo>
                <a:lnTo>
                  <a:pt x="9144000" y="952500"/>
                </a:lnTo>
                <a:lnTo>
                  <a:pt x="0" y="952500"/>
                </a:lnTo>
                <a:lnTo>
                  <a:pt x="0" y="428625"/>
                </a:ln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31" name="TextBox 31"/>
          <p:cNvSpPr txBox="1"/>
          <p:nvPr/>
        </p:nvSpPr>
        <p:spPr>
          <a:xfrm>
            <a:off x="4795803" y="5525452"/>
            <a:ext cx="374339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未完成 / 验证不通过：红色升级，回到责任人和决策中心</a:t>
            </a:r>
          </a:p>
        </p:txBody>
      </p:sp>
      <p:sp>
        <p:nvSpPr>
          <p:cNvPr id="32" name="Freeform 32"/>
          <p:cNvSpPr/>
          <p:nvPr/>
        </p:nvSpPr>
        <p:spPr>
          <a:xfrm>
            <a:off x="4381500" y="5905500"/>
            <a:ext cx="3429000" cy="323850"/>
          </a:xfrm>
          <a:custGeom>
            <a:avLst/>
            <a:gdLst/>
            <a:ahLst/>
            <a:cxnLst/>
            <a:rect l="l" t="t" r="r" b="b"/>
            <a:pathLst>
              <a:path w="3429000" h="323850">
                <a:moveTo>
                  <a:pt x="161925" y="0"/>
                </a:moveTo>
                <a:lnTo>
                  <a:pt x="3267075" y="0"/>
                </a:lnTo>
                <a:cubicBezTo>
                  <a:pt x="3356504" y="0"/>
                  <a:pt x="3429000" y="72496"/>
                  <a:pt x="3429000" y="161925"/>
                </a:cubicBezTo>
                <a:lnTo>
                  <a:pt x="3429000" y="161925"/>
                </a:lnTo>
                <a:cubicBezTo>
                  <a:pt x="3429000" y="251354"/>
                  <a:pt x="3356504" y="323850"/>
                  <a:pt x="3267075" y="323850"/>
                </a:cubicBezTo>
                <a:lnTo>
                  <a:pt x="161925" y="323850"/>
                </a:lnTo>
                <a:cubicBezTo>
                  <a:pt x="72496" y="323850"/>
                  <a:pt x="0" y="251354"/>
                  <a:pt x="0" y="161925"/>
                </a:cubicBezTo>
                <a:lnTo>
                  <a:pt x="0" y="161925"/>
                </a:lnTo>
                <a:cubicBezTo>
                  <a:pt x="0" y="72496"/>
                  <a:pt x="72496" y="0"/>
                  <a:pt x="161925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CE4EE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5011479" y="6009799"/>
            <a:ext cx="216904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会议纪要 ≠ 关闭证据 关闭必须可验证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66738" y="6475095"/>
            <a:ext cx="369878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蓝色＝会议中心 青绿色＝输入/关闭 橙色＝决定 红色虚线＝逾期升级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26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管理指标看板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193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先定义指标口径，再由管理层看趋势、风险和需要决策的事项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755904" y="1918335"/>
            <a:ext cx="32430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示意模板｜数值、目标和责任人待确认后填入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762000" y="2333625"/>
            <a:ext cx="10668000" cy="2619375"/>
            <a:chOff x="762000" y="2333625"/>
            <a:chExt cx="10668000" cy="2619375"/>
          </a:xfrm>
        </p:grpSpPr>
        <p:grpSp>
          <p:nvGrpSpPr>
            <p:cNvPr id="13" name="Group 13"/>
            <p:cNvGrpSpPr/>
            <p:nvPr/>
          </p:nvGrpSpPr>
          <p:grpSpPr>
            <a:xfrm>
              <a:off x="762000" y="2333625"/>
              <a:ext cx="3333750" cy="1143000"/>
              <a:chOff x="762000" y="2333625"/>
              <a:chExt cx="3333750" cy="11430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762000" y="2333625"/>
                <a:ext cx="3333750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3333750" h="1143000">
                    <a:moveTo>
                      <a:pt x="133350" y="0"/>
                    </a:moveTo>
                    <a:lnTo>
                      <a:pt x="3200400" y="0"/>
                    </a:lnTo>
                    <a:cubicBezTo>
                      <a:pt x="3274047" y="0"/>
                      <a:pt x="3333750" y="59703"/>
                      <a:pt x="3333750" y="133350"/>
                    </a:cubicBezTo>
                    <a:lnTo>
                      <a:pt x="3333750" y="1009650"/>
                    </a:lnTo>
                    <a:cubicBezTo>
                      <a:pt x="3333750" y="1083297"/>
                      <a:pt x="3274047" y="1143000"/>
                      <a:pt x="3200400" y="1143000"/>
                    </a:cubicBezTo>
                    <a:lnTo>
                      <a:pt x="133350" y="1143000"/>
                    </a:lnTo>
                    <a:cubicBezTo>
                      <a:pt x="59703" y="1143000"/>
                      <a:pt x="0" y="1083297"/>
                      <a:pt x="0" y="1009650"/>
                    </a:cubicBezTo>
                    <a:lnTo>
                      <a:pt x="0" y="133350"/>
                    </a:lnTo>
                    <a:cubicBezTo>
                      <a:pt x="0" y="59703"/>
                      <a:pt x="59703" y="0"/>
                      <a:pt x="1333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>
                <a:solidFill>
                  <a:srgbClr val="2F6BFF"/>
                </a:solidFill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992505" y="2505075"/>
                <a:ext cx="43929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交付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994410" y="2878931"/>
                <a:ext cx="122301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指标口径：待确认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994410" y="3136106"/>
                <a:ext cx="228314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目标｜实际｜趋势｜责任：待确认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4429125" y="2333625"/>
              <a:ext cx="3333750" cy="1143000"/>
              <a:chOff x="4429125" y="2333625"/>
              <a:chExt cx="3333750" cy="11430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4429125" y="2333625"/>
                <a:ext cx="3333750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3333750" h="1143000">
                    <a:moveTo>
                      <a:pt x="133350" y="0"/>
                    </a:moveTo>
                    <a:lnTo>
                      <a:pt x="3200400" y="0"/>
                    </a:lnTo>
                    <a:cubicBezTo>
                      <a:pt x="3274047" y="0"/>
                      <a:pt x="3333750" y="59703"/>
                      <a:pt x="3333750" y="133350"/>
                    </a:cubicBezTo>
                    <a:lnTo>
                      <a:pt x="3333750" y="1009650"/>
                    </a:lnTo>
                    <a:cubicBezTo>
                      <a:pt x="3333750" y="1083297"/>
                      <a:pt x="3274047" y="1143000"/>
                      <a:pt x="3200400" y="1143000"/>
                    </a:cubicBezTo>
                    <a:lnTo>
                      <a:pt x="133350" y="1143000"/>
                    </a:lnTo>
                    <a:cubicBezTo>
                      <a:pt x="59703" y="1143000"/>
                      <a:pt x="0" y="1083297"/>
                      <a:pt x="0" y="1009650"/>
                    </a:cubicBezTo>
                    <a:lnTo>
                      <a:pt x="0" y="133350"/>
                    </a:lnTo>
                    <a:cubicBezTo>
                      <a:pt x="0" y="59703"/>
                      <a:pt x="59703" y="0"/>
                      <a:pt x="1333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>
                <a:solidFill>
                  <a:srgbClr val="7657B8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4659630" y="2505075"/>
                <a:ext cx="43929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质量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661535" y="2878931"/>
                <a:ext cx="122301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指标口径：待确认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661535" y="3136106"/>
                <a:ext cx="228314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目标｜实际｜趋势｜责任：待确认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8096250" y="2333625"/>
              <a:ext cx="3333750" cy="1143000"/>
              <a:chOff x="8096250" y="2333625"/>
              <a:chExt cx="3333750" cy="11430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8096250" y="2333625"/>
                <a:ext cx="3333750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3333750" h="1143000">
                    <a:moveTo>
                      <a:pt x="133350" y="0"/>
                    </a:moveTo>
                    <a:lnTo>
                      <a:pt x="3200400" y="0"/>
                    </a:lnTo>
                    <a:cubicBezTo>
                      <a:pt x="3274047" y="0"/>
                      <a:pt x="3333750" y="59703"/>
                      <a:pt x="3333750" y="133350"/>
                    </a:cubicBezTo>
                    <a:lnTo>
                      <a:pt x="3333750" y="1009650"/>
                    </a:lnTo>
                    <a:cubicBezTo>
                      <a:pt x="3333750" y="1083297"/>
                      <a:pt x="3274047" y="1143000"/>
                      <a:pt x="3200400" y="1143000"/>
                    </a:cubicBezTo>
                    <a:lnTo>
                      <a:pt x="133350" y="1143000"/>
                    </a:lnTo>
                    <a:cubicBezTo>
                      <a:pt x="59703" y="1143000"/>
                      <a:pt x="0" y="1083297"/>
                      <a:pt x="0" y="1009650"/>
                    </a:cubicBezTo>
                    <a:lnTo>
                      <a:pt x="0" y="133350"/>
                    </a:lnTo>
                    <a:cubicBezTo>
                      <a:pt x="0" y="59703"/>
                      <a:pt x="59703" y="0"/>
                      <a:pt x="1333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>
                <a:solidFill>
                  <a:srgbClr val="1C9C8C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8326755" y="2505075"/>
                <a:ext cx="97996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采购/库存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328660" y="2878931"/>
                <a:ext cx="122301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指标口径：待确认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328660" y="3136106"/>
                <a:ext cx="228314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目标｜实际｜趋势｜责任：待确认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762000" y="3810000"/>
              <a:ext cx="3333750" cy="1143000"/>
              <a:chOff x="762000" y="3810000"/>
              <a:chExt cx="3333750" cy="11430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762000" y="3810000"/>
                <a:ext cx="3333750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3333750" h="1143000">
                    <a:moveTo>
                      <a:pt x="133350" y="0"/>
                    </a:moveTo>
                    <a:lnTo>
                      <a:pt x="3200400" y="0"/>
                    </a:lnTo>
                    <a:cubicBezTo>
                      <a:pt x="3274047" y="0"/>
                      <a:pt x="3333750" y="59703"/>
                      <a:pt x="3333750" y="133350"/>
                    </a:cubicBezTo>
                    <a:lnTo>
                      <a:pt x="3333750" y="1009650"/>
                    </a:lnTo>
                    <a:cubicBezTo>
                      <a:pt x="3333750" y="1083297"/>
                      <a:pt x="3274047" y="1143000"/>
                      <a:pt x="3200400" y="1143000"/>
                    </a:cubicBezTo>
                    <a:lnTo>
                      <a:pt x="133350" y="1143000"/>
                    </a:lnTo>
                    <a:cubicBezTo>
                      <a:pt x="59703" y="1143000"/>
                      <a:pt x="0" y="1083297"/>
                      <a:pt x="0" y="1009650"/>
                    </a:cubicBezTo>
                    <a:lnTo>
                      <a:pt x="0" y="133350"/>
                    </a:lnTo>
                    <a:cubicBezTo>
                      <a:pt x="0" y="59703"/>
                      <a:pt x="59703" y="0"/>
                      <a:pt x="1333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>
                <a:solidFill>
                  <a:srgbClr val="C56A25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992505" y="3981450"/>
                <a:ext cx="97996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现金/成本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994410" y="4355306"/>
                <a:ext cx="122301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指标口径：待确认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994410" y="4612481"/>
                <a:ext cx="228314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目标｜实际｜趋势｜责任：待确认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4429125" y="3810000"/>
              <a:ext cx="3333750" cy="1143000"/>
              <a:chOff x="4429125" y="3810000"/>
              <a:chExt cx="3333750" cy="11430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4429125" y="3810000"/>
                <a:ext cx="3333750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3333750" h="1143000">
                    <a:moveTo>
                      <a:pt x="133350" y="0"/>
                    </a:moveTo>
                    <a:lnTo>
                      <a:pt x="3200400" y="0"/>
                    </a:lnTo>
                    <a:cubicBezTo>
                      <a:pt x="3274047" y="0"/>
                      <a:pt x="3333750" y="59703"/>
                      <a:pt x="3333750" y="133350"/>
                    </a:cubicBezTo>
                    <a:lnTo>
                      <a:pt x="3333750" y="1009650"/>
                    </a:lnTo>
                    <a:cubicBezTo>
                      <a:pt x="3333750" y="1083297"/>
                      <a:pt x="3274047" y="1143000"/>
                      <a:pt x="3200400" y="1143000"/>
                    </a:cubicBezTo>
                    <a:lnTo>
                      <a:pt x="133350" y="1143000"/>
                    </a:lnTo>
                    <a:cubicBezTo>
                      <a:pt x="59703" y="1143000"/>
                      <a:pt x="0" y="1083297"/>
                      <a:pt x="0" y="1009650"/>
                    </a:cubicBezTo>
                    <a:lnTo>
                      <a:pt x="0" y="133350"/>
                    </a:lnTo>
                    <a:cubicBezTo>
                      <a:pt x="0" y="59703"/>
                      <a:pt x="59703" y="0"/>
                      <a:pt x="1333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>
                <a:solidFill>
                  <a:srgbClr val="A87519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4659630" y="3981450"/>
                <a:ext cx="43929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能力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661535" y="4355306"/>
                <a:ext cx="122301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指标口径：待确认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661535" y="4612481"/>
                <a:ext cx="228314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目标｜实际｜趋势｜责任：待确认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8096250" y="3810000"/>
              <a:ext cx="3333750" cy="1143000"/>
              <a:chOff x="8096250" y="3810000"/>
              <a:chExt cx="3333750" cy="11430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8096250" y="3810000"/>
                <a:ext cx="3333750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3333750" h="1143000">
                    <a:moveTo>
                      <a:pt x="133350" y="0"/>
                    </a:moveTo>
                    <a:lnTo>
                      <a:pt x="3200400" y="0"/>
                    </a:lnTo>
                    <a:cubicBezTo>
                      <a:pt x="3274047" y="0"/>
                      <a:pt x="3333750" y="59703"/>
                      <a:pt x="3333750" y="133350"/>
                    </a:cubicBezTo>
                    <a:lnTo>
                      <a:pt x="3333750" y="1009650"/>
                    </a:lnTo>
                    <a:cubicBezTo>
                      <a:pt x="3333750" y="1083297"/>
                      <a:pt x="3274047" y="1143000"/>
                      <a:pt x="3200400" y="1143000"/>
                    </a:cubicBezTo>
                    <a:lnTo>
                      <a:pt x="133350" y="1143000"/>
                    </a:lnTo>
                    <a:cubicBezTo>
                      <a:pt x="59703" y="1143000"/>
                      <a:pt x="0" y="1083297"/>
                      <a:pt x="0" y="1009650"/>
                    </a:cubicBezTo>
                    <a:lnTo>
                      <a:pt x="0" y="133350"/>
                    </a:lnTo>
                    <a:cubicBezTo>
                      <a:pt x="0" y="59703"/>
                      <a:pt x="59703" y="0"/>
                      <a:pt x="1333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>
                <a:solidFill>
                  <a:srgbClr val="D95C5C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8326755" y="3981450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整改闭环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328660" y="4355306"/>
                <a:ext cx="122301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指标口径：待确认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8328660" y="4612481"/>
                <a:ext cx="228314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目标｜实际｜趋势｜责任：待确认</a:t>
                </a:r>
              </a:p>
            </p:txBody>
          </p:sp>
        </p:grpSp>
      </p:grpSp>
      <p:sp>
        <p:nvSpPr>
          <p:cNvPr id="40" name="TextBox 40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4822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27｜风险登记与升级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0507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风险点先定位，再按编号直接映射到触发等级和责任层级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9704" y="11087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风险热力图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9704" y="1318260"/>
            <a:ext cx="183763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横轴：可能性 纵轴：影响</a:t>
            </a:r>
          </a:p>
        </p:txBody>
      </p:sp>
      <p:sp>
        <p:nvSpPr>
          <p:cNvPr id="7" name="Rectangle 7"/>
          <p:cNvSpPr/>
          <p:nvPr/>
        </p:nvSpPr>
        <p:spPr>
          <a:xfrm>
            <a:off x="876300" y="3352800"/>
            <a:ext cx="514350" cy="514350"/>
          </a:xfrm>
          <a:prstGeom prst="rect">
            <a:avLst/>
          </a:prstGeom>
          <a:solidFill>
            <a:srgbClr val="EAF7F4"/>
          </a:solidFill>
          <a:ln w="9525">
            <a:solidFill>
              <a:srgbClr val="FFFFFF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1390650" y="3352800"/>
            <a:ext cx="514350" cy="514350"/>
          </a:xfrm>
          <a:prstGeom prst="rect">
            <a:avLst/>
          </a:prstGeom>
          <a:solidFill>
            <a:srgbClr val="FFF7DF"/>
          </a:solidFill>
          <a:ln w="9525">
            <a:solidFill>
              <a:srgbClr val="FFFFFF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1905000" y="3352800"/>
            <a:ext cx="514350" cy="514350"/>
          </a:xfrm>
          <a:prstGeom prst="rect">
            <a:avLst/>
          </a:prstGeom>
          <a:solidFill>
            <a:srgbClr val="FFF2E7"/>
          </a:solidFill>
          <a:ln w="9525">
            <a:solidFill>
              <a:srgbClr val="FFFFFF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2419350" y="335280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876300" y="2838450"/>
            <a:ext cx="514350" cy="514350"/>
          </a:xfrm>
          <a:prstGeom prst="rect">
            <a:avLst/>
          </a:prstGeom>
          <a:solidFill>
            <a:srgbClr val="FFF7DF"/>
          </a:solidFill>
          <a:ln w="9525">
            <a:solidFill>
              <a:srgbClr val="FFFFFF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1390650" y="2838450"/>
            <a:ext cx="514350" cy="514350"/>
          </a:xfrm>
          <a:prstGeom prst="rect">
            <a:avLst/>
          </a:prstGeom>
          <a:solidFill>
            <a:srgbClr val="FFF2E7"/>
          </a:solidFill>
          <a:ln w="9525">
            <a:solidFill>
              <a:srgbClr val="FFFFFF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1905000" y="283845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2419350" y="283845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876300" y="2324100"/>
            <a:ext cx="514350" cy="514350"/>
          </a:xfrm>
          <a:prstGeom prst="rect">
            <a:avLst/>
          </a:prstGeom>
          <a:solidFill>
            <a:srgbClr val="FFF2E7"/>
          </a:solidFill>
          <a:ln w="9525">
            <a:solidFill>
              <a:srgbClr val="FFFFFF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1390650" y="232410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1905000" y="232410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2419350" y="232410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876300" y="180975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1390650" y="180975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1905000" y="180975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2419350" y="180975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1587932" y="396621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可能性 →</a:t>
            </a:r>
          </a:p>
        </p:txBody>
      </p:sp>
      <p:sp>
        <p:nvSpPr>
          <p:cNvPr id="24" name="TextBox 24"/>
          <p:cNvSpPr txBox="1"/>
          <p:nvPr/>
        </p:nvSpPr>
        <p:spPr>
          <a:xfrm rot="-5400000">
            <a:off x="180137" y="2740152"/>
            <a:ext cx="4725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影响 ↑</a:t>
            </a:r>
          </a:p>
        </p:txBody>
      </p:sp>
      <p:sp>
        <p:nvSpPr>
          <p:cNvPr id="25" name="Ellipse 25"/>
          <p:cNvSpPr/>
          <p:nvPr/>
        </p:nvSpPr>
        <p:spPr>
          <a:xfrm>
            <a:off x="1485900" y="2933700"/>
            <a:ext cx="323850" cy="323850"/>
          </a:xfrm>
          <a:prstGeom prst="ellipse">
            <a:avLst/>
          </a:prstGeom>
          <a:solidFill>
            <a:srgbClr val="A87519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453972" y="3004185"/>
            <a:ext cx="38770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R-01</a:t>
            </a:r>
          </a:p>
        </p:txBody>
      </p:sp>
      <p:sp>
        <p:nvSpPr>
          <p:cNvPr id="27" name="Ellipse 27"/>
          <p:cNvSpPr/>
          <p:nvPr/>
        </p:nvSpPr>
        <p:spPr>
          <a:xfrm>
            <a:off x="2000250" y="2419350"/>
            <a:ext cx="323850" cy="323850"/>
          </a:xfrm>
          <a:prstGeom prst="ellipse">
            <a:avLst/>
          </a:prstGeom>
          <a:solidFill>
            <a:srgbClr val="C56A25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1968322" y="2489835"/>
            <a:ext cx="38770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R-02</a:t>
            </a:r>
          </a:p>
        </p:txBody>
      </p:sp>
      <p:sp>
        <p:nvSpPr>
          <p:cNvPr id="29" name="Ellipse 29"/>
          <p:cNvSpPr/>
          <p:nvPr/>
        </p:nvSpPr>
        <p:spPr>
          <a:xfrm>
            <a:off x="2514600" y="1905000"/>
            <a:ext cx="323850" cy="323850"/>
          </a:xfrm>
          <a:prstGeom prst="ellipse">
            <a:avLst/>
          </a:prstGeom>
          <a:solidFill>
            <a:srgbClr val="D95C5C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2482672" y="1975485"/>
            <a:ext cx="38770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R-03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42950" y="4333875"/>
            <a:ext cx="23622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889254" y="4423410"/>
            <a:ext cx="19507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颜色仅表示风险等级分区；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89254" y="4613910"/>
            <a:ext cx="22738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正式阈值、时限和岗位待确认。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89254" y="4804410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编号用于右侧责任映射。</a:t>
            </a:r>
          </a:p>
        </p:txBody>
      </p:sp>
      <p:sp>
        <p:nvSpPr>
          <p:cNvPr id="35" name="Rectangle 35"/>
          <p:cNvSpPr/>
          <p:nvPr/>
        </p:nvSpPr>
        <p:spPr>
          <a:xfrm>
            <a:off x="3524250" y="1143000"/>
            <a:ext cx="8096250" cy="457200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3803904" y="1375410"/>
            <a:ext cx="232227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风险编号 → 触发等级 → 责任层级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803904" y="1623060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不使用长曲线推断；每个风险编号直接落到一条责任路径。</a:t>
            </a:r>
          </a:p>
        </p:txBody>
      </p:sp>
      <p:sp>
        <p:nvSpPr>
          <p:cNvPr id="38" name="Rectangle 38"/>
          <p:cNvSpPr/>
          <p:nvPr/>
        </p:nvSpPr>
        <p:spPr>
          <a:xfrm>
            <a:off x="3810000" y="2143125"/>
            <a:ext cx="876300" cy="514350"/>
          </a:xfrm>
          <a:prstGeom prst="roundRect">
            <a:avLst>
              <a:gd name="adj" fmla="val 14815"/>
            </a:avLst>
          </a:prstGeom>
          <a:solidFill>
            <a:srgbClr val="A87519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4057612" y="2345531"/>
            <a:ext cx="38107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R-01</a:t>
            </a:r>
          </a:p>
        </p:txBody>
      </p:sp>
      <p:sp>
        <p:nvSpPr>
          <p:cNvPr id="40" name="Line 40"/>
          <p:cNvSpPr/>
          <p:nvPr/>
        </p:nvSpPr>
        <p:spPr>
          <a:xfrm>
            <a:off x="4762500" y="2400300"/>
            <a:ext cx="333375" cy="1"/>
          </a:xfrm>
          <a:prstGeom prst="line">
            <a:avLst/>
          </a:prstGeom>
          <a:noFill/>
          <a:ln w="28575">
            <a:solidFill>
              <a:srgbClr val="A87519"/>
            </a:solidFill>
            <a:tailEnd type="triangle" w="lg" len="lg"/>
          </a:ln>
        </p:spPr>
      </p:sp>
      <p:sp>
        <p:nvSpPr>
          <p:cNvPr id="41" name="Rectangle 41"/>
          <p:cNvSpPr/>
          <p:nvPr/>
        </p:nvSpPr>
        <p:spPr>
          <a:xfrm>
            <a:off x="5191125" y="2143125"/>
            <a:ext cx="1047750" cy="514350"/>
          </a:xfrm>
          <a:prstGeom prst="roundRect">
            <a:avLst>
              <a:gd name="adj" fmla="val 14815"/>
            </a:avLst>
          </a:prstGeom>
          <a:solidFill>
            <a:srgbClr val="F7F9FC"/>
          </a:solidFill>
          <a:ln w="19050">
            <a:solidFill>
              <a:srgbClr val="A87519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5502935" y="2337435"/>
            <a:ext cx="42412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低/中</a:t>
            </a:r>
          </a:p>
        </p:txBody>
      </p:sp>
      <p:sp>
        <p:nvSpPr>
          <p:cNvPr id="43" name="Line 43"/>
          <p:cNvSpPr/>
          <p:nvPr/>
        </p:nvSpPr>
        <p:spPr>
          <a:xfrm>
            <a:off x="6315075" y="2400300"/>
            <a:ext cx="333375" cy="1"/>
          </a:xfrm>
          <a:prstGeom prst="line">
            <a:avLst/>
          </a:prstGeom>
          <a:noFill/>
          <a:ln w="28575">
            <a:solidFill>
              <a:srgbClr val="A87519"/>
            </a:solidFill>
            <a:tailEnd type="triangle" w="lg" len="lg"/>
          </a:ln>
        </p:spPr>
      </p:sp>
      <p:sp>
        <p:nvSpPr>
          <p:cNvPr id="44" name="Rectangle 44"/>
          <p:cNvSpPr/>
          <p:nvPr/>
        </p:nvSpPr>
        <p:spPr>
          <a:xfrm>
            <a:off x="6743700" y="2143125"/>
            <a:ext cx="20002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9050">
            <a:solidFill>
              <a:srgbClr val="A87519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7253097" y="2337435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业务线自处置</a:t>
            </a:r>
          </a:p>
        </p:txBody>
      </p:sp>
      <p:sp>
        <p:nvSpPr>
          <p:cNvPr id="46" name="Rectangle 46"/>
          <p:cNvSpPr/>
          <p:nvPr/>
        </p:nvSpPr>
        <p:spPr>
          <a:xfrm>
            <a:off x="8953500" y="2143125"/>
            <a:ext cx="2333625" cy="514350"/>
          </a:xfrm>
          <a:prstGeom prst="roundRect">
            <a:avLst>
              <a:gd name="adj" fmla="val 14815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9061704" y="2232660"/>
            <a:ext cx="19507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登记、设责任人、按期验证</a:t>
            </a:r>
          </a:p>
        </p:txBody>
      </p:sp>
      <p:sp>
        <p:nvSpPr>
          <p:cNvPr id="48" name="Rectangle 48"/>
          <p:cNvSpPr/>
          <p:nvPr/>
        </p:nvSpPr>
        <p:spPr>
          <a:xfrm>
            <a:off x="3810000" y="3048000"/>
            <a:ext cx="876300" cy="514350"/>
          </a:xfrm>
          <a:prstGeom prst="roundRect">
            <a:avLst>
              <a:gd name="adj" fmla="val 14815"/>
            </a:avLst>
          </a:prstGeom>
          <a:solidFill>
            <a:srgbClr val="C56A25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4057612" y="3250406"/>
            <a:ext cx="38107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R-02</a:t>
            </a:r>
          </a:p>
        </p:txBody>
      </p:sp>
      <p:sp>
        <p:nvSpPr>
          <p:cNvPr id="50" name="Line 50"/>
          <p:cNvSpPr/>
          <p:nvPr/>
        </p:nvSpPr>
        <p:spPr>
          <a:xfrm>
            <a:off x="4762500" y="3305175"/>
            <a:ext cx="333375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51" name="Rectangle 51"/>
          <p:cNvSpPr/>
          <p:nvPr/>
        </p:nvSpPr>
        <p:spPr>
          <a:xfrm>
            <a:off x="5191125" y="3048000"/>
            <a:ext cx="1047750" cy="514350"/>
          </a:xfrm>
          <a:prstGeom prst="roundRect">
            <a:avLst>
              <a:gd name="adj" fmla="val 14815"/>
            </a:avLst>
          </a:prstGeom>
          <a:solidFill>
            <a:srgbClr val="F7F9FC"/>
          </a:solidFill>
          <a:ln w="19050">
            <a:solidFill>
              <a:srgbClr val="C56A25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5502935" y="3242310"/>
            <a:ext cx="42412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中/高</a:t>
            </a:r>
          </a:p>
        </p:txBody>
      </p:sp>
      <p:sp>
        <p:nvSpPr>
          <p:cNvPr id="53" name="Line 53"/>
          <p:cNvSpPr/>
          <p:nvPr/>
        </p:nvSpPr>
        <p:spPr>
          <a:xfrm>
            <a:off x="6315075" y="3305175"/>
            <a:ext cx="333375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54" name="Rectangle 54"/>
          <p:cNvSpPr/>
          <p:nvPr/>
        </p:nvSpPr>
        <p:spPr>
          <a:xfrm>
            <a:off x="6743700" y="3048000"/>
            <a:ext cx="20002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7253097" y="324231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职能部门复核</a:t>
            </a:r>
          </a:p>
        </p:txBody>
      </p:sp>
      <p:sp>
        <p:nvSpPr>
          <p:cNvPr id="56" name="Rectangle 56"/>
          <p:cNvSpPr/>
          <p:nvPr/>
        </p:nvSpPr>
        <p:spPr>
          <a:xfrm>
            <a:off x="8953500" y="3048000"/>
            <a:ext cx="2333625" cy="514350"/>
          </a:xfrm>
          <a:prstGeom prst="roundRect">
            <a:avLst>
              <a:gd name="adj" fmla="val 14815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9061704" y="3137535"/>
            <a:ext cx="22738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评估影响、设期限、必要时升级</a:t>
            </a:r>
          </a:p>
        </p:txBody>
      </p:sp>
      <p:sp>
        <p:nvSpPr>
          <p:cNvPr id="58" name="Rectangle 58"/>
          <p:cNvSpPr/>
          <p:nvPr/>
        </p:nvSpPr>
        <p:spPr>
          <a:xfrm>
            <a:off x="3810000" y="3952875"/>
            <a:ext cx="876300" cy="514350"/>
          </a:xfrm>
          <a:prstGeom prst="roundRect">
            <a:avLst>
              <a:gd name="adj" fmla="val 14815"/>
            </a:avLst>
          </a:prstGeom>
          <a:solidFill>
            <a:srgbClr val="D95C5C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4057612" y="4155281"/>
            <a:ext cx="38107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R-03</a:t>
            </a:r>
          </a:p>
        </p:txBody>
      </p:sp>
      <p:sp>
        <p:nvSpPr>
          <p:cNvPr id="60" name="Line 60"/>
          <p:cNvSpPr/>
          <p:nvPr/>
        </p:nvSpPr>
        <p:spPr>
          <a:xfrm>
            <a:off x="4762500" y="4210050"/>
            <a:ext cx="333375" cy="1"/>
          </a:xfrm>
          <a:prstGeom prst="line">
            <a:avLst/>
          </a:prstGeom>
          <a:noFill/>
          <a:ln w="28575">
            <a:solidFill>
              <a:srgbClr val="D95C5C"/>
            </a:solidFill>
            <a:tailEnd type="triangle" w="lg" len="lg"/>
          </a:ln>
        </p:spPr>
      </p:sp>
      <p:sp>
        <p:nvSpPr>
          <p:cNvPr id="61" name="Rectangle 61"/>
          <p:cNvSpPr/>
          <p:nvPr/>
        </p:nvSpPr>
        <p:spPr>
          <a:xfrm>
            <a:off x="5191125" y="3952875"/>
            <a:ext cx="1047750" cy="514350"/>
          </a:xfrm>
          <a:prstGeom prst="roundRect">
            <a:avLst>
              <a:gd name="adj" fmla="val 14815"/>
            </a:avLst>
          </a:prstGeom>
          <a:solidFill>
            <a:srgbClr val="F7F9FC"/>
          </a:solidFill>
          <a:ln w="19050">
            <a:solidFill>
              <a:srgbClr val="D95C5C"/>
            </a:solidFill>
          </a:ln>
        </p:spPr>
      </p:sp>
      <p:sp>
        <p:nvSpPr>
          <p:cNvPr id="62" name="TextBox 62"/>
          <p:cNvSpPr txBox="1"/>
          <p:nvPr/>
        </p:nvSpPr>
        <p:spPr>
          <a:xfrm>
            <a:off x="5628132" y="4147185"/>
            <a:ext cx="1737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高</a:t>
            </a:r>
          </a:p>
        </p:txBody>
      </p:sp>
      <p:sp>
        <p:nvSpPr>
          <p:cNvPr id="63" name="Line 63"/>
          <p:cNvSpPr/>
          <p:nvPr/>
        </p:nvSpPr>
        <p:spPr>
          <a:xfrm>
            <a:off x="6315075" y="4210050"/>
            <a:ext cx="333375" cy="1"/>
          </a:xfrm>
          <a:prstGeom prst="line">
            <a:avLst/>
          </a:prstGeom>
          <a:noFill/>
          <a:ln w="28575">
            <a:solidFill>
              <a:srgbClr val="D95C5C"/>
            </a:solidFill>
            <a:tailEnd type="triangle" w="lg" len="lg"/>
          </a:ln>
        </p:spPr>
      </p:sp>
      <p:sp>
        <p:nvSpPr>
          <p:cNvPr id="64" name="Rectangle 64"/>
          <p:cNvSpPr/>
          <p:nvPr/>
        </p:nvSpPr>
        <p:spPr>
          <a:xfrm>
            <a:off x="6743700" y="3952875"/>
            <a:ext cx="20002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9050">
            <a:solidFill>
              <a:srgbClr val="D95C5C"/>
            </a:solidFill>
          </a:ln>
        </p:spPr>
      </p:sp>
      <p:sp>
        <p:nvSpPr>
          <p:cNvPr id="65" name="TextBox 65"/>
          <p:cNvSpPr txBox="1"/>
          <p:nvPr/>
        </p:nvSpPr>
        <p:spPr>
          <a:xfrm>
            <a:off x="7333869" y="414718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管理层介入</a:t>
            </a:r>
          </a:p>
        </p:txBody>
      </p:sp>
      <p:sp>
        <p:nvSpPr>
          <p:cNvPr id="66" name="Rectangle 66"/>
          <p:cNvSpPr/>
          <p:nvPr/>
        </p:nvSpPr>
        <p:spPr>
          <a:xfrm>
            <a:off x="8953500" y="3952875"/>
            <a:ext cx="2333625" cy="514350"/>
          </a:xfrm>
          <a:prstGeom prst="roundRect">
            <a:avLst>
              <a:gd name="adj" fmla="val 14815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67" name="TextBox 67"/>
          <p:cNvSpPr txBox="1"/>
          <p:nvPr/>
        </p:nvSpPr>
        <p:spPr>
          <a:xfrm>
            <a:off x="9061704" y="4042410"/>
            <a:ext cx="22738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决策资源、确认措施、监督关闭</a:t>
            </a:r>
          </a:p>
        </p:txBody>
      </p:sp>
      <p:sp>
        <p:nvSpPr>
          <p:cNvPr id="68" name="Freeform 68"/>
          <p:cNvSpPr/>
          <p:nvPr/>
        </p:nvSpPr>
        <p:spPr>
          <a:xfrm>
            <a:off x="5191125" y="4857750"/>
            <a:ext cx="3552825" cy="571500"/>
          </a:xfrm>
          <a:custGeom>
            <a:avLst/>
            <a:gdLst/>
            <a:ahLst/>
            <a:cxnLst/>
            <a:rect l="l" t="t" r="r" b="b"/>
            <a:pathLst>
              <a:path w="3552825" h="571500">
                <a:moveTo>
                  <a:pt x="3552825" y="0"/>
                </a:moveTo>
                <a:cubicBezTo>
                  <a:pt x="2905125" y="571500"/>
                  <a:pt x="714375" y="571500"/>
                  <a:pt x="0" y="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69" name="TextBox 69"/>
          <p:cNvSpPr txBox="1"/>
          <p:nvPr/>
        </p:nvSpPr>
        <p:spPr>
          <a:xfrm>
            <a:off x="5528310" y="5490210"/>
            <a:ext cx="43738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验证失败：返回对应编号重新登记；验证通过：形成关闭证据</a:t>
            </a:r>
          </a:p>
        </p:txBody>
      </p:sp>
      <p:sp>
        <p:nvSpPr>
          <p:cNvPr id="70" name="Line 70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71" name="TextBox 71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28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42290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安全、环保与应急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95419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发现—处置—上报—调查—整改—验证，现场与管理层共同承接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grpSp>
        <p:nvGrpSpPr>
          <p:cNvPr id="26" name="Group 26"/>
          <p:cNvGrpSpPr/>
          <p:nvPr/>
        </p:nvGrpSpPr>
        <p:grpSpPr>
          <a:xfrm>
            <a:off x="666750" y="2381250"/>
            <a:ext cx="10668000" cy="2952750"/>
            <a:chOff x="666750" y="2381250"/>
            <a:chExt cx="10668000" cy="2952750"/>
          </a:xfrm>
        </p:grpSpPr>
        <p:sp>
          <p:nvSpPr>
            <p:cNvPr id="8" name="Freeform 8"/>
            <p:cNvSpPr/>
            <p:nvPr/>
          </p:nvSpPr>
          <p:spPr>
            <a:xfrm>
              <a:off x="666750" y="2381250"/>
              <a:ext cx="1619250" cy="1047750"/>
            </a:xfrm>
            <a:custGeom>
              <a:avLst/>
              <a:gdLst/>
              <a:ahLst/>
              <a:cxnLst/>
              <a:rect l="l" t="t" r="r" b="b"/>
              <a:pathLst>
                <a:path w="1619250" h="1047750">
                  <a:moveTo>
                    <a:pt x="152400" y="0"/>
                  </a:moveTo>
                  <a:lnTo>
                    <a:pt x="1466850" y="0"/>
                  </a:lnTo>
                  <a:cubicBezTo>
                    <a:pt x="1551018" y="0"/>
                    <a:pt x="1619250" y="68232"/>
                    <a:pt x="1619250" y="152400"/>
                  </a:cubicBezTo>
                  <a:lnTo>
                    <a:pt x="1619250" y="895350"/>
                  </a:lnTo>
                  <a:cubicBezTo>
                    <a:pt x="1619250" y="979518"/>
                    <a:pt x="1551018" y="1047750"/>
                    <a:pt x="1466850" y="1047750"/>
                  </a:cubicBezTo>
                  <a:lnTo>
                    <a:pt x="152400" y="1047750"/>
                  </a:lnTo>
                  <a:cubicBezTo>
                    <a:pt x="68232" y="1047750"/>
                    <a:pt x="0" y="979518"/>
                    <a:pt x="0" y="8953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2F6BFF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26713" y="2656046"/>
              <a:ext cx="6993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01 发现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66765" y="2982278"/>
              <a:ext cx="12192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日常检查/事件触发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2571750" y="2381250"/>
              <a:ext cx="1619250" cy="1047750"/>
            </a:xfrm>
            <a:custGeom>
              <a:avLst/>
              <a:gdLst/>
              <a:ahLst/>
              <a:cxnLst/>
              <a:rect l="l" t="t" r="r" b="b"/>
              <a:pathLst>
                <a:path w="1619250" h="1047750">
                  <a:moveTo>
                    <a:pt x="152400" y="0"/>
                  </a:moveTo>
                  <a:lnTo>
                    <a:pt x="1466850" y="0"/>
                  </a:lnTo>
                  <a:cubicBezTo>
                    <a:pt x="1551018" y="0"/>
                    <a:pt x="1619250" y="68232"/>
                    <a:pt x="1619250" y="152400"/>
                  </a:cubicBezTo>
                  <a:lnTo>
                    <a:pt x="1619250" y="895350"/>
                  </a:lnTo>
                  <a:cubicBezTo>
                    <a:pt x="1619250" y="979518"/>
                    <a:pt x="1551018" y="1047750"/>
                    <a:pt x="1466850" y="1047750"/>
                  </a:cubicBezTo>
                  <a:lnTo>
                    <a:pt x="152400" y="1047750"/>
                  </a:lnTo>
                  <a:cubicBezTo>
                    <a:pt x="68232" y="1047750"/>
                    <a:pt x="0" y="979518"/>
                    <a:pt x="0" y="8953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D95C5C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830288" y="2656046"/>
              <a:ext cx="1102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B84747"/>
                  </a:solidFill>
                  <a:latin typeface="Arial"/>
                  <a:ea typeface="Microsoft YaHei"/>
                  <a:cs typeface="Arial"/>
                </a:rPr>
                <a:t>02 现场处置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701090" y="2982278"/>
              <a:ext cx="13605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先控制人身/环境风险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4476750" y="2381250"/>
              <a:ext cx="1619250" cy="1047750"/>
            </a:xfrm>
            <a:custGeom>
              <a:avLst/>
              <a:gdLst/>
              <a:ahLst/>
              <a:cxnLst/>
              <a:rect l="l" t="t" r="r" b="b"/>
              <a:pathLst>
                <a:path w="1619250" h="1047750">
                  <a:moveTo>
                    <a:pt x="152400" y="0"/>
                  </a:moveTo>
                  <a:lnTo>
                    <a:pt x="1466850" y="0"/>
                  </a:lnTo>
                  <a:cubicBezTo>
                    <a:pt x="1551018" y="0"/>
                    <a:pt x="1619250" y="68232"/>
                    <a:pt x="1619250" y="152400"/>
                  </a:cubicBezTo>
                  <a:lnTo>
                    <a:pt x="1619250" y="895350"/>
                  </a:lnTo>
                  <a:cubicBezTo>
                    <a:pt x="1619250" y="979518"/>
                    <a:pt x="1551018" y="1047750"/>
                    <a:pt x="1466850" y="1047750"/>
                  </a:cubicBezTo>
                  <a:lnTo>
                    <a:pt x="152400" y="1047750"/>
                  </a:lnTo>
                  <a:cubicBezTo>
                    <a:pt x="68232" y="1047750"/>
                    <a:pt x="0" y="979518"/>
                    <a:pt x="0" y="8953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C56A25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735288" y="2656046"/>
              <a:ext cx="1102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03 逐级上报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786312" y="298227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按分级要求报告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6667500" y="2381250"/>
              <a:ext cx="1619250" cy="1047750"/>
            </a:xfrm>
            <a:custGeom>
              <a:avLst/>
              <a:gdLst/>
              <a:ahLst/>
              <a:cxnLst/>
              <a:rect l="l" t="t" r="r" b="b"/>
              <a:pathLst>
                <a:path w="1619250" h="1047750">
                  <a:moveTo>
                    <a:pt x="152400" y="0"/>
                  </a:moveTo>
                  <a:lnTo>
                    <a:pt x="1466850" y="0"/>
                  </a:lnTo>
                  <a:cubicBezTo>
                    <a:pt x="1551018" y="0"/>
                    <a:pt x="1619250" y="68232"/>
                    <a:pt x="1619250" y="152400"/>
                  </a:cubicBezTo>
                  <a:lnTo>
                    <a:pt x="1619250" y="895350"/>
                  </a:lnTo>
                  <a:cubicBezTo>
                    <a:pt x="1619250" y="979518"/>
                    <a:pt x="1551018" y="1047750"/>
                    <a:pt x="1466850" y="1047750"/>
                  </a:cubicBezTo>
                  <a:lnTo>
                    <a:pt x="152400" y="1047750"/>
                  </a:lnTo>
                  <a:cubicBezTo>
                    <a:pt x="68232" y="1047750"/>
                    <a:pt x="0" y="979518"/>
                    <a:pt x="0" y="8953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7657B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926038" y="2656046"/>
              <a:ext cx="1102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04 责任调查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906387" y="298227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事实、原因、证据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8572500" y="2381250"/>
              <a:ext cx="1619250" cy="1047750"/>
            </a:xfrm>
            <a:custGeom>
              <a:avLst/>
              <a:gdLst/>
              <a:ahLst/>
              <a:cxnLst/>
              <a:rect l="l" t="t" r="r" b="b"/>
              <a:pathLst>
                <a:path w="1619250" h="1047750">
                  <a:moveTo>
                    <a:pt x="152400" y="0"/>
                  </a:moveTo>
                  <a:lnTo>
                    <a:pt x="1466850" y="0"/>
                  </a:lnTo>
                  <a:cubicBezTo>
                    <a:pt x="1551018" y="0"/>
                    <a:pt x="1619250" y="68232"/>
                    <a:pt x="1619250" y="152400"/>
                  </a:cubicBezTo>
                  <a:lnTo>
                    <a:pt x="1619250" y="895350"/>
                  </a:lnTo>
                  <a:cubicBezTo>
                    <a:pt x="1619250" y="979518"/>
                    <a:pt x="1551018" y="1047750"/>
                    <a:pt x="1466850" y="1047750"/>
                  </a:cubicBezTo>
                  <a:lnTo>
                    <a:pt x="152400" y="1047750"/>
                  </a:lnTo>
                  <a:cubicBezTo>
                    <a:pt x="68232" y="1047750"/>
                    <a:pt x="0" y="979518"/>
                    <a:pt x="0" y="8953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C56A25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032463" y="2656046"/>
              <a:ext cx="6993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05 整改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811387" y="298227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措施、责任、记录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9525000" y="4286250"/>
              <a:ext cx="1809750" cy="1047750"/>
            </a:xfrm>
            <a:custGeom>
              <a:avLst/>
              <a:gdLst/>
              <a:ahLst/>
              <a:cxnLst/>
              <a:rect l="l" t="t" r="r" b="b"/>
              <a:pathLst>
                <a:path w="1809750" h="1047750">
                  <a:moveTo>
                    <a:pt x="152400" y="0"/>
                  </a:moveTo>
                  <a:lnTo>
                    <a:pt x="1657350" y="0"/>
                  </a:lnTo>
                  <a:cubicBezTo>
                    <a:pt x="1741518" y="0"/>
                    <a:pt x="1809750" y="68232"/>
                    <a:pt x="1809750" y="152400"/>
                  </a:cubicBezTo>
                  <a:lnTo>
                    <a:pt x="1809750" y="895350"/>
                  </a:lnTo>
                  <a:cubicBezTo>
                    <a:pt x="1809750" y="979518"/>
                    <a:pt x="1741518" y="1047750"/>
                    <a:pt x="1657350" y="1047750"/>
                  </a:cubicBezTo>
                  <a:lnTo>
                    <a:pt x="152400" y="1047750"/>
                  </a:lnTo>
                  <a:cubicBezTo>
                    <a:pt x="68232" y="1047750"/>
                    <a:pt x="0" y="979518"/>
                    <a:pt x="0" y="8953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1C9C8C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878788" y="4561046"/>
              <a:ext cx="1102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06 验证关闭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820265" y="4887278"/>
              <a:ext cx="12192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效果确认/复发控制</a:t>
              </a:r>
            </a:p>
          </p:txBody>
        </p:sp>
      </p:grpSp>
      <p:sp>
        <p:nvSpPr>
          <p:cNvPr id="27" name="Freeform 27"/>
          <p:cNvSpPr/>
          <p:nvPr/>
        </p:nvSpPr>
        <p:spPr>
          <a:xfrm>
            <a:off x="2286000" y="2905125"/>
            <a:ext cx="8143875" cy="1381125"/>
          </a:xfrm>
          <a:custGeom>
            <a:avLst/>
            <a:gdLst/>
            <a:ahLst/>
            <a:cxnLst/>
            <a:rect l="l" t="t" r="r" b="b"/>
            <a:pathLst>
              <a:path w="8143875" h="1381125">
                <a:moveTo>
                  <a:pt x="0" y="0"/>
                </a:moveTo>
                <a:lnTo>
                  <a:pt x="285750" y="0"/>
                </a:lnTo>
                <a:moveTo>
                  <a:pt x="1905000" y="0"/>
                </a:moveTo>
                <a:lnTo>
                  <a:pt x="2190750" y="0"/>
                </a:lnTo>
                <a:moveTo>
                  <a:pt x="3810000" y="0"/>
                </a:moveTo>
                <a:lnTo>
                  <a:pt x="4381500" y="0"/>
                </a:lnTo>
                <a:moveTo>
                  <a:pt x="6000750" y="0"/>
                </a:moveTo>
                <a:lnTo>
                  <a:pt x="6286500" y="0"/>
                </a:lnTo>
                <a:moveTo>
                  <a:pt x="7096125" y="523875"/>
                </a:moveTo>
                <a:lnTo>
                  <a:pt x="7096125" y="1381125"/>
                </a:lnTo>
                <a:lnTo>
                  <a:pt x="8143875" y="1381125"/>
                </a:lnTo>
              </a:path>
            </a:pathLst>
          </a:custGeom>
          <a:noFill/>
          <a:ln w="38100">
            <a:solidFill>
              <a:srgbClr val="8091A5"/>
            </a:solidFill>
            <a:tailEnd type="triangle" w="lg" len="lg"/>
          </a:ln>
        </p:spPr>
      </p:sp>
      <p:sp>
        <p:nvSpPr>
          <p:cNvPr id="28" name="Freeform 28"/>
          <p:cNvSpPr/>
          <p:nvPr/>
        </p:nvSpPr>
        <p:spPr>
          <a:xfrm>
            <a:off x="7048500" y="3429000"/>
            <a:ext cx="2476500" cy="1381125"/>
          </a:xfrm>
          <a:custGeom>
            <a:avLst/>
            <a:gdLst/>
            <a:ahLst/>
            <a:cxnLst/>
            <a:rect l="l" t="t" r="r" b="b"/>
            <a:pathLst>
              <a:path w="2476500" h="1381125">
                <a:moveTo>
                  <a:pt x="2476500" y="1381125"/>
                </a:moveTo>
                <a:lnTo>
                  <a:pt x="762000" y="1381125"/>
                </a:lnTo>
                <a:cubicBezTo>
                  <a:pt x="190500" y="1381125"/>
                  <a:pt x="0" y="666750"/>
                  <a:pt x="0" y="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300000" sp="233333"/>
            </a:custDash>
            <a:tailEnd type="triangle" w="lg" len="lg"/>
          </a:ln>
        </p:spPr>
      </p:sp>
      <p:sp>
        <p:nvSpPr>
          <p:cNvPr id="29" name="TextBox 29"/>
          <p:cNvSpPr txBox="1"/>
          <p:nvPr/>
        </p:nvSpPr>
        <p:spPr>
          <a:xfrm>
            <a:off x="7328154" y="4966335"/>
            <a:ext cx="20395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未通过/复发：再调查或升级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60654" y="5775960"/>
            <a:ext cx="45354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响应级别、通知时限和责任岗位：待确认，以正式应急文件为准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29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内部检查与管理评审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042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按过程检查证据，再由管理评审形成决策和改进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grpSp>
        <p:nvGrpSpPr>
          <p:cNvPr id="23" name="Group 23"/>
          <p:cNvGrpSpPr/>
          <p:nvPr/>
        </p:nvGrpSpPr>
        <p:grpSpPr>
          <a:xfrm>
            <a:off x="857250" y="2667000"/>
            <a:ext cx="10572750" cy="1047750"/>
            <a:chOff x="857250" y="2667000"/>
            <a:chExt cx="10572750" cy="1047750"/>
          </a:xfrm>
        </p:grpSpPr>
        <p:sp>
          <p:nvSpPr>
            <p:cNvPr id="8" name="Freeform 8"/>
            <p:cNvSpPr/>
            <p:nvPr/>
          </p:nvSpPr>
          <p:spPr>
            <a:xfrm>
              <a:off x="857250" y="2667000"/>
              <a:ext cx="1714500" cy="1047750"/>
            </a:xfrm>
            <a:custGeom>
              <a:avLst/>
              <a:gdLst/>
              <a:ahLst/>
              <a:cxnLst/>
              <a:rect l="l" t="t" r="r" b="b"/>
              <a:pathLst>
                <a:path w="1714500" h="1047750">
                  <a:moveTo>
                    <a:pt x="152400" y="0"/>
                  </a:moveTo>
                  <a:lnTo>
                    <a:pt x="1562100" y="0"/>
                  </a:lnTo>
                  <a:cubicBezTo>
                    <a:pt x="1646268" y="0"/>
                    <a:pt x="1714500" y="68232"/>
                    <a:pt x="1714500" y="152400"/>
                  </a:cubicBezTo>
                  <a:lnTo>
                    <a:pt x="1714500" y="895350"/>
                  </a:lnTo>
                  <a:cubicBezTo>
                    <a:pt x="1714500" y="979518"/>
                    <a:pt x="1646268" y="1047750"/>
                    <a:pt x="1562100" y="1047750"/>
                  </a:cubicBezTo>
                  <a:lnTo>
                    <a:pt x="152400" y="1047750"/>
                  </a:lnTo>
                  <a:cubicBezTo>
                    <a:pt x="68232" y="1047750"/>
                    <a:pt x="0" y="979518"/>
                    <a:pt x="0" y="8953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2F6BFF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63413" y="2941796"/>
              <a:ext cx="1102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01 制定计划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43762" y="326802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范围｜过程｜证据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3143250" y="2667000"/>
              <a:ext cx="1714500" cy="1047750"/>
            </a:xfrm>
            <a:custGeom>
              <a:avLst/>
              <a:gdLst/>
              <a:ahLst/>
              <a:cxnLst/>
              <a:rect l="l" t="t" r="r" b="b"/>
              <a:pathLst>
                <a:path w="1714500" h="1047750">
                  <a:moveTo>
                    <a:pt x="152400" y="0"/>
                  </a:moveTo>
                  <a:lnTo>
                    <a:pt x="1562100" y="0"/>
                  </a:lnTo>
                  <a:cubicBezTo>
                    <a:pt x="1646268" y="0"/>
                    <a:pt x="1714500" y="68232"/>
                    <a:pt x="1714500" y="152400"/>
                  </a:cubicBezTo>
                  <a:lnTo>
                    <a:pt x="1714500" y="895350"/>
                  </a:lnTo>
                  <a:cubicBezTo>
                    <a:pt x="1714500" y="979518"/>
                    <a:pt x="1646268" y="1047750"/>
                    <a:pt x="1562100" y="1047750"/>
                  </a:cubicBezTo>
                  <a:lnTo>
                    <a:pt x="152400" y="1047750"/>
                  </a:lnTo>
                  <a:cubicBezTo>
                    <a:pt x="68232" y="1047750"/>
                    <a:pt x="0" y="979518"/>
                    <a:pt x="0" y="8953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7657B8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449413" y="2941796"/>
              <a:ext cx="1102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02 过程检查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429762" y="326802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现场｜记录｜访谈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5429250" y="2667000"/>
              <a:ext cx="1714500" cy="1047750"/>
            </a:xfrm>
            <a:custGeom>
              <a:avLst/>
              <a:gdLst/>
              <a:ahLst/>
              <a:cxnLst/>
              <a:rect l="l" t="t" r="r" b="b"/>
              <a:pathLst>
                <a:path w="1714500" h="1047750">
                  <a:moveTo>
                    <a:pt x="152400" y="0"/>
                  </a:moveTo>
                  <a:lnTo>
                    <a:pt x="1562100" y="0"/>
                  </a:lnTo>
                  <a:cubicBezTo>
                    <a:pt x="1646268" y="0"/>
                    <a:pt x="1714500" y="68232"/>
                    <a:pt x="1714500" y="152400"/>
                  </a:cubicBezTo>
                  <a:lnTo>
                    <a:pt x="1714500" y="895350"/>
                  </a:lnTo>
                  <a:cubicBezTo>
                    <a:pt x="1714500" y="979518"/>
                    <a:pt x="1646268" y="1047750"/>
                    <a:pt x="1562100" y="1047750"/>
                  </a:cubicBezTo>
                  <a:lnTo>
                    <a:pt x="152400" y="1047750"/>
                  </a:lnTo>
                  <a:cubicBezTo>
                    <a:pt x="68232" y="1047750"/>
                    <a:pt x="0" y="979518"/>
                    <a:pt x="0" y="8953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D95C5C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735413" y="2941796"/>
              <a:ext cx="1102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B84747"/>
                  </a:solidFill>
                  <a:latin typeface="Arial"/>
                  <a:ea typeface="Microsoft YaHei"/>
                  <a:cs typeface="Arial"/>
                </a:rPr>
                <a:t>03 发现分级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715762" y="326802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事实｜风险｜整改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7715250" y="2667000"/>
              <a:ext cx="1714500" cy="1047750"/>
            </a:xfrm>
            <a:custGeom>
              <a:avLst/>
              <a:gdLst/>
              <a:ahLst/>
              <a:cxnLst/>
              <a:rect l="l" t="t" r="r" b="b"/>
              <a:pathLst>
                <a:path w="1714500" h="1047750">
                  <a:moveTo>
                    <a:pt x="152400" y="0"/>
                  </a:moveTo>
                  <a:lnTo>
                    <a:pt x="1562100" y="0"/>
                  </a:lnTo>
                  <a:cubicBezTo>
                    <a:pt x="1646268" y="0"/>
                    <a:pt x="1714500" y="68232"/>
                    <a:pt x="1714500" y="152400"/>
                  </a:cubicBezTo>
                  <a:lnTo>
                    <a:pt x="1714500" y="895350"/>
                  </a:lnTo>
                  <a:cubicBezTo>
                    <a:pt x="1714500" y="979518"/>
                    <a:pt x="1646268" y="1047750"/>
                    <a:pt x="1562100" y="1047750"/>
                  </a:cubicBezTo>
                  <a:lnTo>
                    <a:pt x="152400" y="1047750"/>
                  </a:lnTo>
                  <a:cubicBezTo>
                    <a:pt x="68232" y="1047750"/>
                    <a:pt x="0" y="979518"/>
                    <a:pt x="0" y="8953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C56A25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21413" y="2941796"/>
              <a:ext cx="1102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04 管理评审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001762" y="326802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输入｜决策｜资源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10001250" y="2667000"/>
              <a:ext cx="1428750" cy="1047750"/>
            </a:xfrm>
            <a:custGeom>
              <a:avLst/>
              <a:gdLst/>
              <a:ahLst/>
              <a:cxnLst/>
              <a:rect l="l" t="t" r="r" b="b"/>
              <a:pathLst>
                <a:path w="1428750" h="1047750">
                  <a:moveTo>
                    <a:pt x="152400" y="0"/>
                  </a:moveTo>
                  <a:lnTo>
                    <a:pt x="1276350" y="0"/>
                  </a:lnTo>
                  <a:cubicBezTo>
                    <a:pt x="1360518" y="0"/>
                    <a:pt x="1428750" y="68232"/>
                    <a:pt x="1428750" y="152400"/>
                  </a:cubicBezTo>
                  <a:lnTo>
                    <a:pt x="1428750" y="895350"/>
                  </a:lnTo>
                  <a:cubicBezTo>
                    <a:pt x="1428750" y="979518"/>
                    <a:pt x="1360518" y="1047750"/>
                    <a:pt x="1276350" y="1047750"/>
                  </a:cubicBezTo>
                  <a:lnTo>
                    <a:pt x="152400" y="1047750"/>
                  </a:lnTo>
                  <a:cubicBezTo>
                    <a:pt x="68232" y="1047750"/>
                    <a:pt x="0" y="979518"/>
                    <a:pt x="0" y="8953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1C9C8C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365963" y="2941796"/>
              <a:ext cx="6993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05 跟踪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427589" y="32680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关闭证据</a:t>
              </a:r>
            </a:p>
          </p:txBody>
        </p:sp>
      </p:grpSp>
      <p:sp>
        <p:nvSpPr>
          <p:cNvPr id="24" name="Freeform 24"/>
          <p:cNvSpPr/>
          <p:nvPr/>
        </p:nvSpPr>
        <p:spPr>
          <a:xfrm>
            <a:off x="2571750" y="3190875"/>
            <a:ext cx="7429500" cy="9525"/>
          </a:xfrm>
          <a:custGeom>
            <a:avLst/>
            <a:gdLst/>
            <a:ahLst/>
            <a:cxnLst/>
            <a:rect l="l" t="t" r="r" b="b"/>
            <a:pathLst>
              <a:path w="7429500" h="9525">
                <a:moveTo>
                  <a:pt x="0" y="0"/>
                </a:moveTo>
                <a:lnTo>
                  <a:pt x="571500" y="0"/>
                </a:lnTo>
                <a:moveTo>
                  <a:pt x="2286000" y="0"/>
                </a:moveTo>
                <a:lnTo>
                  <a:pt x="2857500" y="0"/>
                </a:lnTo>
                <a:moveTo>
                  <a:pt x="4572000" y="0"/>
                </a:moveTo>
                <a:lnTo>
                  <a:pt x="5143500" y="0"/>
                </a:lnTo>
                <a:moveTo>
                  <a:pt x="6858000" y="0"/>
                </a:moveTo>
                <a:lnTo>
                  <a:pt x="7429500" y="0"/>
                </a:lnTo>
              </a:path>
            </a:pathLst>
          </a:custGeom>
          <a:solidFill>
            <a:srgbClr val="000000"/>
          </a:solidFill>
          <a:ln w="38100">
            <a:solidFill>
              <a:srgbClr val="8091A5"/>
            </a:solidFill>
            <a:tailEnd type="triangle" w="med" len="lg"/>
          </a:ln>
        </p:spPr>
      </p:sp>
      <p:sp>
        <p:nvSpPr>
          <p:cNvPr id="25" name="Freeform 25"/>
          <p:cNvSpPr/>
          <p:nvPr/>
        </p:nvSpPr>
        <p:spPr>
          <a:xfrm>
            <a:off x="1714500" y="3714750"/>
            <a:ext cx="9001125" cy="1238250"/>
          </a:xfrm>
          <a:custGeom>
            <a:avLst/>
            <a:gdLst/>
            <a:ahLst/>
            <a:cxnLst/>
            <a:rect l="l" t="t" r="r" b="b"/>
            <a:pathLst>
              <a:path w="9001125" h="1238250">
                <a:moveTo>
                  <a:pt x="9001125" y="0"/>
                </a:moveTo>
                <a:cubicBezTo>
                  <a:pt x="9001125" y="1047750"/>
                  <a:pt x="666750" y="1238250"/>
                  <a:pt x="0" y="0"/>
                </a:cubicBezTo>
              </a:path>
            </a:pathLst>
          </a:custGeom>
          <a:noFill/>
          <a:ln w="28575">
            <a:solidFill>
              <a:srgbClr val="1C9C8C"/>
            </a:solidFill>
            <a:custDash>
              <a:ds d="300000" sp="233333"/>
            </a:custDash>
            <a:tailEnd type="triangle" w="med" len="lg"/>
          </a:ln>
        </p:spPr>
      </p:sp>
      <p:sp>
        <p:nvSpPr>
          <p:cNvPr id="26" name="TextBox 26"/>
          <p:cNvSpPr txBox="1"/>
          <p:nvPr/>
        </p:nvSpPr>
        <p:spPr>
          <a:xfrm>
            <a:off x="4375023" y="4815364"/>
            <a:ext cx="241592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跟踪结果进入下一轮检查与评审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51154" y="5585460"/>
            <a:ext cx="388924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管理评审输入、输出和频次：待确认，以正式机制为准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30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不符合项与整改关闭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042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整改必须有原因、措施、期限、验证和复发控制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grpSp>
        <p:nvGrpSpPr>
          <p:cNvPr id="26" name="Group 26"/>
          <p:cNvGrpSpPr/>
          <p:nvPr/>
        </p:nvGrpSpPr>
        <p:grpSpPr>
          <a:xfrm>
            <a:off x="666750" y="2571750"/>
            <a:ext cx="10953750" cy="1095375"/>
            <a:chOff x="666750" y="2571750"/>
            <a:chExt cx="10953750" cy="1095375"/>
          </a:xfrm>
        </p:grpSpPr>
        <p:sp>
          <p:nvSpPr>
            <p:cNvPr id="8" name="Freeform 8"/>
            <p:cNvSpPr/>
            <p:nvPr/>
          </p:nvSpPr>
          <p:spPr>
            <a:xfrm>
              <a:off x="666750" y="2571750"/>
              <a:ext cx="1619250" cy="1095375"/>
            </a:xfrm>
            <a:custGeom>
              <a:avLst/>
              <a:gdLst/>
              <a:ahLst/>
              <a:cxnLst/>
              <a:rect l="l" t="t" r="r" b="b"/>
              <a:pathLst>
                <a:path w="1619250" h="1095375">
                  <a:moveTo>
                    <a:pt x="152400" y="0"/>
                  </a:moveTo>
                  <a:lnTo>
                    <a:pt x="1466850" y="0"/>
                  </a:lnTo>
                  <a:cubicBezTo>
                    <a:pt x="1551018" y="0"/>
                    <a:pt x="1619250" y="68232"/>
                    <a:pt x="1619250" y="152400"/>
                  </a:cubicBezTo>
                  <a:lnTo>
                    <a:pt x="1619250" y="942975"/>
                  </a:lnTo>
                  <a:cubicBezTo>
                    <a:pt x="1619250" y="1027143"/>
                    <a:pt x="1551018" y="1095375"/>
                    <a:pt x="1466850" y="1095375"/>
                  </a:cubicBezTo>
                  <a:lnTo>
                    <a:pt x="152400" y="1095375"/>
                  </a:lnTo>
                  <a:cubicBezTo>
                    <a:pt x="68232" y="1095375"/>
                    <a:pt x="0" y="1027143"/>
                    <a:pt x="0" y="942975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2F6BFF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25288" y="2846546"/>
              <a:ext cx="1102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01 发现登记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05637" y="319182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事实｜证据｜来源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2571750" y="2571750"/>
              <a:ext cx="1619250" cy="1095375"/>
            </a:xfrm>
            <a:custGeom>
              <a:avLst/>
              <a:gdLst/>
              <a:ahLst/>
              <a:cxnLst/>
              <a:rect l="l" t="t" r="r" b="b"/>
              <a:pathLst>
                <a:path w="1619250" h="1095375">
                  <a:moveTo>
                    <a:pt x="152400" y="0"/>
                  </a:moveTo>
                  <a:lnTo>
                    <a:pt x="1466850" y="0"/>
                  </a:lnTo>
                  <a:cubicBezTo>
                    <a:pt x="1551018" y="0"/>
                    <a:pt x="1619250" y="68232"/>
                    <a:pt x="1619250" y="152400"/>
                  </a:cubicBezTo>
                  <a:lnTo>
                    <a:pt x="1619250" y="942975"/>
                  </a:lnTo>
                  <a:cubicBezTo>
                    <a:pt x="1619250" y="1027143"/>
                    <a:pt x="1551018" y="1095375"/>
                    <a:pt x="1466850" y="1095375"/>
                  </a:cubicBezTo>
                  <a:lnTo>
                    <a:pt x="152400" y="1095375"/>
                  </a:lnTo>
                  <a:cubicBezTo>
                    <a:pt x="68232" y="1095375"/>
                    <a:pt x="0" y="1027143"/>
                    <a:pt x="0" y="942975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D95C5C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830288" y="2846546"/>
              <a:ext cx="1102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B84747"/>
                  </a:solidFill>
                  <a:latin typeface="Arial"/>
                  <a:ea typeface="Microsoft YaHei"/>
                  <a:cs typeface="Arial"/>
                </a:rPr>
                <a:t>02 分级升级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810637" y="319182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风险｜责任｜期限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4476750" y="2571750"/>
              <a:ext cx="1619250" cy="1095375"/>
            </a:xfrm>
            <a:custGeom>
              <a:avLst/>
              <a:gdLst/>
              <a:ahLst/>
              <a:cxnLst/>
              <a:rect l="l" t="t" r="r" b="b"/>
              <a:pathLst>
                <a:path w="1619250" h="1095375">
                  <a:moveTo>
                    <a:pt x="152400" y="0"/>
                  </a:moveTo>
                  <a:lnTo>
                    <a:pt x="1466850" y="0"/>
                  </a:lnTo>
                  <a:cubicBezTo>
                    <a:pt x="1551018" y="0"/>
                    <a:pt x="1619250" y="68232"/>
                    <a:pt x="1619250" y="152400"/>
                  </a:cubicBezTo>
                  <a:lnTo>
                    <a:pt x="1619250" y="942975"/>
                  </a:lnTo>
                  <a:cubicBezTo>
                    <a:pt x="1619250" y="1027143"/>
                    <a:pt x="1551018" y="1095375"/>
                    <a:pt x="1466850" y="1095375"/>
                  </a:cubicBezTo>
                  <a:lnTo>
                    <a:pt x="152400" y="1095375"/>
                  </a:lnTo>
                  <a:cubicBezTo>
                    <a:pt x="68232" y="1095375"/>
                    <a:pt x="0" y="1027143"/>
                    <a:pt x="0" y="942975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7657B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735288" y="2846546"/>
              <a:ext cx="1102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03 原因分析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786312" y="319182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根因｜复发控制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6381750" y="2571750"/>
              <a:ext cx="1619250" cy="1095375"/>
            </a:xfrm>
            <a:custGeom>
              <a:avLst/>
              <a:gdLst/>
              <a:ahLst/>
              <a:cxnLst/>
              <a:rect l="l" t="t" r="r" b="b"/>
              <a:pathLst>
                <a:path w="1619250" h="1095375">
                  <a:moveTo>
                    <a:pt x="152400" y="0"/>
                  </a:moveTo>
                  <a:lnTo>
                    <a:pt x="1466850" y="0"/>
                  </a:lnTo>
                  <a:cubicBezTo>
                    <a:pt x="1551018" y="0"/>
                    <a:pt x="1619250" y="68232"/>
                    <a:pt x="1619250" y="152400"/>
                  </a:cubicBezTo>
                  <a:lnTo>
                    <a:pt x="1619250" y="942975"/>
                  </a:lnTo>
                  <a:cubicBezTo>
                    <a:pt x="1619250" y="1027143"/>
                    <a:pt x="1551018" y="1095375"/>
                    <a:pt x="1466850" y="1095375"/>
                  </a:cubicBezTo>
                  <a:lnTo>
                    <a:pt x="152400" y="1095375"/>
                  </a:lnTo>
                  <a:cubicBezTo>
                    <a:pt x="68232" y="1095375"/>
                    <a:pt x="0" y="1027143"/>
                    <a:pt x="0" y="942975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C56A25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640288" y="2846546"/>
              <a:ext cx="1102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04 制定措施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20637" y="319182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责任｜期限｜记录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8286750" y="2571750"/>
              <a:ext cx="1619250" cy="1095375"/>
            </a:xfrm>
            <a:custGeom>
              <a:avLst/>
              <a:gdLst/>
              <a:ahLst/>
              <a:cxnLst/>
              <a:rect l="l" t="t" r="r" b="b"/>
              <a:pathLst>
                <a:path w="1619250" h="1095375">
                  <a:moveTo>
                    <a:pt x="152400" y="0"/>
                  </a:moveTo>
                  <a:lnTo>
                    <a:pt x="1466850" y="0"/>
                  </a:lnTo>
                  <a:cubicBezTo>
                    <a:pt x="1551018" y="0"/>
                    <a:pt x="1619250" y="68232"/>
                    <a:pt x="1619250" y="152400"/>
                  </a:cubicBezTo>
                  <a:lnTo>
                    <a:pt x="1619250" y="942975"/>
                  </a:lnTo>
                  <a:cubicBezTo>
                    <a:pt x="1619250" y="1027143"/>
                    <a:pt x="1551018" y="1095375"/>
                    <a:pt x="1466850" y="1095375"/>
                  </a:cubicBezTo>
                  <a:lnTo>
                    <a:pt x="152400" y="1095375"/>
                  </a:lnTo>
                  <a:cubicBezTo>
                    <a:pt x="68232" y="1095375"/>
                    <a:pt x="0" y="1027143"/>
                    <a:pt x="0" y="942975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1C9C8C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545288" y="2846546"/>
              <a:ext cx="1102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05 效果验证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666988" y="319182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证据｜有效性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10191750" y="2571750"/>
              <a:ext cx="1428750" cy="1095375"/>
            </a:xfrm>
            <a:custGeom>
              <a:avLst/>
              <a:gdLst/>
              <a:ahLst/>
              <a:cxnLst/>
              <a:rect l="l" t="t" r="r" b="b"/>
              <a:pathLst>
                <a:path w="1428750" h="1095375">
                  <a:moveTo>
                    <a:pt x="152400" y="0"/>
                  </a:moveTo>
                  <a:lnTo>
                    <a:pt x="1276350" y="0"/>
                  </a:lnTo>
                  <a:cubicBezTo>
                    <a:pt x="1360518" y="0"/>
                    <a:pt x="1428750" y="68232"/>
                    <a:pt x="1428750" y="152400"/>
                  </a:cubicBezTo>
                  <a:lnTo>
                    <a:pt x="1428750" y="942975"/>
                  </a:lnTo>
                  <a:cubicBezTo>
                    <a:pt x="1428750" y="1027143"/>
                    <a:pt x="1360518" y="1095375"/>
                    <a:pt x="1276350" y="1095375"/>
                  </a:cubicBezTo>
                  <a:lnTo>
                    <a:pt x="152400" y="1095375"/>
                  </a:lnTo>
                  <a:cubicBezTo>
                    <a:pt x="68232" y="1095375"/>
                    <a:pt x="0" y="1027143"/>
                    <a:pt x="0" y="942975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1C9C8C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556463" y="2846546"/>
              <a:ext cx="6993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06 关闭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547414" y="319182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批准｜留痕</a:t>
              </a:r>
            </a:p>
          </p:txBody>
        </p:sp>
      </p:grpSp>
      <p:sp>
        <p:nvSpPr>
          <p:cNvPr id="27" name="Freeform 27"/>
          <p:cNvSpPr/>
          <p:nvPr/>
        </p:nvSpPr>
        <p:spPr>
          <a:xfrm>
            <a:off x="2286000" y="3114675"/>
            <a:ext cx="7905750" cy="9525"/>
          </a:xfrm>
          <a:custGeom>
            <a:avLst/>
            <a:gdLst/>
            <a:ahLst/>
            <a:cxnLst/>
            <a:rect l="l" t="t" r="r" b="b"/>
            <a:pathLst>
              <a:path w="7905750" h="9525">
                <a:moveTo>
                  <a:pt x="0" y="0"/>
                </a:moveTo>
                <a:lnTo>
                  <a:pt x="285750" y="0"/>
                </a:lnTo>
                <a:moveTo>
                  <a:pt x="1905000" y="0"/>
                </a:moveTo>
                <a:lnTo>
                  <a:pt x="2190750" y="0"/>
                </a:lnTo>
                <a:moveTo>
                  <a:pt x="3810000" y="0"/>
                </a:moveTo>
                <a:lnTo>
                  <a:pt x="4095750" y="0"/>
                </a:lnTo>
                <a:moveTo>
                  <a:pt x="5715000" y="0"/>
                </a:moveTo>
                <a:lnTo>
                  <a:pt x="6000750" y="0"/>
                </a:lnTo>
                <a:moveTo>
                  <a:pt x="7620000" y="0"/>
                </a:moveTo>
                <a:lnTo>
                  <a:pt x="7905750" y="0"/>
                </a:lnTo>
              </a:path>
            </a:pathLst>
          </a:custGeom>
          <a:solidFill>
            <a:srgbClr val="000000"/>
          </a:solidFill>
          <a:ln w="38100">
            <a:solidFill>
              <a:srgbClr val="8091A5"/>
            </a:solidFill>
            <a:tailEnd type="triangle" w="med" len="lg"/>
          </a:ln>
        </p:spPr>
      </p:sp>
      <p:sp>
        <p:nvSpPr>
          <p:cNvPr id="28" name="Freeform 28"/>
          <p:cNvSpPr/>
          <p:nvPr/>
        </p:nvSpPr>
        <p:spPr>
          <a:xfrm>
            <a:off x="3381375" y="3667125"/>
            <a:ext cx="6810375" cy="1524000"/>
          </a:xfrm>
          <a:custGeom>
            <a:avLst/>
            <a:gdLst/>
            <a:ahLst/>
            <a:cxnLst/>
            <a:rect l="l" t="t" r="r" b="b"/>
            <a:pathLst>
              <a:path w="6810375" h="1524000">
                <a:moveTo>
                  <a:pt x="6810375" y="0"/>
                </a:moveTo>
                <a:cubicBezTo>
                  <a:pt x="6429375" y="1190625"/>
                  <a:pt x="1381125" y="1524000"/>
                  <a:pt x="0" y="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300000" sp="233333"/>
            </a:custDash>
            <a:tailEnd type="triangle" w="med" len="lg"/>
          </a:ln>
        </p:spPr>
      </p:sp>
      <p:sp>
        <p:nvSpPr>
          <p:cNvPr id="29" name="TextBox 29"/>
          <p:cNvSpPr txBox="1"/>
          <p:nvPr/>
        </p:nvSpPr>
        <p:spPr>
          <a:xfrm>
            <a:off x="4946523" y="4815364"/>
            <a:ext cx="329128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验证失败/逾期/复发：再升级，不直接关闭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60654" y="5585460"/>
            <a:ext cx="45354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责任岗位、整改期限和关闭权限：待确认，以正式授权文件为准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348422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31 / CONTINUOUS IMPROVEMENT · CLOSED LOOP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668006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PDCA持续改进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99052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文件的价值不是增加表单，而是让问题不重复、让过程能力可提升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3254375" y="2047875"/>
            <a:ext cx="5683250" cy="2905125"/>
          </a:xfrm>
          <a:custGeom>
            <a:avLst/>
            <a:gdLst/>
            <a:ahLst/>
            <a:cxnLst/>
            <a:rect l="l" t="t" r="r" b="b"/>
            <a:pathLst>
              <a:path w="5683250" h="2905125">
                <a:moveTo>
                  <a:pt x="412750" y="714375"/>
                </a:moveTo>
                <a:cubicBezTo>
                  <a:pt x="1143000" y="174625"/>
                  <a:pt x="1952625" y="0"/>
                  <a:pt x="2841625" y="190500"/>
                </a:cubicBezTo>
                <a:cubicBezTo>
                  <a:pt x="3730625" y="0"/>
                  <a:pt x="4540250" y="174625"/>
                  <a:pt x="5270500" y="714375"/>
                </a:cubicBezTo>
                <a:cubicBezTo>
                  <a:pt x="5683250" y="1158875"/>
                  <a:pt x="5683250" y="1651000"/>
                  <a:pt x="5270500" y="2190750"/>
                </a:cubicBezTo>
                <a:cubicBezTo>
                  <a:pt x="4540250" y="2730500"/>
                  <a:pt x="3730625" y="2905125"/>
                  <a:pt x="2841625" y="2714625"/>
                </a:cubicBezTo>
                <a:cubicBezTo>
                  <a:pt x="1952625" y="2905125"/>
                  <a:pt x="1143000" y="2730500"/>
                  <a:pt x="412750" y="2190750"/>
                </a:cubicBezTo>
                <a:cubicBezTo>
                  <a:pt x="0" y="1651000"/>
                  <a:pt x="0" y="1158875"/>
                  <a:pt x="412750" y="714375"/>
                </a:cubicBezTo>
              </a:path>
            </a:pathLst>
          </a:custGeom>
          <a:noFill/>
          <a:ln w="76200">
            <a:solidFill>
              <a:srgbClr val="1C9C8C"/>
            </a:solidFill>
            <a:tailEnd type="triangle" w="lg" len="lg"/>
          </a:ln>
        </p:spPr>
      </p:sp>
      <p:grpSp>
        <p:nvGrpSpPr>
          <p:cNvPr id="12" name="Group 12"/>
          <p:cNvGrpSpPr/>
          <p:nvPr/>
        </p:nvGrpSpPr>
        <p:grpSpPr>
          <a:xfrm>
            <a:off x="1047750" y="2667000"/>
            <a:ext cx="2333625" cy="1066800"/>
            <a:chOff x="1047750" y="2667000"/>
            <a:chExt cx="2333625" cy="1066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9" name="Freeform 9"/>
            <p:cNvSpPr/>
            <p:nvPr/>
          </p:nvSpPr>
          <p:spPr>
            <a:xfrm>
              <a:off x="1047750" y="2667000"/>
              <a:ext cx="2333625" cy="1066800"/>
            </a:xfrm>
            <a:custGeom>
              <a:avLst/>
              <a:gdLst/>
              <a:ahLst/>
              <a:cxnLst/>
              <a:rect l="l" t="t" r="r" b="b"/>
              <a:pathLst>
                <a:path w="2333625" h="1066800">
                  <a:moveTo>
                    <a:pt x="171450" y="0"/>
                  </a:moveTo>
                  <a:lnTo>
                    <a:pt x="2162175" y="0"/>
                  </a:lnTo>
                  <a:cubicBezTo>
                    <a:pt x="2256864" y="0"/>
                    <a:pt x="2333625" y="76761"/>
                    <a:pt x="2333625" y="171450"/>
                  </a:cubicBezTo>
                  <a:lnTo>
                    <a:pt x="2333625" y="895350"/>
                  </a:lnTo>
                  <a:cubicBezTo>
                    <a:pt x="2333625" y="990039"/>
                    <a:pt x="2256864" y="1066800"/>
                    <a:pt x="2162175" y="1066800"/>
                  </a:cubicBezTo>
                  <a:lnTo>
                    <a:pt x="171450" y="1066800"/>
                  </a:lnTo>
                  <a:cubicBezTo>
                    <a:pt x="76761" y="1066800"/>
                    <a:pt x="0" y="990039"/>
                    <a:pt x="0" y="8953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EAF0FF"/>
            </a:solidFill>
            <a:ln w="19050">
              <a:solidFill>
                <a:srgbClr val="2F6BFF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0" name="TextBox 10"/>
            <p:cNvSpPr txBox="1"/>
            <p:nvPr/>
          </p:nvSpPr>
          <p:spPr>
            <a:xfrm>
              <a:off x="1904939" y="2872740"/>
              <a:ext cx="609722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PLAN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37048" y="3231356"/>
              <a:ext cx="1745504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目标 · 风险 · 责任 · 资源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048125" y="1857375"/>
            <a:ext cx="2333625" cy="1066800"/>
            <a:chOff x="4048125" y="1857375"/>
            <a:chExt cx="2333625" cy="1066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13" name="Freeform 13"/>
            <p:cNvSpPr/>
            <p:nvPr/>
          </p:nvSpPr>
          <p:spPr>
            <a:xfrm>
              <a:off x="4048125" y="1857375"/>
              <a:ext cx="2333625" cy="1066800"/>
            </a:xfrm>
            <a:custGeom>
              <a:avLst/>
              <a:gdLst/>
              <a:ahLst/>
              <a:cxnLst/>
              <a:rect l="l" t="t" r="r" b="b"/>
              <a:pathLst>
                <a:path w="2333625" h="1066800">
                  <a:moveTo>
                    <a:pt x="171450" y="0"/>
                  </a:moveTo>
                  <a:lnTo>
                    <a:pt x="2162175" y="0"/>
                  </a:lnTo>
                  <a:cubicBezTo>
                    <a:pt x="2256864" y="0"/>
                    <a:pt x="2333625" y="76761"/>
                    <a:pt x="2333625" y="171450"/>
                  </a:cubicBezTo>
                  <a:lnTo>
                    <a:pt x="2333625" y="895350"/>
                  </a:lnTo>
                  <a:cubicBezTo>
                    <a:pt x="2333625" y="990039"/>
                    <a:pt x="2256864" y="1066800"/>
                    <a:pt x="2162175" y="1066800"/>
                  </a:cubicBezTo>
                  <a:lnTo>
                    <a:pt x="171450" y="1066800"/>
                  </a:lnTo>
                  <a:cubicBezTo>
                    <a:pt x="76761" y="1066800"/>
                    <a:pt x="0" y="990039"/>
                    <a:pt x="0" y="8953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EAF7F4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4" name="TextBox 14"/>
            <p:cNvSpPr txBox="1"/>
            <p:nvPr/>
          </p:nvSpPr>
          <p:spPr>
            <a:xfrm>
              <a:off x="5026289" y="2063115"/>
              <a:ext cx="367772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DO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47222" y="2421731"/>
              <a:ext cx="1525905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按受控版本执行并留痕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191375" y="2667000"/>
            <a:ext cx="2333625" cy="1066800"/>
            <a:chOff x="7191375" y="2667000"/>
            <a:chExt cx="2333625" cy="1066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17" name="Freeform 17"/>
            <p:cNvSpPr/>
            <p:nvPr/>
          </p:nvSpPr>
          <p:spPr>
            <a:xfrm>
              <a:off x="7191375" y="2667000"/>
              <a:ext cx="2333625" cy="1066800"/>
            </a:xfrm>
            <a:custGeom>
              <a:avLst/>
              <a:gdLst/>
              <a:ahLst/>
              <a:cxnLst/>
              <a:rect l="l" t="t" r="r" b="b"/>
              <a:pathLst>
                <a:path w="2333625" h="1066800">
                  <a:moveTo>
                    <a:pt x="171450" y="0"/>
                  </a:moveTo>
                  <a:lnTo>
                    <a:pt x="2162175" y="0"/>
                  </a:lnTo>
                  <a:cubicBezTo>
                    <a:pt x="2256864" y="0"/>
                    <a:pt x="2333625" y="76761"/>
                    <a:pt x="2333625" y="171450"/>
                  </a:cubicBezTo>
                  <a:lnTo>
                    <a:pt x="2333625" y="895350"/>
                  </a:lnTo>
                  <a:cubicBezTo>
                    <a:pt x="2333625" y="990039"/>
                    <a:pt x="2256864" y="1066800"/>
                    <a:pt x="2162175" y="1066800"/>
                  </a:cubicBezTo>
                  <a:lnTo>
                    <a:pt x="171450" y="1066800"/>
                  </a:lnTo>
                  <a:cubicBezTo>
                    <a:pt x="76761" y="1066800"/>
                    <a:pt x="0" y="990039"/>
                    <a:pt x="0" y="8953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2ECFF"/>
            </a:solidFill>
            <a:ln w="19050">
              <a:solidFill>
                <a:srgbClr val="7657B8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8" name="TextBox 18"/>
            <p:cNvSpPr txBox="1"/>
            <p:nvPr/>
          </p:nvSpPr>
          <p:spPr>
            <a:xfrm>
              <a:off x="7974635" y="2872740"/>
              <a:ext cx="757580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7657B8"/>
                  </a:solidFill>
                  <a:latin typeface="Arial"/>
                  <a:ea typeface="Arial"/>
                  <a:cs typeface="Arial"/>
                </a:rPr>
                <a:t>CHECK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80673" y="3231356"/>
              <a:ext cx="1745504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数据 · 结果 · 偏差 · 评审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048125" y="4238625"/>
            <a:ext cx="2333625" cy="1066800"/>
            <a:chOff x="4048125" y="4238625"/>
            <a:chExt cx="2333625" cy="1066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21" name="Freeform 21"/>
            <p:cNvSpPr/>
            <p:nvPr/>
          </p:nvSpPr>
          <p:spPr>
            <a:xfrm>
              <a:off x="4048125" y="4238625"/>
              <a:ext cx="2333625" cy="1066800"/>
            </a:xfrm>
            <a:custGeom>
              <a:avLst/>
              <a:gdLst/>
              <a:ahLst/>
              <a:cxnLst/>
              <a:rect l="l" t="t" r="r" b="b"/>
              <a:pathLst>
                <a:path w="2333625" h="1066800">
                  <a:moveTo>
                    <a:pt x="171450" y="0"/>
                  </a:moveTo>
                  <a:lnTo>
                    <a:pt x="2162175" y="0"/>
                  </a:lnTo>
                  <a:cubicBezTo>
                    <a:pt x="2256864" y="0"/>
                    <a:pt x="2333625" y="76761"/>
                    <a:pt x="2333625" y="171450"/>
                  </a:cubicBezTo>
                  <a:lnTo>
                    <a:pt x="2333625" y="895350"/>
                  </a:lnTo>
                  <a:cubicBezTo>
                    <a:pt x="2333625" y="990039"/>
                    <a:pt x="2256864" y="1066800"/>
                    <a:pt x="2162175" y="1066800"/>
                  </a:cubicBezTo>
                  <a:lnTo>
                    <a:pt x="171450" y="1066800"/>
                  </a:lnTo>
                  <a:cubicBezTo>
                    <a:pt x="76761" y="1066800"/>
                    <a:pt x="0" y="990039"/>
                    <a:pt x="0" y="8953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FF2E7"/>
            </a:solidFill>
            <a:ln w="19050">
              <a:solidFill>
                <a:srgbClr val="C56A25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22" name="TextBox 22"/>
            <p:cNvSpPr txBox="1"/>
            <p:nvPr/>
          </p:nvSpPr>
          <p:spPr>
            <a:xfrm>
              <a:off x="4979243" y="4444365"/>
              <a:ext cx="461863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ACT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24505" y="4802981"/>
              <a:ext cx="1571339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纠正 · 标准化 · 再授权</a:t>
              </a:r>
            </a:p>
          </p:txBody>
        </p:sp>
      </p:grpSp>
      <p:sp>
        <p:nvSpPr>
          <p:cNvPr id="25" name="Ellipse 25"/>
          <p:cNvSpPr/>
          <p:nvPr/>
        </p:nvSpPr>
        <p:spPr>
          <a:xfrm>
            <a:off x="5372100" y="2705100"/>
            <a:ext cx="1447800" cy="1447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5707494" y="318801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管理闭环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762911" y="3485674"/>
            <a:ext cx="66617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决策有依据</a:t>
            </a:r>
          </a:p>
        </p:txBody>
      </p:sp>
      <p:sp>
        <p:nvSpPr>
          <p:cNvPr id="28" name="Freeform 28"/>
          <p:cNvSpPr/>
          <p:nvPr/>
        </p:nvSpPr>
        <p:spPr>
          <a:xfrm>
            <a:off x="9906000" y="2190750"/>
            <a:ext cx="1428750" cy="2571750"/>
          </a:xfrm>
          <a:custGeom>
            <a:avLst/>
            <a:gdLst/>
            <a:ahLst/>
            <a:cxnLst/>
            <a:rect l="l" t="t" r="r" b="b"/>
            <a:pathLst>
              <a:path w="1428750" h="2571750">
                <a:moveTo>
                  <a:pt x="152400" y="0"/>
                </a:moveTo>
                <a:lnTo>
                  <a:pt x="1276350" y="0"/>
                </a:lnTo>
                <a:cubicBezTo>
                  <a:pt x="1360518" y="0"/>
                  <a:pt x="1428750" y="68232"/>
                  <a:pt x="1428750" y="152400"/>
                </a:cubicBezTo>
                <a:lnTo>
                  <a:pt x="1428750" y="2419350"/>
                </a:lnTo>
                <a:cubicBezTo>
                  <a:pt x="1428750" y="2503518"/>
                  <a:pt x="1360518" y="2571750"/>
                  <a:pt x="1276350" y="2571750"/>
                </a:cubicBezTo>
                <a:lnTo>
                  <a:pt x="152400" y="2571750"/>
                </a:lnTo>
                <a:cubicBezTo>
                  <a:pt x="68232" y="2571750"/>
                  <a:pt x="0" y="2503518"/>
                  <a:pt x="0" y="241935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275037" y="241363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闭环证据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261664" y="28394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目标与风险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332339" y="3220402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执行记录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261664" y="36014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数据与评审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261664" y="39824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纠正与验证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261664" y="43634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标准化结果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65785" y="6069806"/>
            <a:ext cx="557712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适用场景：订单交付、质量异常、供应商表现、内部检查、客户投诉和管理评审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66738" y="6494145"/>
            <a:ext cx="397390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闭环不是单次改善报告；Act 的结果必须回到下一轮 Plan，形成受控更新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42569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32 / GOVERNANCE · RACI EXAMPLE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41289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部门协同RACI示例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567709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示例：依据受控矩阵选取六项活动；部门与执行班组分列，财务部明确纳入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381000" y="1752600"/>
            <a:ext cx="23812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320432" y="1930241"/>
            <a:ext cx="50238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事项 / ID</a:t>
            </a:r>
          </a:p>
        </p:txBody>
      </p:sp>
      <p:sp>
        <p:nvSpPr>
          <p:cNvPr id="10" name="Rectangle 10"/>
          <p:cNvSpPr/>
          <p:nvPr/>
        </p:nvSpPr>
        <p:spPr>
          <a:xfrm>
            <a:off x="276225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2969943" y="1938338"/>
            <a:ext cx="32756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总经理</a:t>
            </a:r>
          </a:p>
        </p:txBody>
      </p:sp>
      <p:sp>
        <p:nvSpPr>
          <p:cNvPr id="12" name="Rectangle 12"/>
          <p:cNvSpPr/>
          <p:nvPr/>
        </p:nvSpPr>
        <p:spPr>
          <a:xfrm>
            <a:off x="350520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3712893" y="1938338"/>
            <a:ext cx="32756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生产部</a:t>
            </a:r>
          </a:p>
        </p:txBody>
      </p:sp>
      <p:sp>
        <p:nvSpPr>
          <p:cNvPr id="14" name="Rectangle 14"/>
          <p:cNvSpPr/>
          <p:nvPr/>
        </p:nvSpPr>
        <p:spPr>
          <a:xfrm>
            <a:off x="424815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4455843" y="1938338"/>
            <a:ext cx="32756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品质部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99110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5198793" y="1938338"/>
            <a:ext cx="32756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营运部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73405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5941743" y="1938338"/>
            <a:ext cx="32756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财务部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47700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6578679" y="1938338"/>
            <a:ext cx="539591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工程技术组</a:t>
            </a:r>
          </a:p>
        </p:txBody>
      </p:sp>
      <p:sp>
        <p:nvSpPr>
          <p:cNvPr id="22" name="Rectangle 22"/>
          <p:cNvSpPr/>
          <p:nvPr/>
        </p:nvSpPr>
        <p:spPr>
          <a:xfrm>
            <a:off x="721995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7374636" y="1938338"/>
            <a:ext cx="433578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冲压车间</a:t>
            </a:r>
          </a:p>
        </p:txBody>
      </p:sp>
      <p:sp>
        <p:nvSpPr>
          <p:cNvPr id="24" name="Rectangle 24"/>
          <p:cNvSpPr/>
          <p:nvPr/>
        </p:nvSpPr>
        <p:spPr>
          <a:xfrm>
            <a:off x="796290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8064579" y="1938338"/>
            <a:ext cx="539591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模具维修组</a:t>
            </a:r>
          </a:p>
        </p:txBody>
      </p:sp>
      <p:sp>
        <p:nvSpPr>
          <p:cNvPr id="26" name="Rectangle 26"/>
          <p:cNvSpPr/>
          <p:nvPr/>
        </p:nvSpPr>
        <p:spPr>
          <a:xfrm>
            <a:off x="870585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8860536" y="1938338"/>
            <a:ext cx="433578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清洗车间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44880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9550479" y="1938338"/>
            <a:ext cx="539591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制程巡检组</a:t>
            </a:r>
          </a:p>
        </p:txBody>
      </p:sp>
      <p:sp>
        <p:nvSpPr>
          <p:cNvPr id="30" name="Rectangle 30"/>
          <p:cNvSpPr/>
          <p:nvPr/>
        </p:nvSpPr>
        <p:spPr>
          <a:xfrm>
            <a:off x="1019175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10187416" y="1938338"/>
            <a:ext cx="751618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成品出货检验组</a:t>
            </a:r>
          </a:p>
        </p:txBody>
      </p:sp>
      <p:sp>
        <p:nvSpPr>
          <p:cNvPr id="32" name="Rectangle 32"/>
          <p:cNvSpPr/>
          <p:nvPr/>
        </p:nvSpPr>
        <p:spPr>
          <a:xfrm>
            <a:off x="1093470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1142393" y="1938338"/>
            <a:ext cx="32756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业务组</a:t>
            </a:r>
          </a:p>
        </p:txBody>
      </p:sp>
      <p:sp>
        <p:nvSpPr>
          <p:cNvPr id="34" name="Rectangle 34"/>
          <p:cNvSpPr/>
          <p:nvPr/>
        </p:nvSpPr>
        <p:spPr>
          <a:xfrm>
            <a:off x="1167765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11885343" y="1938338"/>
            <a:ext cx="32756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采购组</a:t>
            </a:r>
          </a:p>
        </p:txBody>
      </p:sp>
      <p:sp>
        <p:nvSpPr>
          <p:cNvPr id="36" name="Rectangle 36"/>
          <p:cNvSpPr/>
          <p:nvPr/>
        </p:nvSpPr>
        <p:spPr>
          <a:xfrm>
            <a:off x="1242060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12628293" y="1938338"/>
            <a:ext cx="32756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仓储组</a:t>
            </a:r>
          </a:p>
        </p:txBody>
      </p:sp>
      <p:sp>
        <p:nvSpPr>
          <p:cNvPr id="38" name="Rectangle 38"/>
          <p:cNvSpPr/>
          <p:nvPr/>
        </p:nvSpPr>
        <p:spPr>
          <a:xfrm>
            <a:off x="381000" y="2238375"/>
            <a:ext cx="23812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1214368" y="2424112"/>
            <a:ext cx="714513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订单评审｜004</a:t>
            </a:r>
          </a:p>
        </p:txBody>
      </p:sp>
      <p:sp>
        <p:nvSpPr>
          <p:cNvPr id="40" name="Rectangle 40"/>
          <p:cNvSpPr/>
          <p:nvPr/>
        </p:nvSpPr>
        <p:spPr>
          <a:xfrm>
            <a:off x="276225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3107969" y="2399824"/>
            <a:ext cx="5151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42" name="Rectangle 42"/>
          <p:cNvSpPr/>
          <p:nvPr/>
        </p:nvSpPr>
        <p:spPr>
          <a:xfrm>
            <a:off x="350520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3831677" y="23998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44" name="Rectangle 44"/>
          <p:cNvSpPr/>
          <p:nvPr/>
        </p:nvSpPr>
        <p:spPr>
          <a:xfrm>
            <a:off x="424815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4574627" y="23998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46" name="Rectangle 46"/>
          <p:cNvSpPr/>
          <p:nvPr/>
        </p:nvSpPr>
        <p:spPr>
          <a:xfrm>
            <a:off x="499110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5317577" y="23998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C56A2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48" name="Rectangle 48"/>
          <p:cNvSpPr/>
          <p:nvPr/>
        </p:nvSpPr>
        <p:spPr>
          <a:xfrm>
            <a:off x="573405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6079769" y="2399824"/>
            <a:ext cx="5151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50" name="Rectangle 50"/>
          <p:cNvSpPr/>
          <p:nvPr/>
        </p:nvSpPr>
        <p:spPr>
          <a:xfrm>
            <a:off x="647700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6803477" y="23998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52" name="Rectangle 52"/>
          <p:cNvSpPr/>
          <p:nvPr/>
        </p:nvSpPr>
        <p:spPr>
          <a:xfrm>
            <a:off x="721995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7548334" y="23998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54" name="Rectangle 54"/>
          <p:cNvSpPr/>
          <p:nvPr/>
        </p:nvSpPr>
        <p:spPr>
          <a:xfrm>
            <a:off x="796290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8291284" y="23998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56" name="Rectangle 56"/>
          <p:cNvSpPr/>
          <p:nvPr/>
        </p:nvSpPr>
        <p:spPr>
          <a:xfrm>
            <a:off x="870585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9034234" y="23998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58" name="Rectangle 58"/>
          <p:cNvSpPr/>
          <p:nvPr/>
        </p:nvSpPr>
        <p:spPr>
          <a:xfrm>
            <a:off x="944880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9777184" y="23998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60" name="Rectangle 60"/>
          <p:cNvSpPr/>
          <p:nvPr/>
        </p:nvSpPr>
        <p:spPr>
          <a:xfrm>
            <a:off x="1019175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10520134" y="23998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62" name="Rectangle 62"/>
          <p:cNvSpPr/>
          <p:nvPr/>
        </p:nvSpPr>
        <p:spPr>
          <a:xfrm>
            <a:off x="1093470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11261177" y="23998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64" name="Rectangle 64"/>
          <p:cNvSpPr/>
          <p:nvPr/>
        </p:nvSpPr>
        <p:spPr>
          <a:xfrm>
            <a:off x="1167765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65" name="TextBox 65"/>
          <p:cNvSpPr txBox="1"/>
          <p:nvPr/>
        </p:nvSpPr>
        <p:spPr>
          <a:xfrm>
            <a:off x="12004127" y="23998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66" name="Rectangle 66"/>
          <p:cNvSpPr/>
          <p:nvPr/>
        </p:nvSpPr>
        <p:spPr>
          <a:xfrm>
            <a:off x="1242060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67" name="TextBox 67"/>
          <p:cNvSpPr txBox="1"/>
          <p:nvPr/>
        </p:nvSpPr>
        <p:spPr>
          <a:xfrm>
            <a:off x="12747077" y="23998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68" name="Rectangle 68"/>
          <p:cNvSpPr/>
          <p:nvPr/>
        </p:nvSpPr>
        <p:spPr>
          <a:xfrm>
            <a:off x="381000" y="2733675"/>
            <a:ext cx="23812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69" name="TextBox 69"/>
          <p:cNvSpPr txBox="1"/>
          <p:nvPr/>
        </p:nvSpPr>
        <p:spPr>
          <a:xfrm>
            <a:off x="1108355" y="2919412"/>
            <a:ext cx="92654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采购寻源下单｜005</a:t>
            </a:r>
          </a:p>
        </p:txBody>
      </p:sp>
      <p:sp>
        <p:nvSpPr>
          <p:cNvPr id="70" name="Rectangle 70"/>
          <p:cNvSpPr/>
          <p:nvPr/>
        </p:nvSpPr>
        <p:spPr>
          <a:xfrm>
            <a:off x="276225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71" name="TextBox 71"/>
          <p:cNvSpPr txBox="1"/>
          <p:nvPr/>
        </p:nvSpPr>
        <p:spPr>
          <a:xfrm>
            <a:off x="3107969" y="2895124"/>
            <a:ext cx="5151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72" name="Rectangle 72"/>
          <p:cNvSpPr/>
          <p:nvPr/>
        </p:nvSpPr>
        <p:spPr>
          <a:xfrm>
            <a:off x="350520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73" name="TextBox 73"/>
          <p:cNvSpPr txBox="1"/>
          <p:nvPr/>
        </p:nvSpPr>
        <p:spPr>
          <a:xfrm>
            <a:off x="3833584" y="28951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74" name="Rectangle 74"/>
          <p:cNvSpPr/>
          <p:nvPr/>
        </p:nvSpPr>
        <p:spPr>
          <a:xfrm>
            <a:off x="424815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75" name="TextBox 75"/>
          <p:cNvSpPr txBox="1"/>
          <p:nvPr/>
        </p:nvSpPr>
        <p:spPr>
          <a:xfrm>
            <a:off x="4576534" y="28951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76" name="Rectangle 76"/>
          <p:cNvSpPr/>
          <p:nvPr/>
        </p:nvSpPr>
        <p:spPr>
          <a:xfrm>
            <a:off x="499110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77" name="TextBox 77"/>
          <p:cNvSpPr txBox="1"/>
          <p:nvPr/>
        </p:nvSpPr>
        <p:spPr>
          <a:xfrm>
            <a:off x="5317577" y="28951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C56A2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78" name="Rectangle 78"/>
          <p:cNvSpPr/>
          <p:nvPr/>
        </p:nvSpPr>
        <p:spPr>
          <a:xfrm>
            <a:off x="573405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79" name="TextBox 79"/>
          <p:cNvSpPr txBox="1"/>
          <p:nvPr/>
        </p:nvSpPr>
        <p:spPr>
          <a:xfrm>
            <a:off x="6062434" y="28951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80" name="Rectangle 80"/>
          <p:cNvSpPr/>
          <p:nvPr/>
        </p:nvSpPr>
        <p:spPr>
          <a:xfrm>
            <a:off x="647700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81" name="TextBox 81"/>
          <p:cNvSpPr txBox="1"/>
          <p:nvPr/>
        </p:nvSpPr>
        <p:spPr>
          <a:xfrm>
            <a:off x="6807427" y="28951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82" name="Rectangle 82"/>
          <p:cNvSpPr/>
          <p:nvPr/>
        </p:nvSpPr>
        <p:spPr>
          <a:xfrm>
            <a:off x="721995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83" name="TextBox 83"/>
          <p:cNvSpPr txBox="1"/>
          <p:nvPr/>
        </p:nvSpPr>
        <p:spPr>
          <a:xfrm>
            <a:off x="7550377" y="28951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84" name="Rectangle 84"/>
          <p:cNvSpPr/>
          <p:nvPr/>
        </p:nvSpPr>
        <p:spPr>
          <a:xfrm>
            <a:off x="796290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85" name="TextBox 85"/>
          <p:cNvSpPr txBox="1"/>
          <p:nvPr/>
        </p:nvSpPr>
        <p:spPr>
          <a:xfrm>
            <a:off x="8293327" y="28951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86" name="Rectangle 86"/>
          <p:cNvSpPr/>
          <p:nvPr/>
        </p:nvSpPr>
        <p:spPr>
          <a:xfrm>
            <a:off x="870585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87" name="TextBox 87"/>
          <p:cNvSpPr txBox="1"/>
          <p:nvPr/>
        </p:nvSpPr>
        <p:spPr>
          <a:xfrm>
            <a:off x="9036277" y="28951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88" name="Rectangle 88"/>
          <p:cNvSpPr/>
          <p:nvPr/>
        </p:nvSpPr>
        <p:spPr>
          <a:xfrm>
            <a:off x="944880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89" name="TextBox 89"/>
          <p:cNvSpPr txBox="1"/>
          <p:nvPr/>
        </p:nvSpPr>
        <p:spPr>
          <a:xfrm>
            <a:off x="9779227" y="28951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90" name="Rectangle 90"/>
          <p:cNvSpPr/>
          <p:nvPr/>
        </p:nvSpPr>
        <p:spPr>
          <a:xfrm>
            <a:off x="1019175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91" name="TextBox 91"/>
          <p:cNvSpPr txBox="1"/>
          <p:nvPr/>
        </p:nvSpPr>
        <p:spPr>
          <a:xfrm>
            <a:off x="10522177" y="28951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92" name="Rectangle 92"/>
          <p:cNvSpPr/>
          <p:nvPr/>
        </p:nvSpPr>
        <p:spPr>
          <a:xfrm>
            <a:off x="1093470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93" name="TextBox 93"/>
          <p:cNvSpPr txBox="1"/>
          <p:nvPr/>
        </p:nvSpPr>
        <p:spPr>
          <a:xfrm>
            <a:off x="11261177" y="28951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94" name="Rectangle 94"/>
          <p:cNvSpPr/>
          <p:nvPr/>
        </p:nvSpPr>
        <p:spPr>
          <a:xfrm>
            <a:off x="1167765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95" name="TextBox 95"/>
          <p:cNvSpPr txBox="1"/>
          <p:nvPr/>
        </p:nvSpPr>
        <p:spPr>
          <a:xfrm>
            <a:off x="12004127" y="28951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96" name="Rectangle 96"/>
          <p:cNvSpPr/>
          <p:nvPr/>
        </p:nvSpPr>
        <p:spPr>
          <a:xfrm>
            <a:off x="1242060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97" name="TextBox 97"/>
          <p:cNvSpPr txBox="1"/>
          <p:nvPr/>
        </p:nvSpPr>
        <p:spPr>
          <a:xfrm>
            <a:off x="12747077" y="28951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98" name="Rectangle 98"/>
          <p:cNvSpPr/>
          <p:nvPr/>
        </p:nvSpPr>
        <p:spPr>
          <a:xfrm>
            <a:off x="381000" y="3228975"/>
            <a:ext cx="23812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99" name="TextBox 99"/>
          <p:cNvSpPr txBox="1"/>
          <p:nvPr/>
        </p:nvSpPr>
        <p:spPr>
          <a:xfrm>
            <a:off x="1214368" y="3414712"/>
            <a:ext cx="714513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来料检验｜011</a:t>
            </a:r>
          </a:p>
        </p:txBody>
      </p:sp>
      <p:sp>
        <p:nvSpPr>
          <p:cNvPr id="100" name="Rectangle 100"/>
          <p:cNvSpPr/>
          <p:nvPr/>
        </p:nvSpPr>
        <p:spPr>
          <a:xfrm>
            <a:off x="276225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01" name="TextBox 101"/>
          <p:cNvSpPr txBox="1"/>
          <p:nvPr/>
        </p:nvSpPr>
        <p:spPr>
          <a:xfrm>
            <a:off x="3092677" y="33904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02" name="Rectangle 102"/>
          <p:cNvSpPr/>
          <p:nvPr/>
        </p:nvSpPr>
        <p:spPr>
          <a:xfrm>
            <a:off x="350520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03" name="TextBox 103"/>
          <p:cNvSpPr txBox="1"/>
          <p:nvPr/>
        </p:nvSpPr>
        <p:spPr>
          <a:xfrm>
            <a:off x="3850919" y="3390424"/>
            <a:ext cx="5151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104" name="Rectangle 104"/>
          <p:cNvSpPr/>
          <p:nvPr/>
        </p:nvSpPr>
        <p:spPr>
          <a:xfrm>
            <a:off x="424815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05" name="TextBox 105"/>
          <p:cNvSpPr txBox="1"/>
          <p:nvPr/>
        </p:nvSpPr>
        <p:spPr>
          <a:xfrm>
            <a:off x="4574627" y="33904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C56A2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06" name="Rectangle 106"/>
          <p:cNvSpPr/>
          <p:nvPr/>
        </p:nvSpPr>
        <p:spPr>
          <a:xfrm>
            <a:off x="499110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07" name="TextBox 107"/>
          <p:cNvSpPr txBox="1"/>
          <p:nvPr/>
        </p:nvSpPr>
        <p:spPr>
          <a:xfrm>
            <a:off x="5319484" y="33904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08" name="Rectangle 108"/>
          <p:cNvSpPr/>
          <p:nvPr/>
        </p:nvSpPr>
        <p:spPr>
          <a:xfrm>
            <a:off x="573405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09" name="TextBox 109"/>
          <p:cNvSpPr txBox="1"/>
          <p:nvPr/>
        </p:nvSpPr>
        <p:spPr>
          <a:xfrm>
            <a:off x="6064477" y="33904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10" name="Rectangle 110"/>
          <p:cNvSpPr/>
          <p:nvPr/>
        </p:nvSpPr>
        <p:spPr>
          <a:xfrm>
            <a:off x="647700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11" name="TextBox 111"/>
          <p:cNvSpPr txBox="1"/>
          <p:nvPr/>
        </p:nvSpPr>
        <p:spPr>
          <a:xfrm>
            <a:off x="6807427" y="33904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12" name="Rectangle 112"/>
          <p:cNvSpPr/>
          <p:nvPr/>
        </p:nvSpPr>
        <p:spPr>
          <a:xfrm>
            <a:off x="721995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13" name="TextBox 113"/>
          <p:cNvSpPr txBox="1"/>
          <p:nvPr/>
        </p:nvSpPr>
        <p:spPr>
          <a:xfrm>
            <a:off x="7550377" y="33904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14" name="Rectangle 114"/>
          <p:cNvSpPr/>
          <p:nvPr/>
        </p:nvSpPr>
        <p:spPr>
          <a:xfrm>
            <a:off x="796290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15" name="TextBox 115"/>
          <p:cNvSpPr txBox="1"/>
          <p:nvPr/>
        </p:nvSpPr>
        <p:spPr>
          <a:xfrm>
            <a:off x="8293327" y="33904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16" name="Rectangle 116"/>
          <p:cNvSpPr/>
          <p:nvPr/>
        </p:nvSpPr>
        <p:spPr>
          <a:xfrm>
            <a:off x="870585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17" name="TextBox 117"/>
          <p:cNvSpPr txBox="1"/>
          <p:nvPr/>
        </p:nvSpPr>
        <p:spPr>
          <a:xfrm>
            <a:off x="9036277" y="33904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18" name="Rectangle 118"/>
          <p:cNvSpPr/>
          <p:nvPr/>
        </p:nvSpPr>
        <p:spPr>
          <a:xfrm>
            <a:off x="944880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19" name="TextBox 119"/>
          <p:cNvSpPr txBox="1"/>
          <p:nvPr/>
        </p:nvSpPr>
        <p:spPr>
          <a:xfrm>
            <a:off x="9779227" y="33904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20" name="Rectangle 120"/>
          <p:cNvSpPr/>
          <p:nvPr/>
        </p:nvSpPr>
        <p:spPr>
          <a:xfrm>
            <a:off x="1019175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21" name="TextBox 121"/>
          <p:cNvSpPr txBox="1"/>
          <p:nvPr/>
        </p:nvSpPr>
        <p:spPr>
          <a:xfrm>
            <a:off x="10518227" y="33904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122" name="Rectangle 122"/>
          <p:cNvSpPr/>
          <p:nvPr/>
        </p:nvSpPr>
        <p:spPr>
          <a:xfrm>
            <a:off x="1093470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23" name="TextBox 123"/>
          <p:cNvSpPr txBox="1"/>
          <p:nvPr/>
        </p:nvSpPr>
        <p:spPr>
          <a:xfrm>
            <a:off x="11263084" y="33904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24" name="Rectangle 124"/>
          <p:cNvSpPr/>
          <p:nvPr/>
        </p:nvSpPr>
        <p:spPr>
          <a:xfrm>
            <a:off x="1167765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25" name="TextBox 125"/>
          <p:cNvSpPr txBox="1"/>
          <p:nvPr/>
        </p:nvSpPr>
        <p:spPr>
          <a:xfrm>
            <a:off x="12006034" y="33904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26" name="Rectangle 126"/>
          <p:cNvSpPr/>
          <p:nvPr/>
        </p:nvSpPr>
        <p:spPr>
          <a:xfrm>
            <a:off x="1242060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27" name="TextBox 127"/>
          <p:cNvSpPr txBox="1"/>
          <p:nvPr/>
        </p:nvSpPr>
        <p:spPr>
          <a:xfrm>
            <a:off x="12748984" y="33904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28" name="Rectangle 128"/>
          <p:cNvSpPr/>
          <p:nvPr/>
        </p:nvSpPr>
        <p:spPr>
          <a:xfrm>
            <a:off x="381000" y="3724275"/>
            <a:ext cx="23812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29" name="TextBox 129"/>
          <p:cNvSpPr txBox="1"/>
          <p:nvPr/>
        </p:nvSpPr>
        <p:spPr>
          <a:xfrm>
            <a:off x="949335" y="3910012"/>
            <a:ext cx="1244579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成品包装与出货放行｜006</a:t>
            </a:r>
          </a:p>
        </p:txBody>
      </p:sp>
      <p:sp>
        <p:nvSpPr>
          <p:cNvPr id="130" name="Rectangle 130"/>
          <p:cNvSpPr/>
          <p:nvPr/>
        </p:nvSpPr>
        <p:spPr>
          <a:xfrm>
            <a:off x="276225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31" name="TextBox 131"/>
          <p:cNvSpPr txBox="1"/>
          <p:nvPr/>
        </p:nvSpPr>
        <p:spPr>
          <a:xfrm>
            <a:off x="3107969" y="3885724"/>
            <a:ext cx="5151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132" name="Rectangle 132"/>
          <p:cNvSpPr/>
          <p:nvPr/>
        </p:nvSpPr>
        <p:spPr>
          <a:xfrm>
            <a:off x="350520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33" name="TextBox 133"/>
          <p:cNvSpPr txBox="1"/>
          <p:nvPr/>
        </p:nvSpPr>
        <p:spPr>
          <a:xfrm>
            <a:off x="3833584" y="38857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34" name="Rectangle 134"/>
          <p:cNvSpPr/>
          <p:nvPr/>
        </p:nvSpPr>
        <p:spPr>
          <a:xfrm>
            <a:off x="424815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35" name="TextBox 135"/>
          <p:cNvSpPr txBox="1"/>
          <p:nvPr/>
        </p:nvSpPr>
        <p:spPr>
          <a:xfrm>
            <a:off x="4574627" y="38857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C56A2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36" name="Rectangle 136"/>
          <p:cNvSpPr/>
          <p:nvPr/>
        </p:nvSpPr>
        <p:spPr>
          <a:xfrm>
            <a:off x="499110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37" name="TextBox 137"/>
          <p:cNvSpPr txBox="1"/>
          <p:nvPr/>
        </p:nvSpPr>
        <p:spPr>
          <a:xfrm>
            <a:off x="5317577" y="38857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138" name="Rectangle 138"/>
          <p:cNvSpPr/>
          <p:nvPr/>
        </p:nvSpPr>
        <p:spPr>
          <a:xfrm>
            <a:off x="573405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39" name="TextBox 139"/>
          <p:cNvSpPr txBox="1"/>
          <p:nvPr/>
        </p:nvSpPr>
        <p:spPr>
          <a:xfrm>
            <a:off x="6079769" y="3885724"/>
            <a:ext cx="5151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140" name="Rectangle 140"/>
          <p:cNvSpPr/>
          <p:nvPr/>
        </p:nvSpPr>
        <p:spPr>
          <a:xfrm>
            <a:off x="647700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41" name="TextBox 141"/>
          <p:cNvSpPr txBox="1"/>
          <p:nvPr/>
        </p:nvSpPr>
        <p:spPr>
          <a:xfrm>
            <a:off x="6807427" y="38857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42" name="Rectangle 142"/>
          <p:cNvSpPr/>
          <p:nvPr/>
        </p:nvSpPr>
        <p:spPr>
          <a:xfrm>
            <a:off x="721995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43" name="TextBox 143"/>
          <p:cNvSpPr txBox="1"/>
          <p:nvPr/>
        </p:nvSpPr>
        <p:spPr>
          <a:xfrm>
            <a:off x="7550377" y="38857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44" name="Rectangle 144"/>
          <p:cNvSpPr/>
          <p:nvPr/>
        </p:nvSpPr>
        <p:spPr>
          <a:xfrm>
            <a:off x="796290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45" name="TextBox 145"/>
          <p:cNvSpPr txBox="1"/>
          <p:nvPr/>
        </p:nvSpPr>
        <p:spPr>
          <a:xfrm>
            <a:off x="8293327" y="38857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46" name="Rectangle 146"/>
          <p:cNvSpPr/>
          <p:nvPr/>
        </p:nvSpPr>
        <p:spPr>
          <a:xfrm>
            <a:off x="870585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47" name="TextBox 147"/>
          <p:cNvSpPr txBox="1"/>
          <p:nvPr/>
        </p:nvSpPr>
        <p:spPr>
          <a:xfrm>
            <a:off x="9036277" y="38857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48" name="Rectangle 148"/>
          <p:cNvSpPr/>
          <p:nvPr/>
        </p:nvSpPr>
        <p:spPr>
          <a:xfrm>
            <a:off x="944880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49" name="TextBox 149"/>
          <p:cNvSpPr txBox="1"/>
          <p:nvPr/>
        </p:nvSpPr>
        <p:spPr>
          <a:xfrm>
            <a:off x="9775277" y="38857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150" name="Rectangle 150"/>
          <p:cNvSpPr/>
          <p:nvPr/>
        </p:nvSpPr>
        <p:spPr>
          <a:xfrm>
            <a:off x="1019175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51" name="TextBox 151"/>
          <p:cNvSpPr txBox="1"/>
          <p:nvPr/>
        </p:nvSpPr>
        <p:spPr>
          <a:xfrm>
            <a:off x="10518227" y="38857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152" name="Rectangle 152"/>
          <p:cNvSpPr/>
          <p:nvPr/>
        </p:nvSpPr>
        <p:spPr>
          <a:xfrm>
            <a:off x="1093470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53" name="TextBox 153"/>
          <p:cNvSpPr txBox="1"/>
          <p:nvPr/>
        </p:nvSpPr>
        <p:spPr>
          <a:xfrm>
            <a:off x="11261177" y="38857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154" name="Rectangle 154"/>
          <p:cNvSpPr/>
          <p:nvPr/>
        </p:nvSpPr>
        <p:spPr>
          <a:xfrm>
            <a:off x="1167765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55" name="TextBox 155"/>
          <p:cNvSpPr txBox="1"/>
          <p:nvPr/>
        </p:nvSpPr>
        <p:spPr>
          <a:xfrm>
            <a:off x="12004127" y="38857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156" name="Rectangle 156"/>
          <p:cNvSpPr/>
          <p:nvPr/>
        </p:nvSpPr>
        <p:spPr>
          <a:xfrm>
            <a:off x="1242060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57" name="TextBox 157"/>
          <p:cNvSpPr txBox="1"/>
          <p:nvPr/>
        </p:nvSpPr>
        <p:spPr>
          <a:xfrm>
            <a:off x="12747077" y="38857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158" name="Rectangle 158"/>
          <p:cNvSpPr/>
          <p:nvPr/>
        </p:nvSpPr>
        <p:spPr>
          <a:xfrm>
            <a:off x="381000" y="4219575"/>
            <a:ext cx="23812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59" name="TextBox 159"/>
          <p:cNvSpPr txBox="1"/>
          <p:nvPr/>
        </p:nvSpPr>
        <p:spPr>
          <a:xfrm>
            <a:off x="1055349" y="4405312"/>
            <a:ext cx="1032553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付款与费用审批｜015</a:t>
            </a:r>
          </a:p>
        </p:txBody>
      </p:sp>
      <p:sp>
        <p:nvSpPr>
          <p:cNvPr id="160" name="Rectangle 160"/>
          <p:cNvSpPr/>
          <p:nvPr/>
        </p:nvSpPr>
        <p:spPr>
          <a:xfrm>
            <a:off x="276225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61" name="TextBox 161"/>
          <p:cNvSpPr txBox="1"/>
          <p:nvPr/>
        </p:nvSpPr>
        <p:spPr>
          <a:xfrm>
            <a:off x="3088727" y="43810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C56A2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62" name="Rectangle 162"/>
          <p:cNvSpPr/>
          <p:nvPr/>
        </p:nvSpPr>
        <p:spPr>
          <a:xfrm>
            <a:off x="350520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63" name="TextBox 163"/>
          <p:cNvSpPr txBox="1"/>
          <p:nvPr/>
        </p:nvSpPr>
        <p:spPr>
          <a:xfrm>
            <a:off x="3833584" y="43810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64" name="Rectangle 164"/>
          <p:cNvSpPr/>
          <p:nvPr/>
        </p:nvSpPr>
        <p:spPr>
          <a:xfrm>
            <a:off x="424815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65" name="TextBox 165"/>
          <p:cNvSpPr txBox="1"/>
          <p:nvPr/>
        </p:nvSpPr>
        <p:spPr>
          <a:xfrm>
            <a:off x="4576534" y="43810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66" name="Rectangle 166"/>
          <p:cNvSpPr/>
          <p:nvPr/>
        </p:nvSpPr>
        <p:spPr>
          <a:xfrm>
            <a:off x="499110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67" name="TextBox 167"/>
          <p:cNvSpPr txBox="1"/>
          <p:nvPr/>
        </p:nvSpPr>
        <p:spPr>
          <a:xfrm>
            <a:off x="5319484" y="43810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68" name="Rectangle 168"/>
          <p:cNvSpPr/>
          <p:nvPr/>
        </p:nvSpPr>
        <p:spPr>
          <a:xfrm>
            <a:off x="573405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69" name="TextBox 169"/>
          <p:cNvSpPr txBox="1"/>
          <p:nvPr/>
        </p:nvSpPr>
        <p:spPr>
          <a:xfrm>
            <a:off x="6060527" y="43810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170" name="Rectangle 170"/>
          <p:cNvSpPr/>
          <p:nvPr/>
        </p:nvSpPr>
        <p:spPr>
          <a:xfrm>
            <a:off x="647700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71" name="TextBox 171"/>
          <p:cNvSpPr txBox="1"/>
          <p:nvPr/>
        </p:nvSpPr>
        <p:spPr>
          <a:xfrm>
            <a:off x="6805384" y="43810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72" name="Rectangle 172"/>
          <p:cNvSpPr/>
          <p:nvPr/>
        </p:nvSpPr>
        <p:spPr>
          <a:xfrm>
            <a:off x="721995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73" name="TextBox 173"/>
          <p:cNvSpPr txBox="1"/>
          <p:nvPr/>
        </p:nvSpPr>
        <p:spPr>
          <a:xfrm>
            <a:off x="7550377" y="43810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74" name="Rectangle 174"/>
          <p:cNvSpPr/>
          <p:nvPr/>
        </p:nvSpPr>
        <p:spPr>
          <a:xfrm>
            <a:off x="796290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75" name="TextBox 175"/>
          <p:cNvSpPr txBox="1"/>
          <p:nvPr/>
        </p:nvSpPr>
        <p:spPr>
          <a:xfrm>
            <a:off x="8293327" y="43810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76" name="Rectangle 176"/>
          <p:cNvSpPr/>
          <p:nvPr/>
        </p:nvSpPr>
        <p:spPr>
          <a:xfrm>
            <a:off x="870585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77" name="TextBox 177"/>
          <p:cNvSpPr txBox="1"/>
          <p:nvPr/>
        </p:nvSpPr>
        <p:spPr>
          <a:xfrm>
            <a:off x="9036277" y="43810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78" name="Rectangle 178"/>
          <p:cNvSpPr/>
          <p:nvPr/>
        </p:nvSpPr>
        <p:spPr>
          <a:xfrm>
            <a:off x="944880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79" name="TextBox 179"/>
          <p:cNvSpPr txBox="1"/>
          <p:nvPr/>
        </p:nvSpPr>
        <p:spPr>
          <a:xfrm>
            <a:off x="9779227" y="43810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80" name="Rectangle 180"/>
          <p:cNvSpPr/>
          <p:nvPr/>
        </p:nvSpPr>
        <p:spPr>
          <a:xfrm>
            <a:off x="1019175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81" name="TextBox 181"/>
          <p:cNvSpPr txBox="1"/>
          <p:nvPr/>
        </p:nvSpPr>
        <p:spPr>
          <a:xfrm>
            <a:off x="10522177" y="43810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82" name="Rectangle 182"/>
          <p:cNvSpPr/>
          <p:nvPr/>
        </p:nvSpPr>
        <p:spPr>
          <a:xfrm>
            <a:off x="1093470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83" name="TextBox 183"/>
          <p:cNvSpPr txBox="1"/>
          <p:nvPr/>
        </p:nvSpPr>
        <p:spPr>
          <a:xfrm>
            <a:off x="11263084" y="43810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84" name="Rectangle 184"/>
          <p:cNvSpPr/>
          <p:nvPr/>
        </p:nvSpPr>
        <p:spPr>
          <a:xfrm>
            <a:off x="1167765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85" name="TextBox 185"/>
          <p:cNvSpPr txBox="1"/>
          <p:nvPr/>
        </p:nvSpPr>
        <p:spPr>
          <a:xfrm>
            <a:off x="12006034" y="43810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86" name="Rectangle 186"/>
          <p:cNvSpPr/>
          <p:nvPr/>
        </p:nvSpPr>
        <p:spPr>
          <a:xfrm>
            <a:off x="1242060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87" name="TextBox 187"/>
          <p:cNvSpPr txBox="1"/>
          <p:nvPr/>
        </p:nvSpPr>
        <p:spPr>
          <a:xfrm>
            <a:off x="12748984" y="43810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88" name="Rectangle 188"/>
          <p:cNvSpPr/>
          <p:nvPr/>
        </p:nvSpPr>
        <p:spPr>
          <a:xfrm>
            <a:off x="381000" y="4714875"/>
            <a:ext cx="23812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89" name="TextBox 189"/>
          <p:cNvSpPr txBox="1"/>
          <p:nvPr/>
        </p:nvSpPr>
        <p:spPr>
          <a:xfrm>
            <a:off x="1055349" y="4900612"/>
            <a:ext cx="1032553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模具维修与技改｜021</a:t>
            </a:r>
          </a:p>
        </p:txBody>
      </p:sp>
      <p:sp>
        <p:nvSpPr>
          <p:cNvPr id="190" name="Rectangle 190"/>
          <p:cNvSpPr/>
          <p:nvPr/>
        </p:nvSpPr>
        <p:spPr>
          <a:xfrm>
            <a:off x="276225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91" name="TextBox 191"/>
          <p:cNvSpPr txBox="1"/>
          <p:nvPr/>
        </p:nvSpPr>
        <p:spPr>
          <a:xfrm>
            <a:off x="3090634" y="48763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92" name="Rectangle 192"/>
          <p:cNvSpPr/>
          <p:nvPr/>
        </p:nvSpPr>
        <p:spPr>
          <a:xfrm>
            <a:off x="350520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93" name="TextBox 193"/>
          <p:cNvSpPr txBox="1"/>
          <p:nvPr/>
        </p:nvSpPr>
        <p:spPr>
          <a:xfrm>
            <a:off x="3831677" y="48763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194" name="Rectangle 194"/>
          <p:cNvSpPr/>
          <p:nvPr/>
        </p:nvSpPr>
        <p:spPr>
          <a:xfrm>
            <a:off x="424815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95" name="TextBox 195"/>
          <p:cNvSpPr txBox="1"/>
          <p:nvPr/>
        </p:nvSpPr>
        <p:spPr>
          <a:xfrm>
            <a:off x="4576534" y="48763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96" name="Rectangle 196"/>
          <p:cNvSpPr/>
          <p:nvPr/>
        </p:nvSpPr>
        <p:spPr>
          <a:xfrm>
            <a:off x="499110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97" name="TextBox 197"/>
          <p:cNvSpPr txBox="1"/>
          <p:nvPr/>
        </p:nvSpPr>
        <p:spPr>
          <a:xfrm>
            <a:off x="5319484" y="48763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98" name="Rectangle 198"/>
          <p:cNvSpPr/>
          <p:nvPr/>
        </p:nvSpPr>
        <p:spPr>
          <a:xfrm>
            <a:off x="573405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99" name="TextBox 199"/>
          <p:cNvSpPr txBox="1"/>
          <p:nvPr/>
        </p:nvSpPr>
        <p:spPr>
          <a:xfrm>
            <a:off x="6064477" y="48763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200" name="Rectangle 200"/>
          <p:cNvSpPr/>
          <p:nvPr/>
        </p:nvSpPr>
        <p:spPr>
          <a:xfrm>
            <a:off x="647700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201" name="TextBox 201"/>
          <p:cNvSpPr txBox="1"/>
          <p:nvPr/>
        </p:nvSpPr>
        <p:spPr>
          <a:xfrm>
            <a:off x="6803477" y="48763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C56A2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02" name="Rectangle 202"/>
          <p:cNvSpPr/>
          <p:nvPr/>
        </p:nvSpPr>
        <p:spPr>
          <a:xfrm>
            <a:off x="721995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203" name="TextBox 203"/>
          <p:cNvSpPr txBox="1"/>
          <p:nvPr/>
        </p:nvSpPr>
        <p:spPr>
          <a:xfrm>
            <a:off x="7550377" y="48763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204" name="Rectangle 204"/>
          <p:cNvSpPr/>
          <p:nvPr/>
        </p:nvSpPr>
        <p:spPr>
          <a:xfrm>
            <a:off x="796290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205" name="TextBox 205"/>
          <p:cNvSpPr txBox="1"/>
          <p:nvPr/>
        </p:nvSpPr>
        <p:spPr>
          <a:xfrm>
            <a:off x="8289377" y="48763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206" name="Rectangle 206"/>
          <p:cNvSpPr/>
          <p:nvPr/>
        </p:nvSpPr>
        <p:spPr>
          <a:xfrm>
            <a:off x="870585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207" name="TextBox 207"/>
          <p:cNvSpPr txBox="1"/>
          <p:nvPr/>
        </p:nvSpPr>
        <p:spPr>
          <a:xfrm>
            <a:off x="9032327" y="48763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208" name="Rectangle 208"/>
          <p:cNvSpPr/>
          <p:nvPr/>
        </p:nvSpPr>
        <p:spPr>
          <a:xfrm>
            <a:off x="944880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209" name="TextBox 209"/>
          <p:cNvSpPr txBox="1"/>
          <p:nvPr/>
        </p:nvSpPr>
        <p:spPr>
          <a:xfrm>
            <a:off x="9779227" y="48763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210" name="Rectangle 210"/>
          <p:cNvSpPr/>
          <p:nvPr/>
        </p:nvSpPr>
        <p:spPr>
          <a:xfrm>
            <a:off x="1019175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211" name="TextBox 211"/>
          <p:cNvSpPr txBox="1"/>
          <p:nvPr/>
        </p:nvSpPr>
        <p:spPr>
          <a:xfrm>
            <a:off x="10522177" y="48763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212" name="Rectangle 212"/>
          <p:cNvSpPr/>
          <p:nvPr/>
        </p:nvSpPr>
        <p:spPr>
          <a:xfrm>
            <a:off x="1093470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213" name="TextBox 213"/>
          <p:cNvSpPr txBox="1"/>
          <p:nvPr/>
        </p:nvSpPr>
        <p:spPr>
          <a:xfrm>
            <a:off x="11265127" y="48763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214" name="Rectangle 214"/>
          <p:cNvSpPr/>
          <p:nvPr/>
        </p:nvSpPr>
        <p:spPr>
          <a:xfrm>
            <a:off x="1167765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215" name="TextBox 215"/>
          <p:cNvSpPr txBox="1"/>
          <p:nvPr/>
        </p:nvSpPr>
        <p:spPr>
          <a:xfrm>
            <a:off x="12008077" y="48763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216" name="Rectangle 216"/>
          <p:cNvSpPr/>
          <p:nvPr/>
        </p:nvSpPr>
        <p:spPr>
          <a:xfrm>
            <a:off x="1242060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217" name="TextBox 217"/>
          <p:cNvSpPr txBox="1"/>
          <p:nvPr/>
        </p:nvSpPr>
        <p:spPr>
          <a:xfrm>
            <a:off x="12751027" y="48763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218" name="Rectangle 218"/>
          <p:cNvSpPr/>
          <p:nvPr/>
        </p:nvSpPr>
        <p:spPr>
          <a:xfrm>
            <a:off x="571500" y="5381625"/>
            <a:ext cx="11049000" cy="666750"/>
          </a:xfrm>
          <a:prstGeom prst="roundRect">
            <a:avLst>
              <a:gd name="adj" fmla="val 14286"/>
            </a:avLst>
          </a:prstGeom>
          <a:solidFill>
            <a:srgbClr val="FFF7DF"/>
          </a:solidFill>
          <a:ln w="19050">
            <a:solidFill>
              <a:srgbClr val="A87519"/>
            </a:solidFill>
          </a:ln>
        </p:spPr>
      </p:sp>
      <p:sp>
        <p:nvSpPr>
          <p:cNvPr id="219" name="TextBox 219"/>
          <p:cNvSpPr txBox="1"/>
          <p:nvPr/>
        </p:nvSpPr>
        <p:spPr>
          <a:xfrm>
            <a:off x="3557290" y="5533549"/>
            <a:ext cx="507741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805B12"/>
                </a:solidFill>
                <a:latin typeface="Arial"/>
                <a:ea typeface="Microsoft YaHei"/>
                <a:cs typeface="Arial"/>
              </a:rPr>
              <a:t>R=执行｜A=最终负责/批准（每行唯一）｜C=事前咨询｜I=结果知会｜—=不参与</a:t>
            </a:r>
          </a:p>
        </p:txBody>
      </p:sp>
      <p:sp>
        <p:nvSpPr>
          <p:cNvPr id="220" name="TextBox 220"/>
          <p:cNvSpPr txBox="1"/>
          <p:nvPr/>
        </p:nvSpPr>
        <p:spPr>
          <a:xfrm>
            <a:off x="3527717" y="5779770"/>
            <a:ext cx="513656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05B12"/>
                </a:solidFill>
                <a:latin typeface="Arial"/>
                <a:ea typeface="Microsoft YaHei"/>
                <a:cs typeface="Arial"/>
              </a:rPr>
              <a:t>采购验收拆分：来料质量检验 A=品质部、R=成品出货检验组；仓储仅参与收货/物流协同。</a:t>
            </a:r>
          </a:p>
        </p:txBody>
      </p:sp>
      <p:sp>
        <p:nvSpPr>
          <p:cNvPr id="221" name="TextBox 221"/>
          <p:cNvSpPr txBox="1"/>
          <p:nvPr/>
        </p:nvSpPr>
        <p:spPr>
          <a:xfrm>
            <a:off x="566738" y="6502241"/>
            <a:ext cx="745525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示例不是新增授权；金额、特采/让步放行边界以正式授权文件为准。来源：RACI-004、RACI-005、RACI-006、RACI-011、RACI-015、RACI-021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4822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33｜管理体系证据链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从要求到执行、检查、整改和改进，形成可追溯的治理证据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94410"/>
            <a:ext cx="388924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证据链不是信息罗列，而是从要求到复盘的可追溯关系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9566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制度要求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22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制度/标准</a:t>
            </a:r>
          </a:p>
        </p:txBody>
      </p:sp>
      <p:sp>
        <p:nvSpPr>
          <p:cNvPr id="9" name="Line 9"/>
          <p:cNvSpPr/>
          <p:nvPr/>
        </p:nvSpPr>
        <p:spPr>
          <a:xfrm>
            <a:off x="2000250" y="2895600"/>
            <a:ext cx="133350" cy="1"/>
          </a:xfrm>
          <a:prstGeom prst="line">
            <a:avLst/>
          </a:pr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10" name="Rectangle 10"/>
          <p:cNvSpPr/>
          <p:nvPr/>
        </p:nvSpPr>
        <p:spPr>
          <a:xfrm>
            <a:off x="21717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25568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责任活动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5124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岗位/部门</a:t>
            </a:r>
          </a:p>
        </p:txBody>
      </p:sp>
      <p:sp>
        <p:nvSpPr>
          <p:cNvPr id="13" name="Line 13"/>
          <p:cNvSpPr/>
          <p:nvPr/>
        </p:nvSpPr>
        <p:spPr>
          <a:xfrm>
            <a:off x="3600450" y="2895600"/>
            <a:ext cx="133350" cy="1"/>
          </a:xfrm>
          <a:prstGeom prst="line">
            <a:avLst/>
          </a:pr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14" name="Rectangle 14"/>
          <p:cNvSpPr/>
          <p:nvPr/>
        </p:nvSpPr>
        <p:spPr>
          <a:xfrm>
            <a:off x="37719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41570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执行记录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1126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表单/台账</a:t>
            </a:r>
          </a:p>
        </p:txBody>
      </p:sp>
      <p:sp>
        <p:nvSpPr>
          <p:cNvPr id="17" name="Line 17"/>
          <p:cNvSpPr/>
          <p:nvPr/>
        </p:nvSpPr>
        <p:spPr>
          <a:xfrm>
            <a:off x="5200650" y="2895600"/>
            <a:ext cx="133350" cy="1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18" name="Rectangle 18"/>
          <p:cNvSpPr/>
          <p:nvPr/>
        </p:nvSpPr>
        <p:spPr>
          <a:xfrm>
            <a:off x="53721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57572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检查结果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7128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测量/审核</a:t>
            </a:r>
          </a:p>
        </p:txBody>
      </p:sp>
      <p:sp>
        <p:nvSpPr>
          <p:cNvPr id="21" name="Line 21"/>
          <p:cNvSpPr/>
          <p:nvPr/>
        </p:nvSpPr>
        <p:spPr>
          <a:xfrm>
            <a:off x="6800850" y="2895600"/>
            <a:ext cx="133350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22" name="Rectangle 22"/>
          <p:cNvSpPr/>
          <p:nvPr/>
        </p:nvSpPr>
        <p:spPr>
          <a:xfrm>
            <a:off x="69723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D95C5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73574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整改证据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3130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问题/措施</a:t>
            </a:r>
          </a:p>
        </p:txBody>
      </p:sp>
      <p:sp>
        <p:nvSpPr>
          <p:cNvPr id="25" name="Line 25"/>
          <p:cNvSpPr/>
          <p:nvPr/>
        </p:nvSpPr>
        <p:spPr>
          <a:xfrm>
            <a:off x="8401050" y="2895600"/>
            <a:ext cx="133350" cy="1"/>
          </a:xfrm>
          <a:prstGeom prst="line">
            <a:avLst/>
          </a:prstGeom>
          <a:noFill/>
          <a:ln w="28575">
            <a:solidFill>
              <a:srgbClr val="D95C5C"/>
            </a:solidFill>
            <a:tailEnd type="triangle" w="lg" len="lg"/>
          </a:ln>
        </p:spPr>
      </p:sp>
      <p:sp>
        <p:nvSpPr>
          <p:cNvPr id="26" name="Rectangle 26"/>
          <p:cNvSpPr/>
          <p:nvPr/>
        </p:nvSpPr>
        <p:spPr>
          <a:xfrm>
            <a:off x="85725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89576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评审结论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9132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会议/决定</a:t>
            </a:r>
          </a:p>
        </p:txBody>
      </p:sp>
      <p:sp>
        <p:nvSpPr>
          <p:cNvPr id="29" name="Line 29"/>
          <p:cNvSpPr/>
          <p:nvPr/>
        </p:nvSpPr>
        <p:spPr>
          <a:xfrm>
            <a:off x="10001250" y="2895600"/>
            <a:ext cx="133350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30" name="Rectangle 30"/>
          <p:cNvSpPr/>
          <p:nvPr/>
        </p:nvSpPr>
        <p:spPr>
          <a:xfrm>
            <a:off x="101727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105578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改进证据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5134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验证/更新</a:t>
            </a:r>
          </a:p>
        </p:txBody>
      </p:sp>
      <p:sp>
        <p:nvSpPr>
          <p:cNvPr id="33" name="Line 33"/>
          <p:cNvSpPr/>
          <p:nvPr/>
        </p:nvSpPr>
        <p:spPr>
          <a:xfrm>
            <a:off x="12858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7429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7143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证据：制度条款</a:t>
            </a:r>
          </a:p>
        </p:txBody>
      </p:sp>
      <p:sp>
        <p:nvSpPr>
          <p:cNvPr id="36" name="Line 36"/>
          <p:cNvSpPr/>
          <p:nvPr/>
        </p:nvSpPr>
        <p:spPr>
          <a:xfrm>
            <a:off x="28860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37" name="Rectangle 37"/>
          <p:cNvSpPr/>
          <p:nvPr/>
        </p:nvSpPr>
        <p:spPr>
          <a:xfrm>
            <a:off x="23431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23145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证据：责任记录</a:t>
            </a:r>
          </a:p>
        </p:txBody>
      </p:sp>
      <p:sp>
        <p:nvSpPr>
          <p:cNvPr id="39" name="Line 39"/>
          <p:cNvSpPr/>
          <p:nvPr/>
        </p:nvSpPr>
        <p:spPr>
          <a:xfrm>
            <a:off x="44862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40" name="Rectangle 40"/>
          <p:cNvSpPr/>
          <p:nvPr/>
        </p:nvSpPr>
        <p:spPr>
          <a:xfrm>
            <a:off x="39433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39147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证据：执行台账</a:t>
            </a:r>
          </a:p>
        </p:txBody>
      </p:sp>
      <p:sp>
        <p:nvSpPr>
          <p:cNvPr id="42" name="Line 42"/>
          <p:cNvSpPr/>
          <p:nvPr/>
        </p:nvSpPr>
        <p:spPr>
          <a:xfrm>
            <a:off x="60864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43" name="Rectangle 43"/>
          <p:cNvSpPr/>
          <p:nvPr/>
        </p:nvSpPr>
        <p:spPr>
          <a:xfrm>
            <a:off x="55435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55149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证据：检查报告</a:t>
            </a:r>
          </a:p>
        </p:txBody>
      </p:sp>
      <p:sp>
        <p:nvSpPr>
          <p:cNvPr id="45" name="Line 45"/>
          <p:cNvSpPr/>
          <p:nvPr/>
        </p:nvSpPr>
        <p:spPr>
          <a:xfrm>
            <a:off x="76866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46" name="Rectangle 46"/>
          <p:cNvSpPr/>
          <p:nvPr/>
        </p:nvSpPr>
        <p:spPr>
          <a:xfrm>
            <a:off x="71437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71151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证据：整改闭环</a:t>
            </a:r>
          </a:p>
        </p:txBody>
      </p:sp>
      <p:sp>
        <p:nvSpPr>
          <p:cNvPr id="48" name="Line 48"/>
          <p:cNvSpPr/>
          <p:nvPr/>
        </p:nvSpPr>
        <p:spPr>
          <a:xfrm>
            <a:off x="92868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49" name="Rectangle 49"/>
          <p:cNvSpPr/>
          <p:nvPr/>
        </p:nvSpPr>
        <p:spPr>
          <a:xfrm>
            <a:off x="87439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87153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证据：会议纪要</a:t>
            </a:r>
          </a:p>
        </p:txBody>
      </p:sp>
      <p:sp>
        <p:nvSpPr>
          <p:cNvPr id="51" name="Line 51"/>
          <p:cNvSpPr/>
          <p:nvPr/>
        </p:nvSpPr>
        <p:spPr>
          <a:xfrm>
            <a:off x="108870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52" name="Rectangle 52"/>
          <p:cNvSpPr/>
          <p:nvPr/>
        </p:nvSpPr>
        <p:spPr>
          <a:xfrm>
            <a:off x="103441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103155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证据：版本更新</a:t>
            </a:r>
          </a:p>
        </p:txBody>
      </p:sp>
      <p:sp>
        <p:nvSpPr>
          <p:cNvPr id="54" name="Freeform 54"/>
          <p:cNvSpPr/>
          <p:nvPr/>
        </p:nvSpPr>
        <p:spPr>
          <a:xfrm>
            <a:off x="1285875" y="4095750"/>
            <a:ext cx="9286875" cy="1000125"/>
          </a:xfrm>
          <a:custGeom>
            <a:avLst/>
            <a:gdLst/>
            <a:ahLst/>
            <a:cxnLst/>
            <a:rect l="l" t="t" r="r" b="b"/>
            <a:pathLst>
              <a:path w="9286875" h="1000125">
                <a:moveTo>
                  <a:pt x="0" y="0"/>
                </a:moveTo>
                <a:cubicBezTo>
                  <a:pt x="0" y="1000125"/>
                  <a:pt x="9286875" y="1000125"/>
                  <a:pt x="9286875" y="0"/>
                </a:cubicBezTo>
              </a:path>
            </a:pathLst>
          </a:custGeom>
          <a:noFill/>
          <a:ln w="28575">
            <a:solidFill>
              <a:srgbClr val="1C9C8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55" name="TextBox 55"/>
          <p:cNvSpPr txBox="1"/>
          <p:nvPr/>
        </p:nvSpPr>
        <p:spPr>
          <a:xfrm>
            <a:off x="3799332" y="5252085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1C9C8C"/>
                </a:solidFill>
                <a:latin typeface="Segoe UI"/>
                <a:ea typeface="Microsoft YaHei"/>
                <a:cs typeface="Segoe UI"/>
              </a:rPr>
              <a:t>复盘反馈：改进结果反向更新制度、责任、表单或检查方式</a:t>
            </a:r>
          </a:p>
        </p:txBody>
      </p:sp>
      <p:sp>
        <p:nvSpPr>
          <p:cNvPr id="56" name="Rectangle 56"/>
          <p:cNvSpPr/>
          <p:nvPr/>
        </p:nvSpPr>
        <p:spPr>
          <a:xfrm>
            <a:off x="857250" y="1428750"/>
            <a:ext cx="10287000" cy="457200"/>
          </a:xfrm>
          <a:prstGeom prst="roundRect">
            <a:avLst>
              <a:gd name="adj" fmla="val 16667"/>
            </a:avLst>
          </a:prstGeom>
          <a:solidFill>
            <a:srgbClr val="EAF0FF"/>
          </a:solidFill>
          <a:ln w="9525">
            <a:solidFill>
              <a:srgbClr val="B7C9FF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3975354" y="1584960"/>
            <a:ext cx="40507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F6BFF"/>
                </a:solidFill>
                <a:latin typeface="Segoe UI"/>
                <a:ea typeface="Microsoft YaHei"/>
                <a:cs typeface="Segoe UI"/>
              </a:rPr>
              <a:t>每一段都应能回答：谁负责？留下什么记录？由谁验证？</a:t>
            </a:r>
          </a:p>
        </p:txBody>
      </p:sp>
      <p:sp>
        <p:nvSpPr>
          <p:cNvPr id="58" name="Rectangle 58"/>
          <p:cNvSpPr/>
          <p:nvPr/>
        </p:nvSpPr>
        <p:spPr>
          <a:xfrm>
            <a:off x="857250" y="5619750"/>
            <a:ext cx="10287000" cy="400050"/>
          </a:xfrm>
          <a:prstGeom prst="roundRect">
            <a:avLst>
              <a:gd name="adj" fmla="val 14286"/>
            </a:avLst>
          </a:pr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3652266" y="5737860"/>
            <a:ext cx="4696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87519"/>
                </a:solidFill>
                <a:latin typeface="Segoe UI"/>
                <a:ea typeface="Microsoft YaHei"/>
                <a:cs typeface="Segoe UI"/>
              </a:rPr>
              <a:t>待确认：正式表单编号、记录保存期限、评审频次和证据归档位置</a:t>
            </a:r>
          </a:p>
        </p:txBody>
      </p:sp>
      <p:sp>
        <p:nvSpPr>
          <p:cNvPr id="60" name="Line 60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30023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34 / IMPLEMENTATION ROADMAP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486343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90天落地路线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361740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先跑通关键责任、授权和记录，再扩展到全公司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428750" y="3429000"/>
            <a:ext cx="9334500" cy="1"/>
          </a:xfrm>
          <a:prstGeom prst="line">
            <a:avLst/>
          </a:prstGeom>
          <a:noFill/>
          <a:ln w="47625">
            <a:solidFill>
              <a:srgbClr val="9AA9BA"/>
            </a:solidFill>
            <a:tailEnd type="triangle" w="lg" len="lg"/>
          </a:ln>
        </p:spPr>
      </p:sp>
      <p:sp>
        <p:nvSpPr>
          <p:cNvPr id="9" name="Ellipse 9"/>
          <p:cNvSpPr/>
          <p:nvPr/>
        </p:nvSpPr>
        <p:spPr>
          <a:xfrm>
            <a:off x="1638300" y="3257550"/>
            <a:ext cx="342900" cy="342900"/>
          </a:xfrm>
          <a:prstGeom prst="ellipse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5924550" y="3257550"/>
            <a:ext cx="342900" cy="342900"/>
          </a:xfrm>
          <a:prstGeom prst="ellipse">
            <a:avLst/>
          </a:prstGeom>
          <a:solidFill>
            <a:srgbClr val="1C9C8C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10210800" y="3257550"/>
            <a:ext cx="342900" cy="342900"/>
          </a:xfrm>
          <a:prstGeom prst="ellipse">
            <a:avLst/>
          </a:prstGeom>
          <a:solidFill>
            <a:srgbClr val="C56A25"/>
          </a:solidFill>
          <a:ln>
            <a:noFill/>
          </a:ln>
        </p:spPr>
      </p:sp>
      <p:grpSp>
        <p:nvGrpSpPr>
          <p:cNvPr id="20" name="Group 20"/>
          <p:cNvGrpSpPr/>
          <p:nvPr/>
        </p:nvGrpSpPr>
        <p:grpSpPr>
          <a:xfrm>
            <a:off x="762000" y="1952625"/>
            <a:ext cx="3143250" cy="2190750"/>
            <a:chOff x="762000" y="1952625"/>
            <a:chExt cx="3143250" cy="219075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12" name="Freeform 12"/>
            <p:cNvSpPr/>
            <p:nvPr/>
          </p:nvSpPr>
          <p:spPr>
            <a:xfrm>
              <a:off x="762000" y="1952625"/>
              <a:ext cx="3143250" cy="2190750"/>
            </a:xfrm>
            <a:custGeom>
              <a:avLst/>
              <a:gdLst/>
              <a:ahLst/>
              <a:cxnLst/>
              <a:rect l="l" t="t" r="r" b="b"/>
              <a:pathLst>
                <a:path w="3143250" h="2190750">
                  <a:moveTo>
                    <a:pt x="171450" y="0"/>
                  </a:moveTo>
                  <a:lnTo>
                    <a:pt x="2971800" y="0"/>
                  </a:lnTo>
                  <a:cubicBezTo>
                    <a:pt x="3066489" y="0"/>
                    <a:pt x="3143250" y="76761"/>
                    <a:pt x="3143250" y="171450"/>
                  </a:cubicBezTo>
                  <a:lnTo>
                    <a:pt x="3143250" y="2019300"/>
                  </a:lnTo>
                  <a:cubicBezTo>
                    <a:pt x="3143250" y="2113989"/>
                    <a:pt x="3066489" y="2190750"/>
                    <a:pt x="2971800" y="2190750"/>
                  </a:cubicBezTo>
                  <a:lnTo>
                    <a:pt x="171450" y="2190750"/>
                  </a:lnTo>
                  <a:cubicBezTo>
                    <a:pt x="76761" y="2190750"/>
                    <a:pt x="0" y="2113989"/>
                    <a:pt x="0" y="201930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2F6BFF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13" name="Freeform 13"/>
            <p:cNvSpPr/>
            <p:nvPr/>
          </p:nvSpPr>
          <p:spPr>
            <a:xfrm>
              <a:off x="762000" y="1952625"/>
              <a:ext cx="3143250" cy="114300"/>
            </a:xfrm>
            <a:custGeom>
              <a:avLst/>
              <a:gdLst/>
              <a:ahLst/>
              <a:cxnLst/>
              <a:rect l="l" t="t" r="r" b="b"/>
              <a:pathLst>
                <a:path w="3143250" h="114300">
                  <a:moveTo>
                    <a:pt x="57150" y="0"/>
                  </a:moveTo>
                  <a:lnTo>
                    <a:pt x="3086100" y="0"/>
                  </a:lnTo>
                  <a:cubicBezTo>
                    <a:pt x="3117663" y="0"/>
                    <a:pt x="3143250" y="25587"/>
                    <a:pt x="3143250" y="57150"/>
                  </a:cubicBezTo>
                  <a:lnTo>
                    <a:pt x="3143250" y="57150"/>
                  </a:lnTo>
                  <a:cubicBezTo>
                    <a:pt x="3143250" y="88713"/>
                    <a:pt x="3117663" y="114300"/>
                    <a:pt x="3086100" y="114300"/>
                  </a:cubicBezTo>
                  <a:lnTo>
                    <a:pt x="57150" y="114300"/>
                  </a:lnTo>
                  <a:cubicBezTo>
                    <a:pt x="25587" y="114300"/>
                    <a:pt x="0" y="88713"/>
                    <a:pt x="0" y="57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2F6BFF"/>
            </a:solidFill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14" name="TextBox 14"/>
            <p:cNvSpPr txBox="1"/>
            <p:nvPr/>
          </p:nvSpPr>
          <p:spPr>
            <a:xfrm>
              <a:off x="1038606" y="2282190"/>
              <a:ext cx="832470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0—30天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40892" y="2635568"/>
              <a:ext cx="967835" cy="264033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确认主数据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42035" y="3021806"/>
              <a:ext cx="1503188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组织、岗位和授权人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42035" y="3288506"/>
              <a:ext cx="1503188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关键流程输入与输出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42035" y="3555206"/>
              <a:ext cx="1654635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记录、版本和待确认项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42416" y="3839528"/>
              <a:ext cx="1494854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阶段门：责任基线确认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524375" y="1952625"/>
            <a:ext cx="3143250" cy="2190750"/>
            <a:chOff x="4524375" y="1952625"/>
            <a:chExt cx="3143250" cy="219075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21" name="Freeform 21"/>
            <p:cNvSpPr/>
            <p:nvPr/>
          </p:nvSpPr>
          <p:spPr>
            <a:xfrm>
              <a:off x="4524375" y="1952625"/>
              <a:ext cx="3143250" cy="2190750"/>
            </a:xfrm>
            <a:custGeom>
              <a:avLst/>
              <a:gdLst/>
              <a:ahLst/>
              <a:cxnLst/>
              <a:rect l="l" t="t" r="r" b="b"/>
              <a:pathLst>
                <a:path w="3143250" h="2190750">
                  <a:moveTo>
                    <a:pt x="171450" y="0"/>
                  </a:moveTo>
                  <a:lnTo>
                    <a:pt x="2971800" y="0"/>
                  </a:lnTo>
                  <a:cubicBezTo>
                    <a:pt x="3066489" y="0"/>
                    <a:pt x="3143250" y="76761"/>
                    <a:pt x="3143250" y="171450"/>
                  </a:cubicBezTo>
                  <a:lnTo>
                    <a:pt x="3143250" y="2019300"/>
                  </a:lnTo>
                  <a:cubicBezTo>
                    <a:pt x="3143250" y="2113989"/>
                    <a:pt x="3066489" y="2190750"/>
                    <a:pt x="2971800" y="2190750"/>
                  </a:cubicBezTo>
                  <a:lnTo>
                    <a:pt x="171450" y="2190750"/>
                  </a:lnTo>
                  <a:cubicBezTo>
                    <a:pt x="76761" y="2190750"/>
                    <a:pt x="0" y="2113989"/>
                    <a:pt x="0" y="201930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22" name="Freeform 22"/>
            <p:cNvSpPr/>
            <p:nvPr/>
          </p:nvSpPr>
          <p:spPr>
            <a:xfrm>
              <a:off x="4524375" y="1952625"/>
              <a:ext cx="3143250" cy="114300"/>
            </a:xfrm>
            <a:custGeom>
              <a:avLst/>
              <a:gdLst/>
              <a:ahLst/>
              <a:cxnLst/>
              <a:rect l="l" t="t" r="r" b="b"/>
              <a:pathLst>
                <a:path w="3143250" h="114300">
                  <a:moveTo>
                    <a:pt x="57150" y="0"/>
                  </a:moveTo>
                  <a:lnTo>
                    <a:pt x="3086100" y="0"/>
                  </a:lnTo>
                  <a:cubicBezTo>
                    <a:pt x="3117663" y="0"/>
                    <a:pt x="3143250" y="25587"/>
                    <a:pt x="3143250" y="57150"/>
                  </a:cubicBezTo>
                  <a:lnTo>
                    <a:pt x="3143250" y="57150"/>
                  </a:lnTo>
                  <a:cubicBezTo>
                    <a:pt x="3143250" y="88713"/>
                    <a:pt x="3117663" y="114300"/>
                    <a:pt x="3086100" y="114300"/>
                  </a:cubicBezTo>
                  <a:lnTo>
                    <a:pt x="57150" y="114300"/>
                  </a:lnTo>
                  <a:cubicBezTo>
                    <a:pt x="25587" y="114300"/>
                    <a:pt x="0" y="88713"/>
                    <a:pt x="0" y="57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1C9C8C"/>
            </a:solidFill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23" name="TextBox 23"/>
            <p:cNvSpPr txBox="1"/>
            <p:nvPr/>
          </p:nvSpPr>
          <p:spPr>
            <a:xfrm>
              <a:off x="4800981" y="2282190"/>
              <a:ext cx="972407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31—60天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803267" y="2635568"/>
              <a:ext cx="1349483" cy="264033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关键流程试运行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804410" y="3021806"/>
              <a:ext cx="1654635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订单、变更、质量异常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804410" y="3288506"/>
              <a:ext cx="1654635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采购、交接和会议闭环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804410" y="3555206"/>
              <a:ext cx="1503188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记录样例与问题复盘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804791" y="3839528"/>
              <a:ext cx="1346435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阶段门：试运行评审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286750" y="1952625"/>
            <a:ext cx="3143250" cy="2190750"/>
            <a:chOff x="8286750" y="1952625"/>
            <a:chExt cx="3143250" cy="219075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30" name="Freeform 30"/>
            <p:cNvSpPr/>
            <p:nvPr/>
          </p:nvSpPr>
          <p:spPr>
            <a:xfrm>
              <a:off x="8286750" y="1952625"/>
              <a:ext cx="3143250" cy="2190750"/>
            </a:xfrm>
            <a:custGeom>
              <a:avLst/>
              <a:gdLst/>
              <a:ahLst/>
              <a:cxnLst/>
              <a:rect l="l" t="t" r="r" b="b"/>
              <a:pathLst>
                <a:path w="3143250" h="2190750">
                  <a:moveTo>
                    <a:pt x="171450" y="0"/>
                  </a:moveTo>
                  <a:lnTo>
                    <a:pt x="2971800" y="0"/>
                  </a:lnTo>
                  <a:cubicBezTo>
                    <a:pt x="3066489" y="0"/>
                    <a:pt x="3143250" y="76761"/>
                    <a:pt x="3143250" y="171450"/>
                  </a:cubicBezTo>
                  <a:lnTo>
                    <a:pt x="3143250" y="2019300"/>
                  </a:lnTo>
                  <a:cubicBezTo>
                    <a:pt x="3143250" y="2113989"/>
                    <a:pt x="3066489" y="2190750"/>
                    <a:pt x="2971800" y="2190750"/>
                  </a:cubicBezTo>
                  <a:lnTo>
                    <a:pt x="171450" y="2190750"/>
                  </a:lnTo>
                  <a:cubicBezTo>
                    <a:pt x="76761" y="2190750"/>
                    <a:pt x="0" y="2113989"/>
                    <a:pt x="0" y="201930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C56A25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31" name="Freeform 31"/>
            <p:cNvSpPr/>
            <p:nvPr/>
          </p:nvSpPr>
          <p:spPr>
            <a:xfrm>
              <a:off x="8286750" y="1952625"/>
              <a:ext cx="3143250" cy="114300"/>
            </a:xfrm>
            <a:custGeom>
              <a:avLst/>
              <a:gdLst/>
              <a:ahLst/>
              <a:cxnLst/>
              <a:rect l="l" t="t" r="r" b="b"/>
              <a:pathLst>
                <a:path w="3143250" h="114300">
                  <a:moveTo>
                    <a:pt x="57150" y="0"/>
                  </a:moveTo>
                  <a:lnTo>
                    <a:pt x="3086100" y="0"/>
                  </a:lnTo>
                  <a:cubicBezTo>
                    <a:pt x="3117663" y="0"/>
                    <a:pt x="3143250" y="25587"/>
                    <a:pt x="3143250" y="57150"/>
                  </a:cubicBezTo>
                  <a:lnTo>
                    <a:pt x="3143250" y="57150"/>
                  </a:lnTo>
                  <a:cubicBezTo>
                    <a:pt x="3143250" y="88713"/>
                    <a:pt x="3117663" y="114300"/>
                    <a:pt x="3086100" y="114300"/>
                  </a:cubicBezTo>
                  <a:lnTo>
                    <a:pt x="57150" y="114300"/>
                  </a:lnTo>
                  <a:cubicBezTo>
                    <a:pt x="25587" y="114300"/>
                    <a:pt x="0" y="88713"/>
                    <a:pt x="0" y="57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C56A25"/>
            </a:solidFill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32" name="TextBox 32"/>
            <p:cNvSpPr txBox="1"/>
            <p:nvPr/>
          </p:nvSpPr>
          <p:spPr>
            <a:xfrm>
              <a:off x="8563356" y="2282190"/>
              <a:ext cx="972407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61—90天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565642" y="2635568"/>
              <a:ext cx="967835" cy="264033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复盘与固化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566785" y="3021806"/>
              <a:ext cx="1806083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根据结果修订制度和表单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566785" y="3288506"/>
              <a:ext cx="1957530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明确培训、授权和检查机制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566785" y="3555206"/>
              <a:ext cx="1503188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形成下一轮改进计划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567166" y="3839528"/>
              <a:ext cx="1643272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阶段门：正式发布前批准</a:t>
              </a:r>
            </a:p>
          </p:txBody>
        </p:sp>
      </p:grpSp>
      <p:sp>
        <p:nvSpPr>
          <p:cNvPr id="39" name="Freeform 39"/>
          <p:cNvSpPr/>
          <p:nvPr/>
        </p:nvSpPr>
        <p:spPr>
          <a:xfrm>
            <a:off x="1619250" y="5000625"/>
            <a:ext cx="8953500" cy="552450"/>
          </a:xfrm>
          <a:custGeom>
            <a:avLst/>
            <a:gdLst/>
            <a:ahLst/>
            <a:cxnLst/>
            <a:rect l="l" t="t" r="r" b="b"/>
            <a:pathLst>
              <a:path w="8953500" h="552450">
                <a:moveTo>
                  <a:pt x="276225" y="0"/>
                </a:moveTo>
                <a:lnTo>
                  <a:pt x="8677275" y="0"/>
                </a:lnTo>
                <a:cubicBezTo>
                  <a:pt x="8829830" y="0"/>
                  <a:pt x="8953500" y="123670"/>
                  <a:pt x="8953500" y="276225"/>
                </a:cubicBezTo>
                <a:lnTo>
                  <a:pt x="8953500" y="276225"/>
                </a:lnTo>
                <a:cubicBezTo>
                  <a:pt x="8953500" y="428780"/>
                  <a:pt x="8829830" y="552450"/>
                  <a:pt x="8677275" y="552450"/>
                </a:cubicBezTo>
                <a:lnTo>
                  <a:pt x="276225" y="552450"/>
                </a:lnTo>
                <a:cubicBezTo>
                  <a:pt x="123670" y="552450"/>
                  <a:pt x="0" y="428780"/>
                  <a:pt x="0" y="276225"/>
                </a:cubicBezTo>
                <a:lnTo>
                  <a:pt x="0" y="276225"/>
                </a:lnTo>
                <a:cubicBezTo>
                  <a:pt x="0" y="123670"/>
                  <a:pt x="123670" y="0"/>
                  <a:pt x="276225" y="0"/>
                </a:cubicBezTo>
                <a:close/>
              </a:path>
            </a:pathLst>
          </a:cu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2443048" y="5213985"/>
            <a:ext cx="730590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805B12"/>
                </a:solidFill>
                <a:latin typeface="Arial"/>
                <a:ea typeface="Microsoft YaHei"/>
                <a:cs typeface="Arial"/>
              </a:rPr>
              <a:t>本路线是建议机制，不代表公司已经完成实施；每个阶段以实际确认、试运行记录和批准结果为准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66738" y="6494145"/>
            <a:ext cx="400773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路线不是项目承诺书：责任人、日期、范围和验收标准须在公司确认后冻结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待确认事项清单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8103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未确认的岗位、权限、时限和保存期限不能写成现行事实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857250" y="2095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857250" y="2095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组织与岗位</a:t>
            </a:r>
          </a:p>
        </p:txBody>
      </p:sp>
      <p:sp>
        <p:nvSpPr>
          <p:cNvPr id="12" name="Freeform 12"/>
          <p:cNvSpPr/>
          <p:nvPr/>
        </p:nvSpPr>
        <p:spPr>
          <a:xfrm>
            <a:off x="6191250" y="2095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Freeform 13"/>
          <p:cNvSpPr/>
          <p:nvPr/>
        </p:nvSpPr>
        <p:spPr>
          <a:xfrm>
            <a:off x="6191250" y="2095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79931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放行与付款权限</a:t>
            </a:r>
          </a:p>
        </p:txBody>
      </p:sp>
      <p:sp>
        <p:nvSpPr>
          <p:cNvPr id="16" name="Freeform 16"/>
          <p:cNvSpPr/>
          <p:nvPr/>
        </p:nvSpPr>
        <p:spPr>
          <a:xfrm>
            <a:off x="857250" y="30480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857250" y="30480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兼岗控制</a:t>
            </a:r>
          </a:p>
        </p:txBody>
      </p:sp>
      <p:sp>
        <p:nvSpPr>
          <p:cNvPr id="20" name="Freeform 20"/>
          <p:cNvSpPr/>
          <p:nvPr/>
        </p:nvSpPr>
        <p:spPr>
          <a:xfrm>
            <a:off x="6191250" y="30480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Freeform 21"/>
          <p:cNvSpPr/>
          <p:nvPr/>
        </p:nvSpPr>
        <p:spPr>
          <a:xfrm>
            <a:off x="6191250" y="30480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记录期限</a:t>
            </a:r>
          </a:p>
        </p:txBody>
      </p:sp>
      <p:sp>
        <p:nvSpPr>
          <p:cNvPr id="24" name="Freeform 24"/>
          <p:cNvSpPr/>
          <p:nvPr/>
        </p:nvSpPr>
        <p:spPr>
          <a:xfrm>
            <a:off x="857250" y="4000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Freeform 25"/>
          <p:cNvSpPr/>
          <p:nvPr/>
        </p:nvSpPr>
        <p:spPr>
          <a:xfrm>
            <a:off x="857250" y="4000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异常时限</a:t>
            </a:r>
          </a:p>
        </p:txBody>
      </p:sp>
      <p:sp>
        <p:nvSpPr>
          <p:cNvPr id="28" name="Freeform 28"/>
          <p:cNvSpPr/>
          <p:nvPr/>
        </p:nvSpPr>
        <p:spPr>
          <a:xfrm>
            <a:off x="6191250" y="4000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Freeform 29"/>
          <p:cNvSpPr/>
          <p:nvPr/>
        </p:nvSpPr>
        <p:spPr>
          <a:xfrm>
            <a:off x="6191250" y="4000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会议机制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36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附件与另册文件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25406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治理正文讲清边界；部门制度、SOP、表单和台账另册管理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666750" y="2047875"/>
            <a:ext cx="4857750" cy="3429000"/>
          </a:xfrm>
          <a:custGeom>
            <a:avLst/>
            <a:gdLst/>
            <a:ahLst/>
            <a:cxnLst/>
            <a:rect l="l" t="t" r="r" b="b"/>
            <a:pathLst>
              <a:path w="4857750" h="3429000">
                <a:moveTo>
                  <a:pt x="152400" y="0"/>
                </a:moveTo>
                <a:lnTo>
                  <a:pt x="4705350" y="0"/>
                </a:lnTo>
                <a:cubicBezTo>
                  <a:pt x="4789518" y="0"/>
                  <a:pt x="4857750" y="68232"/>
                  <a:pt x="4857750" y="152400"/>
                </a:cubicBezTo>
                <a:lnTo>
                  <a:pt x="4857750" y="3276600"/>
                </a:lnTo>
                <a:cubicBezTo>
                  <a:pt x="4857750" y="3360768"/>
                  <a:pt x="4789518" y="3429000"/>
                  <a:pt x="4705350" y="3429000"/>
                </a:cubicBezTo>
                <a:lnTo>
                  <a:pt x="152400" y="3429000"/>
                </a:lnTo>
                <a:cubicBezTo>
                  <a:pt x="68232" y="3429000"/>
                  <a:pt x="0" y="3360768"/>
                  <a:pt x="0" y="3276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990981" y="2282190"/>
            <a:ext cx="154487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治理正文保留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3267" y="2854642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公司治理原则与边界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3267" y="3235642"/>
            <a:ext cx="219456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组织权责、授权与协同接口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3267" y="3616642"/>
            <a:ext cx="237629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风险、会议、监督和改进机制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4029" y="4204335"/>
            <a:ext cx="165933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本PPT不替代执行细节</a:t>
            </a:r>
          </a:p>
        </p:txBody>
      </p:sp>
      <p:sp>
        <p:nvSpPr>
          <p:cNvPr id="14" name="Freeform 14"/>
          <p:cNvSpPr/>
          <p:nvPr/>
        </p:nvSpPr>
        <p:spPr>
          <a:xfrm>
            <a:off x="6667500" y="2047875"/>
            <a:ext cx="4857750" cy="3429000"/>
          </a:xfrm>
          <a:custGeom>
            <a:avLst/>
            <a:gdLst/>
            <a:ahLst/>
            <a:cxnLst/>
            <a:rect l="l" t="t" r="r" b="b"/>
            <a:pathLst>
              <a:path w="4857750" h="3429000">
                <a:moveTo>
                  <a:pt x="152400" y="0"/>
                </a:moveTo>
                <a:lnTo>
                  <a:pt x="4705350" y="0"/>
                </a:lnTo>
                <a:cubicBezTo>
                  <a:pt x="4789518" y="0"/>
                  <a:pt x="4857750" y="68232"/>
                  <a:pt x="4857750" y="152400"/>
                </a:cubicBezTo>
                <a:lnTo>
                  <a:pt x="4857750" y="3276600"/>
                </a:lnTo>
                <a:cubicBezTo>
                  <a:pt x="4857750" y="3360768"/>
                  <a:pt x="4789518" y="3429000"/>
                  <a:pt x="4705350" y="3429000"/>
                </a:cubicBezTo>
                <a:lnTo>
                  <a:pt x="152400" y="3429000"/>
                </a:lnTo>
                <a:cubicBezTo>
                  <a:pt x="68232" y="3429000"/>
                  <a:pt x="0" y="3360768"/>
                  <a:pt x="0" y="3276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991731" y="2282190"/>
            <a:ext cx="154487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另册执行文件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994017" y="2854642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部门管理制度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994017" y="3235642"/>
            <a:ext cx="17131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流程程序文件与SOP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994017" y="3616642"/>
            <a:ext cx="237629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表单、台账、报告和会议纪要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994017" y="3997642"/>
            <a:ext cx="27397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检验、点检、财务及专业作业文件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994779" y="4585335"/>
            <a:ext cx="31703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名称、编号、存放位置和版本：待建立/确认</a:t>
            </a:r>
          </a:p>
        </p:txBody>
      </p:sp>
      <p:sp>
        <p:nvSpPr>
          <p:cNvPr id="21" name="Freeform 21"/>
          <p:cNvSpPr/>
          <p:nvPr/>
        </p:nvSpPr>
        <p:spPr>
          <a:xfrm>
            <a:off x="5524500" y="37623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solidFill>
            <a:srgbClr val="000000"/>
          </a:solidFill>
          <a:ln w="47625">
            <a:solidFill>
              <a:srgbClr val="8091A5"/>
            </a:solidFill>
            <a:tailEnd type="triangle" w="med" len="lg"/>
          </a:ln>
        </p:spPr>
      </p:sp>
      <p:sp>
        <p:nvSpPr>
          <p:cNvPr id="22" name="TextBox 22"/>
          <p:cNvSpPr txBox="1"/>
          <p:nvPr/>
        </p:nvSpPr>
        <p:spPr>
          <a:xfrm>
            <a:off x="5756910" y="3402806"/>
            <a:ext cx="31432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承接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2026-10-16T02:03:32Z</dcterms:created>
  <dcterms:modified xsi:type="dcterms:W3CDTF">2026-10-16T02:03:32Z</dcterms:modified>
  <cp:category/>
  <cp:contentStatus/>
</cp:coreProperties>
</file>