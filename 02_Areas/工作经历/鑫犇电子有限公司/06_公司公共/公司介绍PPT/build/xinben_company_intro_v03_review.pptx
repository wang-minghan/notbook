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第01页｜内部审阅草案，不得作为已批准宣传资料。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第02页｜内部审阅草案，不得作为已批准宣传资料。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第03页｜内部审阅草案，不得作为已批准宣传资料。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第04页｜内部审阅草案，不得作为已批准宣传资料。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第05页｜内部审阅草案，不得作为已批准宣传资料。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第06页｜内部审阅草案，不得作为已批准宣传资料。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第07页｜内部审阅草案，不得作为已批准宣传资料。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第08页｜内部审阅草案，不得作为已批准宣传资料。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第09页｜内部审阅草案，不得作为已批准宣传资料。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第10页｜内部审阅草案，不得作为已批准宣传资料。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第12页｜内部审阅草案，不得作为已批准宣传资料。</a:t>
            </a:r>
          </a:p>
          <a:p>
            <a:r>
              <a:t>依据：company_intro_fact_base_v01.md、page_contracts_v01.md。</a:t>
            </a:r>
          </a:p>
          <a:p>
            <a:r>
              <a:t>未确认事项以页面待确认/待补为准；组织线索不等于产能证明。AI封面仅为概念视觉；现场照片不得用AI替代。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any_hero_v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36C2C9"/>
                </a:solidFill>
                <a:latin typeface="Microsoft YaHei"/>
              </a:defRPr>
            </a:pPr>
            <a:r>
              <a:t>XINBEN ELECTRONICS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502920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3000" b="1">
                <a:solidFill>
                  <a:srgbClr val="F5F8FA"/>
                </a:solidFill>
                <a:latin typeface="Microsoft YaHei"/>
              </a:defRPr>
            </a:pPr>
            <a:r>
              <a:t>鑫犇电子有限公司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484632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000" b="1">
                <a:solidFill>
                  <a:srgbClr val="F5F8FA"/>
                </a:solidFill>
                <a:latin typeface="Microsoft YaHei"/>
              </a:defRPr>
            </a:pPr>
            <a:r>
              <a:t>精密金属零件与冲压制造能力介绍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4754880" cy="914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300" b="1">
                <a:solidFill>
                  <a:srgbClr val="F5F8FA"/>
                </a:solidFill>
                <a:latin typeface="Microsoft YaHei"/>
              </a:defRPr>
            </a:pPr>
            <a:r>
              <a:t>面向产品、工程、制造与品质协同的</a:t>
            </a:r>
            <a:br/>
            <a:r>
              <a:t>制造能力底稿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70448"/>
            <a:ext cx="493776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0">
                <a:solidFill>
                  <a:srgbClr val="F6C453"/>
                </a:solidFill>
                <a:latin typeface="Microsoft YaHei"/>
              </a:defRPr>
            </a:pPr>
            <a:r>
              <a:t>AI 生成概念视觉，不代表真实工厂或设备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对外介绍草案｜正式公司名称与定位待确认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6C45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02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我们是谁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公司能力应从四条互相咬合的线理解，而不是单一产品或单一工序。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385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042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机壳、磁性/结构件、制动片及配套零件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9385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7967B8"/>
                </a:solidFill>
                <a:latin typeface="Microsoft YaHei"/>
              </a:defRPr>
            </a:pPr>
            <a:r>
              <a:t>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3042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图纸版本、材料、模具与工程准备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959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C9C8C"/>
                </a:solidFill>
                <a:latin typeface="Microsoft YaHei"/>
              </a:defRPr>
            </a:pPr>
            <a:r>
              <a:t>制造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3616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冲压、清洗、生产与关键资源协同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8862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39959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品质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3616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尺寸、外观、表面处理、单重与异常闭环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828800"/>
            <a:ext cx="4800600" cy="36576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938528"/>
            <a:ext cx="4581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事实边界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304288"/>
            <a:ext cx="4581144" cy="30906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正式对外全称与定位：待确认</a:t>
            </a:r>
            <a:br/>
            <a:r>
              <a:t>规模、产能、精度、良率、认证：不在本版宣称</a:t>
            </a:r>
            <a:br/>
            <a:br/>
            <a:r>
              <a:t>资料依据：公司事实底稿、产品信息总览、组织与职责矩阵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资料依据：OneDrive 公司资料｜未确认信息保持待确认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03 /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产品与应用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产品类别按已验证资料归纳；公开范围与具体应用仍需确认。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7432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3852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机壳与盖板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04288"/>
            <a:ext cx="2523744" cy="17647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结构件、隔板、极片、垫片等</a:t>
            </a:r>
            <a:br/>
            <a:br/>
            <a:r>
              <a:t>公开产品范围：待确认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28800"/>
            <a:ext cx="27432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93852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7967B8"/>
                </a:solidFill>
                <a:latin typeface="Microsoft YaHei"/>
              </a:defRPr>
            </a:pPr>
            <a:r>
              <a:t>磁性/结构件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2304288"/>
            <a:ext cx="2523744" cy="17647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磁扣、磁抱、磁栅等类别</a:t>
            </a:r>
            <a:br/>
            <a:br/>
            <a:r>
              <a:t>公开产品范围：待确认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828800"/>
            <a:ext cx="27432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6328" y="193852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C9C8C"/>
                </a:solidFill>
                <a:latin typeface="Microsoft YaHei"/>
              </a:defRPr>
            </a:pPr>
            <a:r>
              <a:t>制动与配套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2304288"/>
            <a:ext cx="2523744" cy="17647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制动片及其他配套零件</a:t>
            </a:r>
            <a:br/>
            <a:br/>
            <a:r>
              <a:t>公开产品范围：待确认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09160"/>
            <a:ext cx="9144000" cy="64008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28032"/>
            <a:ext cx="87782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400" b="1">
                <a:solidFill>
                  <a:srgbClr val="1F2D3D"/>
                </a:solidFill>
                <a:latin typeface="Microsoft YaHei"/>
              </a:defRPr>
            </a:pPr>
            <a:r>
              <a:t>不展示敏感客户名称；具体型号、材料和单重按客户版本管理。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资料依据：产品信息总览｜公开表述待确认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04 /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材料与版本管理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客户版本、图纸、材料、单重与检验共同支撑产品一致性。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客户版本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受控图纸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材料规格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单重记录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检验记录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122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5256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977639"/>
            <a:ext cx="438912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087368"/>
            <a:ext cx="4169663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7967B8"/>
                </a:solidFill>
                <a:latin typeface="Microsoft YaHei"/>
              </a:defRPr>
            </a:pPr>
            <a:r>
              <a:t>控制重点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453127"/>
            <a:ext cx="4169663" cy="5760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同型号不同客户版本可能对应不同材料和单重。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77639"/>
            <a:ext cx="438912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087368"/>
            <a:ext cx="4169663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对外边界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453127"/>
            <a:ext cx="4169663" cy="5760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敏感客户信息不在本版展示；公开材料范围待确认。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资料依据：产品信息总览、材料型号资料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05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模具与工程技术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模具、工程技术、生产与品质共同支撑制造交付。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图纸评审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工程准备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模具维护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生产验证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2651760"/>
            <a:ext cx="68580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2651760"/>
            <a:ext cx="68580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58200" y="2651760"/>
            <a:ext cx="68580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能力证据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工程技术组、模具维修组及生产/品质协同为已知组织线索。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待补证据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真实 CAD、模具和现场照片需归档确认；概念图不代表量产证明。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资料依据：生产部资料、CAD项目｜能力与设备边界待确认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06 /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订单到交付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订单从需求评审到交付，需要跨部门协同；责任与周期待确认。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6324A"/>
                </a:solidFill>
                <a:latin typeface="Microsoft YaHei"/>
              </a:defRPr>
            </a:pPr>
            <a:r>
              <a:t>客户/业务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664208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39" y="1700784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需求与变更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7967B8"/>
                </a:solidFill>
                <a:latin typeface="Microsoft YaHei"/>
              </a:defRPr>
            </a:pPr>
            <a:r>
              <a:t>工程/模具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414016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2450592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评审与准备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36976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C9C8C"/>
                </a:solidFill>
                <a:latin typeface="Microsoft YaHei"/>
              </a:defRPr>
            </a:pPr>
            <a:r>
              <a:t>生产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3163824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3200400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制造与记录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86783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F6C453"/>
                </a:solidFill>
                <a:latin typeface="Microsoft YaHei"/>
              </a:defRPr>
            </a:pPr>
            <a:r>
              <a:t>品质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913632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950208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检验与放行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36592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6324A"/>
                </a:solidFill>
                <a:latin typeface="Microsoft YaHei"/>
              </a:defRPr>
            </a:pPr>
            <a:r>
              <a:t>仓储/交付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4663440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4700016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入库与交付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49039" y="1901952"/>
            <a:ext cx="457201" cy="749808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23559" y="2651760"/>
            <a:ext cx="457200" cy="749808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3401568"/>
            <a:ext cx="457200" cy="749808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72600" y="4151376"/>
            <a:ext cx="457200" cy="749807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5577840"/>
            <a:ext cx="10698480" cy="45720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50992"/>
            <a:ext cx="1033272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F2D3D"/>
                </a:solidFill>
                <a:latin typeface="Microsoft YaHei"/>
              </a:defRPr>
            </a:pPr>
            <a:r>
              <a:t>流程节点、责任归属、合作周期：待正式流程文件确认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资料依据：组织矩阵、流程资料｜不写未经确认的交期承诺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07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质量控制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质量关注点贯穿图纸、材料、关键尺寸、外观、表面处理和异常闭环。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图纸/版本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材料/批次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尺寸/单重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外观/表面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2487168"/>
            <a:ext cx="68580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23560" y="2487168"/>
            <a:ext cx="68580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66760" y="2487168"/>
            <a:ext cx="68580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760720" y="2880360"/>
            <a:ext cx="4297680" cy="91440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3063240"/>
            <a:ext cx="22860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1C9C8C"/>
                </a:solidFill>
                <a:latin typeface="Microsoft YaHei"/>
              </a:defRPr>
            </a:pPr>
            <a:r>
              <a:t>检查完成后进入放行判断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79476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83133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放行？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950208"/>
            <a:ext cx="4572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1C9C8C"/>
                </a:solidFill>
                <a:latin typeface="Microsoft YaHei"/>
              </a:defRPr>
            </a:pPr>
            <a:r>
              <a:t>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280" y="4206240"/>
            <a:ext cx="160020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0" y="379476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83133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交付记录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754880"/>
            <a:ext cx="4572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C95A5A"/>
                </a:solidFill>
                <a:latin typeface="Microsoft YaHei"/>
              </a:defRPr>
            </a:pPr>
            <a:r>
              <a:t>否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971800" y="4617720"/>
            <a:ext cx="1737360" cy="457200"/>
          </a:xfrm>
          <a:prstGeom prst="line">
            <a:avLst/>
          </a:prstGeom>
          <a:ln w="25400">
            <a:solidFill>
              <a:srgbClr val="C9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800600"/>
            <a:ext cx="2103120" cy="685800"/>
          </a:xfrm>
          <a:prstGeom prst="roundRect">
            <a:avLst/>
          </a:prstGeom>
          <a:solidFill>
            <a:srgbClr val="F5F8FA"/>
          </a:solidFill>
          <a:ln>
            <a:solidFill>
              <a:srgbClr val="C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37176"/>
            <a:ext cx="2011679" cy="612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C95A5A"/>
                </a:solidFill>
                <a:latin typeface="Microsoft YaHei"/>
              </a:defRPr>
            </a:pPr>
            <a:r>
              <a:t>隔离 / 评审 / 整改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5138928"/>
            <a:ext cx="1691640" cy="0"/>
          </a:xfrm>
          <a:prstGeom prst="line">
            <a:avLst/>
          </a:prstGeom>
          <a:ln w="25400">
            <a:solidFill>
              <a:srgbClr val="C95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09160" y="4800600"/>
            <a:ext cx="2103120" cy="6858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837176"/>
            <a:ext cx="2011679" cy="612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复检记录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782312"/>
            <a:ext cx="338328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7967B8"/>
                </a:solidFill>
                <a:latin typeface="Microsoft YaHei"/>
              </a:defRPr>
            </a:pPr>
            <a:r>
              <a:t>复检通过 → 返回放行判断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指标、阈值和正式检验表单：待确认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12280" y="5138928"/>
            <a:ext cx="182880" cy="0"/>
          </a:xfrm>
          <a:prstGeom prst="line">
            <a:avLst/>
          </a:prstGeom>
          <a:ln w="25400">
            <a:solidFill>
              <a:srgbClr val="796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95160" y="4590288"/>
            <a:ext cx="0" cy="548640"/>
          </a:xfrm>
          <a:prstGeom prst="line">
            <a:avLst/>
          </a:prstGeom>
          <a:ln w="25400">
            <a:solidFill>
              <a:srgbClr val="796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812280" y="4590288"/>
            <a:ext cx="182880" cy="0"/>
          </a:xfrm>
          <a:prstGeom prst="line">
            <a:avLst/>
          </a:prstGeom>
          <a:ln w="25400">
            <a:solidFill>
              <a:srgbClr val="7967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08 /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产品一致性与追溯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版本、批次、产品编码和检验记录形成可回溯链路。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图纸版本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材料批次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产品编码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检验记录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5603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60720" y="25603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5603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记录对象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版本清单、材料/批次记录、产品编码、检验记录。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待补样例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脱敏真实记录模板待补；不使用伪造样本。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资料依据：质量/运营模板｜字段与保存期限待确认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09 /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现场能力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真实现场素材是展示制造能力的证据，本页暂保留实拍待补位。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工厂实拍</a:t>
            </a:r>
            <a:br/>
            <a:r>
              <a:t>待补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设备实拍</a:t>
            </a:r>
            <a:br/>
            <a:r>
              <a:t>待补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模具实拍</a:t>
            </a:r>
            <a:br/>
            <a:r>
              <a:t>待补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检验实拍</a:t>
            </a:r>
            <a:br/>
            <a:r>
              <a:t>待补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43400"/>
            <a:ext cx="9875520" cy="64008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498848"/>
            <a:ext cx="9418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400" b="1">
                <a:solidFill>
                  <a:srgbClr val="1F2D3D"/>
                </a:solidFill>
                <a:latin typeface="Microsoft YaHei"/>
              </a:defRPr>
            </a:pPr>
            <a:r>
              <a:t>不以 AI 图替代真实工厂、设备、模具或检验照片；需取得授权后归档。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现场照片、授权和来源：待补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10 / COOPERATION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合作方式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以需求评审、试制、量产、交付为主线组织合作。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需求输入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工程评审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样件/试制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量产交付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124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160520"/>
            <a:ext cx="4480560" cy="109728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70248"/>
            <a:ext cx="426110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客户提供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636008"/>
            <a:ext cx="4261104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图纸/版本、材料要求、质量要求和交付需求。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60520"/>
            <a:ext cx="4480560" cy="109728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270248"/>
            <a:ext cx="426110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待确认承诺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636008"/>
            <a:ext cx="4261104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合作周期、样件节奏、产能与交付承诺需正式确认。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资料依据：订单/供应商模板｜不写未确认周期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11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能力扩展方向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只展示已确认的建设事项，并明确当前状态。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743200" cy="2377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8424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50008"/>
            <a:ext cx="2523744" cy="1810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已验证的产品、组织与质量关注点</a:t>
            </a:r>
            <a:br/>
            <a:br/>
            <a:r>
              <a:t>具体事项：待确认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74519"/>
            <a:ext cx="2743200" cy="2377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98424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C9C8C"/>
                </a:solidFill>
                <a:latin typeface="Microsoft YaHei"/>
              </a:defRPr>
            </a:pPr>
            <a:r>
              <a:t>建设中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2350008"/>
            <a:ext cx="2523744" cy="1810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有正式资料支持、正在补齐的证据</a:t>
            </a:r>
            <a:br/>
            <a:br/>
            <a:r>
              <a:t>具体事项：待确认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874519"/>
            <a:ext cx="2743200" cy="2377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198424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拟建立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350008"/>
            <a:ext cx="2523744" cy="1810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规划事项，不能写成当前能力</a:t>
            </a:r>
            <a:br/>
            <a:br/>
            <a:r>
              <a:t>具体事项：待确认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9052560" cy="50292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01184"/>
            <a:ext cx="8686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F2D3D"/>
                </a:solidFill>
                <a:latin typeface="Microsoft YaHei"/>
              </a:defRPr>
            </a:pPr>
            <a:r>
              <a:t>每项规划必须标注状态、负责人和证据来源；不使用“行业领先”等无证据表述。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规划资料与状态：待确认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B0781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36C2C9"/>
                </a:solidFill>
                <a:latin typeface="Microsoft YaHei"/>
              </a:defRPr>
            </a:pPr>
            <a:r>
              <a:t>12 /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F5F8FA"/>
                </a:solidFill>
                <a:latin typeface="Microsoft YaHei"/>
              </a:defRPr>
            </a:pPr>
            <a:r>
              <a:t>合作入口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B5C2D0"/>
                </a:solidFill>
                <a:latin typeface="Microsoft YaHei"/>
              </a:defRPr>
            </a:pPr>
            <a:r>
              <a:t>正式公司信息确认后，再开放对外联系方式。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754880" cy="25603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38528"/>
            <a:ext cx="453542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Microsoft YaHei"/>
              </a:defRPr>
            </a:pPr>
            <a:r>
              <a:t>正式公司信息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04288"/>
            <a:ext cx="4535424" cy="19933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F5F8FA"/>
                </a:solidFill>
                <a:latin typeface="Microsoft YaHei"/>
              </a:defRPr>
            </a:pPr>
            <a:r>
              <a:t>公司全称：待确认</a:t>
            </a:r>
            <a:br/>
            <a:r>
              <a:t>对外简称：待确认</a:t>
            </a:r>
            <a:br/>
            <a:r>
              <a:t>地址：待确认</a:t>
            </a:r>
            <a:br/>
            <a:r>
              <a:t>电话 / 邮箱：待确认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114800" cy="2560320"/>
          </a:xfrm>
          <a:prstGeom prst="roundRect">
            <a:avLst/>
          </a:prstGeom>
          <a:solidFill>
            <a:srgbClr val="1C9C8C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938528"/>
            <a:ext cx="38953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Microsoft YaHei"/>
              </a:defRPr>
            </a:pPr>
            <a:r>
              <a:t>二维码与入口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304288"/>
            <a:ext cx="3895344" cy="19933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F5F8FA"/>
                </a:solidFill>
                <a:latin typeface="Microsoft YaHei"/>
              </a:defRPr>
            </a:pPr>
            <a:r>
              <a:t>二维码：待补</a:t>
            </a:r>
            <a:br/>
            <a:r>
              <a:t>联系人：待确认</a:t>
            </a:r>
            <a:br/>
            <a:br/>
            <a:r>
              <a:t>不生成虚假联系方式。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对外介绍草案｜所有联系信息逐项核验后发布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46888"/>
            <a:ext cx="3063240" cy="24688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>
                <a:solidFill>
                  <a:srgbClr val="F6C453"/>
                </a:solidFill>
                <a:latin typeface="Microsoft YaHei"/>
              </a:rPr>
              <a:t>内部审阅草案 · 事实未冻结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