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  <Relationship Id="rId43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6.xml"/>
</Relationships>
</file>

<file path=ppt/notesSlides/_rels/notesSlide2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7.xml"/>
</Relationships>
</file>

<file path=ppt/notesSlides/_rels/notesSlide2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8.xml"/>
</Relationships>
</file>

<file path=ppt/notesSlides/_rels/notesSlide2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9.xml"/>
</Relationships>
</file>

<file path=ppt/notesSlides/_rels/notesSlide3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0.xml"/>
</Relationships>
</file>

<file path=ppt/notesSlides/_rels/notesSlide3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1.xml"/>
</Relationships>
</file>

<file path=ppt/notesSlides/_rels/notesSlide3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2.xml"/>
</Relationships>
</file>

<file path=ppt/notesSlides/_rels/notesSlide3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3.xml"/>
</Relationships>
</file>

<file path=ppt/notesSlides/_rels/notesSlide3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4.xml"/>
</Relationships>
</file>

<file path=ppt/notesSlides/_rels/notesSlide3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5.xml"/>
</Relationships>
</file>

<file path=ppt/notesSlides/_rels/notesSlide3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本页围绕“公司治理与部门协同管理体系”展开。重点不是介绍概念本身，而是说明鑫犇如何把责任、流程和证据组织起来，让客户能够理解并验证我们的管理方式。下一页将继续把这一方法落到具体治理场景。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本页围绕“文件定位与适用范围”展开。重点不是介绍概念本身，而是说明鑫犇如何把责任、流程和证据组织起来，让客户能够理解并验证我们的管理方式。下一页将继续把这一方法落到具体治理场景。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本页围绕“管理体系三层架构”展开。重点不是介绍概念本身，而是说明鑫犇如何把责任、流程和证据组织起来，让客户能够理解并验证我们的管理方式。下一页将继续把这一方法落到具体治理场景。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本页围绕“管理原则”展开。重点不是介绍概念本身，而是说明鑫犇如何把责任、流程和证据组织起来，让客户能够理解并验证我们的管理方式。下一页将继续把这一方法落到具体治理场景。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本页围绕“制度文件层级”展开。重点不是介绍概念本身，而是说明鑫犇如何把责任、流程和证据组织起来，让客户能够理解并验证我们的管理方式。下一页将继续把这一方法落到具体治理场景。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本页围绕“组织架构与决策边界”展开。重点不是介绍概念本身，而是说明鑫犇如何把责任、流程和证据组织起来，让客户能够理解并验证我们的管理方式。下一页将继续把这一方法落到具体治理场景。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本页围绕“决策与经营职责”展开。重点不是介绍概念本身，而是说明鑫犇如何把责任、流程和证据组织起来，让客户能够理解并验证我们的管理方式。下一页将继续把这一方法落到具体治理场景。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本页围绕“部门职责地图”展开。重点不是介绍概念本身，而是说明鑫犇如何把责任、流程和证据组织起来，让客户能够理解并验证我们的管理方式。下一页将继续把这一方法落到具体治理场景。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本页围绕“岗位责任与替代机制”展开。重点不是介绍概念本身，而是说明鑫犇如何把责任、流程和证据组织起来，让客户能够理解并验证我们的管理方式。下一页将继续把这一方法落到具体治理场景。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本页围绕“RACI责任规则”展开。重点不是介绍概念本身，而是说明鑫犇如何把责任、流程和证据组织起来，让客户能够理解并验证我们的管理方式。下一页将继续把这一方法落到具体治理场景。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本页围绕“授权审批矩阵”展开。重点不是介绍概念本身，而是说明鑫犇如何把责任、流程和证据组织起来，让客户能够理解并验证我们的管理方式。下一页将继续把这一方法落到具体治理场景。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本页围绕“越权与职责冲突处理”展开。重点不是介绍概念本身，而是说明鑫犇如何把责任、流程和证据组织起来，让客户能够理解并验证我们的管理方式。下一页将继续把这一方法落到具体治理场景。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本页围绕“订单到交付总流程”展开。重点不是介绍概念本身，而是说明鑫犇如何把责任、流程和证据组织起来，让客户能够理解并验证我们的管理方式。下一页将继续把这一方法落到具体治理场景。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本页围绕“订单与变更控制”展开。重点不是介绍概念本身，而是说明鑫犇如何把责任、流程和证据组织起来，让客户能够理解并验证我们的管理方式。下一页将继续把这一方法落到具体治理场景。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本页围绕“生产计划与任务下达”展开。重点不是介绍概念本身，而是说明鑫犇如何把责任、流程和证据组织起来，让客户能够理解并验证我们的管理方式。下一页将继续把这一方法落到具体治理场景。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本页围绕“采购到付款”展开。重点不是介绍概念本身，而是说明鑫犇如何把责任、流程和证据组织起来，让客户能够理解并验证我们的管理方式。下一页将继续把这一方法落到具体治理场景。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本页围绕“质量异常与放行”展开。重点不是介绍概念本身，而是说明鑫犇如何把责任、流程和证据组织起来，让客户能够理解并验证我们的管理方式。下一页将继续把这一方法落到具体治理场景。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本页围绕“客诉与纠正措施”展开。重点不是介绍概念本身，而是说明鑫犇如何把责任、流程和证据组织起来，让客户能够理解并验证我们的管理方式。下一页将继续把这一方法落到具体治理场景。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本页围绕“模具、设备与关键资源”展开。重点不是介绍概念本身，而是说明鑫犇如何把责任、流程和证据组织起来，让客户能够理解并验证我们的管理方式。下一页将继续把这一方法落到具体治理场景。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本页围绕“跨部门交接标准”展开。重点不是介绍概念本身，而是说明鑫犇如何把责任、流程和证据组织起来，让客户能够理解并验证我们的管理方式。下一页将继续把这一方法落到具体治理场景。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本页围绕“文件编制与版本控制”展开。重点不是介绍概念本身，而是说明鑫犇如何把责任、流程和证据组织起来，让客户能够理解并验证我们的管理方式。下一页将继续把这一方法落到具体治理场景。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本页围绕“记录与档案生命周期”展开。重点不是介绍概念本身，而是说明鑫犇如何把责任、流程和证据组织起来，让客户能够理解并验证我们的管理方式。下一页将继续把这一方法落到具体治理场景。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本页围绕“人员能力与岗位授权”展开。重点不是介绍概念本身，而是说明鑫犇如何把责任、流程和证据组织起来，让客户能够理解并验证我们的管理方式。下一页将继续把这一方法落到具体治理场景。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本页围绕“客户资料与信息权限”展开。重点不是介绍概念本身，而是说明鑫犇如何把责任、流程和证据组织起来，让客户能够理解并验证我们的管理方式。下一页将继续把这一方法落到具体治理场景。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本页围绕“经营会议与管理闭环”展开。重点不是介绍概念本身，而是说明鑫犇如何把责任、流程和证据组织起来，让客户能够理解并验证我们的管理方式。下一页将继续把这一方法落到具体治理场景。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本页围绕“管理指标看板”展开。重点不是介绍概念本身，而是说明鑫犇如何把责任、流程和证据组织起来，让客户能够理解并验证我们的管理方式。下一页将继续把这一方法落到具体治理场景。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本页围绕“风险登记与升级”展开。重点不是介绍概念本身，而是说明鑫犇如何把责任、流程和证据组织起来，让客户能够理解并验证我们的管理方式。下一页将继续把这一方法落到具体治理场景。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本页围绕“安全、环保与应急”展开。重点不是介绍概念本身，而是说明鑫犇如何把责任、流程和证据组织起来，让客户能够理解并验证我们的管理方式。下一页将继续把这一方法落到具体治理场景。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本页围绕“内部检查与管理评审”展开。重点不是介绍概念本身，而是说明鑫犇如何把责任、流程和证据组织起来，让客户能够理解并验证我们的管理方式。下一页将继续把这一方法落到具体治理场景。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本页围绕“不符合项与整改关闭”展开。重点不是介绍概念本身，而是说明鑫犇如何把责任、流程和证据组织起来，让客户能够理解并验证我们的管理方式。下一页将继续把这一方法落到具体治理场景。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本页围绕“PDCA持续改进”展开。重点不是介绍概念本身，而是说明鑫犇如何把责任、流程和证据组织起来，让客户能够理解并验证我们的管理方式。下一页将继续把这一方法落到具体治理场景。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本页围绕“部门协同RACI示例”展开。重点不是介绍概念本身，而是说明鑫犇如何把责任、流程和证据组织起来，让客户能够理解并验证我们的管理方式。下一页将继续把这一方法落到具体治理场景。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本页围绕“管理体系证据链”展开。重点不是介绍概念本身，而是说明鑫犇如何把责任、流程和证据组织起来，让客户能够理解并验证我们的管理方式。下一页将继续把这一方法落到具体治理场景。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本页围绕“90天落地路线”展开。重点不是介绍概念本身，而是说明鑫犇如何把责任、流程和证据组织起来，让客户能够理解并验证我们的管理方式。下一页将继续把这一方法落到具体治理场景。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本页围绕“待确认事项清单”展开。重点不是介绍概念本身，而是说明鑫犇如何把责任、流程和证据组织起来，让客户能够理解并验证我们的管理方式。下一页将继续把这一方法落到具体治理场景。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本页围绕“附件与另册文件”展开。重点不是介绍概念本身，而是说明鑫犇如何把责任、流程和证据组织起来，让客户能够理解并验证我们的管理方式。下一页将继续把这一方法落到具体治理场景。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be15c01305b67fd2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529687bbc4be2ee.sv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9b618389981adc11.svg"/>
  <Relationship Id="rId3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3e301cb1ee1d818.svg"/>
  <Relationship Id="rId3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3e301cb1ee1d818.svg"/>
  <Relationship Id="rId3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3e301cb1ee1d818.svg"/>
  <Relationship Id="rId3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3e301cb1ee1d818.svg"/>
  <Relationship Id="rId3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529687bbc4be2ee.svg"/>
  <Relationship Id="rId3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529687bbc4be2ee.svg"/>
  <Relationship Id="rId3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529687bbc4be2ee.svg"/>
  <Relationship Id="rId3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3b747e5a95aec65d.svg"/>
  <Relationship Id="rId3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6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28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29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30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1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9b618389981adc11.svg"/>
  <Relationship Id="rId3" Type="http://schemas.openxmlformats.org/officeDocument/2006/relationships/notesSlide" Target="../notesSlides/notesSlide32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33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4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5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3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23750" t="0" r="23750" b="0"/>
          <a:stretch>
            <a:fillRect/>
          </a:stretch>
        </p:blipFill>
        <p:spPr>
          <a:xfrm>
            <a:off x="6191250" y="0"/>
            <a:ext cx="600075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6191250" y="0"/>
            <a:ext cx="6000750" cy="6858000"/>
          </a:xfrm>
          <a:prstGeom prst="rect">
            <a:avLst/>
          </a:prstGeom>
          <a:solidFill>
            <a:srgbClr val="F7F9FC">
              <a:alpha val="55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048500" cy="6858000"/>
          </a:xfrm>
          <a:prstGeom prst="rect">
            <a:avLst/>
          </a:prstGeom>
          <a:solidFill>
            <a:srgbClr val="F7F9FC">
              <a:alpha val="9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59892" y="806768"/>
            <a:ext cx="18989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XINBEN ELECTRONICS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7700" y="1718310"/>
            <a:ext cx="3260903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公司治理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7700" y="2527935"/>
            <a:ext cx="4066604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dirty="0">
                <a:solidFill>
                  <a:srgbClr val="E27A21"/>
                </a:solidFill>
                <a:latin typeface="Arial"/>
                <a:ea typeface="Microsoft YaHei"/>
                <a:cs typeface="Arial"/>
              </a:rPr>
              <a:t>与管理方法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5320" y="3567112"/>
            <a:ext cx="577786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让客户看见一家制造企业如何被可靠地管理</a:t>
            </a:r>
          </a:p>
        </p:txBody>
      </p:sp>
      <p:sp>
        <p:nvSpPr>
          <p:cNvPr id="9" name="Line 9"/>
          <p:cNvSpPr/>
          <p:nvPr/>
        </p:nvSpPr>
        <p:spPr>
          <a:xfrm>
            <a:off x="666750" y="438150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47625">
            <a:solidFill>
              <a:srgbClr val="E27A2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658368" y="4774882"/>
            <a:ext cx="38188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公司治理与部门协同管理体系｜V3.0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9130" y="5314950"/>
            <a:ext cx="22364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惠州市鑫犇电子有限公司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9892" y="6045518"/>
            <a:ext cx="41353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文件定位与适用范围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64599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本文件规定治理边界和跨部门协同，不替代部门SOP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815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公司层治理</a:t>
            </a:r>
          </a:p>
        </p:txBody>
      </p:sp>
      <p:sp>
        <p:nvSpPr>
          <p:cNvPr id="12" name="Line 12"/>
          <p:cNvSpPr/>
          <p:nvPr/>
        </p:nvSpPr>
        <p:spPr>
          <a:xfrm>
            <a:off x="4305300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34480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1458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260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部门接口</a:t>
            </a:r>
          </a:p>
        </p:txBody>
      </p:sp>
      <p:sp>
        <p:nvSpPr>
          <p:cNvPr id="16" name="Line 16"/>
          <p:cNvSpPr/>
          <p:nvPr/>
        </p:nvSpPr>
        <p:spPr>
          <a:xfrm>
            <a:off x="694372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60864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784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644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流程控制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7249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4227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90826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执行文件另册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4" name="Rectangle 24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5" name="Imag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3002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03 / GOVERNANCE ARCHITECTURE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25175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管理体系三层架构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8188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治理要求向下落到责任、流程和证据，再由结果和风险向上反馈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6096000" y="257175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285750"/>
                </a:lnTo>
                <a:moveTo>
                  <a:pt x="0" y="1428750"/>
                </a:moveTo>
                <a:lnTo>
                  <a:pt x="0" y="1714500"/>
                </a:lnTo>
              </a:path>
            </a:pathLst>
          </a:custGeom>
          <a:solidFill>
            <a:srgbClr val="000000"/>
          </a:solidFill>
          <a:ln w="38100">
            <a:solidFill>
              <a:srgbClr val="8091A5"/>
            </a:solidFill>
            <a:tailEnd type="triangle" w="lg" len="lg"/>
          </a:ln>
        </p:spPr>
      </p:sp>
      <p:sp>
        <p:nvSpPr>
          <p:cNvPr id="9" name="Freeform 9"/>
          <p:cNvSpPr/>
          <p:nvPr/>
        </p:nvSpPr>
        <p:spPr>
          <a:xfrm>
            <a:off x="7810500" y="2381250"/>
            <a:ext cx="2857500" cy="2857500"/>
          </a:xfrm>
          <a:custGeom>
            <a:avLst/>
            <a:gdLst/>
            <a:ahLst/>
            <a:cxnLst/>
            <a:rect l="l" t="t" r="r" b="b"/>
            <a:pathLst>
              <a:path w="2857500" h="2857500">
                <a:moveTo>
                  <a:pt x="2000250" y="2857500"/>
                </a:moveTo>
                <a:cubicBezTo>
                  <a:pt x="2857500" y="2857500"/>
                  <a:pt x="2857500" y="0"/>
                  <a:pt x="0" y="0"/>
                </a:cubicBezTo>
              </a:path>
            </a:pathLst>
          </a:custGeom>
          <a:noFill/>
          <a:ln w="38100">
            <a:solidFill>
              <a:srgbClr val="1C9C8C"/>
            </a:solidFill>
            <a:custDash>
              <a:ds d="250000" sp="175000"/>
            </a:custDash>
            <a:tailEnd type="triangle" w="lg" len="lg"/>
          </a:ln>
        </p:spPr>
      </p:sp>
      <p:sp>
        <p:nvSpPr>
          <p:cNvPr id="10" name="TextBox 10"/>
          <p:cNvSpPr txBox="1"/>
          <p:nvPr/>
        </p:nvSpPr>
        <p:spPr>
          <a:xfrm>
            <a:off x="10091166" y="3744278"/>
            <a:ext cx="14948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结果、风险、改进反馈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2286000" y="1952625"/>
            <a:ext cx="7620000" cy="876300"/>
            <a:chOff x="2286000" y="1952625"/>
            <a:chExt cx="7620000" cy="87630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1" name="Rectangle 11"/>
            <p:cNvSpPr/>
            <p:nvPr/>
          </p:nvSpPr>
          <p:spPr>
            <a:xfrm>
              <a:off x="2286000" y="1952625"/>
              <a:ext cx="7620000" cy="876300"/>
            </a:xfrm>
            <a:prstGeom prst="roundRect">
              <a:avLst>
                <a:gd name="adj" fmla="val 19565"/>
              </a:avLst>
            </a:prstGeom>
            <a:solidFill>
              <a:srgbClr val="FFF2E7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2" name="TextBox 12"/>
            <p:cNvSpPr txBox="1"/>
            <p:nvPr/>
          </p:nvSpPr>
          <p:spPr>
            <a:xfrm>
              <a:off x="5721491" y="2099786"/>
              <a:ext cx="749017" cy="33737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治理层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22141" y="2442210"/>
              <a:ext cx="4147718" cy="23469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方向与目标 · 组织权责 · 授权审批 · 重大风险 · 监督改进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286000" y="3190875"/>
            <a:ext cx="7620000" cy="876300"/>
            <a:chOff x="2286000" y="3190875"/>
            <a:chExt cx="7620000" cy="87630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5" name="Rectangle 15"/>
            <p:cNvSpPr/>
            <p:nvPr/>
          </p:nvSpPr>
          <p:spPr>
            <a:xfrm>
              <a:off x="2286000" y="3190875"/>
              <a:ext cx="7620000" cy="876300"/>
            </a:xfrm>
            <a:prstGeom prst="roundRect">
              <a:avLst>
                <a:gd name="adj" fmla="val 19565"/>
              </a:avLst>
            </a:pr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6" name="TextBox 16"/>
            <p:cNvSpPr txBox="1"/>
            <p:nvPr/>
          </p:nvSpPr>
          <p:spPr>
            <a:xfrm>
              <a:off x="5477661" y="3338036"/>
              <a:ext cx="1236678" cy="33737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部门协同层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22141" y="3680460"/>
              <a:ext cx="4147718" cy="23469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订单到交付 · 变更控制 · 资源协同 · 异常升级 · 会议闭环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286000" y="4429125"/>
            <a:ext cx="7620000" cy="876300"/>
            <a:chOff x="2286000" y="4429125"/>
            <a:chExt cx="7620000" cy="87630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9" name="Rectangle 19"/>
            <p:cNvSpPr/>
            <p:nvPr/>
          </p:nvSpPr>
          <p:spPr>
            <a:xfrm>
              <a:off x="2286000" y="4429125"/>
              <a:ext cx="7620000" cy="876300"/>
            </a:xfrm>
            <a:prstGeom prst="roundRect">
              <a:avLst>
                <a:gd name="adj" fmla="val 19565"/>
              </a:avLst>
            </a:pr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20" name="TextBox 20"/>
            <p:cNvSpPr txBox="1"/>
            <p:nvPr/>
          </p:nvSpPr>
          <p:spPr>
            <a:xfrm>
              <a:off x="5477661" y="4576286"/>
              <a:ext cx="1236678" cy="33737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执行文件层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956304" y="4918710"/>
              <a:ext cx="4279392" cy="23469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制度程序 · SOP · 检验/点检方法 · 表单台账 · 过程记录</a:t>
              </a:r>
            </a:p>
          </p:txBody>
        </p:sp>
      </p:grpSp>
      <p:sp>
        <p:nvSpPr>
          <p:cNvPr id="23" name="Rectangle 23"/>
          <p:cNvSpPr/>
          <p:nvPr/>
        </p:nvSpPr>
        <p:spPr>
          <a:xfrm>
            <a:off x="952500" y="5905500"/>
            <a:ext cx="102870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2759269" y="6050756"/>
            <a:ext cx="66734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本PPT正文聚焦治理层与部门协同层；执行文件层作为另册文件管理，不在此展开操作步骤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66738" y="6494145"/>
            <a:ext cx="391687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向下：要求具体化 向上：结果可见化 未发布内容以“拟建立/待确认”为准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172669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管理原则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权责清晰、授权经营、过程受控、异常升级、记录可追溯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权责清晰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授权经营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过程受控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异常必升级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记录可追溯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持续改进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制度文件层级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250831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不同问题由不同层级文件解决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治理原则</a:t>
            </a:r>
          </a:p>
        </p:txBody>
      </p:sp>
      <p:sp>
        <p:nvSpPr>
          <p:cNvPr id="12" name="Line 12"/>
          <p:cNvSpPr/>
          <p:nvPr/>
        </p:nvSpPr>
        <p:spPr>
          <a:xfrm>
            <a:off x="4305300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34480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1458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260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管理制度</a:t>
            </a:r>
          </a:p>
        </p:txBody>
      </p:sp>
      <p:sp>
        <p:nvSpPr>
          <p:cNvPr id="16" name="Line 16"/>
          <p:cNvSpPr/>
          <p:nvPr/>
        </p:nvSpPr>
        <p:spPr>
          <a:xfrm>
            <a:off x="694372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60864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784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644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流程程序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7249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4227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60422" y="2752725"/>
            <a:ext cx="134820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SOP/表单/记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20892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录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5" name="Rectangle 25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6" name="Imag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4570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06 / GOVERNANCE · ORGANIZATION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组织架构与决策边界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396068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组织图表达责任传递，不把岗位名单误当成治理机制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3429000" y="2571750"/>
            <a:ext cx="5334000" cy="1524000"/>
          </a:xfrm>
          <a:custGeom>
            <a:avLst/>
            <a:gdLst/>
            <a:ahLst/>
            <a:cxnLst/>
            <a:rect l="l" t="t" r="r" b="b"/>
            <a:pathLst>
              <a:path w="5334000" h="1524000">
                <a:moveTo>
                  <a:pt x="2667000" y="0"/>
                </a:moveTo>
                <a:lnTo>
                  <a:pt x="2667000" y="476250"/>
                </a:lnTo>
                <a:moveTo>
                  <a:pt x="0" y="1143000"/>
                </a:moveTo>
                <a:lnTo>
                  <a:pt x="0" y="1524000"/>
                </a:lnTo>
                <a:moveTo>
                  <a:pt x="2667000" y="1143000"/>
                </a:moveTo>
                <a:lnTo>
                  <a:pt x="2667000" y="1524000"/>
                </a:lnTo>
                <a:moveTo>
                  <a:pt x="5334000" y="1143000"/>
                </a:moveTo>
                <a:lnTo>
                  <a:pt x="5334000" y="1524000"/>
                </a:lnTo>
              </a:path>
            </a:pathLst>
          </a:custGeom>
          <a:noFill/>
          <a:ln w="28575">
            <a:solidFill>
              <a:srgbClr val="9AA9BA"/>
            </a:solidFill>
            <a:tailEnd type="triangle" w="lg" len="lg"/>
          </a:ln>
        </p:spPr>
      </p:sp>
      <p:grpSp>
        <p:nvGrpSpPr>
          <p:cNvPr id="12" name="Group 12"/>
          <p:cNvGrpSpPr/>
          <p:nvPr/>
        </p:nvGrpSpPr>
        <p:grpSpPr>
          <a:xfrm>
            <a:off x="4572000" y="1952625"/>
            <a:ext cx="3048000" cy="685800"/>
            <a:chOff x="4572000" y="1952625"/>
            <a:chExt cx="3048000" cy="685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9" name="Rectangle 9"/>
            <p:cNvSpPr/>
            <p:nvPr/>
          </p:nvSpPr>
          <p:spPr>
            <a:xfrm>
              <a:off x="4572000" y="1952625"/>
              <a:ext cx="3048000" cy="685800"/>
            </a:xfrm>
            <a:prstGeom prst="roundRect">
              <a:avLst>
                <a:gd name="adj" fmla="val 19444"/>
              </a:avLst>
            </a:prstGeom>
            <a:solidFill>
              <a:srgbClr val="FFF2E7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0" name="TextBox 10"/>
            <p:cNvSpPr txBox="1"/>
            <p:nvPr/>
          </p:nvSpPr>
          <p:spPr>
            <a:xfrm>
              <a:off x="5571201" y="2125028"/>
              <a:ext cx="1049598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治理与重大决策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974860" y="2306479"/>
              <a:ext cx="2242280" cy="30803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最高管理层（待确认）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12907" y="3095625"/>
            <a:ext cx="3166186" cy="685800"/>
            <a:chOff x="4512907" y="3095625"/>
            <a:chExt cx="3166186" cy="685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3" name="Rectangle 13"/>
            <p:cNvSpPr/>
            <p:nvPr/>
          </p:nvSpPr>
          <p:spPr>
            <a:xfrm>
              <a:off x="4572000" y="3095625"/>
              <a:ext cx="3048000" cy="685800"/>
            </a:xfrm>
            <a:prstGeom prst="roundRect">
              <a:avLst>
                <a:gd name="adj" fmla="val 19444"/>
              </a:avLst>
            </a:pr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4" name="TextBox 14"/>
            <p:cNvSpPr txBox="1"/>
            <p:nvPr/>
          </p:nvSpPr>
          <p:spPr>
            <a:xfrm>
              <a:off x="5422783" y="3258502"/>
              <a:ext cx="1346435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经营统筹与资源配置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12907" y="3449479"/>
              <a:ext cx="3166186" cy="30803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总经理 / 经营负责人（待确认）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43000" y="4333875"/>
            <a:ext cx="2857500" cy="847439"/>
            <a:chOff x="1143000" y="4333875"/>
            <a:chExt cx="2857500" cy="847439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7" name="Rectangle 17"/>
            <p:cNvSpPr/>
            <p:nvPr/>
          </p:nvSpPr>
          <p:spPr>
            <a:xfrm>
              <a:off x="1143000" y="4333875"/>
              <a:ext cx="2857500" cy="838200"/>
            </a:xfrm>
            <a:prstGeom prst="roundRect">
              <a:avLst>
                <a:gd name="adj" fmla="val 15909"/>
              </a:avLst>
            </a:prstGeom>
            <a:solidFill>
              <a:srgbClr val="FFFFFF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8" name="TextBox 18"/>
            <p:cNvSpPr txBox="1"/>
            <p:nvPr/>
          </p:nvSpPr>
          <p:spPr>
            <a:xfrm>
              <a:off x="2269579" y="4506278"/>
              <a:ext cx="60434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职能管理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72194" y="4714875"/>
              <a:ext cx="2199113" cy="29337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营运 / 采购 / 行政财务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13643" y="4990624"/>
              <a:ext cx="1716214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承接制度、资源和跨部门接口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667250" y="4333875"/>
            <a:ext cx="2857500" cy="847439"/>
            <a:chOff x="4667250" y="4333875"/>
            <a:chExt cx="2857500" cy="847439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22" name="Rectangle 22"/>
            <p:cNvSpPr/>
            <p:nvPr/>
          </p:nvSpPr>
          <p:spPr>
            <a:xfrm>
              <a:off x="4667250" y="4333875"/>
              <a:ext cx="2857500" cy="838200"/>
            </a:xfrm>
            <a:prstGeom prst="roundRect">
              <a:avLst>
                <a:gd name="adj" fmla="val 15909"/>
              </a:avLst>
            </a:prstGeom>
            <a:solidFill>
              <a:srgbClr val="FFFFFF"/>
            </a:solidFill>
            <a:ln w="19050">
              <a:solidFill>
                <a:srgbClr val="7657B8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23" name="TextBox 23"/>
            <p:cNvSpPr txBox="1"/>
            <p:nvPr/>
          </p:nvSpPr>
          <p:spPr>
            <a:xfrm>
              <a:off x="5793829" y="4506278"/>
              <a:ext cx="60434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专业判断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330385" y="4714875"/>
              <a:ext cx="1531229" cy="29337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品质 / 技术工程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172266" y="4990624"/>
              <a:ext cx="1847469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专业结论、风险识别和放行建议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191500" y="4333875"/>
            <a:ext cx="2857500" cy="847439"/>
            <a:chOff x="8191500" y="4333875"/>
            <a:chExt cx="2857500" cy="847439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27" name="Rectangle 27"/>
            <p:cNvSpPr/>
            <p:nvPr/>
          </p:nvSpPr>
          <p:spPr>
            <a:xfrm>
              <a:off x="8191500" y="4333875"/>
              <a:ext cx="2857500" cy="838200"/>
            </a:xfrm>
            <a:prstGeom prst="roundRect">
              <a:avLst>
                <a:gd name="adj" fmla="val 15909"/>
              </a:avLst>
            </a:prstGeom>
            <a:solidFill>
              <a:srgbClr val="FFFFFF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28" name="TextBox 28"/>
            <p:cNvSpPr txBox="1"/>
            <p:nvPr/>
          </p:nvSpPr>
          <p:spPr>
            <a:xfrm>
              <a:off x="9318079" y="4506278"/>
              <a:ext cx="60434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现场执行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732720" y="4714875"/>
              <a:ext cx="1775060" cy="29337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生产 / 仓储 / 物流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827770" y="4990624"/>
              <a:ext cx="1584960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按受控版本执行并反馈记录</a:t>
              </a:r>
            </a:p>
          </p:txBody>
        </p:sp>
      </p:grpSp>
      <p:sp>
        <p:nvSpPr>
          <p:cNvPr id="32" name="Rectangle 32"/>
          <p:cNvSpPr/>
          <p:nvPr/>
        </p:nvSpPr>
        <p:spPr>
          <a:xfrm>
            <a:off x="1143000" y="5810250"/>
            <a:ext cx="9906000" cy="457200"/>
          </a:xfrm>
          <a:prstGeom prst="roundRect">
            <a:avLst>
              <a:gd name="adj" fmla="val 50000"/>
            </a:avLst>
          </a:prstGeom>
          <a:solidFill>
            <a:srgbClr val="EAF7F4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3350522" y="5966460"/>
            <a:ext cx="54909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责任向下承接 · 风险向上升级 · 组织名称与最终权限以正式授权文件为准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66738" y="6494145"/>
            <a:ext cx="342012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实线＝责任传递 虚线＝信息反馈 黄色/橙色＝待确认或授权事项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07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决策与经营职责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0838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战略监督与日常经营衔接，但不混淆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2143125"/>
            <a:ext cx="4953000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6477000" y="2143125"/>
            <a:ext cx="4953000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E27A2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134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左侧：治理定位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49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27A21"/>
                </a:solidFill>
                <a:latin typeface="Arial"/>
                <a:ea typeface="Microsoft YaHei"/>
                <a:cs typeface="Arial"/>
              </a:rPr>
              <a:t>右侧：客户感知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33094" y="2932748"/>
            <a:ext cx="1949253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重大方向和风险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48094" y="2932748"/>
            <a:ext cx="415432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经营目标和资源｜跨部门裁决｜部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48094" y="3313748"/>
            <a:ext cx="139798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门结果责任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部门职责地图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2348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每个部门统一写清定位、输入、输出、权限和接口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定位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主要责任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关键输入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关键输出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权限边界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升级对象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岗位责任与替代机制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46748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岗位变更、兼岗和离岗必须保持责任连续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岗位目的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核心职责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关键权限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能力确认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替代岗位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权限回收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17435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10 / GOVERNANCE · RACI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561593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RACI责任规则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502744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一项事项只能有一个A；不能用“大家负责”替代授权和结果责任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00250"/>
            <a:ext cx="7239000" cy="3333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00250"/>
            <a:ext cx="7239000" cy="552450"/>
          </a:xfrm>
          <a:prstGeom prst="roundRect">
            <a:avLst>
              <a:gd name="adj" fmla="val 24138"/>
            </a:avLst>
          </a:prstGeom>
          <a:solidFill>
            <a:srgbClr val="EAF0F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36904" y="2213610"/>
            <a:ext cx="8857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事项 / 角色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920033" y="2213610"/>
            <a:ext cx="35143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营运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51516" y="2213610"/>
            <a:ext cx="783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品质/工程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799266" y="2213610"/>
            <a:ext cx="783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生产/仓储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08851" y="2213610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经营负责人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137285" y="2888456"/>
            <a:ext cx="1003411" cy="1934528"/>
            <a:chOff x="1137285" y="2888456"/>
            <a:chExt cx="1003411" cy="1934528"/>
          </a:xfrm>
        </p:grpSpPr>
        <p:sp>
          <p:nvSpPr>
            <p:cNvPr id="15" name="TextBox 15"/>
            <p:cNvSpPr txBox="1"/>
            <p:nvPr/>
          </p:nvSpPr>
          <p:spPr>
            <a:xfrm>
              <a:off x="1137285" y="28884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订单评审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37285" y="3459956"/>
              <a:ext cx="10034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技术/图纸变更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7285" y="4031456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质量异常处置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7285" y="46029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出货放行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57250" y="2000250"/>
            <a:ext cx="7239000" cy="3333750"/>
            <a:chOff x="857250" y="2000250"/>
            <a:chExt cx="7239000" cy="3333750"/>
          </a:xfrm>
        </p:grpSpPr>
        <p:sp>
          <p:nvSpPr>
            <p:cNvPr id="20" name="Line 20"/>
            <p:cNvSpPr/>
            <p:nvPr/>
          </p:nvSpPr>
          <p:spPr>
            <a:xfrm>
              <a:off x="857250" y="25527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857250" y="31242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857250" y="36957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857250" y="42672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857250" y="48387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3714750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4619625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5667375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6715125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4033445" y="2762250"/>
            <a:ext cx="3443680" cy="2095500"/>
            <a:chOff x="4033445" y="2762250"/>
            <a:chExt cx="3443680" cy="2095500"/>
          </a:xfrm>
        </p:grpSpPr>
        <p:sp>
          <p:nvSpPr>
            <p:cNvPr id="30" name="TextBox 30"/>
            <p:cNvSpPr txBox="1"/>
            <p:nvPr/>
          </p:nvSpPr>
          <p:spPr>
            <a:xfrm>
              <a:off x="403344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8119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953125" y="2762250"/>
              <a:ext cx="476250" cy="381000"/>
            </a:xfrm>
            <a:prstGeom prst="roundRect">
              <a:avLst>
                <a:gd name="adj" fmla="val 2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12894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17669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033445" y="3435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905375" y="3333750"/>
              <a:ext cx="476250" cy="381000"/>
            </a:xfrm>
            <a:prstGeom prst="roundRect">
              <a:avLst>
                <a:gd name="adj" fmla="val 2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081195" y="3435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128945" y="3435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01898" y="3435668"/>
              <a:ext cx="742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526173"/>
                  </a:solidFill>
                  <a:latin typeface="Arial"/>
                  <a:ea typeface="Arial"/>
                  <a:cs typeface="Arial"/>
                </a:rPr>
                <a:t>I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033445" y="4007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905375" y="3905250"/>
              <a:ext cx="476250" cy="381000"/>
            </a:xfrm>
            <a:prstGeom prst="roundRect">
              <a:avLst>
                <a:gd name="adj" fmla="val 2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081195" y="4007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128945" y="4007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201898" y="4007168"/>
              <a:ext cx="742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526173"/>
                  </a:solidFill>
                  <a:latin typeface="Arial"/>
                  <a:ea typeface="Arial"/>
                  <a:cs typeface="Arial"/>
                </a:rPr>
                <a:t>I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03344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08119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12894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000875" y="4476750"/>
              <a:ext cx="476250" cy="381000"/>
            </a:xfrm>
            <a:prstGeom prst="roundRect">
              <a:avLst>
                <a:gd name="adj" fmla="val 2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17669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</p:grpSp>
      <p:sp>
        <p:nvSpPr>
          <p:cNvPr id="51" name="Rectangle 51"/>
          <p:cNvSpPr/>
          <p:nvPr/>
        </p:nvSpPr>
        <p:spPr>
          <a:xfrm>
            <a:off x="8667750" y="2000250"/>
            <a:ext cx="2667000" cy="33337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9569577" y="226695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判定规则</a:t>
            </a:r>
          </a:p>
        </p:txBody>
      </p:sp>
      <p:sp>
        <p:nvSpPr>
          <p:cNvPr id="53" name="Ellipse 53"/>
          <p:cNvSpPr/>
          <p:nvPr/>
        </p:nvSpPr>
        <p:spPr>
          <a:xfrm>
            <a:off x="8905875" y="2809875"/>
            <a:ext cx="285750" cy="285750"/>
          </a:xfrm>
          <a:prstGeom prst="ellipse">
            <a:avLst/>
          </a:prstGeom>
          <a:solidFill>
            <a:srgbClr val="FFF2E7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8986445" y="2864168"/>
            <a:ext cx="124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328785" y="2888456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批准 / 结果责任</a:t>
            </a:r>
          </a:p>
        </p:txBody>
      </p:sp>
      <p:sp>
        <p:nvSpPr>
          <p:cNvPr id="56" name="Ellipse 56"/>
          <p:cNvSpPr/>
          <p:nvPr/>
        </p:nvSpPr>
        <p:spPr>
          <a:xfrm>
            <a:off x="8905875" y="3333750"/>
            <a:ext cx="285750" cy="285750"/>
          </a:xfrm>
          <a:prstGeom prst="ellipse">
            <a:avLst/>
          </a:prstGeom>
          <a:solidFill>
            <a:srgbClr val="EAF0FF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8986445" y="3388042"/>
            <a:ext cx="124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2F6BFF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328785" y="3412331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执行 / 交付结果</a:t>
            </a:r>
          </a:p>
        </p:txBody>
      </p:sp>
      <p:sp>
        <p:nvSpPr>
          <p:cNvPr id="59" name="Ellipse 59"/>
          <p:cNvSpPr/>
          <p:nvPr/>
        </p:nvSpPr>
        <p:spPr>
          <a:xfrm>
            <a:off x="8905875" y="3857625"/>
            <a:ext cx="285750" cy="285750"/>
          </a:xfrm>
          <a:prstGeom prst="ellipse">
            <a:avLst/>
          </a:prstGeom>
          <a:solidFill>
            <a:srgbClr val="F2ECFF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8986445" y="3911918"/>
            <a:ext cx="124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7657B8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9328785" y="3936206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会签 / 专业意见</a:t>
            </a:r>
          </a:p>
        </p:txBody>
      </p:sp>
      <p:sp>
        <p:nvSpPr>
          <p:cNvPr id="62" name="Ellipse 62"/>
          <p:cNvSpPr/>
          <p:nvPr/>
        </p:nvSpPr>
        <p:spPr>
          <a:xfrm>
            <a:off x="8905875" y="4381500"/>
            <a:ext cx="285750" cy="285750"/>
          </a:xfrm>
          <a:prstGeom prst="ellipse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9011648" y="4435792"/>
            <a:ext cx="7420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9328785" y="4460081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知会 / 信息同步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9011888" y="4942999"/>
            <a:ext cx="19787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示例，最终角色以公司确认版为准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66738" y="6494145"/>
            <a:ext cx="335074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橙色A必须唯一；若无明确A，事项不得默认通过或自行承诺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11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授权审批矩阵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6593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审批权必须与风险、金额、专业判断相匹配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9270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合同/订单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91395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采购/付款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质量放行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文件发布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异常处置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重大资源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越权与职责冲突处理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0838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先暂停、再升级、后决定、留痕关闭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发现冲突</a:t>
            </a:r>
          </a:p>
        </p:txBody>
      </p:sp>
      <p:sp>
        <p:nvSpPr>
          <p:cNvPr id="12" name="Line 12"/>
          <p:cNvSpPr/>
          <p:nvPr/>
        </p:nvSpPr>
        <p:spPr>
          <a:xfrm>
            <a:off x="378142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9241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6219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090100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暂停越权动作</a:t>
            </a:r>
          </a:p>
        </p:txBody>
      </p:sp>
      <p:sp>
        <p:nvSpPr>
          <p:cNvPr id="16" name="Line 16"/>
          <p:cNvSpPr/>
          <p:nvPr/>
        </p:nvSpPr>
        <p:spPr>
          <a:xfrm>
            <a:off x="589597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50387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7365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3106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提交授权人</a:t>
            </a:r>
          </a:p>
        </p:txBody>
      </p:sp>
      <p:sp>
        <p:nvSpPr>
          <p:cNvPr id="20" name="Line 20"/>
          <p:cNvSpPr/>
          <p:nvPr/>
        </p:nvSpPr>
        <p:spPr>
          <a:xfrm>
            <a:off x="801052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71532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78510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5312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形成决定</a:t>
            </a:r>
          </a:p>
        </p:txBody>
      </p:sp>
      <p:sp>
        <p:nvSpPr>
          <p:cNvPr id="24" name="Rectangle 24"/>
          <p:cNvSpPr/>
          <p:nvPr/>
        </p:nvSpPr>
        <p:spPr>
          <a:xfrm>
            <a:off x="92678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99656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327737" y="2752725"/>
            <a:ext cx="14994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更新责任和记录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8" name="Rectangle 28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9" name="Image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58546" y="439102"/>
            <a:ext cx="10871454" cy="932879"/>
            <a:chOff x="558546" y="439102"/>
            <a:chExt cx="10871454" cy="932879"/>
          </a:xfrm>
        </p:grpSpPr>
        <p:sp>
          <p:nvSpPr>
            <p:cNvPr id="4" name="TextBox 4"/>
            <p:cNvSpPr txBox="1"/>
            <p:nvPr/>
          </p:nvSpPr>
          <p:spPr>
            <a:xfrm>
              <a:off x="566166" y="439102"/>
              <a:ext cx="19395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PROCESS GOVERNANCE / 01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58546" y="696278"/>
              <a:ext cx="651391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订单到交付：把客户承诺变成可交付计划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5404" y="1137285"/>
              <a:ext cx="51977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流程重点不是“谁来做”，而是每个承诺都有确认、授权、记录和关闭证据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906000" y="457200"/>
              <a:ext cx="1524000" cy="400050"/>
            </a:xfrm>
            <a:prstGeom prst="roundRect">
              <a:avLst>
                <a:gd name="adj" fmla="val 50000"/>
              </a:avLst>
            </a:prstGeom>
            <a:solidFill>
              <a:srgbClr val="EAF7F4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17410" y="601028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治理流程示例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71500" y="1695450"/>
            <a:ext cx="1143000" cy="2571750"/>
            <a:chOff x="571500" y="1695450"/>
            <a:chExt cx="1143000" cy="2571750"/>
          </a:xfrm>
        </p:grpSpPr>
        <p:sp>
          <p:nvSpPr>
            <p:cNvPr id="10" name="Rectangle 10"/>
            <p:cNvSpPr/>
            <p:nvPr/>
          </p:nvSpPr>
          <p:spPr>
            <a:xfrm>
              <a:off x="571500" y="1695450"/>
              <a:ext cx="1143000" cy="514350"/>
            </a:xfrm>
            <a:prstGeom prst="roundRect">
              <a:avLst>
                <a:gd name="adj" fmla="val 18519"/>
              </a:avLst>
            </a:prstGeom>
            <a:solidFill>
              <a:srgbClr val="EAF0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27809" y="1888331"/>
              <a:ext cx="8303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客户 / 业务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71500" y="2209800"/>
              <a:ext cx="1143000" cy="514350"/>
            </a:xfrm>
            <a:prstGeom prst="roundRect">
              <a:avLst>
                <a:gd name="adj" fmla="val 18519"/>
              </a:avLst>
            </a:prstGeom>
            <a:solidFill>
              <a:srgbClr val="EAF7F4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78265" y="2402681"/>
              <a:ext cx="3294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营运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71500" y="2724150"/>
              <a:ext cx="1143000" cy="514350"/>
            </a:xfrm>
            <a:prstGeom prst="roundRect">
              <a:avLst>
                <a:gd name="adj" fmla="val 18519"/>
              </a:avLst>
            </a:prstGeom>
            <a:solidFill>
              <a:srgbClr val="F2EC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27809" y="2917031"/>
              <a:ext cx="8303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生产 / 品质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71500" y="3238500"/>
              <a:ext cx="1143000" cy="514350"/>
            </a:xfrm>
            <a:prstGeom prst="roundRect">
              <a:avLst>
                <a:gd name="adj" fmla="val 18519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27809" y="3431381"/>
              <a:ext cx="8303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采购 / 仓储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1500" y="3752850"/>
              <a:ext cx="1143000" cy="514350"/>
            </a:xfrm>
            <a:prstGeom prst="roundRect">
              <a:avLst>
                <a:gd name="adj" fmla="val 18519"/>
              </a:avLst>
            </a:prstGeom>
            <a:solidFill>
              <a:srgbClr val="FFF7D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39735" y="3945731"/>
              <a:ext cx="8065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授权管理层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857375" y="1695450"/>
            <a:ext cx="9572625" cy="2571750"/>
            <a:chOff x="1857375" y="1695450"/>
            <a:chExt cx="9572625" cy="2571750"/>
          </a:xfrm>
        </p:grpSpPr>
        <p:sp>
          <p:nvSpPr>
            <p:cNvPr id="21" name="Rectangle 21"/>
            <p:cNvSpPr/>
            <p:nvPr/>
          </p:nvSpPr>
          <p:spPr>
            <a:xfrm>
              <a:off x="1857375" y="1695450"/>
              <a:ext cx="9572625" cy="514350"/>
            </a:xfrm>
            <a:prstGeom prst="rect">
              <a:avLst/>
            </a:prstGeom>
            <a:solidFill>
              <a:srgbClr val="FBFCFE"/>
            </a:solidFill>
            <a:ln w="9525">
              <a:solidFill>
                <a:srgbClr val="E1E7F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857375" y="2209800"/>
              <a:ext cx="9572625" cy="514350"/>
            </a:xfrm>
            <a:prstGeom prst="rect">
              <a:avLst/>
            </a:prstGeom>
            <a:solidFill>
              <a:srgbClr val="F8FCFB"/>
            </a:solidFill>
            <a:ln w="9525">
              <a:solidFill>
                <a:srgbClr val="E1E7F0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1857375" y="2724150"/>
              <a:ext cx="9572625" cy="514350"/>
            </a:xfrm>
            <a:prstGeom prst="rect">
              <a:avLst/>
            </a:prstGeom>
            <a:solidFill>
              <a:srgbClr val="FBF9FF"/>
            </a:solidFill>
            <a:ln w="9525">
              <a:solidFill>
                <a:srgbClr val="E1E7F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857375" y="3238500"/>
              <a:ext cx="9572625" cy="514350"/>
            </a:xfrm>
            <a:prstGeom prst="rect">
              <a:avLst/>
            </a:prstGeom>
            <a:solidFill>
              <a:srgbClr val="FFFBF7"/>
            </a:solidFill>
            <a:ln w="9525">
              <a:solidFill>
                <a:srgbClr val="E1E7F0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857375" y="3752850"/>
              <a:ext cx="9572625" cy="514350"/>
            </a:xfrm>
            <a:prstGeom prst="rect">
              <a:avLst/>
            </a:prstGeom>
            <a:solidFill>
              <a:srgbClr val="FFFDF5"/>
            </a:solidFill>
            <a:ln w="9525">
              <a:solidFill>
                <a:srgbClr val="E1E7F0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1857375" y="1695450"/>
              <a:ext cx="9525" cy="2571750"/>
            </a:xfrm>
            <a:custGeom>
              <a:avLst/>
              <a:gdLst/>
              <a:ahLst/>
              <a:cxnLst/>
              <a:rect l="l" t="t" r="r" b="b"/>
              <a:pathLst>
                <a:path w="9525" h="2571750">
                  <a:moveTo>
                    <a:pt x="0" y="0"/>
                  </a:moveTo>
                  <a:lnTo>
                    <a:pt x="0" y="2571750"/>
                  </a:lnTo>
                </a:path>
              </a:pathLst>
            </a:custGeom>
            <a:noFill/>
            <a:ln w="19050">
              <a:solidFill>
                <a:srgbClr val="D5DDE8"/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2857500" y="1952625"/>
            <a:ext cx="8286750" cy="2057400"/>
            <a:chOff x="2857500" y="1952625"/>
            <a:chExt cx="8286750" cy="2057400"/>
          </a:xfrm>
        </p:grpSpPr>
        <p:sp>
          <p:nvSpPr>
            <p:cNvPr id="28" name="Freeform 28"/>
            <p:cNvSpPr/>
            <p:nvPr/>
          </p:nvSpPr>
          <p:spPr>
            <a:xfrm>
              <a:off x="2857500" y="1952625"/>
              <a:ext cx="476250" cy="514350"/>
            </a:xfrm>
            <a:custGeom>
              <a:avLst/>
              <a:gdLst/>
              <a:ahLst/>
              <a:cxnLst/>
              <a:rect l="l" t="t" r="r" b="b"/>
              <a:pathLst>
                <a:path w="476250" h="514350">
                  <a:moveTo>
                    <a:pt x="0" y="0"/>
                  </a:moveTo>
                  <a:lnTo>
                    <a:pt x="285750" y="0"/>
                  </a:lnTo>
                  <a:lnTo>
                    <a:pt x="285750" y="514350"/>
                  </a:lnTo>
                  <a:lnTo>
                    <a:pt x="476250" y="5143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4381500" y="2466975"/>
              <a:ext cx="476250" cy="514350"/>
            </a:xfrm>
            <a:custGeom>
              <a:avLst/>
              <a:gdLst/>
              <a:ahLst/>
              <a:cxnLst/>
              <a:rect l="l" t="t" r="r" b="b"/>
              <a:pathLst>
                <a:path w="476250" h="514350">
                  <a:moveTo>
                    <a:pt x="0" y="0"/>
                  </a:moveTo>
                  <a:lnTo>
                    <a:pt x="285750" y="0"/>
                  </a:lnTo>
                  <a:lnTo>
                    <a:pt x="285750" y="514350"/>
                  </a:lnTo>
                  <a:lnTo>
                    <a:pt x="476250" y="5143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5905500" y="2981325"/>
              <a:ext cx="476250" cy="514350"/>
            </a:xfrm>
            <a:custGeom>
              <a:avLst/>
              <a:gdLst/>
              <a:ahLst/>
              <a:cxnLst/>
              <a:rect l="l" t="t" r="r" b="b"/>
              <a:pathLst>
                <a:path w="476250" h="514350">
                  <a:moveTo>
                    <a:pt x="0" y="0"/>
                  </a:moveTo>
                  <a:lnTo>
                    <a:pt x="285750" y="0"/>
                  </a:lnTo>
                  <a:lnTo>
                    <a:pt x="285750" y="514350"/>
                  </a:lnTo>
                  <a:lnTo>
                    <a:pt x="476250" y="5143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7429500" y="3495675"/>
              <a:ext cx="476250" cy="514350"/>
            </a:xfrm>
            <a:custGeom>
              <a:avLst/>
              <a:gdLst/>
              <a:ahLst/>
              <a:cxnLst/>
              <a:rect l="l" t="t" r="r" b="b"/>
              <a:pathLst>
                <a:path w="476250" h="514350">
                  <a:moveTo>
                    <a:pt x="0" y="0"/>
                  </a:moveTo>
                  <a:lnTo>
                    <a:pt x="285750" y="0"/>
                  </a:lnTo>
                  <a:lnTo>
                    <a:pt x="285750" y="514350"/>
                  </a:lnTo>
                  <a:lnTo>
                    <a:pt x="476250" y="5143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8953500" y="2981325"/>
              <a:ext cx="571500" cy="1028700"/>
            </a:xfrm>
            <a:custGeom>
              <a:avLst/>
              <a:gdLst/>
              <a:ahLst/>
              <a:cxnLst/>
              <a:rect l="l" t="t" r="r" b="b"/>
              <a:pathLst>
                <a:path w="571500" h="1028700">
                  <a:moveTo>
                    <a:pt x="0" y="1028700"/>
                  </a:moveTo>
                  <a:lnTo>
                    <a:pt x="285750" y="1028700"/>
                  </a:lnTo>
                  <a:lnTo>
                    <a:pt x="285750" y="0"/>
                  </a:lnTo>
                  <a:lnTo>
                    <a:pt x="571500" y="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10572750" y="1952625"/>
              <a:ext cx="571500" cy="1028700"/>
            </a:xfrm>
            <a:custGeom>
              <a:avLst/>
              <a:gdLst/>
              <a:ahLst/>
              <a:cxnLst/>
              <a:rect l="l" t="t" r="r" b="b"/>
              <a:pathLst>
                <a:path w="571500" h="1028700">
                  <a:moveTo>
                    <a:pt x="0" y="1028700"/>
                  </a:moveTo>
                  <a:lnTo>
                    <a:pt x="285750" y="1028700"/>
                  </a:lnTo>
                  <a:lnTo>
                    <a:pt x="285750" y="0"/>
                  </a:lnTo>
                  <a:lnTo>
                    <a:pt x="571500" y="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2000250" y="1781175"/>
            <a:ext cx="9429750" cy="2400300"/>
            <a:chOff x="2000250" y="1781175"/>
            <a:chExt cx="9429750" cy="2400300"/>
          </a:xfrm>
        </p:grpSpPr>
        <p:grpSp>
          <p:nvGrpSpPr>
            <p:cNvPr id="37" name="Group 37"/>
            <p:cNvGrpSpPr/>
            <p:nvPr/>
          </p:nvGrpSpPr>
          <p:grpSpPr>
            <a:xfrm>
              <a:off x="2000250" y="1781175"/>
              <a:ext cx="857250" cy="342900"/>
              <a:chOff x="2000250" y="1781175"/>
              <a:chExt cx="8572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35" name="Rectangle 35"/>
              <p:cNvSpPr/>
              <p:nvPr/>
            </p:nvSpPr>
            <p:spPr>
              <a:xfrm>
                <a:off x="2000250" y="1781175"/>
                <a:ext cx="8572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2126704" y="1886902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需求进入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3332826" y="2295525"/>
              <a:ext cx="1049598" cy="342900"/>
              <a:chOff x="3332826" y="2295525"/>
              <a:chExt cx="1049598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38" name="Rectangle 38"/>
              <p:cNvSpPr/>
              <p:nvPr/>
            </p:nvSpPr>
            <p:spPr>
              <a:xfrm>
                <a:off x="3333750" y="2295525"/>
                <a:ext cx="10477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9050">
                <a:solidFill>
                  <a:srgbClr val="1C9C8C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3332826" y="2401252"/>
                <a:ext cx="1049598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信息完整性检查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4857750" y="2809875"/>
              <a:ext cx="1047750" cy="342900"/>
              <a:chOff x="4857750" y="2809875"/>
              <a:chExt cx="1047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1" name="Rectangle 41"/>
              <p:cNvSpPr/>
              <p:nvPr/>
            </p:nvSpPr>
            <p:spPr>
              <a:xfrm>
                <a:off x="4857750" y="2809875"/>
                <a:ext cx="10477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9050">
                <a:solidFill>
                  <a:srgbClr val="7657B8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5005245" y="2915602"/>
                <a:ext cx="752761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跨部门评审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6381750" y="3324225"/>
              <a:ext cx="1047750" cy="342900"/>
              <a:chOff x="6381750" y="3324225"/>
              <a:chExt cx="1047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4" name="Rectangle 44"/>
              <p:cNvSpPr/>
              <p:nvPr/>
            </p:nvSpPr>
            <p:spPr>
              <a:xfrm>
                <a:off x="6381750" y="3324225"/>
                <a:ext cx="10477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9050">
                <a:solidFill>
                  <a:srgbClr val="C56A25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6603454" y="3429952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资源确认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7905750" y="3838575"/>
              <a:ext cx="1047750" cy="342900"/>
              <a:chOff x="7905750" y="3838575"/>
              <a:chExt cx="1047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7" name="Rectangle 47"/>
              <p:cNvSpPr/>
              <p:nvPr/>
            </p:nvSpPr>
            <p:spPr>
              <a:xfrm>
                <a:off x="7905750" y="3838575"/>
                <a:ext cx="10477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7DF"/>
              </a:solidFill>
              <a:ln w="19050">
                <a:solidFill>
                  <a:srgbClr val="D79A2B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8127454" y="3944302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承诺批准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9525000" y="2809875"/>
              <a:ext cx="1047750" cy="342900"/>
              <a:chOff x="9525000" y="2809875"/>
              <a:chExt cx="1047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50" name="Rectangle 50"/>
              <p:cNvSpPr/>
              <p:nvPr/>
            </p:nvSpPr>
            <p:spPr>
              <a:xfrm>
                <a:off x="9525000" y="2809875"/>
                <a:ext cx="10477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9050">
                <a:solidFill>
                  <a:srgbClr val="7657B8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9672495" y="2915602"/>
                <a:ext cx="752761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执行与交付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11144250" y="1781175"/>
              <a:ext cx="285750" cy="342900"/>
              <a:chOff x="11144250" y="1781175"/>
              <a:chExt cx="285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53" name="Rectangle 53"/>
              <p:cNvSpPr/>
              <p:nvPr/>
            </p:nvSpPr>
            <p:spPr>
              <a:xfrm>
                <a:off x="11144250" y="1781175"/>
                <a:ext cx="285750" cy="342900"/>
              </a:xfrm>
              <a:prstGeom prst="roundRect">
                <a:avLst>
                  <a:gd name="adj" fmla="val 30000"/>
                </a:avLst>
              </a:pr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11227790" y="185451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✓</a:t>
                </a:r>
              </a:p>
            </p:txBody>
          </p:sp>
        </p:grpSp>
      </p:grpSp>
      <p:grpSp>
        <p:nvGrpSpPr>
          <p:cNvPr id="65" name="Group 65"/>
          <p:cNvGrpSpPr/>
          <p:nvPr/>
        </p:nvGrpSpPr>
        <p:grpSpPr>
          <a:xfrm>
            <a:off x="5667375" y="4181475"/>
            <a:ext cx="4429125" cy="1212532"/>
            <a:chOff x="5667375" y="4181475"/>
            <a:chExt cx="4429125" cy="1212532"/>
          </a:xfrm>
        </p:grpSpPr>
        <p:sp>
          <p:nvSpPr>
            <p:cNvPr id="57" name="Freeform 57"/>
            <p:cNvSpPr/>
            <p:nvPr/>
          </p:nvSpPr>
          <p:spPr>
            <a:xfrm>
              <a:off x="7810500" y="4476750"/>
              <a:ext cx="1238250" cy="666750"/>
            </a:xfrm>
            <a:custGeom>
              <a:avLst/>
              <a:gdLst/>
              <a:ahLst/>
              <a:cxnLst/>
              <a:rect l="l" t="t" r="r" b="b"/>
              <a:pathLst>
                <a:path w="1238250" h="666750">
                  <a:moveTo>
                    <a:pt x="619125" y="0"/>
                  </a:moveTo>
                  <a:lnTo>
                    <a:pt x="1238250" y="333375"/>
                  </a:lnTo>
                  <a:lnTo>
                    <a:pt x="619125" y="666750"/>
                  </a:lnTo>
                  <a:lnTo>
                    <a:pt x="0" y="333375"/>
                  </a:lnTo>
                  <a:close/>
                </a:path>
              </a:pathLst>
            </a:custGeom>
            <a:solidFill>
              <a:srgbClr val="FFF7DF"/>
            </a:solidFill>
            <a:ln w="19050">
              <a:solidFill>
                <a:srgbClr val="D79A2B"/>
              </a:solidFill>
            </a:ln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spPr>
        </p:sp>
        <p:sp>
          <p:nvSpPr>
            <p:cNvPr id="58" name="TextBox 58"/>
            <p:cNvSpPr txBox="1"/>
            <p:nvPr/>
          </p:nvSpPr>
          <p:spPr>
            <a:xfrm>
              <a:off x="8053245" y="4658678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05B12"/>
                  </a:solidFill>
                  <a:latin typeface="Arial"/>
                  <a:ea typeface="Microsoft YaHei"/>
                  <a:cs typeface="Arial"/>
                </a:rPr>
                <a:t>条件满足？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963957" y="4844891"/>
              <a:ext cx="93133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质量 / 交期 / 资源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8429625" y="4181475"/>
              <a:ext cx="9525" cy="295275"/>
            </a:xfrm>
            <a:custGeom>
              <a:avLst/>
              <a:gdLst/>
              <a:ahLst/>
              <a:cxnLst/>
              <a:rect l="l" t="t" r="r" b="b"/>
              <a:pathLst>
                <a:path w="9525" h="295275">
                  <a:moveTo>
                    <a:pt x="0" y="0"/>
                  </a:moveTo>
                  <a:lnTo>
                    <a:pt x="0" y="295275"/>
                  </a:lnTo>
                </a:path>
              </a:pathLst>
            </a:custGeom>
            <a:noFill/>
            <a:ln w="23812">
              <a:solidFill>
                <a:srgbClr val="6B7A90"/>
              </a:solidFill>
              <a:tailEnd type="triangle" w="lg" len="lg"/>
            </a:ln>
          </p:spPr>
        </p:sp>
        <p:sp>
          <p:nvSpPr>
            <p:cNvPr id="61" name="Freeform 61"/>
            <p:cNvSpPr/>
            <p:nvPr/>
          </p:nvSpPr>
          <p:spPr>
            <a:xfrm>
              <a:off x="9048750" y="4181475"/>
              <a:ext cx="1047750" cy="628650"/>
            </a:xfrm>
            <a:custGeom>
              <a:avLst/>
              <a:gdLst/>
              <a:ahLst/>
              <a:cxnLst/>
              <a:rect l="l" t="t" r="r" b="b"/>
              <a:pathLst>
                <a:path w="1047750" h="628650">
                  <a:moveTo>
                    <a:pt x="0" y="628650"/>
                  </a:moveTo>
                  <a:lnTo>
                    <a:pt x="1047750" y="628650"/>
                  </a:lnTo>
                  <a:lnTo>
                    <a:pt x="1047750" y="295275"/>
                  </a:lnTo>
                  <a:lnTo>
                    <a:pt x="1000125" y="295275"/>
                  </a:lnTo>
                  <a:lnTo>
                    <a:pt x="1000125" y="0"/>
                  </a:lnTo>
                </a:path>
              </a:pathLst>
            </a:custGeom>
            <a:noFill/>
            <a:ln w="23812">
              <a:solidFill>
                <a:srgbClr val="6B7A90"/>
              </a:solidFill>
              <a:tailEnd type="triangle" w="lg" len="lg"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310688" y="463677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是</a:t>
              </a:r>
            </a:p>
          </p:txBody>
        </p:sp>
        <p:sp>
          <p:nvSpPr>
            <p:cNvPr id="63" name="Freeform 63"/>
            <p:cNvSpPr/>
            <p:nvPr/>
          </p:nvSpPr>
          <p:spPr>
            <a:xfrm>
              <a:off x="5667375" y="4810125"/>
              <a:ext cx="2143125" cy="333375"/>
            </a:xfrm>
            <a:custGeom>
              <a:avLst/>
              <a:gdLst/>
              <a:ahLst/>
              <a:cxnLst/>
              <a:rect l="l" t="t" r="r" b="b"/>
              <a:pathLst>
                <a:path w="2143125" h="333375">
                  <a:moveTo>
                    <a:pt x="2143125" y="0"/>
                  </a:moveTo>
                  <a:lnTo>
                    <a:pt x="1428750" y="0"/>
                  </a:lnTo>
                  <a:lnTo>
                    <a:pt x="1428750" y="333375"/>
                  </a:lnTo>
                  <a:lnTo>
                    <a:pt x="285750" y="333375"/>
                  </a:lnTo>
                  <a:lnTo>
                    <a:pt x="285750" y="0"/>
                  </a:lnTo>
                  <a:lnTo>
                    <a:pt x="0" y="0"/>
                  </a:lnTo>
                </a:path>
              </a:pathLst>
            </a:custGeom>
            <a:noFill/>
            <a:ln w="23812">
              <a:solidFill>
                <a:srgbClr val="D95C5C"/>
              </a:solidFill>
              <a:custDash>
                <a:ds d="280000" sp="200000"/>
              </a:custDash>
              <a:tailEnd type="triangle" w="lg" len="lg"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138988" y="5217795"/>
              <a:ext cx="14089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D95C5C"/>
                  </a:solidFill>
                  <a:latin typeface="Arial"/>
                  <a:ea typeface="Microsoft YaHei"/>
                  <a:cs typeface="Arial"/>
                </a:rPr>
                <a:t>否：形成风险清单并升级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571500" y="5619750"/>
            <a:ext cx="10858500" cy="666750"/>
            <a:chOff x="571500" y="5619750"/>
            <a:chExt cx="10858500" cy="666750"/>
          </a:xfrm>
        </p:grpSpPr>
        <p:sp>
          <p:nvSpPr>
            <p:cNvPr id="66" name="Rectangle 66"/>
            <p:cNvSpPr/>
            <p:nvPr/>
          </p:nvSpPr>
          <p:spPr>
            <a:xfrm>
              <a:off x="571500" y="5619750"/>
              <a:ext cx="10858500" cy="6667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DCE4EE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33247" y="5781199"/>
              <a:ext cx="11124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每一步都留下什么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2381250" y="5743575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EAF0FF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2597975" y="5847874"/>
              <a:ext cx="9952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订单 / 需求记录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4000500" y="5743575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EAF7F4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4434288" y="5847874"/>
              <a:ext cx="561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评审结论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5619750" y="5743575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F2ECFF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836475" y="5847874"/>
              <a:ext cx="9952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受控版本 / 任务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7239000" y="5743575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672788" y="5847874"/>
              <a:ext cx="561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交付证据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8858250" y="5743575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FFF7DF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212793" y="5847874"/>
              <a:ext cx="7196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关闭 / 复盘</a:t>
              </a:r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566738" y="6475095"/>
            <a:ext cx="399562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图例：实线＝正常路径 虚线＝异常升级 橙色＝授权节点 底部＝管理证据链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订单与变更控制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2348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口头变化必须转化为受控的评审、批准和版本更新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需求登记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影响评估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53520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批准/拒绝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更新版本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旧版隔离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验证关闭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生产计划与任务下达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46748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开工前确认产品、资源、交期和受控版本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订单输入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产能确认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383186" y="2752725"/>
            <a:ext cx="152062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材料/模具/设备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923854" y="300037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确认</a:t>
            </a:r>
          </a:p>
        </p:txBody>
      </p:sp>
      <p:sp>
        <p:nvSpPr>
          <p:cNvPr id="21" name="Line 21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任务发布</a:t>
            </a:r>
          </a:p>
        </p:txBody>
      </p:sp>
      <p:sp>
        <p:nvSpPr>
          <p:cNvPr id="25" name="Line 25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进度反馈</a:t>
            </a:r>
          </a:p>
        </p:txBody>
      </p:sp>
      <p:sp>
        <p:nvSpPr>
          <p:cNvPr id="29" name="Rectangle 29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786176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交付风险升级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3" name="Rectangle 33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4" name="Image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5" name="TextBox 3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57022" y="457200"/>
            <a:ext cx="10872978" cy="988028"/>
            <a:chOff x="557022" y="457200"/>
            <a:chExt cx="10872978" cy="988028"/>
          </a:xfrm>
        </p:grpSpPr>
        <p:sp>
          <p:nvSpPr>
            <p:cNvPr id="4" name="TextBox 4"/>
            <p:cNvSpPr txBox="1"/>
            <p:nvPr/>
          </p:nvSpPr>
          <p:spPr>
            <a:xfrm>
              <a:off x="566166" y="477202"/>
              <a:ext cx="31549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16 / GOVERNANCE · SEGREGATION OF DUTIES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57022" y="721042"/>
              <a:ext cx="687741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采购到付款：职责分离，资料相互核对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5023" y="1195864"/>
              <a:ext cx="44756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采购申请、下单、收货、对账和付款不由同一角色单独完成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0001250" y="457200"/>
              <a:ext cx="1428750" cy="381000"/>
            </a:xfrm>
            <a:prstGeom prst="roundRect">
              <a:avLst>
                <a:gd name="adj" fmla="val 5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65035" y="591502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职责分离示例</a:t>
              </a:r>
            </a:p>
          </p:txBody>
        </p:sp>
      </p:grpSp>
      <p:sp>
        <p:nvSpPr>
          <p:cNvPr id="10" name="Line 10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23" name="Group 23"/>
          <p:cNvGrpSpPr/>
          <p:nvPr/>
        </p:nvGrpSpPr>
        <p:grpSpPr>
          <a:xfrm>
            <a:off x="571500" y="1809750"/>
            <a:ext cx="1428750" cy="3124200"/>
            <a:chOff x="571500" y="1809750"/>
            <a:chExt cx="1428750" cy="3124200"/>
          </a:xfrm>
        </p:grpSpPr>
        <p:sp>
          <p:nvSpPr>
            <p:cNvPr id="11" name="Rectangle 11"/>
            <p:cNvSpPr/>
            <p:nvPr/>
          </p:nvSpPr>
          <p:spPr>
            <a:xfrm>
              <a:off x="571500" y="1809750"/>
              <a:ext cx="1428750" cy="781050"/>
            </a:xfrm>
            <a:prstGeom prst="roundRect">
              <a:avLst>
                <a:gd name="adj" fmla="val 14634"/>
              </a:avLst>
            </a:prstGeom>
            <a:solidFill>
              <a:srgbClr val="EAF0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62120" y="2012156"/>
              <a:ext cx="6475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需求部门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78218" y="227457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提出与验收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71500" y="2590800"/>
              <a:ext cx="1428750" cy="781050"/>
            </a:xfrm>
            <a:prstGeom prst="roundRect">
              <a:avLst>
                <a:gd name="adj" fmla="val 14634"/>
              </a:avLst>
            </a:prstGeom>
            <a:solidFill>
              <a:srgbClr val="EAF7F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70684" y="2793206"/>
              <a:ext cx="8303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采购 / 营运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78218" y="305562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询价与下单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71500" y="3371850"/>
              <a:ext cx="1428750" cy="781050"/>
            </a:xfrm>
            <a:prstGeom prst="roundRect">
              <a:avLst>
                <a:gd name="adj" fmla="val 14634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0684" y="3574256"/>
              <a:ext cx="8303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仓储 / 收货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78218" y="383667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数量与状态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71500" y="4152900"/>
              <a:ext cx="1428750" cy="781050"/>
            </a:xfrm>
            <a:prstGeom prst="roundRect">
              <a:avLst>
                <a:gd name="adj" fmla="val 14634"/>
              </a:avLst>
            </a:prstGeom>
            <a:solidFill>
              <a:srgbClr val="F2EC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91174" y="4355306"/>
              <a:ext cx="9894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财务 / 授权人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78218" y="461772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核对与付款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190750" y="1809750"/>
            <a:ext cx="9239250" cy="3124200"/>
            <a:chOff x="2190750" y="1809750"/>
            <a:chExt cx="9239250" cy="3124200"/>
          </a:xfrm>
        </p:grpSpPr>
        <p:sp>
          <p:nvSpPr>
            <p:cNvPr id="24" name="Rectangle 24"/>
            <p:cNvSpPr/>
            <p:nvPr/>
          </p:nvSpPr>
          <p:spPr>
            <a:xfrm>
              <a:off x="2190750" y="1809750"/>
              <a:ext cx="9239250" cy="781050"/>
            </a:xfrm>
            <a:prstGeom prst="rect">
              <a:avLst/>
            </a:prstGeom>
            <a:solidFill>
              <a:srgbClr val="FBFCFE"/>
            </a:solidFill>
            <a:ln w="9525">
              <a:solidFill>
                <a:srgbClr val="E1E7F0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190750" y="2590800"/>
              <a:ext cx="9239250" cy="781050"/>
            </a:xfrm>
            <a:prstGeom prst="rect">
              <a:avLst/>
            </a:prstGeom>
            <a:solidFill>
              <a:srgbClr val="F8FCFB"/>
            </a:solidFill>
            <a:ln w="9525">
              <a:solidFill>
                <a:srgbClr val="E1E7F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190750" y="3371850"/>
              <a:ext cx="9239250" cy="781050"/>
            </a:xfrm>
            <a:prstGeom prst="rect">
              <a:avLst/>
            </a:prstGeom>
            <a:solidFill>
              <a:srgbClr val="FFFBF7"/>
            </a:solidFill>
            <a:ln w="9525">
              <a:solidFill>
                <a:srgbClr val="E1E7F0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190750" y="4152900"/>
              <a:ext cx="9239250" cy="781050"/>
            </a:xfrm>
            <a:prstGeom prst="rect">
              <a:avLst/>
            </a:prstGeom>
            <a:solidFill>
              <a:srgbClr val="FBF9FF"/>
            </a:solidFill>
            <a:ln w="9525">
              <a:solidFill>
                <a:srgbClr val="E1E7F0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2190750" y="1809750"/>
              <a:ext cx="9525" cy="3124200"/>
            </a:xfrm>
            <a:custGeom>
              <a:avLst/>
              <a:gdLst/>
              <a:ahLst/>
              <a:cxnLst/>
              <a:rect l="l" t="t" r="r" b="b"/>
              <a:pathLst>
                <a:path w="9525" h="3124200">
                  <a:moveTo>
                    <a:pt x="0" y="0"/>
                  </a:moveTo>
                  <a:lnTo>
                    <a:pt x="0" y="3124200"/>
                  </a:lnTo>
                </a:path>
              </a:pathLst>
            </a:custGeom>
            <a:noFill/>
            <a:ln w="19050">
              <a:solidFill>
                <a:srgbClr val="D5DDE8"/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3381375" y="2200275"/>
            <a:ext cx="6334125" cy="2343150"/>
            <a:chOff x="3381375" y="2200275"/>
            <a:chExt cx="6334125" cy="2343150"/>
          </a:xfrm>
        </p:grpSpPr>
        <p:sp>
          <p:nvSpPr>
            <p:cNvPr id="30" name="Freeform 30"/>
            <p:cNvSpPr/>
            <p:nvPr/>
          </p:nvSpPr>
          <p:spPr>
            <a:xfrm>
              <a:off x="3381375" y="2200275"/>
              <a:ext cx="619125" cy="781050"/>
            </a:xfrm>
            <a:custGeom>
              <a:avLst/>
              <a:gdLst/>
              <a:ahLst/>
              <a:cxnLst/>
              <a:rect l="l" t="t" r="r" b="b"/>
              <a:pathLst>
                <a:path w="619125" h="781050">
                  <a:moveTo>
                    <a:pt x="0" y="0"/>
                  </a:moveTo>
                  <a:lnTo>
                    <a:pt x="333375" y="0"/>
                  </a:lnTo>
                  <a:lnTo>
                    <a:pt x="333375" y="781050"/>
                  </a:lnTo>
                  <a:lnTo>
                    <a:pt x="619125" y="7810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5286375" y="2981325"/>
              <a:ext cx="619125" cy="781050"/>
            </a:xfrm>
            <a:custGeom>
              <a:avLst/>
              <a:gdLst/>
              <a:ahLst/>
              <a:cxnLst/>
              <a:rect l="l" t="t" r="r" b="b"/>
              <a:pathLst>
                <a:path w="619125" h="781050">
                  <a:moveTo>
                    <a:pt x="0" y="0"/>
                  </a:moveTo>
                  <a:lnTo>
                    <a:pt x="333375" y="0"/>
                  </a:lnTo>
                  <a:lnTo>
                    <a:pt x="333375" y="781050"/>
                  </a:lnTo>
                  <a:lnTo>
                    <a:pt x="619125" y="7810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7191375" y="3762375"/>
              <a:ext cx="619125" cy="781050"/>
            </a:xfrm>
            <a:custGeom>
              <a:avLst/>
              <a:gdLst/>
              <a:ahLst/>
              <a:cxnLst/>
              <a:rect l="l" t="t" r="r" b="b"/>
              <a:pathLst>
                <a:path w="619125" h="781050">
                  <a:moveTo>
                    <a:pt x="0" y="0"/>
                  </a:moveTo>
                  <a:lnTo>
                    <a:pt x="333375" y="0"/>
                  </a:lnTo>
                  <a:lnTo>
                    <a:pt x="333375" y="781050"/>
                  </a:lnTo>
                  <a:lnTo>
                    <a:pt x="619125" y="7810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096375" y="2200275"/>
              <a:ext cx="619125" cy="2343150"/>
            </a:xfrm>
            <a:custGeom>
              <a:avLst/>
              <a:gdLst/>
              <a:ahLst/>
              <a:cxnLst/>
              <a:rect l="l" t="t" r="r" b="b"/>
              <a:pathLst>
                <a:path w="619125" h="2343150">
                  <a:moveTo>
                    <a:pt x="0" y="2343150"/>
                  </a:moveTo>
                  <a:lnTo>
                    <a:pt x="333375" y="2343150"/>
                  </a:lnTo>
                  <a:lnTo>
                    <a:pt x="333375" y="0"/>
                  </a:lnTo>
                  <a:lnTo>
                    <a:pt x="619125" y="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2381250" y="1971675"/>
            <a:ext cx="8620125" cy="2800350"/>
            <a:chOff x="2381250" y="1971675"/>
            <a:chExt cx="8620125" cy="2800350"/>
          </a:xfrm>
        </p:grpSpPr>
        <p:grpSp>
          <p:nvGrpSpPr>
            <p:cNvPr id="38" name="Group 38"/>
            <p:cNvGrpSpPr/>
            <p:nvPr/>
          </p:nvGrpSpPr>
          <p:grpSpPr>
            <a:xfrm>
              <a:off x="2381250" y="1971675"/>
              <a:ext cx="1000125" cy="457200"/>
              <a:chOff x="2381250" y="1971675"/>
              <a:chExt cx="100012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35" name="Rectangle 35"/>
              <p:cNvSpPr/>
              <p:nvPr/>
            </p:nvSpPr>
            <p:spPr>
              <a:xfrm>
                <a:off x="2381250" y="1971675"/>
                <a:ext cx="1000125" cy="457200"/>
              </a:xfrm>
              <a:prstGeom prst="roundRect">
                <a:avLst>
                  <a:gd name="adj" fmla="val 20833"/>
                </a:avLst>
              </a:pr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2595963" y="2066449"/>
                <a:ext cx="56117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采购申请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2594134" y="2254091"/>
                <a:ext cx="564832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需求与规格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4000500" y="2752725"/>
              <a:ext cx="1285875" cy="457200"/>
              <a:chOff x="4000500" y="2752725"/>
              <a:chExt cx="128587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39" name="Rectangle 39"/>
              <p:cNvSpPr/>
              <p:nvPr/>
            </p:nvSpPr>
            <p:spPr>
              <a:xfrm>
                <a:off x="4000500" y="2752725"/>
                <a:ext cx="1285875" cy="457200"/>
              </a:xfrm>
              <a:prstGeom prst="roundRect">
                <a:avLst>
                  <a:gd name="adj" fmla="val 20833"/>
                </a:avLst>
              </a:prstGeom>
              <a:solidFill>
                <a:srgbClr val="FFFFFF"/>
              </a:solidFill>
              <a:ln w="19050">
                <a:solidFill>
                  <a:srgbClr val="1C9C8C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4278843" y="2847499"/>
                <a:ext cx="71966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询价 / 下单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300728" y="3035141"/>
                <a:ext cx="675894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供应商与价格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5905500" y="3533775"/>
              <a:ext cx="1285875" cy="457200"/>
              <a:chOff x="5905500" y="3533775"/>
              <a:chExt cx="128587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3" name="Rectangle 43"/>
              <p:cNvSpPr/>
              <p:nvPr/>
            </p:nvSpPr>
            <p:spPr>
              <a:xfrm>
                <a:off x="5905500" y="3533775"/>
                <a:ext cx="1285875" cy="457200"/>
              </a:xfrm>
              <a:prstGeom prst="roundRect">
                <a:avLst>
                  <a:gd name="adj" fmla="val 20833"/>
                </a:avLst>
              </a:prstGeom>
              <a:solidFill>
                <a:srgbClr val="FFFFFF"/>
              </a:solidFill>
              <a:ln w="19050">
                <a:solidFill>
                  <a:srgbClr val="C56A25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6183843" y="3628549"/>
                <a:ext cx="71966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收货 / 入库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261259" y="3816191"/>
                <a:ext cx="564832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数量与状态</a:t>
                </a: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7810500" y="4314825"/>
              <a:ext cx="1285875" cy="457200"/>
              <a:chOff x="7810500" y="4314825"/>
              <a:chExt cx="128587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7" name="Rectangle 47"/>
              <p:cNvSpPr/>
              <p:nvPr/>
            </p:nvSpPr>
            <p:spPr>
              <a:xfrm>
                <a:off x="7810500" y="4314825"/>
                <a:ext cx="1285875" cy="457200"/>
              </a:xfrm>
              <a:prstGeom prst="roundRect">
                <a:avLst>
                  <a:gd name="adj" fmla="val 20833"/>
                </a:avLst>
              </a:prstGeom>
              <a:solidFill>
                <a:srgbClr val="FFF7DF"/>
              </a:solidFill>
              <a:ln w="19050">
                <a:solidFill>
                  <a:srgbClr val="D79A2B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8168088" y="4409599"/>
                <a:ext cx="56117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付款审批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166259" y="4597241"/>
                <a:ext cx="564832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按授权执行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9715500" y="1971675"/>
              <a:ext cx="1285875" cy="457200"/>
              <a:chOff x="9715500" y="1971675"/>
              <a:chExt cx="128587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51" name="Rectangle 51"/>
              <p:cNvSpPr/>
              <p:nvPr/>
            </p:nvSpPr>
            <p:spPr>
              <a:xfrm>
                <a:off x="9715500" y="1971675"/>
                <a:ext cx="1285875" cy="457200"/>
              </a:xfrm>
              <a:prstGeom prst="roundRect">
                <a:avLst>
                  <a:gd name="adj" fmla="val 20833"/>
                </a:avLst>
              </a:pr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9993843" y="2066449"/>
                <a:ext cx="71966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对账 / 关闭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10126790" y="2254091"/>
                <a:ext cx="453771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资料归档</a:t>
                </a:r>
              </a:p>
            </p:txBody>
          </p:sp>
        </p:grpSp>
      </p:grpSp>
      <p:grpSp>
        <p:nvGrpSpPr>
          <p:cNvPr id="66" name="Group 66"/>
          <p:cNvGrpSpPr/>
          <p:nvPr/>
        </p:nvGrpSpPr>
        <p:grpSpPr>
          <a:xfrm>
            <a:off x="571500" y="3990975"/>
            <a:ext cx="10858500" cy="2276475"/>
            <a:chOff x="571500" y="3990975"/>
            <a:chExt cx="10858500" cy="2276475"/>
          </a:xfrm>
        </p:grpSpPr>
        <p:sp>
          <p:nvSpPr>
            <p:cNvPr id="56" name="Freeform 56"/>
            <p:cNvSpPr/>
            <p:nvPr/>
          </p:nvSpPr>
          <p:spPr>
            <a:xfrm>
              <a:off x="4238625" y="3990975"/>
              <a:ext cx="2305050" cy="1228725"/>
            </a:xfrm>
            <a:custGeom>
              <a:avLst/>
              <a:gdLst/>
              <a:ahLst/>
              <a:cxnLst/>
              <a:rect l="l" t="t" r="r" b="b"/>
              <a:pathLst>
                <a:path w="2305050" h="1228725">
                  <a:moveTo>
                    <a:pt x="2305050" y="0"/>
                  </a:moveTo>
                  <a:lnTo>
                    <a:pt x="2305050" y="1228725"/>
                  </a:lnTo>
                  <a:lnTo>
                    <a:pt x="0" y="1228725"/>
                  </a:lnTo>
                  <a:lnTo>
                    <a:pt x="0" y="1228725"/>
                  </a:lnTo>
                </a:path>
              </a:pathLst>
            </a:custGeom>
            <a:noFill/>
            <a:ln w="23812">
              <a:solidFill>
                <a:srgbClr val="D95C5C"/>
              </a:solidFill>
              <a:custDash>
                <a:ds d="280000" sp="200000"/>
              </a:custDash>
              <a:tailEnd type="triangle" w="lg" len="lg"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757738" y="5313045"/>
              <a:ext cx="271922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D95C5C"/>
                  </a:solidFill>
                  <a:latin typeface="Arial"/>
                  <a:ea typeface="Microsoft YaHei"/>
                  <a:cs typeface="Arial"/>
                </a:rPr>
                <a:t>数量 / 质量 / 价格不一致：暂停付款并退回核对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71500" y="5715000"/>
              <a:ext cx="108585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rgbClr val="DCE4EE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14197" y="5847874"/>
              <a:ext cx="16637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至少形成三类相互核对资料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3381375" y="5829300"/>
              <a:ext cx="1714500" cy="304800"/>
            </a:xfrm>
            <a:prstGeom prst="roundRect">
              <a:avLst>
                <a:gd name="adj" fmla="val 50000"/>
              </a:avLst>
            </a:prstGeom>
            <a:solidFill>
              <a:srgbClr val="EAF0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3779066" y="5932170"/>
              <a:ext cx="9191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申请 / 订单资料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286375" y="5829300"/>
              <a:ext cx="1714500" cy="304800"/>
            </a:xfrm>
            <a:prstGeom prst="roundRect">
              <a:avLst>
                <a:gd name="adj" fmla="val 5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684066" y="5932170"/>
              <a:ext cx="9191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收货 / 入库资料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191375" y="5829300"/>
              <a:ext cx="1714500" cy="304800"/>
            </a:xfrm>
            <a:prstGeom prst="roundRect">
              <a:avLst>
                <a:gd name="adj" fmla="val 50000"/>
              </a:avLst>
            </a:prstGeom>
            <a:solidFill>
              <a:srgbClr val="F2ECF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589066" y="5932170"/>
              <a:ext cx="9191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发票 / 付款资料</a:t>
              </a:r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566738" y="6494145"/>
            <a:ext cx="584328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图例：实线＝正常路径 红色虚线＝异常退回 橙色/紫色＝受控节点；具体金额与审批权限以正式授权文件为准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317842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17 / QUALITY GOVERNANCE · DECISION FLOW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84890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质量异常与放行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30396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先隔离和判断，再决定处置；交期压力不能替代质量授权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1619250" y="2857500"/>
            <a:ext cx="8953500" cy="9525"/>
          </a:xfrm>
          <a:custGeom>
            <a:avLst/>
            <a:gdLst/>
            <a:ahLst/>
            <a:cxnLst/>
            <a:rect l="l" t="t" r="r" b="b"/>
            <a:pathLst>
              <a:path w="8953500" h="9525">
                <a:moveTo>
                  <a:pt x="0" y="0"/>
                </a:moveTo>
                <a:lnTo>
                  <a:pt x="1238250" y="0"/>
                </a:lnTo>
                <a:moveTo>
                  <a:pt x="2571750" y="0"/>
                </a:moveTo>
                <a:lnTo>
                  <a:pt x="3810000" y="0"/>
                </a:lnTo>
                <a:moveTo>
                  <a:pt x="5143500" y="0"/>
                </a:moveTo>
                <a:lnTo>
                  <a:pt x="6381750" y="0"/>
                </a:lnTo>
                <a:moveTo>
                  <a:pt x="7715250" y="0"/>
                </a:moveTo>
                <a:lnTo>
                  <a:pt x="8953500" y="0"/>
                </a:lnTo>
              </a:path>
            </a:pathLst>
          </a:custGeom>
          <a:noFill/>
          <a:ln w="28575">
            <a:solidFill>
              <a:srgbClr val="8091A5"/>
            </a:solidFill>
            <a:tailEnd type="triangle" w="lg" len="lg"/>
          </a:ln>
        </p:spPr>
      </p:sp>
      <p:sp>
        <p:nvSpPr>
          <p:cNvPr id="9" name="Freeform 9"/>
          <p:cNvSpPr/>
          <p:nvPr/>
        </p:nvSpPr>
        <p:spPr>
          <a:xfrm>
            <a:off x="3714750" y="3429000"/>
            <a:ext cx="5810250" cy="1476375"/>
          </a:xfrm>
          <a:custGeom>
            <a:avLst/>
            <a:gdLst/>
            <a:ahLst/>
            <a:cxnLst/>
            <a:rect l="l" t="t" r="r" b="b"/>
            <a:pathLst>
              <a:path w="5810250" h="1476375">
                <a:moveTo>
                  <a:pt x="2381250" y="0"/>
                </a:moveTo>
                <a:lnTo>
                  <a:pt x="2381250" y="1047750"/>
                </a:lnTo>
                <a:lnTo>
                  <a:pt x="0" y="1047750"/>
                </a:lnTo>
                <a:lnTo>
                  <a:pt x="0" y="1476375"/>
                </a:lnTo>
                <a:moveTo>
                  <a:pt x="5048250" y="0"/>
                </a:moveTo>
                <a:lnTo>
                  <a:pt x="5048250" y="1047750"/>
                </a:lnTo>
                <a:lnTo>
                  <a:pt x="5810250" y="1047750"/>
                </a:lnTo>
                <a:lnTo>
                  <a:pt x="5810250" y="1476375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grpSp>
        <p:nvGrpSpPr>
          <p:cNvPr id="13" name="Group 13"/>
          <p:cNvGrpSpPr/>
          <p:nvPr/>
        </p:nvGrpSpPr>
        <p:grpSpPr>
          <a:xfrm>
            <a:off x="762000" y="2476500"/>
            <a:ext cx="1714500" cy="781050"/>
            <a:chOff x="762000" y="2476500"/>
            <a:chExt cx="1714500" cy="7810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10" name="Rectangle 10"/>
            <p:cNvSpPr/>
            <p:nvPr/>
          </p:nvSpPr>
          <p:spPr>
            <a:xfrm>
              <a:off x="762000" y="2476500"/>
              <a:ext cx="1714500" cy="781050"/>
            </a:xfrm>
            <a:prstGeom prst="roundRect">
              <a:avLst>
                <a:gd name="adj" fmla="val 17073"/>
              </a:avLst>
            </a:pr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11" name="TextBox 11"/>
            <p:cNvSpPr txBox="1"/>
            <p:nvPr/>
          </p:nvSpPr>
          <p:spPr>
            <a:xfrm>
              <a:off x="1187577" y="2647950"/>
              <a:ext cx="863346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发现异常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9591" y="2952274"/>
              <a:ext cx="1099318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现场 / 客诉 / 检验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857500" y="2476500"/>
            <a:ext cx="1714500" cy="781050"/>
            <a:chOff x="2857500" y="2476500"/>
            <a:chExt cx="1714500" cy="7810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14" name="Rectangle 14"/>
            <p:cNvSpPr/>
            <p:nvPr/>
          </p:nvSpPr>
          <p:spPr>
            <a:xfrm>
              <a:off x="2857500" y="2476500"/>
              <a:ext cx="1714500" cy="781050"/>
            </a:xfrm>
            <a:prstGeom prst="roundRect">
              <a:avLst>
                <a:gd name="adj" fmla="val 17073"/>
              </a:avLst>
            </a:pr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15" name="TextBox 15"/>
            <p:cNvSpPr txBox="1"/>
            <p:nvPr/>
          </p:nvSpPr>
          <p:spPr>
            <a:xfrm>
              <a:off x="3177064" y="2647950"/>
              <a:ext cx="1075372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隔离与标识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250406" y="2952274"/>
              <a:ext cx="928688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防止误用、误发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953000" y="2381250"/>
            <a:ext cx="2286000" cy="971550"/>
            <a:chOff x="4953000" y="2381250"/>
            <a:chExt cx="2286000" cy="9715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18" name="Rectangle 18"/>
            <p:cNvSpPr/>
            <p:nvPr/>
          </p:nvSpPr>
          <p:spPr>
            <a:xfrm>
              <a:off x="4953000" y="2381250"/>
              <a:ext cx="2286000" cy="971550"/>
            </a:xfrm>
            <a:prstGeom prst="roundRect">
              <a:avLst>
                <a:gd name="adj" fmla="val 13725"/>
              </a:avLst>
            </a:prstGeom>
            <a:solidFill>
              <a:srgbClr val="F2ECFF"/>
            </a:solidFill>
            <a:ln w="19050">
              <a:solidFill>
                <a:srgbClr val="7657B8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19" name="TextBox 19"/>
            <p:cNvSpPr txBox="1"/>
            <p:nvPr/>
          </p:nvSpPr>
          <p:spPr>
            <a:xfrm>
              <a:off x="5664327" y="2562225"/>
              <a:ext cx="863346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专业判断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369147" y="2876074"/>
              <a:ext cx="1453706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确认影响范围、原因方向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5905500" y="3219450"/>
              <a:ext cx="381000" cy="114300"/>
            </a:xfrm>
            <a:custGeom>
              <a:avLst/>
              <a:gdLst/>
              <a:ahLst/>
              <a:cxnLst/>
              <a:rect l="l" t="t" r="r" b="b"/>
              <a:pathLst>
                <a:path w="381000" h="114300">
                  <a:moveTo>
                    <a:pt x="0" y="0"/>
                  </a:moveTo>
                  <a:lnTo>
                    <a:pt x="190500" y="114300"/>
                  </a:lnTo>
                  <a:lnTo>
                    <a:pt x="381000" y="0"/>
                  </a:lnTo>
                </a:path>
              </a:pathLst>
            </a:custGeom>
            <a:noFill/>
            <a:ln w="9525">
              <a:solidFill>
                <a:srgbClr val="7657B8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</p:grpSp>
      <p:grpSp>
        <p:nvGrpSpPr>
          <p:cNvPr id="26" name="Group 26"/>
          <p:cNvGrpSpPr/>
          <p:nvPr/>
        </p:nvGrpSpPr>
        <p:grpSpPr>
          <a:xfrm>
            <a:off x="8096250" y="2238375"/>
            <a:ext cx="1333500" cy="1238250"/>
            <a:chOff x="8096250" y="2238375"/>
            <a:chExt cx="1333500" cy="12382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23" name="Freeform 23"/>
            <p:cNvSpPr/>
            <p:nvPr/>
          </p:nvSpPr>
          <p:spPr>
            <a:xfrm>
              <a:off x="8096250" y="2238375"/>
              <a:ext cx="1333500" cy="1238250"/>
            </a:xfrm>
            <a:custGeom>
              <a:avLst/>
              <a:gdLst/>
              <a:ahLst/>
              <a:cxnLst/>
              <a:rect l="l" t="t" r="r" b="b"/>
              <a:pathLst>
                <a:path w="1333500" h="1238250">
                  <a:moveTo>
                    <a:pt x="666750" y="0"/>
                  </a:moveTo>
                  <a:lnTo>
                    <a:pt x="1333500" y="619125"/>
                  </a:lnTo>
                  <a:lnTo>
                    <a:pt x="666750" y="1238250"/>
                  </a:lnTo>
                  <a:lnTo>
                    <a:pt x="0" y="619125"/>
                  </a:lnTo>
                  <a:close/>
                </a:path>
              </a:pathLst>
            </a:custGeom>
            <a:solidFill>
              <a:srgbClr val="FFF7DF"/>
            </a:solidFill>
            <a:ln w="19050">
              <a:solidFill>
                <a:srgbClr val="A87519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24" name="TextBox 24"/>
            <p:cNvSpPr txBox="1"/>
            <p:nvPr/>
          </p:nvSpPr>
          <p:spPr>
            <a:xfrm>
              <a:off x="8305967" y="2681764"/>
              <a:ext cx="914067" cy="2493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805B12"/>
                  </a:solidFill>
                  <a:latin typeface="Arial"/>
                  <a:ea typeface="Microsoft YaHei"/>
                  <a:cs typeface="Arial"/>
                </a:rPr>
                <a:t>可否放行？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94764" y="2931795"/>
              <a:ext cx="736473" cy="176212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依据受控标准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001250" y="2476500"/>
            <a:ext cx="1428750" cy="781050"/>
            <a:chOff x="10001250" y="2476500"/>
            <a:chExt cx="1428750" cy="7810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27" name="Rectangle 27"/>
            <p:cNvSpPr/>
            <p:nvPr/>
          </p:nvSpPr>
          <p:spPr>
            <a:xfrm>
              <a:off x="10001250" y="2476500"/>
              <a:ext cx="1428750" cy="781050"/>
            </a:xfrm>
            <a:prstGeom prst="roundRect">
              <a:avLst>
                <a:gd name="adj" fmla="val 17073"/>
              </a:avLst>
            </a:pr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28" name="TextBox 28"/>
            <p:cNvSpPr txBox="1"/>
            <p:nvPr/>
          </p:nvSpPr>
          <p:spPr>
            <a:xfrm>
              <a:off x="10283952" y="2647950"/>
              <a:ext cx="863346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验证关闭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120027" y="2952274"/>
              <a:ext cx="1191197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记录结果与复发控制</a:t>
              </a:r>
            </a:p>
          </p:txBody>
        </p:sp>
      </p:grpSp>
      <p:sp>
        <p:nvSpPr>
          <p:cNvPr id="31" name="Rectangle 31"/>
          <p:cNvSpPr/>
          <p:nvPr/>
        </p:nvSpPr>
        <p:spPr>
          <a:xfrm>
            <a:off x="2190750" y="4762500"/>
            <a:ext cx="3048000" cy="666750"/>
          </a:xfrm>
          <a:prstGeom prst="roundRect">
            <a:avLst>
              <a:gd name="adj" fmla="val 20000"/>
            </a:avLst>
          </a:prstGeom>
          <a:solidFill>
            <a:srgbClr val="FFF0F0"/>
          </a:solidFill>
          <a:ln w="19050">
            <a:solidFill>
              <a:srgbClr val="D95C5C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2849185" y="4902518"/>
            <a:ext cx="173113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否：继续隔离并升级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856643" y="5162074"/>
            <a:ext cx="171621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形成异常单、风险和处置责任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810500" y="4762500"/>
            <a:ext cx="3429000" cy="666750"/>
          </a:xfrm>
          <a:prstGeom prst="roundRect">
            <a:avLst>
              <a:gd name="adj" fmla="val 20000"/>
            </a:avLst>
          </a:prstGeom>
          <a:solidFill>
            <a:srgbClr val="FFF0F0"/>
          </a:solidFill>
          <a:ln w="19050">
            <a:solidFill>
              <a:srgbClr val="D95C5C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8468611" y="4902518"/>
            <a:ext cx="211277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授权不清：不得自行放行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38756" y="5162074"/>
            <a:ext cx="237248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提交有权负责人确认（权限待公司确认）</a:t>
            </a:r>
          </a:p>
        </p:txBody>
      </p:sp>
      <p:sp>
        <p:nvSpPr>
          <p:cNvPr id="37" name="Rectangle 37"/>
          <p:cNvSpPr/>
          <p:nvPr/>
        </p:nvSpPr>
        <p:spPr>
          <a:xfrm>
            <a:off x="952500" y="5905500"/>
            <a:ext cx="102870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3088785" y="6050756"/>
            <a:ext cx="601443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证据：异常记录 · 隔离标识 · 判断依据 · 处置批准 · 验证结果 · 客户沟通（如适用）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66738" y="6494145"/>
            <a:ext cx="456506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实线＝正常控制路径 虚线红线＝拒绝、隔离或升级 放行最终权限以正式授权文件为准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客诉与纠正措施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客户问题必须有统一入口、责任人、时限和验证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接收分级</a:t>
            </a:r>
          </a:p>
        </p:txBody>
      </p:sp>
      <p:sp>
        <p:nvSpPr>
          <p:cNvPr id="12" name="Line 12"/>
          <p:cNvSpPr/>
          <p:nvPr/>
        </p:nvSpPr>
        <p:spPr>
          <a:xfrm>
            <a:off x="317182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3145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0123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6925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临时措施</a:t>
            </a:r>
          </a:p>
        </p:txBody>
      </p:sp>
      <p:sp>
        <p:nvSpPr>
          <p:cNvPr id="16" name="Line 16"/>
          <p:cNvSpPr/>
          <p:nvPr/>
        </p:nvSpPr>
        <p:spPr>
          <a:xfrm>
            <a:off x="467677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38195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45173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1974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事实调查</a:t>
            </a:r>
          </a:p>
        </p:txBody>
      </p:sp>
      <p:sp>
        <p:nvSpPr>
          <p:cNvPr id="20" name="Line 20"/>
          <p:cNvSpPr/>
          <p:nvPr/>
        </p:nvSpPr>
        <p:spPr>
          <a:xfrm>
            <a:off x="618172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53244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022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024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原因分析</a:t>
            </a:r>
          </a:p>
        </p:txBody>
      </p:sp>
      <p:sp>
        <p:nvSpPr>
          <p:cNvPr id="24" name="Line 24"/>
          <p:cNvSpPr/>
          <p:nvPr/>
        </p:nvSpPr>
        <p:spPr>
          <a:xfrm>
            <a:off x="768667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68294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75272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4194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改善</a:t>
            </a:r>
          </a:p>
        </p:txBody>
      </p:sp>
      <p:sp>
        <p:nvSpPr>
          <p:cNvPr id="28" name="Line 28"/>
          <p:cNvSpPr/>
          <p:nvPr/>
        </p:nvSpPr>
        <p:spPr>
          <a:xfrm>
            <a:off x="919162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83343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90321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7123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效果验证</a:t>
            </a:r>
          </a:p>
        </p:txBody>
      </p:sp>
      <p:sp>
        <p:nvSpPr>
          <p:cNvPr id="32" name="Rectangle 32"/>
          <p:cNvSpPr/>
          <p:nvPr/>
        </p:nvSpPr>
        <p:spPr>
          <a:xfrm>
            <a:off x="98393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5371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2172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客户回复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6" name="Rectangle 36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7" name="Imag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8" name="TextBox 38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427101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模具、设备与关键资源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6184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治理层规定状态、责任、批准和履历，不规定维修动作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9270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需求/异常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状态评估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0581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方案与资源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367939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完成后验证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024051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恢复使用批准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履历更新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20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跨部门交接标准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8511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部门协同的最小单元是完整输入和可验证输出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输入完整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责任明确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期限清楚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状态可见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300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输出可验证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892189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异常可升级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21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文件编制与版本控制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8511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承诺、图纸、制度和流程必须对应到受控版本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96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起草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617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评审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2385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批准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发布培训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执行记录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727868" y="2752725"/>
            <a:ext cx="140401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复审修订/作废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记录与档案生命周期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46748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记录证明谁在何时依据什么作出什么结果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96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形成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617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审核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编码归档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权限保存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检索借阅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到期处置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23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人员能力与岗位授权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25406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治理只规定能力、授权、替代和离岗回收，不展开招聘SOP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96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培训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能力确认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上岗授权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权限维护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77770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复训/调岗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离职交接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客户资料与信息权限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4266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最小权限、使用留痕和离岗回收保护客户与公司资料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资料分级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权限申请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2385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审批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使用留痕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481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回收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680162" y="2752725"/>
            <a:ext cx="14994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泄露上报与复盘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经营会议与管理闭环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会议以决定、责任、期限和关闭证据为完成标准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数据输入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议题筛选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管理决策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15645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责任/期限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跟踪验证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升级归档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管理指标看板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2756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管理层看趋势、风险和需要决策的事项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交付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17595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采购/库存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17595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现金/成本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能力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整改闭环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27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风险登记与升级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6593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风险管理嵌入经营决策，不是单独罗列问题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识别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评价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78158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责任人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预警阈值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应对措施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升级与关闭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229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安全、环保与应急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2348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责任不能全部转移给行政，现场和管理层都要承接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日常检查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风险发现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现场处置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逐级上报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责任调查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整改验证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内部检查与管理评审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6593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按过程检查治理是否有效，不只按部门检查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过程目标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责任权限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记录证据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指标趋势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300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风险与整改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管理评审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30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不符合项与整改关闭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整改必须有原因、措施、期限、验证和复发控制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96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617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分级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817840" y="2752725"/>
            <a:ext cx="6513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责任人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85979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措施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效果验证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833881" y="2752725"/>
            <a:ext cx="119198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关闭/再升级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348422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31 / CONTINUOUS IMPROVEMENT · CLOSED LOOP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668006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PDCA持续改进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99052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文件的价值不是增加表单，而是让问题不重复、让过程能力可提升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3254375" y="2047875"/>
            <a:ext cx="5683250" cy="2905125"/>
          </a:xfrm>
          <a:custGeom>
            <a:avLst/>
            <a:gdLst/>
            <a:ahLst/>
            <a:cxnLst/>
            <a:rect l="l" t="t" r="r" b="b"/>
            <a:pathLst>
              <a:path w="5683250" h="2905125">
                <a:moveTo>
                  <a:pt x="412750" y="714375"/>
                </a:moveTo>
                <a:cubicBezTo>
                  <a:pt x="1143000" y="174625"/>
                  <a:pt x="1952625" y="0"/>
                  <a:pt x="2841625" y="190500"/>
                </a:cubicBezTo>
                <a:cubicBezTo>
                  <a:pt x="3730625" y="0"/>
                  <a:pt x="4540250" y="174625"/>
                  <a:pt x="5270500" y="714375"/>
                </a:cubicBezTo>
                <a:cubicBezTo>
                  <a:pt x="5683250" y="1158875"/>
                  <a:pt x="5683250" y="1651000"/>
                  <a:pt x="5270500" y="2190750"/>
                </a:cubicBezTo>
                <a:cubicBezTo>
                  <a:pt x="4540250" y="2730500"/>
                  <a:pt x="3730625" y="2905125"/>
                  <a:pt x="2841625" y="2714625"/>
                </a:cubicBezTo>
                <a:cubicBezTo>
                  <a:pt x="1952625" y="2905125"/>
                  <a:pt x="1143000" y="2730500"/>
                  <a:pt x="412750" y="2190750"/>
                </a:cubicBezTo>
                <a:cubicBezTo>
                  <a:pt x="0" y="1651000"/>
                  <a:pt x="0" y="1158875"/>
                  <a:pt x="412750" y="714375"/>
                </a:cubicBezTo>
              </a:path>
            </a:pathLst>
          </a:custGeom>
          <a:noFill/>
          <a:ln w="76200">
            <a:solidFill>
              <a:srgbClr val="1C9C8C"/>
            </a:solidFill>
            <a:tailEnd type="triangle" w="lg" len="lg"/>
          </a:ln>
        </p:spPr>
      </p:sp>
      <p:grpSp>
        <p:nvGrpSpPr>
          <p:cNvPr id="12" name="Group 12"/>
          <p:cNvGrpSpPr/>
          <p:nvPr/>
        </p:nvGrpSpPr>
        <p:grpSpPr>
          <a:xfrm>
            <a:off x="1047750" y="2667000"/>
            <a:ext cx="2333625" cy="1066800"/>
            <a:chOff x="1047750" y="2667000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9" name="Rectangle 9"/>
            <p:cNvSpPr/>
            <p:nvPr/>
          </p:nvSpPr>
          <p:spPr>
            <a:xfrm>
              <a:off x="1047750" y="2667000"/>
              <a:ext cx="2333625" cy="1066800"/>
            </a:xfrm>
            <a:prstGeom prst="roundRect">
              <a:avLst>
                <a:gd name="adj" fmla="val 16071"/>
              </a:avLst>
            </a:pr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0" name="TextBox 10"/>
            <p:cNvSpPr txBox="1"/>
            <p:nvPr/>
          </p:nvSpPr>
          <p:spPr>
            <a:xfrm>
              <a:off x="1904939" y="2872740"/>
              <a:ext cx="609722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PLAN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37048" y="3231356"/>
              <a:ext cx="1745504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目标 · 风险 · 责任 · 资源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048125" y="1857375"/>
            <a:ext cx="2333625" cy="1066800"/>
            <a:chOff x="4048125" y="1857375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3" name="Rectangle 13"/>
            <p:cNvSpPr/>
            <p:nvPr/>
          </p:nvSpPr>
          <p:spPr>
            <a:xfrm>
              <a:off x="4048125" y="1857375"/>
              <a:ext cx="2333625" cy="1066800"/>
            </a:xfrm>
            <a:prstGeom prst="roundRect">
              <a:avLst>
                <a:gd name="adj" fmla="val 16071"/>
              </a:avLst>
            </a:pr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4" name="TextBox 14"/>
            <p:cNvSpPr txBox="1"/>
            <p:nvPr/>
          </p:nvSpPr>
          <p:spPr>
            <a:xfrm>
              <a:off x="5026289" y="2063115"/>
              <a:ext cx="367772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DO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47222" y="2421731"/>
              <a:ext cx="152590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按受控版本执行并留痕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191375" y="2667000"/>
            <a:ext cx="2333625" cy="1066800"/>
            <a:chOff x="7191375" y="2667000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7" name="Rectangle 17"/>
            <p:cNvSpPr/>
            <p:nvPr/>
          </p:nvSpPr>
          <p:spPr>
            <a:xfrm>
              <a:off x="7191375" y="2667000"/>
              <a:ext cx="2333625" cy="1066800"/>
            </a:xfrm>
            <a:prstGeom prst="roundRect">
              <a:avLst>
                <a:gd name="adj" fmla="val 16071"/>
              </a:avLst>
            </a:prstGeom>
            <a:solidFill>
              <a:srgbClr val="F2ECFF"/>
            </a:solidFill>
            <a:ln w="19050">
              <a:solidFill>
                <a:srgbClr val="7657B8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8" name="TextBox 18"/>
            <p:cNvSpPr txBox="1"/>
            <p:nvPr/>
          </p:nvSpPr>
          <p:spPr>
            <a:xfrm>
              <a:off x="7974635" y="2872740"/>
              <a:ext cx="757580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CHECK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80673" y="3231356"/>
              <a:ext cx="1745504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数据 · 结果 · 偏差 · 评审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048125" y="4238625"/>
            <a:ext cx="2333625" cy="1066800"/>
            <a:chOff x="4048125" y="4238625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21" name="Rectangle 21"/>
            <p:cNvSpPr/>
            <p:nvPr/>
          </p:nvSpPr>
          <p:spPr>
            <a:xfrm>
              <a:off x="4048125" y="4238625"/>
              <a:ext cx="2333625" cy="1066800"/>
            </a:xfrm>
            <a:prstGeom prst="roundRect">
              <a:avLst>
                <a:gd name="adj" fmla="val 16071"/>
              </a:avLst>
            </a:prstGeom>
            <a:solidFill>
              <a:srgbClr val="FFF2E7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22" name="TextBox 22"/>
            <p:cNvSpPr txBox="1"/>
            <p:nvPr/>
          </p:nvSpPr>
          <p:spPr>
            <a:xfrm>
              <a:off x="4979243" y="4444365"/>
              <a:ext cx="461863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ACT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24505" y="4802981"/>
              <a:ext cx="1571339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纠正 · 标准化 · 再授权</a:t>
              </a:r>
            </a:p>
          </p:txBody>
        </p:sp>
      </p:grpSp>
      <p:sp>
        <p:nvSpPr>
          <p:cNvPr id="25" name="Ellipse 25"/>
          <p:cNvSpPr/>
          <p:nvPr/>
        </p:nvSpPr>
        <p:spPr>
          <a:xfrm>
            <a:off x="5372100" y="2705100"/>
            <a:ext cx="1447800" cy="1447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5707494" y="31880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管理闭环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762911" y="3485674"/>
            <a:ext cx="66617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决策有依据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906000" y="2190750"/>
            <a:ext cx="1428750" cy="257175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275037" y="24136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闭环证据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61664" y="2839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目标与风险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332339" y="322040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执行记录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261664" y="3601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数据与评审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261664" y="3982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纠正与验证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261664" y="4363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标准化结果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65785" y="6069806"/>
            <a:ext cx="557712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适用场景：订单交付、质量异常、供应商表现、内部检查、客户投诉和管理评审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66738" y="6494145"/>
            <a:ext cx="397390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闭环不是单次改善报告；Act 的结果必须回到下一轮 Plan，形成受控更新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592525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部门协同RACI示例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6593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先用关键事项校准责任，再扩展到完整矩阵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订单评审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技术变更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采购验收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质量放行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客诉关闭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付款批准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33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管理体系证据链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8511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制度、流程、表单和记录必须形成可追溯链条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96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要求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617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2385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执行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85979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481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复核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102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改进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3002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34 / IMPLEMENTATION ROADMAP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486343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90天落地路线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361740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先跑通关键责任、授权和记录，再扩展到全公司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428750" y="3429000"/>
            <a:ext cx="9334500" cy="1"/>
          </a:xfrm>
          <a:prstGeom prst="line">
            <a:avLst/>
          </a:prstGeom>
          <a:noFill/>
          <a:ln w="47625">
            <a:solidFill>
              <a:srgbClr val="9AA9BA"/>
            </a:solidFill>
            <a:tailEnd type="triangle" w="lg" len="lg"/>
          </a:ln>
        </p:spPr>
      </p:sp>
      <p:sp>
        <p:nvSpPr>
          <p:cNvPr id="9" name="Ellipse 9"/>
          <p:cNvSpPr/>
          <p:nvPr/>
        </p:nvSpPr>
        <p:spPr>
          <a:xfrm>
            <a:off x="1638300" y="3257550"/>
            <a:ext cx="342900" cy="34290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5924550" y="3257550"/>
            <a:ext cx="342900" cy="342900"/>
          </a:xfrm>
          <a:prstGeom prst="ellipse">
            <a:avLst/>
          </a:prstGeom>
          <a:solidFill>
            <a:srgbClr val="1C9C8C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0210800" y="3257550"/>
            <a:ext cx="342900" cy="342900"/>
          </a:xfrm>
          <a:prstGeom prst="ellipse">
            <a:avLst/>
          </a:prstGeom>
          <a:solidFill>
            <a:srgbClr val="C56A25"/>
          </a:solidFill>
          <a:ln>
            <a:noFill/>
          </a:ln>
        </p:spPr>
      </p:sp>
      <p:grpSp>
        <p:nvGrpSpPr>
          <p:cNvPr id="20" name="Group 20"/>
          <p:cNvGrpSpPr/>
          <p:nvPr/>
        </p:nvGrpSpPr>
        <p:grpSpPr>
          <a:xfrm>
            <a:off x="762000" y="1952625"/>
            <a:ext cx="3143250" cy="2190750"/>
            <a:chOff x="762000" y="1952625"/>
            <a:chExt cx="3143250" cy="219075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2" name="Rectangle 12"/>
            <p:cNvSpPr/>
            <p:nvPr/>
          </p:nvSpPr>
          <p:spPr>
            <a:xfrm>
              <a:off x="762000" y="1952625"/>
              <a:ext cx="3143250" cy="2190750"/>
            </a:xfrm>
            <a:prstGeom prst="roundRect">
              <a:avLst>
                <a:gd name="adj" fmla="val 7826"/>
              </a:avLst>
            </a:prstGeom>
            <a:solidFill>
              <a:srgbClr val="FFFF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3" name="Rectangle 13"/>
            <p:cNvSpPr/>
            <p:nvPr/>
          </p:nvSpPr>
          <p:spPr>
            <a:xfrm>
              <a:off x="762000" y="1952625"/>
              <a:ext cx="3143250" cy="114300"/>
            </a:xfrm>
            <a:prstGeom prst="roundRect">
              <a:avLst>
                <a:gd name="adj" fmla="val 50000"/>
              </a:avLst>
            </a:prstGeom>
            <a:solidFill>
              <a:srgbClr val="2F6BFF"/>
            </a:solidFill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4" name="TextBox 14"/>
            <p:cNvSpPr txBox="1"/>
            <p:nvPr/>
          </p:nvSpPr>
          <p:spPr>
            <a:xfrm>
              <a:off x="1038606" y="2282190"/>
              <a:ext cx="832470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0—30天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0892" y="2635568"/>
              <a:ext cx="967835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确认主数据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42035" y="30218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组织、岗位和授权人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2035" y="32885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关键流程输入与输出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42035" y="3555206"/>
              <a:ext cx="165463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记录、版本和待确认项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2416" y="3839528"/>
              <a:ext cx="1494854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阶段门：责任基线确认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524375" y="1952625"/>
            <a:ext cx="3143250" cy="2190750"/>
            <a:chOff x="4524375" y="1952625"/>
            <a:chExt cx="3143250" cy="219075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21" name="Rectangle 21"/>
            <p:cNvSpPr/>
            <p:nvPr/>
          </p:nvSpPr>
          <p:spPr>
            <a:xfrm>
              <a:off x="4524375" y="1952625"/>
              <a:ext cx="3143250" cy="2190750"/>
            </a:xfrm>
            <a:prstGeom prst="roundRect">
              <a:avLst>
                <a:gd name="adj" fmla="val 7826"/>
              </a:avLst>
            </a:prstGeom>
            <a:solidFill>
              <a:srgbClr val="FFFFFF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22" name="Rectangle 22"/>
            <p:cNvSpPr/>
            <p:nvPr/>
          </p:nvSpPr>
          <p:spPr>
            <a:xfrm>
              <a:off x="4524375" y="1952625"/>
              <a:ext cx="3143250" cy="114300"/>
            </a:xfrm>
            <a:prstGeom prst="roundRect">
              <a:avLst>
                <a:gd name="adj" fmla="val 50000"/>
              </a:avLst>
            </a:prstGeom>
            <a:solidFill>
              <a:srgbClr val="1C9C8C"/>
            </a:solidFill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23" name="TextBox 23"/>
            <p:cNvSpPr txBox="1"/>
            <p:nvPr/>
          </p:nvSpPr>
          <p:spPr>
            <a:xfrm>
              <a:off x="4800981" y="2282190"/>
              <a:ext cx="972407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31—60天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803267" y="2635568"/>
              <a:ext cx="1349483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关键流程试运行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04410" y="3021806"/>
              <a:ext cx="165463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订单、变更、质量异常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804410" y="3288506"/>
              <a:ext cx="165463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采购、交接和会议闭环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04410" y="35552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记录样例与问题复盘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804791" y="3839528"/>
              <a:ext cx="1346435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阶段门：试运行评审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286750" y="1952625"/>
            <a:ext cx="3143250" cy="2190750"/>
            <a:chOff x="8286750" y="1952625"/>
            <a:chExt cx="3143250" cy="219075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30" name="Rectangle 30"/>
            <p:cNvSpPr/>
            <p:nvPr/>
          </p:nvSpPr>
          <p:spPr>
            <a:xfrm>
              <a:off x="8286750" y="1952625"/>
              <a:ext cx="3143250" cy="2190750"/>
            </a:xfrm>
            <a:prstGeom prst="roundRect">
              <a:avLst>
                <a:gd name="adj" fmla="val 7826"/>
              </a:avLst>
            </a:prstGeom>
            <a:solidFill>
              <a:srgbClr val="FFFFFF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31" name="Rectangle 31"/>
            <p:cNvSpPr/>
            <p:nvPr/>
          </p:nvSpPr>
          <p:spPr>
            <a:xfrm>
              <a:off x="8286750" y="1952625"/>
              <a:ext cx="3143250" cy="114300"/>
            </a:xfrm>
            <a:prstGeom prst="roundRect">
              <a:avLst>
                <a:gd name="adj" fmla="val 50000"/>
              </a:avLst>
            </a:prstGeom>
            <a:solidFill>
              <a:srgbClr val="C56A25"/>
            </a:solidFill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32" name="TextBox 32"/>
            <p:cNvSpPr txBox="1"/>
            <p:nvPr/>
          </p:nvSpPr>
          <p:spPr>
            <a:xfrm>
              <a:off x="8563356" y="2282190"/>
              <a:ext cx="972407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61—90天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65642" y="2635568"/>
              <a:ext cx="967835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复盘与固化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66785" y="3021806"/>
              <a:ext cx="1806083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根据结果修订制度和表单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66785" y="3288506"/>
              <a:ext cx="1957530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明确培训、授权和检查机制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566785" y="35552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形成下一轮改进计划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67166" y="3839528"/>
              <a:ext cx="164327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阶段门：正式发布前批准</a:t>
              </a:r>
            </a:p>
          </p:txBody>
        </p:sp>
      </p:grpSp>
      <p:sp>
        <p:nvSpPr>
          <p:cNvPr id="39" name="Rectangle 39"/>
          <p:cNvSpPr/>
          <p:nvPr/>
        </p:nvSpPr>
        <p:spPr>
          <a:xfrm>
            <a:off x="1619250" y="5000625"/>
            <a:ext cx="8953500" cy="552450"/>
          </a:xfrm>
          <a:prstGeom prst="roundRect">
            <a:avLst>
              <a:gd name="adj" fmla="val 50000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2443048" y="5213985"/>
            <a:ext cx="730590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本路线是建议机制，不代表公司已经完成实施；每个阶段以实际确认、试运行记录和批准结果为准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6738" y="6494145"/>
            <a:ext cx="400773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路线不是项目承诺书：责任人、日期、范围和验收标准须在公司确认后冻结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待确认事项清单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未确认的岗位、权限、时限和保存期限不能写成现行事实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组织与岗位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7993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放行与付款权限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兼岗控制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记录期限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异常时限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会议机制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附件与另册文件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76428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治理PPT不替代部门制度、SOP和表单体系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75550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部门管理制度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737676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流程程序文件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28654" y="2752725"/>
            <a:ext cx="4296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1F2D3D"/>
                </a:solidFill>
                <a:latin typeface="Arial"/>
                <a:ea typeface="Arial"/>
                <a:cs typeface="Arial"/>
              </a:rPr>
              <a:t>SOP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367939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表单与台账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记录清单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修订记录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2026-10-08T00:06:56Z</dcterms:created>
  <dcterms:modified xsi:type="dcterms:W3CDTF">2026-10-08T00:06:56Z</dcterms:modified>
  <cp:category/>
  <cp:contentStatus/>
</cp:coreProperties>
</file>