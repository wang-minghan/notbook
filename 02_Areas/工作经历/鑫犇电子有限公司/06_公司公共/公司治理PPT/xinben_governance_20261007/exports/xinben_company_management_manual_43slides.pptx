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svg" ContentType="image/svg+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0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  <Relationship Id="rId50" Type="http://schemas.openxmlformats.org/officeDocument/2006/relationships/notesMaster" Target="notesMasters/notesMaster1.xml"/>
</Relationships>
</file>

<file path=ppt/notesMasters/_rels/notesMaster1.xml.rels><?xml version="1.0" encoding="UTF-8" standalone="yes"?>
<Relationships xmlns="http://schemas.openxmlformats.org/package/2006/relationships">
  <Relationship Id="rId1" Type="http://schemas.openxmlformats.org/officeDocument/2006/relationships/theme" Target="../theme/theme2.xml"/>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sz="1200" lang="en-US"/>
    </a:lvl1pPr>
  </p:notesStyle>
</p:notesMaster>
</file>

<file path=ppt/notesSlides/_rels/notesSlide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.xml"/>
</Relationships>
</file>

<file path=ppt/notesSlides/_rels/notesSlide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.xml"/>
</Relationships>
</file>

<file path=ppt/notesSlides/_rels/notesSlide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.xml"/>
</Relationships>
</file>

<file path=ppt/notesSlides/_rels/notesSlide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4.xml"/>
</Relationships>
</file>

<file path=ppt/notesSlides/_rels/notesSlide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5.xml"/>
</Relationships>
</file>

<file path=ppt/notesSlides/_rels/notesSlide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6.xml"/>
</Relationships>
</file>

<file path=ppt/notesSlides/_rels/notesSlide7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7.xml"/>
</Relationships>
</file>

<file path=ppt/notesSlides/_rels/notesSlide8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8.xml"/>
</Relationships>
</file>

<file path=ppt/notesSlides/_rels/notesSlide9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9.xml"/>
</Relationships>
</file>

<file path=ppt/notesSlides/_rels/notesSlide10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0.xml"/>
</Relationships>
</file>

<file path=ppt/notesSlides/_rels/notesSlide1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1.xml"/>
</Relationships>
</file>

<file path=ppt/notesSlides/_rels/notesSlide1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2.xml"/>
</Relationships>
</file>

<file path=ppt/notesSlides/_rels/notesSlide1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3.xml"/>
</Relationships>
</file>

<file path=ppt/notesSlides/_rels/notesSlide1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4.xml"/>
</Relationships>
</file>

<file path=ppt/notesSlides/_rels/notesSlide1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5.xml"/>
</Relationships>
</file>

<file path=ppt/notesSlides/_rels/notesSlide1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6.xml"/>
</Relationships>
</file>

<file path=ppt/notesSlides/_rels/notesSlide17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7.xml"/>
</Relationships>
</file>

<file path=ppt/notesSlides/_rels/notesSlide18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8.xml"/>
</Relationships>
</file>

<file path=ppt/notesSlides/_rels/notesSlide19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9.xml"/>
</Relationships>
</file>

<file path=ppt/notesSlides/_rels/notesSlide20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0.xml"/>
</Relationships>
</file>

<file path=ppt/notesSlides/_rels/notesSlide2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1.xml"/>
</Relationships>
</file>

<file path=ppt/notesSlides/_rels/notesSlide2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2.xml"/>
</Relationships>
</file>

<file path=ppt/notesSlides/_rels/notesSlide2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3.xml"/>
</Relationships>
</file>

<file path=ppt/notesSlides/_rels/notesSlide2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4.xml"/>
</Relationships>
</file>

<file path=ppt/notesSlides/_rels/notesSlide2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5.xml"/>
</Relationships>
</file>

<file path=ppt/notesSlides/_rels/notesSlide2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6.xml"/>
</Relationships>
</file>

<file path=ppt/notesSlides/_rels/notesSlide27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7.xml"/>
</Relationships>
</file>

<file path=ppt/notesSlides/_rels/notesSlide28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8.xml"/>
</Relationships>
</file>

<file path=ppt/notesSlides/_rels/notesSlide29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9.xml"/>
</Relationships>
</file>

<file path=ppt/notesSlides/_rels/notesSlide30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0.xml"/>
</Relationships>
</file>

<file path=ppt/notesSlides/_rels/notesSlide3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1.xml"/>
</Relationships>
</file>

<file path=ppt/notesSlides/_rels/notesSlide3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2.xml"/>
</Relationships>
</file>

<file path=ppt/notesSlides/_rels/notesSlide3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3.xml"/>
</Relationships>
</file>

<file path=ppt/notesSlides/_rels/notesSlide3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4.xml"/>
</Relationships>
</file>

<file path=ppt/notesSlides/_rels/notesSlide3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5.xml"/>
</Relationships>
</file>

<file path=ppt/notesSlides/_rels/notesSlide3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6.xml"/>
</Relationships>
</file>

<file path=ppt/notesSlides/_rels/notesSlide37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7.xml"/>
</Relationships>
</file>

<file path=ppt/notesSlides/_rels/notesSlide38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8.xml"/>
</Relationships>
</file>

<file path=ppt/notesSlides/_rels/notesSlide39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9.xml"/>
</Relationships>
</file>

<file path=ppt/notesSlides/_rels/notesSlide40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40.xml"/>
</Relationships>
</file>

<file path=ppt/notesSlides/_rels/notesSlide4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41.xml"/>
</Relationships>
</file>

<file path=ppt/notesSlides/_rels/notesSlide4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42.xml"/>
</Relationships>
</file>

<file path=ppt/notesSlides/_rels/notesSlide4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43.xml"/>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本页围绕“公司治理与管理方法”展开。重点不是介绍概念本身，而是说明鑫犇如何把责任、流程和证据组织起来，让客户能够理解并验证我们的管理方式。下一页将继续把这一方法落到具体治理场景。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本页围绕“这不是“部门介绍””展开。重点不是介绍概念本身，而是说明鑫犇如何把责任、流程和证据组织起来，让客户能够理解并验证我们的管理方式。下一页将继续把这一方法落到具体治理场景。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本页围绕“鑫犇是谁”展开。重点不是介绍概念本身，而是说明鑫犇如何把责任、流程和证据组织起来，让客户能够理解并验证我们的管理方式。下一页将继续把这一方法落到具体治理场景。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本页围绕“客户为什么要看治理”展开。重点不是介绍概念本身，而是说明鑫犇如何把责任、流程和证据组织起来，让客户能够理解并验证我们的管理方式。下一页将继续把这一方法落到具体治理场景。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本页围绕“我们的治理观”展开。重点不是介绍概念本身，而是说明鑫犇如何把责任、流程和证据组织起来，让客户能够理解并验证我们的管理方式。下一页将继续把这一方法落到具体治理场景。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本页围绕“治理模型总览”展开。重点不是介绍概念本身，而是说明鑫犇如何把责任、流程和证据组织起来，让客户能够理解并验证我们的管理方式。下一页将继续把这一方法落到具体治理场景。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本页围绕“组织架构：公司—部门—班组”展开。重点不是介绍概念本身，而是说明鑫犇如何把责任、流程和证据组织起来，让客户能够理解并验证我们的管理方式。下一页将继续把这一方法落到具体治理场景。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本页围绕“董事长与总经理的边界”展开。重点不是介绍概念本身，而是说明鑫犇如何把责任、流程和证据组织起来，让客户能够理解并验证我们的管理方式。下一页将继续把这一方法落到具体治理场景。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本页围绕“一级部门如何承接治理”展开。重点不是介绍概念本身，而是说明鑫犇如何把责任、流程和证据组织起来，让客户能够理解并验证我们的管理方式。下一页将继续把这一方法落到具体治理场景。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本页围绕“生产部的治理职责”展开。重点不是介绍概念本身，而是说明鑫犇如何把责任、流程和证据组织起来，让客户能够理解并验证我们的管理方式。下一页将继续把这一方法落到具体治理场景。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本页围绕“品质部的治理职责”展开。重点不是介绍概念本身，而是说明鑫犇如何把责任、流程和证据组织起来，让客户能够理解并验证我们的管理方式。下一页将继续把这一方法落到具体治理场景。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本页围绕“营运部的治理职责”展开。重点不是介绍概念本身，而是说明鑫犇如何把责任、流程和证据组织起来，让客户能够理解并验证我们的管理方式。下一页将继续把这一方法落到具体治理场景。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本页围绕“行政部与财务部的治理职责”展开。重点不是介绍概念本身，而是说明鑫犇如何把责任、流程和证据组织起来，让客户能够理解并验证我们的管理方式。下一页将继续把这一方法落到具体治理场景。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岗位字典：让岗位成为管理单元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本页围绕“RACI：一项事项只能有一个A”展开。重点不是介绍概念本身，而是说明鑫犇如何把责任、流程和证据组织起来，让客户能够理解并验证我们的管理方式。下一页将继续把这一方法落到具体治理场景。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本页围绕“客户订单评审如何治理”展开。重点不是介绍概念本身，而是说明鑫犇如何把责任、流程和证据组织起来，让客户能够理解并验证我们的管理方式。下一页将继续把这一方法落到具体治理场景。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本页围绕“生产任务下达如何治理”展开。重点不是介绍概念本身，而是说明鑫犇如何把责任、流程和证据组织起来，让客户能够理解并验证我们的管理方式。下一页将继续把这一方法落到具体治理场景。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本页围绕“首件与异常放行”展开。重点不是介绍概念本身，而是说明鑫犇如何把责任、流程和证据组织起来，让客户能够理解并验证我们的管理方式。下一页将继续把这一方法落到具体治理场景。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本页围绕“来料检验如何治理”展开。重点不是介绍概念本身，而是说明鑫犇如何把责任、流程和证据组织起来，让客户能够理解并验证我们的管理方式。下一页将继续把这一方法落到具体治理场景。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本页围绕“客户投诉如何闭环”展开。重点不是介绍概念本身，而是说明鑫犇如何把责任、流程和证据组织起来，让客户能够理解并验证我们的管理方式。下一页将继续把这一方法落到具体治理场景。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本页围绕“模具管理如何治理”展开。重点不是介绍概念本身，而是说明鑫犇如何把责任、流程和证据组织起来，让客户能够理解并验证我们的管理方式。下一页将继续把这一方法落到具体治理场景。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本页围绕“文件和版本控制”展开。重点不是介绍概念本身，而是说明鑫犇如何把责任、流程和证据组织起来，让客户能够理解并验证我们的管理方式。下一页将继续把这一方法落到具体治理场景。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记录管理：没有证据就没有完成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本页围绕“经营会议如何做成治理机制”展开。重点不是介绍概念本身，而是说明鑫犇如何把责任、流程和证据组织起来，让客户能够理解并验证我们的管理方式。下一页将继续把这一方法落到具体治理场景。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本页围绕“管理层看什么”展开。重点不是介绍概念本身，而是说明鑫犇如何把责任、流程和证据组织起来，让客户能够理解并验证我们的管理方式。下一页将继续把这一方法落到具体治理场景。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本页围绕“授权与审批边界”展开。重点不是介绍概念本身，而是说明鑫犇如何把责任、流程和证据组织起来，让客户能够理解并验证我们的管理方式。下一页将继续把这一方法落到具体治理场景。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本页围绕“风险管理：先识别，再控制”展开。重点不是介绍概念本身，而是说明鑫犇如何把责任、流程和证据组织起来，让客户能够理解并验证我们的管理方式。下一页将继续把这一方法落到具体治理场景。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本页围绕“利益相关方沟通”展开。重点不是介绍概念本身，而是说明鑫犇如何把责任、流程和证据组织起来，让客户能够理解并验证我们的管理方式。下一页将继续把这一方法落到具体治理场景。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本页围绕“治理成熟度：从人治到机制”展开。重点不是介绍概念本身，而是说明鑫犇如何把责任、流程和证据组织起来，让客户能够理解并验证我们的管理方式。下一页将继续把这一方法落到具体治理场景。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本页围绕“制度体系总图：从原则到证据”展开。重点不是介绍概念本身，而是说明鑫犇如何把责任、流程和证据组织起来，让客户能够理解并验证我们的管理方式。下一页将继续把这一方法落到具体治理场景。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本页围绕“制度文件生命周期”展开。重点不是介绍概念本身，而是说明鑫犇如何把责任、流程和证据组织起来，让客户能够理解并验证我们的管理方式。下一页将继续把这一方法落到具体治理场景。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本页围绕“客户/合同/订单变更流程”展开。重点不是介绍概念本身，而是说明鑫犇如何把责任、流程和证据组织起来，让客户能够理解并验证我们的管理方式。下一页将继续把这一方法落到具体治理场景。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本页围绕“采购—供应商—入库—付款”展开。重点不是介绍概念本身，而是说明鑫犇如何把责任、流程和证据组织起来，让客户能够理解并验证我们的管理方式。下一页将继续把这一方法落到具体治理场景。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本页围绕“人员全生命周期管理”展开。重点不是介绍概念本身，而是说明鑫犇如何把责任、流程和证据组织起来，让客户能够理解并验证我们的管理方式。下一页将继续把这一方法落到具体治理场景。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本页围绕“关键授权与审批矩阵”展开。重点不是介绍概念本身，而是说明鑫犇如何把责任、流程和证据组织起来，让客户能够理解并验证我们的管理方式。下一页将继续把这一方法落到具体治理场景。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本页围绕“保密与信息权限控制”展开。重点不是介绍概念本身，而是说明鑫犇如何把责任、流程和证据组织起来，让客户能够理解并验证我们的管理方式。下一页将继续把这一方法落到具体治理场景。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本页围绕“安全、环保与应急响应”展开。重点不是介绍概念本身，而是说明鑫犇如何把责任、流程和证据组织起来，让客户能够理解并验证我们的管理方式。下一页将继续把这一方法落到具体治理场景。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本页围绕“记录与档案生命周期”展开。重点不是介绍概念本身，而是说明鑫犇如何把责任、流程和证据组织起来，让客户能够理解并验证我们的管理方式。下一页将继续把这一方法落到具体治理场景。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本页围绕“风险热力图：先识别再排序”展开。重点不是介绍概念本身，而是说明鑫犇如何把责任、流程和证据组织起来，让客户能够理解并验证我们的管理方式。下一页将继续把这一方法落到具体治理场景。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本页围绕“PDCA持续改进闭环”展开。重点不是介绍概念本身，而是说明鑫犇如何把责任、流程和证据组织起来，让客户能够理解并验证我们的管理方式。下一页将继续把这一方法落到具体治理场景。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本页围绕“90天治理落地路线”展开。重点不是介绍概念本身，而是说明鑫犇如何把责任、流程和证据组织起来，让客户能够理解并验证我们的管理方式。下一页将继续把这一方法落到具体治理场景。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本页围绕“客户可见的治理证据包”展开。重点不是介绍概念本身，而是说明鑫犇如何把责任、流程和证据组织起来，让客户能够理解并验证我们的管理方式。下一页将继续把这一方法落到具体治理场景。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本页围绕“给客户的承诺”展开。重点不是介绍概念本身，而是说明鑫犇如何把责任、流程和证据组织起来，让客户能够理解并验证我们的管理方式。下一页将继续把这一方法落到具体治理场景。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image" Target="../media/image_be15c01305b67fd2.png"/>
  <Relationship Id="rId3" Type="http://schemas.openxmlformats.org/officeDocument/2006/relationships/notesSlide" Target="../notesSlides/notesSlide1.xml"/>
</Relationships>
</file>

<file path=ppt/slides/_rels/slide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2.xml"/>
</Relationships>
</file>

<file path=ppt/slides/_rels/slide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3.xml"/>
</Relationships>
</file>

<file path=ppt/slides/_rels/slide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4.xml"/>
</Relationships>
</file>

<file path=ppt/slides/_rels/slide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5.xml"/>
</Relationships>
</file>

<file path=ppt/slides/_rels/slide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6.xml"/>
</Relationships>
</file>

<file path=ppt/slides/_rels/slide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image" Target="../media/image_1e3229a8e2335edd.svg"/>
  <Relationship Id="rId3" Type="http://schemas.openxmlformats.org/officeDocument/2006/relationships/notesSlide" Target="../notesSlides/notesSlide7.xml"/>
</Relationships>
</file>

<file path=ppt/slides/_rels/slide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8.xml"/>
</Relationships>
</file>

<file path=ppt/slides/_rels/slide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9.xml"/>
</Relationships>
</file>

<file path=ppt/slides/_rels/slide1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10.xml"/>
</Relationships>
</file>

<file path=ppt/slides/_rels/slide1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11.xml"/>
</Relationships>
</file>

<file path=ppt/slides/_rels/slide1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12.xml"/>
</Relationships>
</file>

<file path=ppt/slides/_rels/slide1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13.xml"/>
</Relationships>
</file>

<file path=ppt/slides/_rels/slide1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14.xml"/>
</Relationships>
</file>

<file path=ppt/slides/_rels/slide1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15.xml"/>
</Relationships>
</file>

<file path=ppt/slides/_rels/slide1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image" Target="../media/image_83e301cb1ee1d818.svg"/>
  <Relationship Id="rId3" Type="http://schemas.openxmlformats.org/officeDocument/2006/relationships/notesSlide" Target="../notesSlides/notesSlide16.xml"/>
</Relationships>
</file>

<file path=ppt/slides/_rels/slide1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image" Target="../media/image_83e301cb1ee1d818.svg"/>
  <Relationship Id="rId3" Type="http://schemas.openxmlformats.org/officeDocument/2006/relationships/notesSlide" Target="../notesSlides/notesSlide17.xml"/>
</Relationships>
</file>

<file path=ppt/slides/_rels/slide1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image" Target="../media/image_81b2b174a01469ce.svg"/>
  <Relationship Id="rId3" Type="http://schemas.openxmlformats.org/officeDocument/2006/relationships/notesSlide" Target="../notesSlides/notesSlide18.xml"/>
</Relationships>
</file>

<file path=ppt/slides/_rels/slide1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image" Target="../media/image_83e301cb1ee1d818.svg"/>
  <Relationship Id="rId3" Type="http://schemas.openxmlformats.org/officeDocument/2006/relationships/notesSlide" Target="../notesSlides/notesSlide19.xml"/>
</Relationships>
</file>

<file path=ppt/slides/_rels/slide2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image" Target="../media/image_81b2b174a01469ce.svg"/>
  <Relationship Id="rId3" Type="http://schemas.openxmlformats.org/officeDocument/2006/relationships/notesSlide" Target="../notesSlides/notesSlide20.xml"/>
</Relationships>
</file>

<file path=ppt/slides/_rels/slide2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image" Target="../media/image_a529687bbc4be2ee.svg"/>
  <Relationship Id="rId3" Type="http://schemas.openxmlformats.org/officeDocument/2006/relationships/notesSlide" Target="../notesSlides/notesSlide21.xml"/>
</Relationships>
</file>

<file path=ppt/slides/_rels/slide2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image" Target="../media/image_a529687bbc4be2ee.svg"/>
  <Relationship Id="rId3" Type="http://schemas.openxmlformats.org/officeDocument/2006/relationships/notesSlide" Target="../notesSlides/notesSlide22.xml"/>
</Relationships>
</file>

<file path=ppt/slides/_rels/slide2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23.xml"/>
</Relationships>
</file>

<file path=ppt/slides/_rels/slide2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image" Target="../media/image_81b2b174a01469ce.svg"/>
  <Relationship Id="rId3" Type="http://schemas.openxmlformats.org/officeDocument/2006/relationships/notesSlide" Target="../notesSlides/notesSlide24.xml"/>
</Relationships>
</file>

<file path=ppt/slides/_rels/slide2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25.xml"/>
</Relationships>
</file>

<file path=ppt/slides/_rels/slide2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26.xml"/>
</Relationships>
</file>

<file path=ppt/slides/_rels/slide2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27.xml"/>
</Relationships>
</file>

<file path=ppt/slides/_rels/slide2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28.xml"/>
</Relationships>
</file>

<file path=ppt/slides/_rels/slide2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image" Target="../media/image_1e3229a8e2335edd.svg"/>
  <Relationship Id="rId3" Type="http://schemas.openxmlformats.org/officeDocument/2006/relationships/notesSlide" Target="../notesSlides/notesSlide29.xml"/>
</Relationships>
</file>

<file path=ppt/slides/_rels/slide3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image" Target="../media/image_1e3229a8e2335edd.svg"/>
  <Relationship Id="rId3" Type="http://schemas.openxmlformats.org/officeDocument/2006/relationships/notesSlide" Target="../notesSlides/notesSlide30.xml"/>
</Relationships>
</file>

<file path=ppt/slides/_rels/slide3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image" Target="../media/image_a529687bbc4be2ee.svg"/>
  <Relationship Id="rId3" Type="http://schemas.openxmlformats.org/officeDocument/2006/relationships/notesSlide" Target="../notesSlides/notesSlide31.xml"/>
</Relationships>
</file>

<file path=ppt/slides/_rels/slide3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image" Target="../media/image_83e301cb1ee1d818.svg"/>
  <Relationship Id="rId3" Type="http://schemas.openxmlformats.org/officeDocument/2006/relationships/notesSlide" Target="../notesSlides/notesSlide32.xml"/>
</Relationships>
</file>

<file path=ppt/slides/_rels/slide3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image" Target="../media/image_83e301cb1ee1d818.svg"/>
  <Relationship Id="rId3" Type="http://schemas.openxmlformats.org/officeDocument/2006/relationships/notesSlide" Target="../notesSlides/notesSlide33.xml"/>
</Relationships>
</file>

<file path=ppt/slides/_rels/slide3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image" Target="../media/image_a529687bbc4be2ee.svg"/>
  <Relationship Id="rId3" Type="http://schemas.openxmlformats.org/officeDocument/2006/relationships/notesSlide" Target="../notesSlides/notesSlide34.xml"/>
</Relationships>
</file>

<file path=ppt/slides/_rels/slide3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image" Target="../media/image_9b618389981adc11.svg"/>
  <Relationship Id="rId3" Type="http://schemas.openxmlformats.org/officeDocument/2006/relationships/notesSlide" Target="../notesSlides/notesSlide35.xml"/>
</Relationships>
</file>

<file path=ppt/slides/_rels/slide3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image" Target="../media/image_3b747e5a95aec65d.svg"/>
  <Relationship Id="rId3" Type="http://schemas.openxmlformats.org/officeDocument/2006/relationships/notesSlide" Target="../notesSlides/notesSlide36.xml"/>
</Relationships>
</file>

<file path=ppt/slides/_rels/slide3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image" Target="../media/image_81b2b174a01469ce.svg"/>
  <Relationship Id="rId3" Type="http://schemas.openxmlformats.org/officeDocument/2006/relationships/notesSlide" Target="../notesSlides/notesSlide37.xml"/>
</Relationships>
</file>

<file path=ppt/slides/_rels/slide3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image" Target="../media/image_a529687bbc4be2ee.svg"/>
  <Relationship Id="rId3" Type="http://schemas.openxmlformats.org/officeDocument/2006/relationships/notesSlide" Target="../notesSlides/notesSlide38.xml"/>
</Relationships>
</file>

<file path=ppt/slides/_rels/slide3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39.xml"/>
</Relationships>
</file>

<file path=ppt/slides/_rels/slide4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40.xml"/>
</Relationships>
</file>

<file path=ppt/slides/_rels/slide4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image" Target="../media/image_83e301cb1ee1d818.svg"/>
  <Relationship Id="rId3" Type="http://schemas.openxmlformats.org/officeDocument/2006/relationships/notesSlide" Target="../notesSlides/notesSlide41.xml"/>
</Relationships>
</file>

<file path=ppt/slides/_rels/slide4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42.xml"/>
</Relationships>
</file>

<file path=ppt/slides/_rels/slide4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image" Target="../media/image_b0f2bfc6cd137fdb.png"/>
  <Relationship Id="rId3" Type="http://schemas.openxmlformats.org/officeDocument/2006/relationships/notesSlide" Target="../notesSlides/notesSlide43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rcRect l="23750" t="0" r="23750" b="0"/>
          <a:stretch>
            <a:fillRect/>
          </a:stretch>
        </p:blipFill>
        <p:spPr>
          <a:xfrm>
            <a:off x="6191250" y="0"/>
            <a:ext cx="6000750" cy="6858000"/>
          </a:xfrm>
          <a:prstGeom prst="rect">
            <a:avLst/>
          </a:prstGeom>
        </p:spPr>
      </p:pic>
      <p:sp>
        <p:nvSpPr>
          <p:cNvPr id="3" name="Rectangle 3"/>
          <p:cNvSpPr/>
          <p:nvPr/>
        </p:nvSpPr>
        <p:spPr>
          <a:xfrm>
            <a:off x="6191250" y="0"/>
            <a:ext cx="6000750" cy="6858000"/>
          </a:xfrm>
          <a:prstGeom prst="rect">
            <a:avLst/>
          </a:prstGeom>
          <a:solidFill>
            <a:srgbClr val="F7F9FC">
              <a:alpha val="55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7048500" cy="6858000"/>
          </a:xfrm>
          <a:prstGeom prst="rect">
            <a:avLst/>
          </a:prstGeom>
          <a:solidFill>
            <a:srgbClr val="F7F9FC">
              <a:alpha val="92000"/>
            </a:srgbClr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659892" y="806768"/>
            <a:ext cx="189891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XINBEN ELECTRONICS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47700" y="1718310"/>
            <a:ext cx="3260903" cy="11049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57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公司治理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47700" y="2527935"/>
            <a:ext cx="4066604" cy="11049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5700" b="1" dirty="0">
                <a:solidFill>
                  <a:srgbClr val="E27A21"/>
                </a:solidFill>
                <a:latin typeface="Arial"/>
                <a:ea typeface="Microsoft YaHei"/>
                <a:cs typeface="Arial"/>
              </a:rPr>
              <a:t>与管理方法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55320" y="3567112"/>
            <a:ext cx="5777865" cy="44005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让客户看见一家制造企业如何被可靠地管理</a:t>
            </a:r>
          </a:p>
        </p:txBody>
      </p:sp>
      <p:sp>
        <p:nvSpPr>
          <p:cNvPr id="9" name="Line 9"/>
          <p:cNvSpPr/>
          <p:nvPr/>
        </p:nvSpPr>
        <p:spPr>
          <a:xfrm>
            <a:off x="666750" y="4381500"/>
            <a:ext cx="3810000" cy="9525"/>
          </a:xfrm>
          <a:custGeom>
            <a:avLst/>
            <a:gdLst/>
            <a:ahLst/>
            <a:cxnLst/>
            <a:rect l="l" t="t" r="r" b="b"/>
            <a:pathLst>
              <a:path w="3810000" h="9525">
                <a:moveTo>
                  <a:pt x="0" y="0"/>
                </a:moveTo>
                <a:lnTo>
                  <a:pt x="3810000" y="0"/>
                </a:lnTo>
              </a:path>
            </a:pathLst>
          </a:custGeom>
          <a:noFill/>
          <a:ln w="47625">
            <a:solidFill>
              <a:srgbClr val="E27A21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658368" y="4774882"/>
            <a:ext cx="1793748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客户与公司介绍版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59130" y="5314950"/>
            <a:ext cx="223647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惠州市鑫犇电子有限公司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659892" y="6045518"/>
            <a:ext cx="413537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2026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02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3465309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这不是“部门介绍”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4618482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治理的核心，是把承诺变成可验证的责任、流程和证据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Rectangle 8"/>
          <p:cNvSpPr/>
          <p:nvPr/>
        </p:nvSpPr>
        <p:spPr>
          <a:xfrm>
            <a:off x="857250" y="2190750"/>
            <a:ext cx="10477500" cy="2381250"/>
          </a:xfrm>
          <a:prstGeom prst="roundRect">
            <a:avLst>
              <a:gd name="adj" fmla="val 5600"/>
            </a:avLst>
          </a:prstGeom>
          <a:solidFill>
            <a:srgbClr val="EEF3F8"/>
          </a:solidFill>
          <a:ln w="9525">
            <a:solidFill>
              <a:srgbClr val="D7E0EA"/>
            </a:solidFill>
          </a:ln>
        </p:spPr>
      </p:sp>
      <p:sp>
        <p:nvSpPr>
          <p:cNvPr id="9" name="TextBox 9"/>
          <p:cNvSpPr txBox="1"/>
          <p:nvPr/>
        </p:nvSpPr>
        <p:spPr>
          <a:xfrm>
            <a:off x="1219200" y="2192655"/>
            <a:ext cx="551204" cy="12763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660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“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985772" y="2787968"/>
            <a:ext cx="13323018" cy="55740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85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客户关心的不是组织名称，而是：谁负责、如何决策、出了问题如何闭环。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991106" y="3520440"/>
            <a:ext cx="4622292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1C9C8C"/>
                </a:solidFill>
                <a:latin typeface="Arial"/>
                <a:ea typeface="Microsoft YaHei"/>
                <a:cs typeface="Arial"/>
              </a:rPr>
              <a:t>把管理方法变成客户可以验证的合作能力。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03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1726692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鑫犇是谁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4234815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以制造为基础，以治理为保障，以长期合作为目标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Rectangle 8"/>
          <p:cNvSpPr/>
          <p:nvPr/>
        </p:nvSpPr>
        <p:spPr>
          <a:xfrm>
            <a:off x="857250" y="2238375"/>
            <a:ext cx="2381250" cy="219075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9" name="TextBox 9"/>
          <p:cNvSpPr txBox="1"/>
          <p:nvPr/>
        </p:nvSpPr>
        <p:spPr>
          <a:xfrm>
            <a:off x="1078230" y="2505075"/>
            <a:ext cx="248469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50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76706" y="2901315"/>
            <a:ext cx="2562606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电子零件与金属件制造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76706" y="3234690"/>
            <a:ext cx="527152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场景</a:t>
            </a:r>
          </a:p>
        </p:txBody>
      </p:sp>
      <p:sp>
        <p:nvSpPr>
          <p:cNvPr id="12" name="Rectangle 12"/>
          <p:cNvSpPr/>
          <p:nvPr/>
        </p:nvSpPr>
        <p:spPr>
          <a:xfrm>
            <a:off x="3505200" y="2238375"/>
            <a:ext cx="2381250" cy="219075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13" name="TextBox 13"/>
          <p:cNvSpPr txBox="1"/>
          <p:nvPr/>
        </p:nvSpPr>
        <p:spPr>
          <a:xfrm>
            <a:off x="3726180" y="2505075"/>
            <a:ext cx="248469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50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3724656" y="2901315"/>
            <a:ext cx="2562606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冲压、清洗、模具维护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3724656" y="3234690"/>
            <a:ext cx="1290447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及配套管理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04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3846957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客户为什么要看治理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3851148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稳定交付背后，必须有稳定的组织与决策机制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Rectangle 8"/>
          <p:cNvSpPr/>
          <p:nvPr/>
        </p:nvSpPr>
        <p:spPr>
          <a:xfrm>
            <a:off x="857250" y="2238375"/>
            <a:ext cx="2381250" cy="219075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9" name="TextBox 9"/>
          <p:cNvSpPr txBox="1"/>
          <p:nvPr/>
        </p:nvSpPr>
        <p:spPr>
          <a:xfrm>
            <a:off x="1078230" y="2505075"/>
            <a:ext cx="248469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50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76706" y="2901315"/>
            <a:ext cx="2562606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四个客户判断点：承诺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76706" y="3234690"/>
            <a:ext cx="1290447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是否有依据</a:t>
            </a:r>
          </a:p>
        </p:txBody>
      </p:sp>
      <p:sp>
        <p:nvSpPr>
          <p:cNvPr id="12" name="Rectangle 12"/>
          <p:cNvSpPr/>
          <p:nvPr/>
        </p:nvSpPr>
        <p:spPr>
          <a:xfrm>
            <a:off x="3505200" y="2238375"/>
            <a:ext cx="2381250" cy="219075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13" name="TextBox 13"/>
          <p:cNvSpPr txBox="1"/>
          <p:nvPr/>
        </p:nvSpPr>
        <p:spPr>
          <a:xfrm>
            <a:off x="3726180" y="2505075"/>
            <a:ext cx="248469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50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3724656" y="2901315"/>
            <a:ext cx="1544879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变更是否受控</a:t>
            </a:r>
          </a:p>
        </p:txBody>
      </p:sp>
      <p:sp>
        <p:nvSpPr>
          <p:cNvPr id="15" name="Rectangle 15"/>
          <p:cNvSpPr/>
          <p:nvPr/>
        </p:nvSpPr>
        <p:spPr>
          <a:xfrm>
            <a:off x="6153150" y="2238375"/>
            <a:ext cx="2381250" cy="219075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16" name="TextBox 16"/>
          <p:cNvSpPr txBox="1"/>
          <p:nvPr/>
        </p:nvSpPr>
        <p:spPr>
          <a:xfrm>
            <a:off x="6374130" y="2505075"/>
            <a:ext cx="248469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50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6372606" y="2901315"/>
            <a:ext cx="2053742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异常是否有人负责</a:t>
            </a:r>
          </a:p>
        </p:txBody>
      </p:sp>
      <p:sp>
        <p:nvSpPr>
          <p:cNvPr id="18" name="Rectangle 18"/>
          <p:cNvSpPr/>
          <p:nvPr/>
        </p:nvSpPr>
        <p:spPr>
          <a:xfrm>
            <a:off x="8801100" y="2238375"/>
            <a:ext cx="2381250" cy="219075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19" name="TextBox 19"/>
          <p:cNvSpPr txBox="1"/>
          <p:nvPr/>
        </p:nvSpPr>
        <p:spPr>
          <a:xfrm>
            <a:off x="9022080" y="2505075"/>
            <a:ext cx="248469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50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9020556" y="2901315"/>
            <a:ext cx="2053742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记录是否能够追溯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05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2574798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我们的治理观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3889515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把“说得清楚”变成“做得到、查得到、改得动”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Rectangle 8"/>
          <p:cNvSpPr/>
          <p:nvPr/>
        </p:nvSpPr>
        <p:spPr>
          <a:xfrm>
            <a:off x="857250" y="2190750"/>
            <a:ext cx="10477500" cy="2381250"/>
          </a:xfrm>
          <a:prstGeom prst="roundRect">
            <a:avLst>
              <a:gd name="adj" fmla="val 5600"/>
            </a:avLst>
          </a:prstGeom>
          <a:solidFill>
            <a:srgbClr val="EEF3F8"/>
          </a:solidFill>
          <a:ln w="9525">
            <a:solidFill>
              <a:srgbClr val="D7E0EA"/>
            </a:solidFill>
          </a:ln>
        </p:spPr>
      </p:sp>
      <p:sp>
        <p:nvSpPr>
          <p:cNvPr id="9" name="TextBox 9"/>
          <p:cNvSpPr txBox="1"/>
          <p:nvPr/>
        </p:nvSpPr>
        <p:spPr>
          <a:xfrm>
            <a:off x="1219200" y="2192655"/>
            <a:ext cx="551204" cy="12763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660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“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985772" y="2787968"/>
            <a:ext cx="9939075" cy="55740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85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客户承诺 · 责任边界 · 过程控制 · 证据留存 · 持续改进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991106" y="3520440"/>
            <a:ext cx="4622292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1C9C8C"/>
                </a:solidFill>
                <a:latin typeface="Arial"/>
                <a:ea typeface="Microsoft YaHei"/>
                <a:cs typeface="Arial"/>
              </a:rPr>
              <a:t>把管理方法变成客户可以验证的合作能力。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06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2574798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治理模型总览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3275648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一个公司治理系统，至少回答五个问题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Rectangle 8"/>
          <p:cNvSpPr/>
          <p:nvPr/>
        </p:nvSpPr>
        <p:spPr>
          <a:xfrm>
            <a:off x="857250" y="20955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857250" y="20955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1C9C8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1117092" y="22545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562481" y="2244090"/>
            <a:ext cx="1290447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方向由谁定</a:t>
            </a:r>
          </a:p>
        </p:txBody>
      </p:sp>
      <p:sp>
        <p:nvSpPr>
          <p:cNvPr id="12" name="Rectangle 12"/>
          <p:cNvSpPr/>
          <p:nvPr/>
        </p:nvSpPr>
        <p:spPr>
          <a:xfrm>
            <a:off x="6191250" y="20955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13" name="Rectangle 13"/>
          <p:cNvSpPr/>
          <p:nvPr/>
        </p:nvSpPr>
        <p:spPr>
          <a:xfrm>
            <a:off x="6191250" y="20955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E27A21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6451092" y="22545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896481" y="2244090"/>
            <a:ext cx="1290447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权责如何分</a:t>
            </a:r>
          </a:p>
        </p:txBody>
      </p:sp>
      <p:sp>
        <p:nvSpPr>
          <p:cNvPr id="16" name="Rectangle 16"/>
          <p:cNvSpPr/>
          <p:nvPr/>
        </p:nvSpPr>
        <p:spPr>
          <a:xfrm>
            <a:off x="857250" y="30480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17" name="Rectangle 17"/>
          <p:cNvSpPr/>
          <p:nvPr/>
        </p:nvSpPr>
        <p:spPr>
          <a:xfrm>
            <a:off x="857250" y="30480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1C9C8C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1117092" y="32070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562481" y="3196590"/>
            <a:ext cx="1290447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事项如何决</a:t>
            </a:r>
          </a:p>
        </p:txBody>
      </p:sp>
      <p:sp>
        <p:nvSpPr>
          <p:cNvPr id="20" name="Rectangle 20"/>
          <p:cNvSpPr/>
          <p:nvPr/>
        </p:nvSpPr>
        <p:spPr>
          <a:xfrm>
            <a:off x="6191250" y="30480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21" name="Rectangle 21"/>
          <p:cNvSpPr/>
          <p:nvPr/>
        </p:nvSpPr>
        <p:spPr>
          <a:xfrm>
            <a:off x="6191250" y="30480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E27A21"/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6451092" y="32070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896481" y="3196590"/>
            <a:ext cx="1290447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结果如何看</a:t>
            </a:r>
          </a:p>
        </p:txBody>
      </p:sp>
      <p:sp>
        <p:nvSpPr>
          <p:cNvPr id="24" name="Rectangle 24"/>
          <p:cNvSpPr/>
          <p:nvPr/>
        </p:nvSpPr>
        <p:spPr>
          <a:xfrm>
            <a:off x="857250" y="40005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25" name="Rectangle 25"/>
          <p:cNvSpPr/>
          <p:nvPr/>
        </p:nvSpPr>
        <p:spPr>
          <a:xfrm>
            <a:off x="857250" y="40005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1C9C8C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1117092" y="41595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562481" y="4149090"/>
            <a:ext cx="1290447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问题如何改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07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5161521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组织架构：公司—部门—班组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3467481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组织架构不是名单，而是责任传递的路径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Line 8"/>
          <p:cNvSpPr/>
          <p:nvPr/>
        </p:nvSpPr>
        <p:spPr>
          <a:xfrm>
            <a:off x="1666875" y="2514600"/>
            <a:ext cx="2762250" cy="9525"/>
          </a:xfrm>
          <a:custGeom>
            <a:avLst/>
            <a:gdLst/>
            <a:ahLst/>
            <a:cxnLst/>
            <a:rect l="l" t="t" r="r" b="b"/>
            <a:pathLst>
              <a:path w="2762250" h="9525">
                <a:moveTo>
                  <a:pt x="0" y="0"/>
                </a:moveTo>
                <a:lnTo>
                  <a:pt x="2762250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8096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15074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63524" y="2752725"/>
            <a:ext cx="171145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公司层：董事长、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293590" y="3000375"/>
            <a:ext cx="65132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总经理</a:t>
            </a:r>
          </a:p>
        </p:txBody>
      </p:sp>
      <p:sp>
        <p:nvSpPr>
          <p:cNvPr id="13" name="Line 13"/>
          <p:cNvSpPr/>
          <p:nvPr/>
        </p:nvSpPr>
        <p:spPr>
          <a:xfrm>
            <a:off x="5191125" y="2514600"/>
            <a:ext cx="2762250" cy="9525"/>
          </a:xfrm>
          <a:custGeom>
            <a:avLst/>
            <a:gdLst/>
            <a:ahLst/>
            <a:cxnLst/>
            <a:rect l="l" t="t" r="r" b="b"/>
            <a:pathLst>
              <a:path w="2762250" h="9525">
                <a:moveTo>
                  <a:pt x="0" y="0"/>
                </a:moveTo>
                <a:lnTo>
                  <a:pt x="2762250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14" name="Rectangle 14"/>
          <p:cNvSpPr/>
          <p:nvPr/>
        </p:nvSpPr>
        <p:spPr>
          <a:xfrm>
            <a:off x="433387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15" name="TextBox 15"/>
          <p:cNvSpPr txBox="1"/>
          <p:nvPr/>
        </p:nvSpPr>
        <p:spPr>
          <a:xfrm>
            <a:off x="503168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4287774" y="2752725"/>
            <a:ext cx="171145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部门层：生产、品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4287774" y="3000375"/>
            <a:ext cx="171145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质、营运、行政、</a:t>
            </a:r>
          </a:p>
        </p:txBody>
      </p:sp>
      <p:sp>
        <p:nvSpPr>
          <p:cNvPr id="18" name="Rectangle 18"/>
          <p:cNvSpPr/>
          <p:nvPr/>
        </p:nvSpPr>
        <p:spPr>
          <a:xfrm>
            <a:off x="78581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19" name="TextBox 19"/>
          <p:cNvSpPr txBox="1"/>
          <p:nvPr/>
        </p:nvSpPr>
        <p:spPr>
          <a:xfrm>
            <a:off x="85559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7812024" y="2752725"/>
            <a:ext cx="171145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班组层：执行与反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8554117" y="3000375"/>
            <a:ext cx="227267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馈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848106" y="4282440"/>
            <a:ext cx="753008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规范字段：目的｜适用范围｜责任｜输入｜步骤｜输出｜记录｜控制点</a:t>
            </a:r>
          </a:p>
        </p:txBody>
      </p:sp>
      <p:sp>
        <p:nvSpPr>
          <p:cNvPr id="23" name="Rectangle 23"/>
          <p:cNvSpPr/>
          <p:nvPr/>
        </p:nvSpPr>
        <p:spPr>
          <a:xfrm>
            <a:off x="428625" y="1762125"/>
            <a:ext cx="11334750" cy="4095750"/>
          </a:xfrm>
          <a:prstGeom prst="roundRect">
            <a:avLst>
              <a:gd name="adj" fmla="val 2791"/>
            </a:avLst>
          </a:prstGeom>
          <a:solidFill>
            <a:srgbClr val="F7F9FC"/>
          </a:solidFill>
          <a:ln w="9525">
            <a:solidFill>
              <a:srgbClr val="D7E0EA"/>
            </a:solidFill>
          </a:ln>
        </p:spPr>
      </p:sp>
      <p:pic>
        <p:nvPicPr>
          <p:cNvPr id="24" name="Image 2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875" y="1857375"/>
            <a:ext cx="11144250" cy="3905250"/>
          </a:xfrm>
          <a:prstGeom prst="rect">
            <a:avLst/>
          </a:prstGeom>
        </p:spPr>
      </p:pic>
      <p:sp>
        <p:nvSpPr>
          <p:cNvPr id="25" name="TextBox 25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08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4271010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董事长与总经理的边界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3659314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战略监督与日常经营，必须既衔接又不混淆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Rectangle 8"/>
          <p:cNvSpPr/>
          <p:nvPr/>
        </p:nvSpPr>
        <p:spPr>
          <a:xfrm>
            <a:off x="762000" y="2143125"/>
            <a:ext cx="4953000" cy="28575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6477000" y="2143125"/>
            <a:ext cx="4953000" cy="28575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9525">
            <a:solidFill>
              <a:srgbClr val="E27A21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1134618" y="2441258"/>
            <a:ext cx="1649368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1C9C8C"/>
                </a:solidFill>
                <a:latin typeface="Arial"/>
                <a:ea typeface="Microsoft YaHei"/>
                <a:cs typeface="Arial"/>
              </a:rPr>
              <a:t>左侧：治理定位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849618" y="2441258"/>
            <a:ext cx="1649368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E27A21"/>
                </a:solidFill>
                <a:latin typeface="Arial"/>
                <a:ea typeface="Microsoft YaHei"/>
                <a:cs typeface="Arial"/>
              </a:rPr>
              <a:t>右侧：客户感知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133094" y="2932748"/>
            <a:ext cx="4154329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董事长：战略、重大事项、重大风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133094" y="3313748"/>
            <a:ext cx="1673619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险与授权监督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848094" y="2932748"/>
            <a:ext cx="4154329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总经理：经营目标、日常管理、跨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848094" y="3313748"/>
            <a:ext cx="2500522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部门协调与结果负责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09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4271010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一级部门如何承接治理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4062165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部门负责人不是“信息中转站”，而是结果责任人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Rectangle 8"/>
          <p:cNvSpPr/>
          <p:nvPr/>
        </p:nvSpPr>
        <p:spPr>
          <a:xfrm>
            <a:off x="857250" y="20955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857250" y="20955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1C9C8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1117092" y="22545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562481" y="2244090"/>
            <a:ext cx="230817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每个部门明确：定位</a:t>
            </a:r>
          </a:p>
        </p:txBody>
      </p:sp>
      <p:sp>
        <p:nvSpPr>
          <p:cNvPr id="12" name="Rectangle 12"/>
          <p:cNvSpPr/>
          <p:nvPr/>
        </p:nvSpPr>
        <p:spPr>
          <a:xfrm>
            <a:off x="6191250" y="20955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13" name="Rectangle 13"/>
          <p:cNvSpPr/>
          <p:nvPr/>
        </p:nvSpPr>
        <p:spPr>
          <a:xfrm>
            <a:off x="6191250" y="20955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E27A21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6451092" y="22545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896481" y="2244090"/>
            <a:ext cx="1290447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主要输出物</a:t>
            </a:r>
          </a:p>
        </p:txBody>
      </p:sp>
      <p:sp>
        <p:nvSpPr>
          <p:cNvPr id="16" name="Rectangle 16"/>
          <p:cNvSpPr/>
          <p:nvPr/>
        </p:nvSpPr>
        <p:spPr>
          <a:xfrm>
            <a:off x="857250" y="30480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17" name="Rectangle 17"/>
          <p:cNvSpPr/>
          <p:nvPr/>
        </p:nvSpPr>
        <p:spPr>
          <a:xfrm>
            <a:off x="857250" y="30480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1C9C8C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1117092" y="32070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562481" y="3196590"/>
            <a:ext cx="1544879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月度汇报对象</a:t>
            </a:r>
          </a:p>
        </p:txBody>
      </p:sp>
      <p:sp>
        <p:nvSpPr>
          <p:cNvPr id="20" name="Rectangle 20"/>
          <p:cNvSpPr/>
          <p:nvPr/>
        </p:nvSpPr>
        <p:spPr>
          <a:xfrm>
            <a:off x="6191250" y="30480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21" name="Rectangle 21"/>
          <p:cNvSpPr/>
          <p:nvPr/>
        </p:nvSpPr>
        <p:spPr>
          <a:xfrm>
            <a:off x="6191250" y="30480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E27A21"/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6451092" y="32070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896481" y="3196590"/>
            <a:ext cx="103601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汇报周期</a:t>
            </a:r>
          </a:p>
        </p:txBody>
      </p:sp>
      <p:sp>
        <p:nvSpPr>
          <p:cNvPr id="24" name="Rectangle 24"/>
          <p:cNvSpPr/>
          <p:nvPr/>
        </p:nvSpPr>
        <p:spPr>
          <a:xfrm>
            <a:off x="857250" y="40005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25" name="Rectangle 25"/>
          <p:cNvSpPr/>
          <p:nvPr/>
        </p:nvSpPr>
        <p:spPr>
          <a:xfrm>
            <a:off x="857250" y="40005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1C9C8C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1117092" y="41595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562481" y="4149090"/>
            <a:ext cx="103601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关键权限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10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3422904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生产部的治理职责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4426648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把计划、调度、记录和现场问题统一到一条责任线上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Rectangle 8"/>
          <p:cNvSpPr/>
          <p:nvPr/>
        </p:nvSpPr>
        <p:spPr>
          <a:xfrm>
            <a:off x="857250" y="2238375"/>
            <a:ext cx="2381250" cy="219075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9" name="TextBox 9"/>
          <p:cNvSpPr txBox="1"/>
          <p:nvPr/>
        </p:nvSpPr>
        <p:spPr>
          <a:xfrm>
            <a:off x="1078230" y="2505075"/>
            <a:ext cx="248469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50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76706" y="2901315"/>
            <a:ext cx="2562606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管理输出：生产任务单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76706" y="3234690"/>
            <a:ext cx="2562606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、日产量报表、设备点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76706" y="3568065"/>
            <a:ext cx="2562606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检汇总、生产异常记录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11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3422904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品质部的治理职责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4042982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质量不是末端检验，而是独立的判断与放行机制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Rectangle 8"/>
          <p:cNvSpPr/>
          <p:nvPr/>
        </p:nvSpPr>
        <p:spPr>
          <a:xfrm>
            <a:off x="857250" y="2238375"/>
            <a:ext cx="2381250" cy="219075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9" name="TextBox 9"/>
          <p:cNvSpPr txBox="1"/>
          <p:nvPr/>
        </p:nvSpPr>
        <p:spPr>
          <a:xfrm>
            <a:off x="1078230" y="2505075"/>
            <a:ext cx="248469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50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76706" y="2901315"/>
            <a:ext cx="2562606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管理输出：来料检验、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76706" y="3234690"/>
            <a:ext cx="2448112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制程/终检、不合格处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76706" y="3568065"/>
            <a:ext cx="2562606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置、客诉闭环、量具校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76706" y="3901440"/>
            <a:ext cx="1544879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准、受控文件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12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3422904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营运部的治理职责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4042982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订单、客户、采购、仓储必须在同一个承诺链上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Rectangle 8"/>
          <p:cNvSpPr/>
          <p:nvPr/>
        </p:nvSpPr>
        <p:spPr>
          <a:xfrm>
            <a:off x="857250" y="2238375"/>
            <a:ext cx="2381250" cy="219075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9" name="TextBox 9"/>
          <p:cNvSpPr txBox="1"/>
          <p:nvPr/>
        </p:nvSpPr>
        <p:spPr>
          <a:xfrm>
            <a:off x="1078230" y="2505075"/>
            <a:ext cx="248469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50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76706" y="2901315"/>
            <a:ext cx="2562606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管理输出：订单评审、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76706" y="3234690"/>
            <a:ext cx="2562606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采购申购、仓储盘点、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76706" y="3568065"/>
            <a:ext cx="1544879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出货检测报告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13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5119116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行政部与财务部的治理职责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3851148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后台职能的价值，是把规则、资源和风险管住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Rectangle 8"/>
          <p:cNvSpPr/>
          <p:nvPr/>
        </p:nvSpPr>
        <p:spPr>
          <a:xfrm>
            <a:off x="762000" y="2143125"/>
            <a:ext cx="4953000" cy="28575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6477000" y="2143125"/>
            <a:ext cx="4953000" cy="28575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9525">
            <a:solidFill>
              <a:srgbClr val="E27A21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1134618" y="2441258"/>
            <a:ext cx="1649368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1C9C8C"/>
                </a:solidFill>
                <a:latin typeface="Arial"/>
                <a:ea typeface="Microsoft YaHei"/>
                <a:cs typeface="Arial"/>
              </a:rPr>
              <a:t>左侧：治理定位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849618" y="2441258"/>
            <a:ext cx="1649368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E27A21"/>
                </a:solidFill>
                <a:latin typeface="Arial"/>
                <a:ea typeface="Microsoft YaHei"/>
                <a:cs typeface="Arial"/>
              </a:rPr>
              <a:t>右侧：客户感知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133094" y="2932748"/>
            <a:ext cx="4154329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行政：制度、人事、培训、安全台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133094" y="3313748"/>
            <a:ext cx="295446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账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848094" y="2932748"/>
            <a:ext cx="4154329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财务：核算、资金、税务、成本和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848094" y="3313748"/>
            <a:ext cx="1122350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付款审批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14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5967222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岗位字典：让岗位成为管理单元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4810316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岗位不是一个称呼，而是目的、职责、权限和能力的组合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Rectangle 8"/>
          <p:cNvSpPr/>
          <p:nvPr/>
        </p:nvSpPr>
        <p:spPr>
          <a:xfrm>
            <a:off x="857250" y="20955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857250" y="20955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1C9C8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1117092" y="22545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562481" y="2244090"/>
            <a:ext cx="3325901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每个岗位至少写清：岗位目的</a:t>
            </a:r>
          </a:p>
        </p:txBody>
      </p:sp>
      <p:sp>
        <p:nvSpPr>
          <p:cNvPr id="12" name="Rectangle 12"/>
          <p:cNvSpPr/>
          <p:nvPr/>
        </p:nvSpPr>
        <p:spPr>
          <a:xfrm>
            <a:off x="6191250" y="20955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13" name="Rectangle 13"/>
          <p:cNvSpPr/>
          <p:nvPr/>
        </p:nvSpPr>
        <p:spPr>
          <a:xfrm>
            <a:off x="6191250" y="20955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E27A21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6451092" y="22545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896481" y="2244090"/>
            <a:ext cx="103601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核心职责</a:t>
            </a:r>
          </a:p>
        </p:txBody>
      </p:sp>
      <p:sp>
        <p:nvSpPr>
          <p:cNvPr id="16" name="Rectangle 16"/>
          <p:cNvSpPr/>
          <p:nvPr/>
        </p:nvSpPr>
        <p:spPr>
          <a:xfrm>
            <a:off x="857250" y="30480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17" name="Rectangle 17"/>
          <p:cNvSpPr/>
          <p:nvPr/>
        </p:nvSpPr>
        <p:spPr>
          <a:xfrm>
            <a:off x="857250" y="30480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1C9C8C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1117092" y="32070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562481" y="3196590"/>
            <a:ext cx="103601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关键权限</a:t>
            </a:r>
          </a:p>
        </p:txBody>
      </p:sp>
      <p:sp>
        <p:nvSpPr>
          <p:cNvPr id="20" name="Rectangle 20"/>
          <p:cNvSpPr/>
          <p:nvPr/>
        </p:nvSpPr>
        <p:spPr>
          <a:xfrm>
            <a:off x="6191250" y="30480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21" name="Rectangle 21"/>
          <p:cNvSpPr/>
          <p:nvPr/>
        </p:nvSpPr>
        <p:spPr>
          <a:xfrm>
            <a:off x="6191250" y="30480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E27A21"/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6451092" y="32070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896481" y="3196590"/>
            <a:ext cx="103601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任职能力</a:t>
            </a:r>
          </a:p>
        </p:txBody>
      </p:sp>
      <p:sp>
        <p:nvSpPr>
          <p:cNvPr id="24" name="Rectangle 24"/>
          <p:cNvSpPr/>
          <p:nvPr/>
        </p:nvSpPr>
        <p:spPr>
          <a:xfrm>
            <a:off x="857250" y="40005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25" name="Rectangle 25"/>
          <p:cNvSpPr/>
          <p:nvPr/>
        </p:nvSpPr>
        <p:spPr>
          <a:xfrm>
            <a:off x="857250" y="40005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1C9C8C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1117092" y="41595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562481" y="4149090"/>
            <a:ext cx="103601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替代岗位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15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5631180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RACI：一项事项只能有一个A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3287954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RACI让“大家负责”变成“责任可定位”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Line 8"/>
          <p:cNvSpPr/>
          <p:nvPr/>
        </p:nvSpPr>
        <p:spPr>
          <a:xfrm>
            <a:off x="1666875" y="2514600"/>
            <a:ext cx="1352550" cy="9525"/>
          </a:xfrm>
          <a:custGeom>
            <a:avLst/>
            <a:gdLst/>
            <a:ahLst/>
            <a:cxnLst/>
            <a:rect l="l" t="t" r="r" b="b"/>
            <a:pathLst>
              <a:path w="1352550" h="9525">
                <a:moveTo>
                  <a:pt x="0" y="0"/>
                </a:moveTo>
                <a:lnTo>
                  <a:pt x="1352550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8096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15074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94740" y="2752725"/>
            <a:ext cx="1449019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A 最终负责/批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505617" y="3000375"/>
            <a:ext cx="227267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准</a:t>
            </a:r>
          </a:p>
        </p:txBody>
      </p:sp>
      <p:sp>
        <p:nvSpPr>
          <p:cNvPr id="13" name="Line 13"/>
          <p:cNvSpPr/>
          <p:nvPr/>
        </p:nvSpPr>
        <p:spPr>
          <a:xfrm>
            <a:off x="3781425" y="2514600"/>
            <a:ext cx="1352550" cy="9525"/>
          </a:xfrm>
          <a:custGeom>
            <a:avLst/>
            <a:gdLst/>
            <a:ahLst/>
            <a:cxnLst/>
            <a:rect l="l" t="t" r="r" b="b"/>
            <a:pathLst>
              <a:path w="1352550" h="9525">
                <a:moveTo>
                  <a:pt x="0" y="0"/>
                </a:moveTo>
                <a:lnTo>
                  <a:pt x="1352550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14" name="Rectangle 14"/>
          <p:cNvSpPr/>
          <p:nvPr/>
        </p:nvSpPr>
        <p:spPr>
          <a:xfrm>
            <a:off x="292417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15" name="TextBox 15"/>
          <p:cNvSpPr txBox="1"/>
          <p:nvPr/>
        </p:nvSpPr>
        <p:spPr>
          <a:xfrm>
            <a:off x="362198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3182912" y="2752725"/>
            <a:ext cx="110177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R 执行责任</a:t>
            </a:r>
          </a:p>
        </p:txBody>
      </p:sp>
      <p:sp>
        <p:nvSpPr>
          <p:cNvPr id="17" name="Line 17"/>
          <p:cNvSpPr/>
          <p:nvPr/>
        </p:nvSpPr>
        <p:spPr>
          <a:xfrm>
            <a:off x="5895975" y="2514600"/>
            <a:ext cx="1352550" cy="9525"/>
          </a:xfrm>
          <a:custGeom>
            <a:avLst/>
            <a:gdLst/>
            <a:ahLst/>
            <a:cxnLst/>
            <a:rect l="l" t="t" r="r" b="b"/>
            <a:pathLst>
              <a:path w="1352550" h="9525">
                <a:moveTo>
                  <a:pt x="0" y="0"/>
                </a:moveTo>
                <a:lnTo>
                  <a:pt x="1352550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18" name="Rectangle 18"/>
          <p:cNvSpPr/>
          <p:nvPr/>
        </p:nvSpPr>
        <p:spPr>
          <a:xfrm>
            <a:off x="50387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19" name="TextBox 19"/>
          <p:cNvSpPr txBox="1"/>
          <p:nvPr/>
        </p:nvSpPr>
        <p:spPr>
          <a:xfrm>
            <a:off x="57365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5297462" y="2752725"/>
            <a:ext cx="110177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C 事前咨询</a:t>
            </a:r>
          </a:p>
        </p:txBody>
      </p:sp>
      <p:sp>
        <p:nvSpPr>
          <p:cNvPr id="21" name="Line 21"/>
          <p:cNvSpPr/>
          <p:nvPr/>
        </p:nvSpPr>
        <p:spPr>
          <a:xfrm>
            <a:off x="8010525" y="2514600"/>
            <a:ext cx="1352550" cy="9525"/>
          </a:xfrm>
          <a:custGeom>
            <a:avLst/>
            <a:gdLst/>
            <a:ahLst/>
            <a:cxnLst/>
            <a:rect l="l" t="t" r="r" b="b"/>
            <a:pathLst>
              <a:path w="1352550" h="9525">
                <a:moveTo>
                  <a:pt x="0" y="0"/>
                </a:moveTo>
                <a:lnTo>
                  <a:pt x="1352550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22" name="Rectangle 22"/>
          <p:cNvSpPr/>
          <p:nvPr/>
        </p:nvSpPr>
        <p:spPr>
          <a:xfrm>
            <a:off x="715327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23" name="TextBox 23"/>
          <p:cNvSpPr txBox="1"/>
          <p:nvPr/>
        </p:nvSpPr>
        <p:spPr>
          <a:xfrm>
            <a:off x="785108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7440016" y="2752725"/>
            <a:ext cx="1045769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I 结果知会</a:t>
            </a:r>
          </a:p>
        </p:txBody>
      </p:sp>
      <p:sp>
        <p:nvSpPr>
          <p:cNvPr id="25" name="Rectangle 25"/>
          <p:cNvSpPr/>
          <p:nvPr/>
        </p:nvSpPr>
        <p:spPr>
          <a:xfrm>
            <a:off x="92678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26" name="TextBox 26"/>
          <p:cNvSpPr txBox="1"/>
          <p:nvPr/>
        </p:nvSpPr>
        <p:spPr>
          <a:xfrm>
            <a:off x="99656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9274531" y="2752725"/>
            <a:ext cx="1605839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每行只能1个A，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9610573" y="3000375"/>
            <a:ext cx="933755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至少1个R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848106" y="4282440"/>
            <a:ext cx="753008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规范字段：目的｜适用范围｜责任｜输入｜步骤｜输出｜记录｜控制点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16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4271010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客户订单评审如何治理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3083814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先确认能不能承诺，再确认谁来承诺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Line 8"/>
          <p:cNvSpPr/>
          <p:nvPr/>
        </p:nvSpPr>
        <p:spPr>
          <a:xfrm>
            <a:off x="1666875" y="2514600"/>
            <a:ext cx="1876425" cy="9525"/>
          </a:xfrm>
          <a:custGeom>
            <a:avLst/>
            <a:gdLst/>
            <a:ahLst/>
            <a:cxnLst/>
            <a:rect l="l" t="t" r="r" b="b"/>
            <a:pathLst>
              <a:path w="1876425" h="9525">
                <a:moveTo>
                  <a:pt x="0" y="0"/>
                </a:moveTo>
                <a:lnTo>
                  <a:pt x="18764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8096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15074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63524" y="2752725"/>
            <a:ext cx="171145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输入：订单、图纸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63524" y="3000375"/>
            <a:ext cx="171145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、交期、材料、客</a:t>
            </a:r>
          </a:p>
        </p:txBody>
      </p:sp>
      <p:sp>
        <p:nvSpPr>
          <p:cNvPr id="13" name="Line 13"/>
          <p:cNvSpPr/>
          <p:nvPr/>
        </p:nvSpPr>
        <p:spPr>
          <a:xfrm>
            <a:off x="4305300" y="2514600"/>
            <a:ext cx="1876425" cy="9525"/>
          </a:xfrm>
          <a:custGeom>
            <a:avLst/>
            <a:gdLst/>
            <a:ahLst/>
            <a:cxnLst/>
            <a:rect l="l" t="t" r="r" b="b"/>
            <a:pathLst>
              <a:path w="1876425" h="9525">
                <a:moveTo>
                  <a:pt x="0" y="0"/>
                </a:moveTo>
                <a:lnTo>
                  <a:pt x="18764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14" name="Rectangle 14"/>
          <p:cNvSpPr/>
          <p:nvPr/>
        </p:nvSpPr>
        <p:spPr>
          <a:xfrm>
            <a:off x="344805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15" name="TextBox 15"/>
          <p:cNvSpPr txBox="1"/>
          <p:nvPr/>
        </p:nvSpPr>
        <p:spPr>
          <a:xfrm>
            <a:off x="414586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3401949" y="2752725"/>
            <a:ext cx="171145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输出：订单评审记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4144042" y="3000375"/>
            <a:ext cx="227267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录</a:t>
            </a:r>
          </a:p>
        </p:txBody>
      </p:sp>
      <p:sp>
        <p:nvSpPr>
          <p:cNvPr id="18" name="Line 18"/>
          <p:cNvSpPr/>
          <p:nvPr/>
        </p:nvSpPr>
        <p:spPr>
          <a:xfrm>
            <a:off x="6943725" y="2514600"/>
            <a:ext cx="1876425" cy="9525"/>
          </a:xfrm>
          <a:custGeom>
            <a:avLst/>
            <a:gdLst/>
            <a:ahLst/>
            <a:cxnLst/>
            <a:rect l="l" t="t" r="r" b="b"/>
            <a:pathLst>
              <a:path w="1876425" h="9525">
                <a:moveTo>
                  <a:pt x="0" y="0"/>
                </a:moveTo>
                <a:lnTo>
                  <a:pt x="18764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19" name="Rectangle 19"/>
          <p:cNvSpPr/>
          <p:nvPr/>
        </p:nvSpPr>
        <p:spPr>
          <a:xfrm>
            <a:off x="608647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20" name="TextBox 20"/>
          <p:cNvSpPr txBox="1"/>
          <p:nvPr/>
        </p:nvSpPr>
        <p:spPr>
          <a:xfrm>
            <a:off x="678428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6378816" y="2752725"/>
            <a:ext cx="1034567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A：营运部</a:t>
            </a:r>
          </a:p>
        </p:txBody>
      </p:sp>
      <p:sp>
        <p:nvSpPr>
          <p:cNvPr id="22" name="Rectangle 22"/>
          <p:cNvSpPr/>
          <p:nvPr/>
        </p:nvSpPr>
        <p:spPr>
          <a:xfrm>
            <a:off x="872490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23" name="TextBox 23"/>
          <p:cNvSpPr txBox="1"/>
          <p:nvPr/>
        </p:nvSpPr>
        <p:spPr>
          <a:xfrm>
            <a:off x="942271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8681199" y="2752725"/>
            <a:ext cx="1706651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R：业务、生产、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8678799" y="3000375"/>
            <a:ext cx="171145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品质、技术、采购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848106" y="4282440"/>
            <a:ext cx="753008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规范字段：目的｜适用范围｜责任｜输入｜步骤｜输出｜记录｜控制点</a:t>
            </a:r>
          </a:p>
        </p:txBody>
      </p:sp>
      <p:sp>
        <p:nvSpPr>
          <p:cNvPr id="27" name="Rectangle 27"/>
          <p:cNvSpPr/>
          <p:nvPr/>
        </p:nvSpPr>
        <p:spPr>
          <a:xfrm>
            <a:off x="428625" y="1762125"/>
            <a:ext cx="11334750" cy="4095750"/>
          </a:xfrm>
          <a:prstGeom prst="roundRect">
            <a:avLst>
              <a:gd name="adj" fmla="val 2791"/>
            </a:avLst>
          </a:prstGeom>
          <a:solidFill>
            <a:srgbClr val="F7F9FC"/>
          </a:solidFill>
          <a:ln w="9525">
            <a:solidFill>
              <a:srgbClr val="D7E0EA"/>
            </a:solidFill>
          </a:ln>
        </p:spPr>
      </p:sp>
      <p:pic>
        <p:nvPicPr>
          <p:cNvPr id="28" name="Image 2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875" y="1857375"/>
            <a:ext cx="11144250" cy="3905250"/>
          </a:xfrm>
          <a:prstGeom prst="rect">
            <a:avLst/>
          </a:prstGeom>
        </p:spPr>
      </p:pic>
      <p:sp>
        <p:nvSpPr>
          <p:cNvPr id="29" name="TextBox 29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17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4271010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生产任务下达如何治理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4042982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开工前把产品、材料、模具、设备和交期说清楚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Line 8"/>
          <p:cNvSpPr/>
          <p:nvPr/>
        </p:nvSpPr>
        <p:spPr>
          <a:xfrm>
            <a:off x="166687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8096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15074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63524" y="2752725"/>
            <a:ext cx="171145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关键动作：确认版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505617" y="3000375"/>
            <a:ext cx="227267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本</a:t>
            </a:r>
          </a:p>
        </p:txBody>
      </p:sp>
      <p:sp>
        <p:nvSpPr>
          <p:cNvPr id="13" name="Line 13"/>
          <p:cNvSpPr/>
          <p:nvPr/>
        </p:nvSpPr>
        <p:spPr>
          <a:xfrm>
            <a:off x="3429000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14" name="Rectangle 14"/>
          <p:cNvSpPr/>
          <p:nvPr/>
        </p:nvSpPr>
        <p:spPr>
          <a:xfrm>
            <a:off x="257175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15" name="TextBox 15"/>
          <p:cNvSpPr txBox="1"/>
          <p:nvPr/>
        </p:nvSpPr>
        <p:spPr>
          <a:xfrm>
            <a:off x="326956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2949702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确认材料</a:t>
            </a:r>
          </a:p>
        </p:txBody>
      </p:sp>
      <p:sp>
        <p:nvSpPr>
          <p:cNvPr id="17" name="Line 17"/>
          <p:cNvSpPr/>
          <p:nvPr/>
        </p:nvSpPr>
        <p:spPr>
          <a:xfrm>
            <a:off x="519112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18" name="Rectangle 18"/>
          <p:cNvSpPr/>
          <p:nvPr/>
        </p:nvSpPr>
        <p:spPr>
          <a:xfrm>
            <a:off x="433387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19" name="TextBox 19"/>
          <p:cNvSpPr txBox="1"/>
          <p:nvPr/>
        </p:nvSpPr>
        <p:spPr>
          <a:xfrm>
            <a:off x="503168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4711827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确认模具</a:t>
            </a:r>
          </a:p>
        </p:txBody>
      </p:sp>
      <p:sp>
        <p:nvSpPr>
          <p:cNvPr id="21" name="Line 21"/>
          <p:cNvSpPr/>
          <p:nvPr/>
        </p:nvSpPr>
        <p:spPr>
          <a:xfrm>
            <a:off x="6953250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22" name="Rectangle 22"/>
          <p:cNvSpPr/>
          <p:nvPr/>
        </p:nvSpPr>
        <p:spPr>
          <a:xfrm>
            <a:off x="609600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23" name="TextBox 23"/>
          <p:cNvSpPr txBox="1"/>
          <p:nvPr/>
        </p:nvSpPr>
        <p:spPr>
          <a:xfrm>
            <a:off x="679381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6473952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确认设备</a:t>
            </a:r>
          </a:p>
        </p:txBody>
      </p:sp>
      <p:sp>
        <p:nvSpPr>
          <p:cNvPr id="25" name="Line 25"/>
          <p:cNvSpPr/>
          <p:nvPr/>
        </p:nvSpPr>
        <p:spPr>
          <a:xfrm>
            <a:off x="871537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26" name="Rectangle 26"/>
          <p:cNvSpPr/>
          <p:nvPr/>
        </p:nvSpPr>
        <p:spPr>
          <a:xfrm>
            <a:off x="78581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27" name="TextBox 27"/>
          <p:cNvSpPr txBox="1"/>
          <p:nvPr/>
        </p:nvSpPr>
        <p:spPr>
          <a:xfrm>
            <a:off x="85559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8236077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确认交期</a:t>
            </a:r>
          </a:p>
        </p:txBody>
      </p:sp>
      <p:sp>
        <p:nvSpPr>
          <p:cNvPr id="29" name="Rectangle 29"/>
          <p:cNvSpPr/>
          <p:nvPr/>
        </p:nvSpPr>
        <p:spPr>
          <a:xfrm>
            <a:off x="962025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30" name="TextBox 30"/>
          <p:cNvSpPr txBox="1"/>
          <p:nvPr/>
        </p:nvSpPr>
        <p:spPr>
          <a:xfrm>
            <a:off x="1031806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9574149" y="2752725"/>
            <a:ext cx="171145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形成生产任务确认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0316242" y="3000375"/>
            <a:ext cx="227267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单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848106" y="4282440"/>
            <a:ext cx="753008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规范字段：目的｜适用范围｜责任｜输入｜步骤｜输出｜记录｜控制点</a:t>
            </a:r>
          </a:p>
        </p:txBody>
      </p:sp>
      <p:sp>
        <p:nvSpPr>
          <p:cNvPr id="34" name="Rectangle 34"/>
          <p:cNvSpPr/>
          <p:nvPr/>
        </p:nvSpPr>
        <p:spPr>
          <a:xfrm>
            <a:off x="428625" y="1762125"/>
            <a:ext cx="11334750" cy="4095750"/>
          </a:xfrm>
          <a:prstGeom prst="roundRect">
            <a:avLst>
              <a:gd name="adj" fmla="val 2791"/>
            </a:avLst>
          </a:prstGeom>
          <a:solidFill>
            <a:srgbClr val="F7F9FC"/>
          </a:solidFill>
          <a:ln w="9525">
            <a:solidFill>
              <a:srgbClr val="D7E0EA"/>
            </a:solidFill>
          </a:ln>
        </p:spPr>
      </p:sp>
      <p:pic>
        <p:nvPicPr>
          <p:cNvPr id="35" name="Image 3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875" y="1857375"/>
            <a:ext cx="11144250" cy="3905250"/>
          </a:xfrm>
          <a:prstGeom prst="rect">
            <a:avLst/>
          </a:prstGeom>
        </p:spPr>
      </p:pic>
      <p:sp>
        <p:nvSpPr>
          <p:cNvPr id="36" name="TextBox 36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18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2998851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首件与异常放行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4465015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异常发生时，最重要的不是“先做完”，而是“先判断”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Line 8"/>
          <p:cNvSpPr/>
          <p:nvPr/>
        </p:nvSpPr>
        <p:spPr>
          <a:xfrm>
            <a:off x="1666875" y="2514600"/>
            <a:ext cx="1876425" cy="9525"/>
          </a:xfrm>
          <a:custGeom>
            <a:avLst/>
            <a:gdLst/>
            <a:ahLst/>
            <a:cxnLst/>
            <a:rect l="l" t="t" r="r" b="b"/>
            <a:pathLst>
              <a:path w="1876425" h="9525">
                <a:moveTo>
                  <a:pt x="0" y="0"/>
                </a:moveTo>
                <a:lnTo>
                  <a:pt x="18764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8096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15074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63524" y="2752725"/>
            <a:ext cx="171145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品质部承担最终判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505617" y="3000375"/>
            <a:ext cx="227267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断</a:t>
            </a:r>
          </a:p>
        </p:txBody>
      </p:sp>
      <p:sp>
        <p:nvSpPr>
          <p:cNvPr id="13" name="Line 13"/>
          <p:cNvSpPr/>
          <p:nvPr/>
        </p:nvSpPr>
        <p:spPr>
          <a:xfrm>
            <a:off x="4305300" y="2514600"/>
            <a:ext cx="1876425" cy="9525"/>
          </a:xfrm>
          <a:custGeom>
            <a:avLst/>
            <a:gdLst/>
            <a:ahLst/>
            <a:cxnLst/>
            <a:rect l="l" t="t" r="r" b="b"/>
            <a:pathLst>
              <a:path w="1876425" h="9525">
                <a:moveTo>
                  <a:pt x="0" y="0"/>
                </a:moveTo>
                <a:lnTo>
                  <a:pt x="18764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14" name="Rectangle 14"/>
          <p:cNvSpPr/>
          <p:nvPr/>
        </p:nvSpPr>
        <p:spPr>
          <a:xfrm>
            <a:off x="344805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15" name="TextBox 15"/>
          <p:cNvSpPr txBox="1"/>
          <p:nvPr/>
        </p:nvSpPr>
        <p:spPr>
          <a:xfrm>
            <a:off x="414586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3401949" y="2752725"/>
            <a:ext cx="171145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生产与技术提供事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4144042" y="3000375"/>
            <a:ext cx="227267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实</a:t>
            </a:r>
          </a:p>
        </p:txBody>
      </p:sp>
      <p:sp>
        <p:nvSpPr>
          <p:cNvPr id="18" name="Line 18"/>
          <p:cNvSpPr/>
          <p:nvPr/>
        </p:nvSpPr>
        <p:spPr>
          <a:xfrm>
            <a:off x="6943725" y="2514600"/>
            <a:ext cx="1876425" cy="9525"/>
          </a:xfrm>
          <a:custGeom>
            <a:avLst/>
            <a:gdLst/>
            <a:ahLst/>
            <a:cxnLst/>
            <a:rect l="l" t="t" r="r" b="b"/>
            <a:pathLst>
              <a:path w="1876425" h="9525">
                <a:moveTo>
                  <a:pt x="0" y="0"/>
                </a:moveTo>
                <a:lnTo>
                  <a:pt x="18764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19" name="Rectangle 19"/>
          <p:cNvSpPr/>
          <p:nvPr/>
        </p:nvSpPr>
        <p:spPr>
          <a:xfrm>
            <a:off x="608647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20" name="TextBox 20"/>
          <p:cNvSpPr txBox="1"/>
          <p:nvPr/>
        </p:nvSpPr>
        <p:spPr>
          <a:xfrm>
            <a:off x="678428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6358414" y="2752725"/>
            <a:ext cx="107537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不合格隔离</a:t>
            </a:r>
          </a:p>
        </p:txBody>
      </p:sp>
      <p:sp>
        <p:nvSpPr>
          <p:cNvPr id="22" name="Rectangle 22"/>
          <p:cNvSpPr/>
          <p:nvPr/>
        </p:nvSpPr>
        <p:spPr>
          <a:xfrm>
            <a:off x="872490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23" name="TextBox 23"/>
          <p:cNvSpPr txBox="1"/>
          <p:nvPr/>
        </p:nvSpPr>
        <p:spPr>
          <a:xfrm>
            <a:off x="942271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8678799" y="2752725"/>
            <a:ext cx="171145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恢复生产必须留下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9102852" y="300037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批准依据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848106" y="4282440"/>
            <a:ext cx="753008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规范字段：目的｜适用范围｜责任｜输入｜步骤｜输出｜记录｜控制点</a:t>
            </a:r>
          </a:p>
        </p:txBody>
      </p:sp>
      <p:sp>
        <p:nvSpPr>
          <p:cNvPr id="27" name="Rectangle 27"/>
          <p:cNvSpPr/>
          <p:nvPr/>
        </p:nvSpPr>
        <p:spPr>
          <a:xfrm>
            <a:off x="428625" y="1762125"/>
            <a:ext cx="11334750" cy="4095750"/>
          </a:xfrm>
          <a:prstGeom prst="roundRect">
            <a:avLst>
              <a:gd name="adj" fmla="val 2791"/>
            </a:avLst>
          </a:prstGeom>
          <a:solidFill>
            <a:srgbClr val="F7F9FC"/>
          </a:solidFill>
          <a:ln w="9525">
            <a:solidFill>
              <a:srgbClr val="D7E0EA"/>
            </a:solidFill>
          </a:ln>
        </p:spPr>
      </p:sp>
      <p:pic>
        <p:nvPicPr>
          <p:cNvPr id="28" name="Image 2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875" y="1857375"/>
            <a:ext cx="11144250" cy="3905250"/>
          </a:xfrm>
          <a:prstGeom prst="rect">
            <a:avLst/>
          </a:prstGeom>
        </p:spPr>
      </p:pic>
      <p:sp>
        <p:nvSpPr>
          <p:cNvPr id="29" name="TextBox 29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19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3422904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来料检验如何治理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4234815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供应商来料是否可用，要有标准、有记录、有处置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Rectangle 8"/>
          <p:cNvSpPr/>
          <p:nvPr/>
        </p:nvSpPr>
        <p:spPr>
          <a:xfrm>
            <a:off x="8096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9" name="TextBox 9"/>
          <p:cNvSpPr txBox="1"/>
          <p:nvPr/>
        </p:nvSpPr>
        <p:spPr>
          <a:xfrm>
            <a:off x="15074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65662" y="2752725"/>
            <a:ext cx="110717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到料 → 检验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33145" y="3000375"/>
            <a:ext cx="137221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→ 合格入库/异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848106" y="4282440"/>
            <a:ext cx="753008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规范字段：目的｜适用范围｜责任｜输入｜步骤｜输出｜记录｜控制点</a:t>
            </a:r>
          </a:p>
        </p:txBody>
      </p:sp>
      <p:sp>
        <p:nvSpPr>
          <p:cNvPr id="13" name="Rectangle 13"/>
          <p:cNvSpPr/>
          <p:nvPr/>
        </p:nvSpPr>
        <p:spPr>
          <a:xfrm>
            <a:off x="428625" y="1762125"/>
            <a:ext cx="11334750" cy="4095750"/>
          </a:xfrm>
          <a:prstGeom prst="roundRect">
            <a:avLst>
              <a:gd name="adj" fmla="val 2791"/>
            </a:avLst>
          </a:prstGeom>
          <a:solidFill>
            <a:srgbClr val="F7F9FC"/>
          </a:solidFill>
          <a:ln w="9525">
            <a:solidFill>
              <a:srgbClr val="D7E0EA"/>
            </a:solidFill>
          </a:ln>
        </p:spPr>
      </p:sp>
      <p:pic>
        <p:nvPicPr>
          <p:cNvPr id="14" name="Image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875" y="1857375"/>
            <a:ext cx="11144250" cy="3905250"/>
          </a:xfrm>
          <a:prstGeom prst="rect">
            <a:avLst/>
          </a:prstGeom>
        </p:spPr>
      </p:pic>
      <p:sp>
        <p:nvSpPr>
          <p:cNvPr id="15" name="TextBox 15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20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3422904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客户投诉如何闭环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4042982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客户问题进入公司后，要有统一入口和明确时限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Line 8"/>
          <p:cNvSpPr/>
          <p:nvPr/>
        </p:nvSpPr>
        <p:spPr>
          <a:xfrm>
            <a:off x="1666875" y="2514600"/>
            <a:ext cx="742950" cy="9525"/>
          </a:xfrm>
          <a:custGeom>
            <a:avLst/>
            <a:gdLst/>
            <a:ahLst/>
            <a:cxnLst/>
            <a:rect l="l" t="t" r="r" b="b"/>
            <a:pathLst>
              <a:path w="742950" h="9525">
                <a:moveTo>
                  <a:pt x="0" y="0"/>
                </a:moveTo>
                <a:lnTo>
                  <a:pt x="742950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8096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15074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81564" y="2752725"/>
            <a:ext cx="107537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接收与分级</a:t>
            </a:r>
          </a:p>
        </p:txBody>
      </p:sp>
      <p:sp>
        <p:nvSpPr>
          <p:cNvPr id="12" name="Line 12"/>
          <p:cNvSpPr/>
          <p:nvPr/>
        </p:nvSpPr>
        <p:spPr>
          <a:xfrm>
            <a:off x="3171825" y="2514600"/>
            <a:ext cx="742950" cy="9525"/>
          </a:xfrm>
          <a:custGeom>
            <a:avLst/>
            <a:gdLst/>
            <a:ahLst/>
            <a:cxnLst/>
            <a:rect l="l" t="t" r="r" b="b"/>
            <a:pathLst>
              <a:path w="742950" h="9525">
                <a:moveTo>
                  <a:pt x="0" y="0"/>
                </a:moveTo>
                <a:lnTo>
                  <a:pt x="742950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13" name="Rectangle 13"/>
          <p:cNvSpPr/>
          <p:nvPr/>
        </p:nvSpPr>
        <p:spPr>
          <a:xfrm>
            <a:off x="231457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301238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586514" y="2752725"/>
            <a:ext cx="107537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止血与隔离</a:t>
            </a:r>
          </a:p>
        </p:txBody>
      </p:sp>
      <p:sp>
        <p:nvSpPr>
          <p:cNvPr id="16" name="Line 16"/>
          <p:cNvSpPr/>
          <p:nvPr/>
        </p:nvSpPr>
        <p:spPr>
          <a:xfrm>
            <a:off x="4676775" y="2514600"/>
            <a:ext cx="742950" cy="9525"/>
          </a:xfrm>
          <a:custGeom>
            <a:avLst/>
            <a:gdLst/>
            <a:ahLst/>
            <a:cxnLst/>
            <a:rect l="l" t="t" r="r" b="b"/>
            <a:pathLst>
              <a:path w="742950" h="9525">
                <a:moveTo>
                  <a:pt x="0" y="0"/>
                </a:moveTo>
                <a:lnTo>
                  <a:pt x="742950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17" name="Rectangle 17"/>
          <p:cNvSpPr/>
          <p:nvPr/>
        </p:nvSpPr>
        <p:spPr>
          <a:xfrm>
            <a:off x="38195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18" name="TextBox 18"/>
          <p:cNvSpPr txBox="1"/>
          <p:nvPr/>
        </p:nvSpPr>
        <p:spPr>
          <a:xfrm>
            <a:off x="45173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197477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事实调查</a:t>
            </a:r>
          </a:p>
        </p:txBody>
      </p:sp>
      <p:sp>
        <p:nvSpPr>
          <p:cNvPr id="20" name="Line 20"/>
          <p:cNvSpPr/>
          <p:nvPr/>
        </p:nvSpPr>
        <p:spPr>
          <a:xfrm>
            <a:off x="6181725" y="2514600"/>
            <a:ext cx="742950" cy="9525"/>
          </a:xfrm>
          <a:custGeom>
            <a:avLst/>
            <a:gdLst/>
            <a:ahLst/>
            <a:cxnLst/>
            <a:rect l="l" t="t" r="r" b="b"/>
            <a:pathLst>
              <a:path w="742950" h="9525">
                <a:moveTo>
                  <a:pt x="0" y="0"/>
                </a:moveTo>
                <a:lnTo>
                  <a:pt x="742950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21" name="Rectangle 21"/>
          <p:cNvSpPr/>
          <p:nvPr/>
        </p:nvSpPr>
        <p:spPr>
          <a:xfrm>
            <a:off x="532447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22" name="TextBox 22"/>
          <p:cNvSpPr txBox="1"/>
          <p:nvPr/>
        </p:nvSpPr>
        <p:spPr>
          <a:xfrm>
            <a:off x="602228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5702427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原因分析</a:t>
            </a:r>
          </a:p>
        </p:txBody>
      </p:sp>
      <p:sp>
        <p:nvSpPr>
          <p:cNvPr id="24" name="Line 24"/>
          <p:cNvSpPr/>
          <p:nvPr/>
        </p:nvSpPr>
        <p:spPr>
          <a:xfrm>
            <a:off x="7686675" y="2514600"/>
            <a:ext cx="742950" cy="9525"/>
          </a:xfrm>
          <a:custGeom>
            <a:avLst/>
            <a:gdLst/>
            <a:ahLst/>
            <a:cxnLst/>
            <a:rect l="l" t="t" r="r" b="b"/>
            <a:pathLst>
              <a:path w="742950" h="9525">
                <a:moveTo>
                  <a:pt x="0" y="0"/>
                </a:moveTo>
                <a:lnTo>
                  <a:pt x="742950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25" name="Rectangle 25"/>
          <p:cNvSpPr/>
          <p:nvPr/>
        </p:nvSpPr>
        <p:spPr>
          <a:xfrm>
            <a:off x="68294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26" name="TextBox 26"/>
          <p:cNvSpPr txBox="1"/>
          <p:nvPr/>
        </p:nvSpPr>
        <p:spPr>
          <a:xfrm>
            <a:off x="75272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7207377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改善措施</a:t>
            </a:r>
          </a:p>
        </p:txBody>
      </p:sp>
      <p:sp>
        <p:nvSpPr>
          <p:cNvPr id="28" name="Line 28"/>
          <p:cNvSpPr/>
          <p:nvPr/>
        </p:nvSpPr>
        <p:spPr>
          <a:xfrm>
            <a:off x="9191625" y="2514600"/>
            <a:ext cx="742950" cy="9525"/>
          </a:xfrm>
          <a:custGeom>
            <a:avLst/>
            <a:gdLst/>
            <a:ahLst/>
            <a:cxnLst/>
            <a:rect l="l" t="t" r="r" b="b"/>
            <a:pathLst>
              <a:path w="742950" h="9525">
                <a:moveTo>
                  <a:pt x="0" y="0"/>
                </a:moveTo>
                <a:lnTo>
                  <a:pt x="742950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29" name="Rectangle 29"/>
          <p:cNvSpPr/>
          <p:nvPr/>
        </p:nvSpPr>
        <p:spPr>
          <a:xfrm>
            <a:off x="833437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30" name="TextBox 30"/>
          <p:cNvSpPr txBox="1"/>
          <p:nvPr/>
        </p:nvSpPr>
        <p:spPr>
          <a:xfrm>
            <a:off x="903218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8712327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效果验证</a:t>
            </a:r>
          </a:p>
        </p:txBody>
      </p:sp>
      <p:sp>
        <p:nvSpPr>
          <p:cNvPr id="32" name="Rectangle 32"/>
          <p:cNvSpPr/>
          <p:nvPr/>
        </p:nvSpPr>
        <p:spPr>
          <a:xfrm>
            <a:off x="98393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33" name="TextBox 33"/>
          <p:cNvSpPr txBox="1"/>
          <p:nvPr/>
        </p:nvSpPr>
        <p:spPr>
          <a:xfrm>
            <a:off x="105371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0217277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客户回复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848106" y="4282440"/>
            <a:ext cx="753008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规范字段：目的｜适用范围｜责任｜输入｜步骤｜输出｜记录｜控制点</a:t>
            </a:r>
          </a:p>
        </p:txBody>
      </p:sp>
      <p:sp>
        <p:nvSpPr>
          <p:cNvPr id="36" name="Rectangle 36"/>
          <p:cNvSpPr/>
          <p:nvPr/>
        </p:nvSpPr>
        <p:spPr>
          <a:xfrm>
            <a:off x="428625" y="1762125"/>
            <a:ext cx="11334750" cy="4095750"/>
          </a:xfrm>
          <a:prstGeom prst="roundRect">
            <a:avLst>
              <a:gd name="adj" fmla="val 2791"/>
            </a:avLst>
          </a:prstGeom>
          <a:solidFill>
            <a:srgbClr val="F7F9FC"/>
          </a:solidFill>
          <a:ln w="9525">
            <a:solidFill>
              <a:srgbClr val="D7E0EA"/>
            </a:solidFill>
          </a:ln>
        </p:spPr>
      </p:sp>
      <p:pic>
        <p:nvPicPr>
          <p:cNvPr id="37" name="Image 3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875" y="1857375"/>
            <a:ext cx="11144250" cy="3905250"/>
          </a:xfrm>
          <a:prstGeom prst="rect">
            <a:avLst/>
          </a:prstGeom>
        </p:spPr>
      </p:pic>
      <p:sp>
        <p:nvSpPr>
          <p:cNvPr id="38" name="TextBox 38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21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3422904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模具管理如何治理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4810316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模具是制造能力的一部分，必须有台账、有履历、有责任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Line 8"/>
          <p:cNvSpPr/>
          <p:nvPr/>
        </p:nvSpPr>
        <p:spPr>
          <a:xfrm>
            <a:off x="166687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8096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15074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17243" y="2752725"/>
            <a:ext cx="1404014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新模/改模评审</a:t>
            </a:r>
          </a:p>
        </p:txBody>
      </p:sp>
      <p:sp>
        <p:nvSpPr>
          <p:cNvPr id="12" name="Line 12"/>
          <p:cNvSpPr/>
          <p:nvPr/>
        </p:nvSpPr>
        <p:spPr>
          <a:xfrm>
            <a:off x="3429000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13" name="Rectangle 13"/>
          <p:cNvSpPr/>
          <p:nvPr/>
        </p:nvSpPr>
        <p:spPr>
          <a:xfrm>
            <a:off x="257175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326956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949702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模具编号</a:t>
            </a:r>
          </a:p>
        </p:txBody>
      </p:sp>
      <p:sp>
        <p:nvSpPr>
          <p:cNvPr id="16" name="Line 16"/>
          <p:cNvSpPr/>
          <p:nvPr/>
        </p:nvSpPr>
        <p:spPr>
          <a:xfrm>
            <a:off x="519112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17" name="Rectangle 17"/>
          <p:cNvSpPr/>
          <p:nvPr/>
        </p:nvSpPr>
        <p:spPr>
          <a:xfrm>
            <a:off x="433387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18" name="TextBox 18"/>
          <p:cNvSpPr txBox="1"/>
          <p:nvPr/>
        </p:nvSpPr>
        <p:spPr>
          <a:xfrm>
            <a:off x="503168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711827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维修保养</a:t>
            </a:r>
          </a:p>
        </p:txBody>
      </p:sp>
      <p:sp>
        <p:nvSpPr>
          <p:cNvPr id="20" name="Line 20"/>
          <p:cNvSpPr/>
          <p:nvPr/>
        </p:nvSpPr>
        <p:spPr>
          <a:xfrm>
            <a:off x="6953250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21" name="Rectangle 21"/>
          <p:cNvSpPr/>
          <p:nvPr/>
        </p:nvSpPr>
        <p:spPr>
          <a:xfrm>
            <a:off x="609600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22" name="TextBox 22"/>
          <p:cNvSpPr txBox="1"/>
          <p:nvPr/>
        </p:nvSpPr>
        <p:spPr>
          <a:xfrm>
            <a:off x="679381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473952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上机状态</a:t>
            </a:r>
          </a:p>
        </p:txBody>
      </p:sp>
      <p:sp>
        <p:nvSpPr>
          <p:cNvPr id="24" name="Line 24"/>
          <p:cNvSpPr/>
          <p:nvPr/>
        </p:nvSpPr>
        <p:spPr>
          <a:xfrm>
            <a:off x="871537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25" name="Rectangle 25"/>
          <p:cNvSpPr/>
          <p:nvPr/>
        </p:nvSpPr>
        <p:spPr>
          <a:xfrm>
            <a:off x="78581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26" name="TextBox 26"/>
          <p:cNvSpPr txBox="1"/>
          <p:nvPr/>
        </p:nvSpPr>
        <p:spPr>
          <a:xfrm>
            <a:off x="85559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8236077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异常记录</a:t>
            </a:r>
          </a:p>
        </p:txBody>
      </p:sp>
      <p:sp>
        <p:nvSpPr>
          <p:cNvPr id="28" name="Rectangle 28"/>
          <p:cNvSpPr/>
          <p:nvPr/>
        </p:nvSpPr>
        <p:spPr>
          <a:xfrm>
            <a:off x="962025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29" name="TextBox 29"/>
          <p:cNvSpPr txBox="1"/>
          <p:nvPr/>
        </p:nvSpPr>
        <p:spPr>
          <a:xfrm>
            <a:off x="1031806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9786176" y="2752725"/>
            <a:ext cx="1287399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技术文件归档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848106" y="4282440"/>
            <a:ext cx="753008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规范字段：目的｜适用范围｜责任｜输入｜步骤｜输出｜记录｜控制点</a:t>
            </a:r>
          </a:p>
        </p:txBody>
      </p:sp>
      <p:sp>
        <p:nvSpPr>
          <p:cNvPr id="32" name="Rectangle 32"/>
          <p:cNvSpPr/>
          <p:nvPr/>
        </p:nvSpPr>
        <p:spPr>
          <a:xfrm>
            <a:off x="428625" y="1762125"/>
            <a:ext cx="11334750" cy="4095750"/>
          </a:xfrm>
          <a:prstGeom prst="roundRect">
            <a:avLst>
              <a:gd name="adj" fmla="val 2791"/>
            </a:avLst>
          </a:prstGeom>
          <a:solidFill>
            <a:srgbClr val="F7F9FC"/>
          </a:solidFill>
          <a:ln w="9525">
            <a:solidFill>
              <a:srgbClr val="D7E0EA"/>
            </a:solidFill>
          </a:ln>
        </p:spPr>
      </p:sp>
      <p:pic>
        <p:nvPicPr>
          <p:cNvPr id="33" name="Image 3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875" y="1857375"/>
            <a:ext cx="11144250" cy="3905250"/>
          </a:xfrm>
          <a:prstGeom prst="rect">
            <a:avLst/>
          </a:prstGeom>
        </p:spPr>
      </p:pic>
      <p:sp>
        <p:nvSpPr>
          <p:cNvPr id="34" name="TextBox 34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21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22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2998851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文件和版本控制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3275648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客户拿到的承诺，必须对应到受控版本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Line 8"/>
          <p:cNvSpPr/>
          <p:nvPr/>
        </p:nvSpPr>
        <p:spPr>
          <a:xfrm>
            <a:off x="1666875" y="2514600"/>
            <a:ext cx="552450" cy="9525"/>
          </a:xfrm>
          <a:custGeom>
            <a:avLst/>
            <a:gdLst/>
            <a:ahLst/>
            <a:cxnLst/>
            <a:rect l="l" t="t" r="r" b="b"/>
            <a:pathLst>
              <a:path w="552450" h="9525">
                <a:moveTo>
                  <a:pt x="0" y="0"/>
                </a:moveTo>
                <a:lnTo>
                  <a:pt x="552450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8096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15074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87577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文件编码</a:t>
            </a:r>
          </a:p>
        </p:txBody>
      </p:sp>
      <p:sp>
        <p:nvSpPr>
          <p:cNvPr id="12" name="Line 12"/>
          <p:cNvSpPr/>
          <p:nvPr/>
        </p:nvSpPr>
        <p:spPr>
          <a:xfrm>
            <a:off x="2981325" y="2514600"/>
            <a:ext cx="552450" cy="9525"/>
          </a:xfrm>
          <a:custGeom>
            <a:avLst/>
            <a:gdLst/>
            <a:ahLst/>
            <a:cxnLst/>
            <a:rect l="l" t="t" r="r" b="b"/>
            <a:pathLst>
              <a:path w="552450" h="9525">
                <a:moveTo>
                  <a:pt x="0" y="0"/>
                </a:moveTo>
                <a:lnTo>
                  <a:pt x="552450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13" name="Rectangle 13"/>
          <p:cNvSpPr/>
          <p:nvPr/>
        </p:nvSpPr>
        <p:spPr>
          <a:xfrm>
            <a:off x="212407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282188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608040" y="2752725"/>
            <a:ext cx="65132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版本号</a:t>
            </a:r>
          </a:p>
        </p:txBody>
      </p:sp>
      <p:sp>
        <p:nvSpPr>
          <p:cNvPr id="16" name="Line 16"/>
          <p:cNvSpPr/>
          <p:nvPr/>
        </p:nvSpPr>
        <p:spPr>
          <a:xfrm>
            <a:off x="4295775" y="2514600"/>
            <a:ext cx="552450" cy="9525"/>
          </a:xfrm>
          <a:custGeom>
            <a:avLst/>
            <a:gdLst/>
            <a:ahLst/>
            <a:cxnLst/>
            <a:rect l="l" t="t" r="r" b="b"/>
            <a:pathLst>
              <a:path w="552450" h="9525">
                <a:moveTo>
                  <a:pt x="0" y="0"/>
                </a:moveTo>
                <a:lnTo>
                  <a:pt x="552450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17" name="Rectangle 17"/>
          <p:cNvSpPr/>
          <p:nvPr/>
        </p:nvSpPr>
        <p:spPr>
          <a:xfrm>
            <a:off x="34385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18" name="TextBox 18"/>
          <p:cNvSpPr txBox="1"/>
          <p:nvPr/>
        </p:nvSpPr>
        <p:spPr>
          <a:xfrm>
            <a:off x="41363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3922490" y="2752725"/>
            <a:ext cx="65132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审批人</a:t>
            </a:r>
          </a:p>
        </p:txBody>
      </p:sp>
      <p:sp>
        <p:nvSpPr>
          <p:cNvPr id="20" name="Line 20"/>
          <p:cNvSpPr/>
          <p:nvPr/>
        </p:nvSpPr>
        <p:spPr>
          <a:xfrm>
            <a:off x="5610225" y="2514600"/>
            <a:ext cx="552450" cy="9525"/>
          </a:xfrm>
          <a:custGeom>
            <a:avLst/>
            <a:gdLst/>
            <a:ahLst/>
            <a:cxnLst/>
            <a:rect l="l" t="t" r="r" b="b"/>
            <a:pathLst>
              <a:path w="552450" h="9525">
                <a:moveTo>
                  <a:pt x="0" y="0"/>
                </a:moveTo>
                <a:lnTo>
                  <a:pt x="552450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21" name="Rectangle 21"/>
          <p:cNvSpPr/>
          <p:nvPr/>
        </p:nvSpPr>
        <p:spPr>
          <a:xfrm>
            <a:off x="475297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22" name="TextBox 22"/>
          <p:cNvSpPr txBox="1"/>
          <p:nvPr/>
        </p:nvSpPr>
        <p:spPr>
          <a:xfrm>
            <a:off x="545078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5130927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生效日期</a:t>
            </a:r>
          </a:p>
        </p:txBody>
      </p:sp>
      <p:sp>
        <p:nvSpPr>
          <p:cNvPr id="24" name="Line 24"/>
          <p:cNvSpPr/>
          <p:nvPr/>
        </p:nvSpPr>
        <p:spPr>
          <a:xfrm>
            <a:off x="6924675" y="2514600"/>
            <a:ext cx="552450" cy="9525"/>
          </a:xfrm>
          <a:custGeom>
            <a:avLst/>
            <a:gdLst/>
            <a:ahLst/>
            <a:cxnLst/>
            <a:rect l="l" t="t" r="r" b="b"/>
            <a:pathLst>
              <a:path w="552450" h="9525">
                <a:moveTo>
                  <a:pt x="0" y="0"/>
                </a:moveTo>
                <a:lnTo>
                  <a:pt x="552450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25" name="Rectangle 25"/>
          <p:cNvSpPr/>
          <p:nvPr/>
        </p:nvSpPr>
        <p:spPr>
          <a:xfrm>
            <a:off x="60674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26" name="TextBox 26"/>
          <p:cNvSpPr txBox="1"/>
          <p:nvPr/>
        </p:nvSpPr>
        <p:spPr>
          <a:xfrm>
            <a:off x="67652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6445377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发放范围</a:t>
            </a:r>
          </a:p>
        </p:txBody>
      </p:sp>
      <p:sp>
        <p:nvSpPr>
          <p:cNvPr id="28" name="Line 28"/>
          <p:cNvSpPr/>
          <p:nvPr/>
        </p:nvSpPr>
        <p:spPr>
          <a:xfrm>
            <a:off x="8239125" y="2514600"/>
            <a:ext cx="552450" cy="9525"/>
          </a:xfrm>
          <a:custGeom>
            <a:avLst/>
            <a:gdLst/>
            <a:ahLst/>
            <a:cxnLst/>
            <a:rect l="l" t="t" r="r" b="b"/>
            <a:pathLst>
              <a:path w="552450" h="9525">
                <a:moveTo>
                  <a:pt x="0" y="0"/>
                </a:moveTo>
                <a:lnTo>
                  <a:pt x="552450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29" name="Rectangle 29"/>
          <p:cNvSpPr/>
          <p:nvPr/>
        </p:nvSpPr>
        <p:spPr>
          <a:xfrm>
            <a:off x="738187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30" name="TextBox 30"/>
          <p:cNvSpPr txBox="1"/>
          <p:nvPr/>
        </p:nvSpPr>
        <p:spPr>
          <a:xfrm>
            <a:off x="807968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7759827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旧版回收</a:t>
            </a:r>
          </a:p>
        </p:txBody>
      </p:sp>
      <p:sp>
        <p:nvSpPr>
          <p:cNvPr id="32" name="Line 32"/>
          <p:cNvSpPr/>
          <p:nvPr/>
        </p:nvSpPr>
        <p:spPr>
          <a:xfrm>
            <a:off x="9553575" y="2514600"/>
            <a:ext cx="552450" cy="9525"/>
          </a:xfrm>
          <a:custGeom>
            <a:avLst/>
            <a:gdLst/>
            <a:ahLst/>
            <a:cxnLst/>
            <a:rect l="l" t="t" r="r" b="b"/>
            <a:pathLst>
              <a:path w="552450" h="9525">
                <a:moveTo>
                  <a:pt x="0" y="0"/>
                </a:moveTo>
                <a:lnTo>
                  <a:pt x="552450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33" name="Rectangle 33"/>
          <p:cNvSpPr/>
          <p:nvPr/>
        </p:nvSpPr>
        <p:spPr>
          <a:xfrm>
            <a:off x="86963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34" name="TextBox 34"/>
          <p:cNvSpPr txBox="1"/>
          <p:nvPr/>
        </p:nvSpPr>
        <p:spPr>
          <a:xfrm>
            <a:off x="93941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9074277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变更原因</a:t>
            </a:r>
          </a:p>
        </p:txBody>
      </p:sp>
      <p:sp>
        <p:nvSpPr>
          <p:cNvPr id="36" name="Rectangle 36"/>
          <p:cNvSpPr/>
          <p:nvPr/>
        </p:nvSpPr>
        <p:spPr>
          <a:xfrm>
            <a:off x="1001077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37" name="TextBox 37"/>
          <p:cNvSpPr txBox="1"/>
          <p:nvPr/>
        </p:nvSpPr>
        <p:spPr>
          <a:xfrm>
            <a:off x="1070858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0388727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变更记录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848106" y="4282440"/>
            <a:ext cx="753008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规范字段：目的｜适用范围｜责任｜输入｜步骤｜输出｜记录｜控制点</a:t>
            </a:r>
          </a:p>
        </p:txBody>
      </p:sp>
      <p:sp>
        <p:nvSpPr>
          <p:cNvPr id="40" name="Rectangle 40"/>
          <p:cNvSpPr/>
          <p:nvPr/>
        </p:nvSpPr>
        <p:spPr>
          <a:xfrm>
            <a:off x="428625" y="1762125"/>
            <a:ext cx="11334750" cy="4095750"/>
          </a:xfrm>
          <a:prstGeom prst="roundRect">
            <a:avLst>
              <a:gd name="adj" fmla="val 2791"/>
            </a:avLst>
          </a:prstGeom>
          <a:solidFill>
            <a:srgbClr val="F7F9FC"/>
          </a:solidFill>
          <a:ln w="9525">
            <a:solidFill>
              <a:srgbClr val="D7E0EA"/>
            </a:solidFill>
          </a:ln>
        </p:spPr>
      </p:sp>
      <p:pic>
        <p:nvPicPr>
          <p:cNvPr id="41" name="Image 4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875" y="1857375"/>
            <a:ext cx="11144250" cy="3905250"/>
          </a:xfrm>
          <a:prstGeom prst="rect">
            <a:avLst/>
          </a:prstGeom>
        </p:spPr>
      </p:pic>
      <p:sp>
        <p:nvSpPr>
          <p:cNvPr id="42" name="TextBox 42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22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23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5967222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记录管理：没有证据就没有完成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4042982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记录不是为了填表，而是为了证明过程真实发生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Rectangle 8"/>
          <p:cNvSpPr/>
          <p:nvPr/>
        </p:nvSpPr>
        <p:spPr>
          <a:xfrm>
            <a:off x="857250" y="2190750"/>
            <a:ext cx="10477500" cy="2381250"/>
          </a:xfrm>
          <a:prstGeom prst="roundRect">
            <a:avLst>
              <a:gd name="adj" fmla="val 5600"/>
            </a:avLst>
          </a:prstGeom>
          <a:solidFill>
            <a:srgbClr val="EEF3F8"/>
          </a:solidFill>
          <a:ln w="9525">
            <a:solidFill>
              <a:srgbClr val="D7E0EA"/>
            </a:solidFill>
          </a:ln>
        </p:spPr>
      </p:sp>
      <p:sp>
        <p:nvSpPr>
          <p:cNvPr id="9" name="TextBox 9"/>
          <p:cNvSpPr txBox="1"/>
          <p:nvPr/>
        </p:nvSpPr>
        <p:spPr>
          <a:xfrm>
            <a:off x="1219200" y="2192655"/>
            <a:ext cx="551204" cy="12763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660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“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985772" y="2787968"/>
            <a:ext cx="13323018" cy="55740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85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记录要能回答：谁做的｜何时做的｜依据是什么｜结果怎样｜异常怎么处理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991106" y="3520440"/>
            <a:ext cx="4622292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1C9C8C"/>
                </a:solidFill>
                <a:latin typeface="Arial"/>
                <a:ea typeface="Microsoft YaHei"/>
                <a:cs typeface="Arial"/>
              </a:rPr>
              <a:t>把管理方法变成客户可以验证的合作能力。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23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24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5119116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经营会议如何做成治理机制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3870331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会议不以“开过”为完成，而以事项关闭为完成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Line 8"/>
          <p:cNvSpPr/>
          <p:nvPr/>
        </p:nvSpPr>
        <p:spPr>
          <a:xfrm>
            <a:off x="1666875" y="2514600"/>
            <a:ext cx="1876425" cy="9525"/>
          </a:xfrm>
          <a:custGeom>
            <a:avLst/>
            <a:gdLst/>
            <a:ahLst/>
            <a:cxnLst/>
            <a:rect l="l" t="t" r="r" b="b"/>
            <a:pathLst>
              <a:path w="1876425" h="9525">
                <a:moveTo>
                  <a:pt x="0" y="0"/>
                </a:moveTo>
                <a:lnTo>
                  <a:pt x="18764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8096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15074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63524" y="2752725"/>
            <a:ext cx="171145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输入：部门月度结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505617" y="3000375"/>
            <a:ext cx="227267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果</a:t>
            </a:r>
          </a:p>
        </p:txBody>
      </p:sp>
      <p:sp>
        <p:nvSpPr>
          <p:cNvPr id="13" name="Line 13"/>
          <p:cNvSpPr/>
          <p:nvPr/>
        </p:nvSpPr>
        <p:spPr>
          <a:xfrm>
            <a:off x="4305300" y="2514600"/>
            <a:ext cx="1876425" cy="9525"/>
          </a:xfrm>
          <a:custGeom>
            <a:avLst/>
            <a:gdLst/>
            <a:ahLst/>
            <a:cxnLst/>
            <a:rect l="l" t="t" r="r" b="b"/>
            <a:pathLst>
              <a:path w="1876425" h="9525">
                <a:moveTo>
                  <a:pt x="0" y="0"/>
                </a:moveTo>
                <a:lnTo>
                  <a:pt x="18764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14" name="Rectangle 14"/>
          <p:cNvSpPr/>
          <p:nvPr/>
        </p:nvSpPr>
        <p:spPr>
          <a:xfrm>
            <a:off x="344805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15" name="TextBox 15"/>
          <p:cNvSpPr txBox="1"/>
          <p:nvPr/>
        </p:nvSpPr>
        <p:spPr>
          <a:xfrm>
            <a:off x="414586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3401949" y="2752725"/>
            <a:ext cx="171145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讨论：偏差与风险</a:t>
            </a:r>
          </a:p>
        </p:txBody>
      </p:sp>
      <p:sp>
        <p:nvSpPr>
          <p:cNvPr id="17" name="Line 17"/>
          <p:cNvSpPr/>
          <p:nvPr/>
        </p:nvSpPr>
        <p:spPr>
          <a:xfrm>
            <a:off x="6943725" y="2514600"/>
            <a:ext cx="1876425" cy="9525"/>
          </a:xfrm>
          <a:custGeom>
            <a:avLst/>
            <a:gdLst/>
            <a:ahLst/>
            <a:cxnLst/>
            <a:rect l="l" t="t" r="r" b="b"/>
            <a:pathLst>
              <a:path w="1876425" h="9525">
                <a:moveTo>
                  <a:pt x="0" y="0"/>
                </a:moveTo>
                <a:lnTo>
                  <a:pt x="18764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18" name="Rectangle 18"/>
          <p:cNvSpPr/>
          <p:nvPr/>
        </p:nvSpPr>
        <p:spPr>
          <a:xfrm>
            <a:off x="608647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19" name="TextBox 19"/>
          <p:cNvSpPr txBox="1"/>
          <p:nvPr/>
        </p:nvSpPr>
        <p:spPr>
          <a:xfrm>
            <a:off x="678428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6040374" y="2752725"/>
            <a:ext cx="171145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决定：责任人与期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6782467" y="3000375"/>
            <a:ext cx="227267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限</a:t>
            </a:r>
          </a:p>
        </p:txBody>
      </p:sp>
      <p:sp>
        <p:nvSpPr>
          <p:cNvPr id="22" name="Rectangle 22"/>
          <p:cNvSpPr/>
          <p:nvPr/>
        </p:nvSpPr>
        <p:spPr>
          <a:xfrm>
            <a:off x="872490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23" name="TextBox 23"/>
          <p:cNvSpPr txBox="1"/>
          <p:nvPr/>
        </p:nvSpPr>
        <p:spPr>
          <a:xfrm>
            <a:off x="942271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8678799" y="2752725"/>
            <a:ext cx="171145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输出：会议纪要、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8784812" y="3000375"/>
            <a:ext cx="149942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重点事项跟踪表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848106" y="4282440"/>
            <a:ext cx="753008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规范字段：目的｜适用范围｜责任｜输入｜步骤｜输出｜记录｜控制点</a:t>
            </a:r>
          </a:p>
        </p:txBody>
      </p:sp>
      <p:sp>
        <p:nvSpPr>
          <p:cNvPr id="27" name="Rectangle 27"/>
          <p:cNvSpPr/>
          <p:nvPr/>
        </p:nvSpPr>
        <p:spPr>
          <a:xfrm>
            <a:off x="428625" y="1762125"/>
            <a:ext cx="11334750" cy="4095750"/>
          </a:xfrm>
          <a:prstGeom prst="roundRect">
            <a:avLst>
              <a:gd name="adj" fmla="val 2791"/>
            </a:avLst>
          </a:prstGeom>
          <a:solidFill>
            <a:srgbClr val="F7F9FC"/>
          </a:solidFill>
          <a:ln w="9525">
            <a:solidFill>
              <a:srgbClr val="D7E0EA"/>
            </a:solidFill>
          </a:ln>
        </p:spPr>
      </p:sp>
      <p:pic>
        <p:nvPicPr>
          <p:cNvPr id="28" name="Image 2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875" y="1857375"/>
            <a:ext cx="11144250" cy="3905250"/>
          </a:xfrm>
          <a:prstGeom prst="rect">
            <a:avLst/>
          </a:prstGeom>
        </p:spPr>
      </p:pic>
      <p:sp>
        <p:nvSpPr>
          <p:cNvPr id="29" name="TextBox 29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24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25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2574798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管理层看什么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3467481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管理层要看趋势、风险和需要决策的事项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Rectangle 8"/>
          <p:cNvSpPr/>
          <p:nvPr/>
        </p:nvSpPr>
        <p:spPr>
          <a:xfrm>
            <a:off x="857250" y="20955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857250" y="20955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1C9C8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1117092" y="22545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562481" y="2244090"/>
            <a:ext cx="2053742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组织：架构与岗位</a:t>
            </a:r>
          </a:p>
        </p:txBody>
      </p:sp>
      <p:sp>
        <p:nvSpPr>
          <p:cNvPr id="12" name="Rectangle 12"/>
          <p:cNvSpPr/>
          <p:nvPr/>
        </p:nvSpPr>
        <p:spPr>
          <a:xfrm>
            <a:off x="6191250" y="20955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13" name="Rectangle 13"/>
          <p:cNvSpPr/>
          <p:nvPr/>
        </p:nvSpPr>
        <p:spPr>
          <a:xfrm>
            <a:off x="6191250" y="20955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E27A21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6451092" y="22545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896481" y="2244090"/>
            <a:ext cx="2562606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经营：目标与重点事项</a:t>
            </a:r>
          </a:p>
        </p:txBody>
      </p:sp>
      <p:sp>
        <p:nvSpPr>
          <p:cNvPr id="16" name="Rectangle 16"/>
          <p:cNvSpPr/>
          <p:nvPr/>
        </p:nvSpPr>
        <p:spPr>
          <a:xfrm>
            <a:off x="857250" y="30480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17" name="Rectangle 17"/>
          <p:cNvSpPr/>
          <p:nvPr/>
        </p:nvSpPr>
        <p:spPr>
          <a:xfrm>
            <a:off x="857250" y="30480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1C9C8C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1117092" y="32070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562481" y="3196590"/>
            <a:ext cx="2053742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质量：异常与客诉</a:t>
            </a:r>
          </a:p>
        </p:txBody>
      </p:sp>
      <p:sp>
        <p:nvSpPr>
          <p:cNvPr id="20" name="Rectangle 20"/>
          <p:cNvSpPr/>
          <p:nvPr/>
        </p:nvSpPr>
        <p:spPr>
          <a:xfrm>
            <a:off x="6191250" y="30480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21" name="Rectangle 21"/>
          <p:cNvSpPr/>
          <p:nvPr/>
        </p:nvSpPr>
        <p:spPr>
          <a:xfrm>
            <a:off x="6191250" y="30480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E27A21"/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6451092" y="32070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896481" y="3196590"/>
            <a:ext cx="2562606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资源：资金与关键能力</a:t>
            </a:r>
          </a:p>
        </p:txBody>
      </p:sp>
      <p:sp>
        <p:nvSpPr>
          <p:cNvPr id="24" name="Rectangle 24"/>
          <p:cNvSpPr/>
          <p:nvPr/>
        </p:nvSpPr>
        <p:spPr>
          <a:xfrm>
            <a:off x="857250" y="40005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25" name="Rectangle 25"/>
          <p:cNvSpPr/>
          <p:nvPr/>
        </p:nvSpPr>
        <p:spPr>
          <a:xfrm>
            <a:off x="857250" y="40005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1C9C8C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1117092" y="41595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562481" y="4149090"/>
            <a:ext cx="1799311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整改：逾期事项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25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26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2998851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授权与审批边界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3083814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权限不写清楚，组织就会靠经验运行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Rectangle 8"/>
          <p:cNvSpPr/>
          <p:nvPr/>
        </p:nvSpPr>
        <p:spPr>
          <a:xfrm>
            <a:off x="857250" y="2238375"/>
            <a:ext cx="2381250" cy="219075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9" name="TextBox 9"/>
          <p:cNvSpPr txBox="1"/>
          <p:nvPr/>
        </p:nvSpPr>
        <p:spPr>
          <a:xfrm>
            <a:off x="1078230" y="2505075"/>
            <a:ext cx="248469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50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76706" y="2901315"/>
            <a:ext cx="2562606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重大事项：董事长监督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76706" y="3234690"/>
            <a:ext cx="667089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/审批</a:t>
            </a:r>
          </a:p>
        </p:txBody>
      </p:sp>
      <p:sp>
        <p:nvSpPr>
          <p:cNvPr id="12" name="Rectangle 12"/>
          <p:cNvSpPr/>
          <p:nvPr/>
        </p:nvSpPr>
        <p:spPr>
          <a:xfrm>
            <a:off x="3505200" y="2238375"/>
            <a:ext cx="2381250" cy="219075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13" name="TextBox 13"/>
          <p:cNvSpPr txBox="1"/>
          <p:nvPr/>
        </p:nvSpPr>
        <p:spPr>
          <a:xfrm>
            <a:off x="3726180" y="2505075"/>
            <a:ext cx="248469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50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3724656" y="2901315"/>
            <a:ext cx="2562606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日常经营：总经理统筹</a:t>
            </a:r>
          </a:p>
        </p:txBody>
      </p:sp>
      <p:sp>
        <p:nvSpPr>
          <p:cNvPr id="15" name="Rectangle 15"/>
          <p:cNvSpPr/>
          <p:nvPr/>
        </p:nvSpPr>
        <p:spPr>
          <a:xfrm>
            <a:off x="6153150" y="2238375"/>
            <a:ext cx="2381250" cy="219075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16" name="TextBox 16"/>
          <p:cNvSpPr txBox="1"/>
          <p:nvPr/>
        </p:nvSpPr>
        <p:spPr>
          <a:xfrm>
            <a:off x="6374130" y="2505075"/>
            <a:ext cx="248469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50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6372606" y="2901315"/>
            <a:ext cx="2562606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专业判断：部门负责人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6372606" y="3234690"/>
            <a:ext cx="2053742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在授权范围内负责</a:t>
            </a:r>
          </a:p>
        </p:txBody>
      </p:sp>
      <p:sp>
        <p:nvSpPr>
          <p:cNvPr id="19" name="Rectangle 19"/>
          <p:cNvSpPr/>
          <p:nvPr/>
        </p:nvSpPr>
        <p:spPr>
          <a:xfrm>
            <a:off x="8801100" y="2238375"/>
            <a:ext cx="2381250" cy="219075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20" name="TextBox 20"/>
          <p:cNvSpPr txBox="1"/>
          <p:nvPr/>
        </p:nvSpPr>
        <p:spPr>
          <a:xfrm>
            <a:off x="9022080" y="2505075"/>
            <a:ext cx="248469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50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9020556" y="2901315"/>
            <a:ext cx="1799311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超边界事项升级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26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27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5119116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风险管理：先识别，再控制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4810316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治理不是等问题发生，而是提前定义触发条件和升级路径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Rectangle 8"/>
          <p:cNvSpPr/>
          <p:nvPr/>
        </p:nvSpPr>
        <p:spPr>
          <a:xfrm>
            <a:off x="857250" y="20955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857250" y="20955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1C9C8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1117092" y="22545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562481" y="2244090"/>
            <a:ext cx="103601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风险登记</a:t>
            </a:r>
          </a:p>
        </p:txBody>
      </p:sp>
      <p:sp>
        <p:nvSpPr>
          <p:cNvPr id="12" name="Rectangle 12"/>
          <p:cNvSpPr/>
          <p:nvPr/>
        </p:nvSpPr>
        <p:spPr>
          <a:xfrm>
            <a:off x="6191250" y="20955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13" name="Rectangle 13"/>
          <p:cNvSpPr/>
          <p:nvPr/>
        </p:nvSpPr>
        <p:spPr>
          <a:xfrm>
            <a:off x="6191250" y="20955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E27A21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6451092" y="22545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896481" y="2244090"/>
            <a:ext cx="781583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责任人</a:t>
            </a:r>
          </a:p>
        </p:txBody>
      </p:sp>
      <p:sp>
        <p:nvSpPr>
          <p:cNvPr id="16" name="Rectangle 16"/>
          <p:cNvSpPr/>
          <p:nvPr/>
        </p:nvSpPr>
        <p:spPr>
          <a:xfrm>
            <a:off x="857250" y="30480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17" name="Rectangle 17"/>
          <p:cNvSpPr/>
          <p:nvPr/>
        </p:nvSpPr>
        <p:spPr>
          <a:xfrm>
            <a:off x="857250" y="30480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1C9C8C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1117092" y="32070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562481" y="3196590"/>
            <a:ext cx="103601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预警阈值</a:t>
            </a:r>
          </a:p>
        </p:txBody>
      </p:sp>
      <p:sp>
        <p:nvSpPr>
          <p:cNvPr id="20" name="Rectangle 20"/>
          <p:cNvSpPr/>
          <p:nvPr/>
        </p:nvSpPr>
        <p:spPr>
          <a:xfrm>
            <a:off x="6191250" y="30480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21" name="Rectangle 21"/>
          <p:cNvSpPr/>
          <p:nvPr/>
        </p:nvSpPr>
        <p:spPr>
          <a:xfrm>
            <a:off x="6191250" y="30480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E27A21"/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6451092" y="32070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896481" y="3196590"/>
            <a:ext cx="103601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应对措施</a:t>
            </a:r>
          </a:p>
        </p:txBody>
      </p:sp>
      <p:sp>
        <p:nvSpPr>
          <p:cNvPr id="24" name="Rectangle 24"/>
          <p:cNvSpPr/>
          <p:nvPr/>
        </p:nvSpPr>
        <p:spPr>
          <a:xfrm>
            <a:off x="857250" y="40005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25" name="Rectangle 25"/>
          <p:cNvSpPr/>
          <p:nvPr/>
        </p:nvSpPr>
        <p:spPr>
          <a:xfrm>
            <a:off x="857250" y="40005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1C9C8C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1117092" y="41595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562481" y="4149090"/>
            <a:ext cx="103601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升级对象</a:t>
            </a:r>
          </a:p>
        </p:txBody>
      </p:sp>
      <p:sp>
        <p:nvSpPr>
          <p:cNvPr id="28" name="Rectangle 28"/>
          <p:cNvSpPr/>
          <p:nvPr/>
        </p:nvSpPr>
        <p:spPr>
          <a:xfrm>
            <a:off x="6191250" y="40005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29" name="Rectangle 29"/>
          <p:cNvSpPr/>
          <p:nvPr/>
        </p:nvSpPr>
        <p:spPr>
          <a:xfrm>
            <a:off x="6191250" y="40005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E27A21"/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6451092" y="41595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6896481" y="4149090"/>
            <a:ext cx="103601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关闭证据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27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28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2998851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利益相关方沟通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4810316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客户、员工、供应商和管理层，都需要可预期的沟通方式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Rectangle 8"/>
          <p:cNvSpPr/>
          <p:nvPr/>
        </p:nvSpPr>
        <p:spPr>
          <a:xfrm>
            <a:off x="857250" y="2238375"/>
            <a:ext cx="2381250" cy="219075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9" name="TextBox 9"/>
          <p:cNvSpPr txBox="1"/>
          <p:nvPr/>
        </p:nvSpPr>
        <p:spPr>
          <a:xfrm>
            <a:off x="1078230" y="2505075"/>
            <a:ext cx="248469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50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76706" y="2901315"/>
            <a:ext cx="2053742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客户：承诺与变化</a:t>
            </a:r>
          </a:p>
        </p:txBody>
      </p:sp>
      <p:sp>
        <p:nvSpPr>
          <p:cNvPr id="11" name="Rectangle 11"/>
          <p:cNvSpPr/>
          <p:nvPr/>
        </p:nvSpPr>
        <p:spPr>
          <a:xfrm>
            <a:off x="3505200" y="2238375"/>
            <a:ext cx="2381250" cy="219075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726180" y="2505075"/>
            <a:ext cx="248469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50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3724656" y="2901315"/>
            <a:ext cx="2053742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员工：职责与反馈</a:t>
            </a:r>
          </a:p>
        </p:txBody>
      </p:sp>
      <p:sp>
        <p:nvSpPr>
          <p:cNvPr id="14" name="Rectangle 14"/>
          <p:cNvSpPr/>
          <p:nvPr/>
        </p:nvSpPr>
        <p:spPr>
          <a:xfrm>
            <a:off x="6153150" y="2238375"/>
            <a:ext cx="2381250" cy="219075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15" name="TextBox 15"/>
          <p:cNvSpPr txBox="1"/>
          <p:nvPr/>
        </p:nvSpPr>
        <p:spPr>
          <a:xfrm>
            <a:off x="6374130" y="2505075"/>
            <a:ext cx="248469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50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372606" y="2901315"/>
            <a:ext cx="230817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供应商：要求与异常</a:t>
            </a:r>
          </a:p>
        </p:txBody>
      </p:sp>
      <p:sp>
        <p:nvSpPr>
          <p:cNvPr id="17" name="Rectangle 17"/>
          <p:cNvSpPr/>
          <p:nvPr/>
        </p:nvSpPr>
        <p:spPr>
          <a:xfrm>
            <a:off x="8801100" y="2238375"/>
            <a:ext cx="2381250" cy="219075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18" name="TextBox 18"/>
          <p:cNvSpPr txBox="1"/>
          <p:nvPr/>
        </p:nvSpPr>
        <p:spPr>
          <a:xfrm>
            <a:off x="9022080" y="2505075"/>
            <a:ext cx="248469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50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9020556" y="2901315"/>
            <a:ext cx="230817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管理层：数据与决策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28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29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5119116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治理成熟度：从人治到机制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4810316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成熟不是文件越多，而是关键事项越来越不依赖个人记忆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Rectangle 8"/>
          <p:cNvSpPr/>
          <p:nvPr/>
        </p:nvSpPr>
        <p:spPr>
          <a:xfrm>
            <a:off x="8096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9" name="TextBox 9"/>
          <p:cNvSpPr txBox="1"/>
          <p:nvPr/>
        </p:nvSpPr>
        <p:spPr>
          <a:xfrm>
            <a:off x="15074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07354" y="2752725"/>
            <a:ext cx="1223791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1 口头约定 →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13368" y="3000375"/>
            <a:ext cx="1011765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2 有表单 →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848106" y="4282440"/>
            <a:ext cx="753008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规范字段：目的｜适用范围｜责任｜输入｜步骤｜输出｜记录｜控制点</a:t>
            </a:r>
          </a:p>
        </p:txBody>
      </p:sp>
      <p:sp>
        <p:nvSpPr>
          <p:cNvPr id="13" name="Rectangle 13"/>
          <p:cNvSpPr/>
          <p:nvPr/>
        </p:nvSpPr>
        <p:spPr>
          <a:xfrm>
            <a:off x="428625" y="1762125"/>
            <a:ext cx="11334750" cy="4095750"/>
          </a:xfrm>
          <a:prstGeom prst="roundRect">
            <a:avLst>
              <a:gd name="adj" fmla="val 2791"/>
            </a:avLst>
          </a:prstGeom>
          <a:solidFill>
            <a:srgbClr val="F7F9FC"/>
          </a:solidFill>
          <a:ln w="9525">
            <a:solidFill>
              <a:srgbClr val="D7E0EA"/>
            </a:solidFill>
          </a:ln>
        </p:spPr>
      </p:sp>
      <p:pic>
        <p:nvPicPr>
          <p:cNvPr id="14" name="Image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875" y="1857375"/>
            <a:ext cx="11144250" cy="3905250"/>
          </a:xfrm>
          <a:prstGeom prst="rect">
            <a:avLst/>
          </a:prstGeom>
        </p:spPr>
      </p:pic>
      <p:sp>
        <p:nvSpPr>
          <p:cNvPr id="15" name="TextBox 15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29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30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5543169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制度体系总图：从原则到证据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5385816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成熟制度不是文件堆，而是从治理原则落到岗位动作和记录证据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Line 8"/>
          <p:cNvSpPr/>
          <p:nvPr/>
        </p:nvSpPr>
        <p:spPr>
          <a:xfrm>
            <a:off x="1666875" y="2514600"/>
            <a:ext cx="2762250" cy="9525"/>
          </a:xfrm>
          <a:custGeom>
            <a:avLst/>
            <a:gdLst/>
            <a:ahLst/>
            <a:cxnLst/>
            <a:rect l="l" t="t" r="r" b="b"/>
            <a:pathLst>
              <a:path w="2762250" h="9525">
                <a:moveTo>
                  <a:pt x="0" y="0"/>
                </a:moveTo>
                <a:lnTo>
                  <a:pt x="2762250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8096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15074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63524" y="2752725"/>
            <a:ext cx="171145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治理层：战略、权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869537" y="3000375"/>
            <a:ext cx="149942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责、授权、风险</a:t>
            </a:r>
          </a:p>
        </p:txBody>
      </p:sp>
      <p:sp>
        <p:nvSpPr>
          <p:cNvPr id="13" name="Line 13"/>
          <p:cNvSpPr/>
          <p:nvPr/>
        </p:nvSpPr>
        <p:spPr>
          <a:xfrm>
            <a:off x="5191125" y="2514600"/>
            <a:ext cx="2762250" cy="9525"/>
          </a:xfrm>
          <a:custGeom>
            <a:avLst/>
            <a:gdLst/>
            <a:ahLst/>
            <a:cxnLst/>
            <a:rect l="l" t="t" r="r" b="b"/>
            <a:pathLst>
              <a:path w="2762250" h="9525">
                <a:moveTo>
                  <a:pt x="0" y="0"/>
                </a:moveTo>
                <a:lnTo>
                  <a:pt x="2762250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14" name="Rectangle 14"/>
          <p:cNvSpPr/>
          <p:nvPr/>
        </p:nvSpPr>
        <p:spPr>
          <a:xfrm>
            <a:off x="433387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15" name="TextBox 15"/>
          <p:cNvSpPr txBox="1"/>
          <p:nvPr/>
        </p:nvSpPr>
        <p:spPr>
          <a:xfrm>
            <a:off x="503168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4287774" y="2752725"/>
            <a:ext cx="171145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管理制度层：人事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4287774" y="3000375"/>
            <a:ext cx="171145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、合同、采购、生</a:t>
            </a:r>
          </a:p>
        </p:txBody>
      </p:sp>
      <p:sp>
        <p:nvSpPr>
          <p:cNvPr id="18" name="Rectangle 18"/>
          <p:cNvSpPr/>
          <p:nvPr/>
        </p:nvSpPr>
        <p:spPr>
          <a:xfrm>
            <a:off x="78581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19" name="TextBox 19"/>
          <p:cNvSpPr txBox="1"/>
          <p:nvPr/>
        </p:nvSpPr>
        <p:spPr>
          <a:xfrm>
            <a:off x="85559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7814424" y="2752725"/>
            <a:ext cx="1706651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作业与证据层：S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7842428" y="3000375"/>
            <a:ext cx="1650644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OP、表单、台账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848106" y="4282440"/>
            <a:ext cx="753008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规范字段：目的｜适用范围｜责任｜输入｜步骤｜输出｜记录｜控制点</a:t>
            </a:r>
          </a:p>
        </p:txBody>
      </p:sp>
      <p:sp>
        <p:nvSpPr>
          <p:cNvPr id="23" name="Rectangle 23"/>
          <p:cNvSpPr/>
          <p:nvPr/>
        </p:nvSpPr>
        <p:spPr>
          <a:xfrm>
            <a:off x="428625" y="1762125"/>
            <a:ext cx="11334750" cy="4095750"/>
          </a:xfrm>
          <a:prstGeom prst="roundRect">
            <a:avLst>
              <a:gd name="adj" fmla="val 2791"/>
            </a:avLst>
          </a:prstGeom>
          <a:solidFill>
            <a:srgbClr val="F7F9FC"/>
          </a:solidFill>
          <a:ln w="9525">
            <a:solidFill>
              <a:srgbClr val="D7E0EA"/>
            </a:solidFill>
          </a:ln>
        </p:spPr>
      </p:sp>
      <p:pic>
        <p:nvPicPr>
          <p:cNvPr id="24" name="Image 2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875" y="1857375"/>
            <a:ext cx="11144250" cy="3905250"/>
          </a:xfrm>
          <a:prstGeom prst="rect">
            <a:avLst/>
          </a:prstGeom>
        </p:spPr>
      </p:pic>
      <p:sp>
        <p:nvSpPr>
          <p:cNvPr id="25" name="TextBox 25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30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31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3422904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制度文件生命周期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4810316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每一份制度都要经历受控的产生、执行、修订和归档过程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Rectangle 8"/>
          <p:cNvSpPr/>
          <p:nvPr/>
        </p:nvSpPr>
        <p:spPr>
          <a:xfrm>
            <a:off x="8096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9" name="TextBox 9"/>
          <p:cNvSpPr txBox="1"/>
          <p:nvPr/>
        </p:nvSpPr>
        <p:spPr>
          <a:xfrm>
            <a:off x="15074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59649" y="2752725"/>
            <a:ext cx="1319203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需求提出 → 起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59649" y="3000375"/>
            <a:ext cx="1319203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草 → 跨部门评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848106" y="4282440"/>
            <a:ext cx="753008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规范字段：目的｜适用范围｜责任｜输入｜步骤｜输出｜记录｜控制点</a:t>
            </a:r>
          </a:p>
        </p:txBody>
      </p:sp>
      <p:sp>
        <p:nvSpPr>
          <p:cNvPr id="13" name="Rectangle 13"/>
          <p:cNvSpPr/>
          <p:nvPr/>
        </p:nvSpPr>
        <p:spPr>
          <a:xfrm>
            <a:off x="428625" y="1762125"/>
            <a:ext cx="11334750" cy="4095750"/>
          </a:xfrm>
          <a:prstGeom prst="roundRect">
            <a:avLst>
              <a:gd name="adj" fmla="val 2791"/>
            </a:avLst>
          </a:prstGeom>
          <a:solidFill>
            <a:srgbClr val="F7F9FC"/>
          </a:solidFill>
          <a:ln w="9525">
            <a:solidFill>
              <a:srgbClr val="D7E0EA"/>
            </a:solidFill>
          </a:ln>
        </p:spPr>
      </p:sp>
      <p:pic>
        <p:nvPicPr>
          <p:cNvPr id="14" name="Image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875" y="1857375"/>
            <a:ext cx="11144250" cy="3905250"/>
          </a:xfrm>
          <a:prstGeom prst="rect">
            <a:avLst/>
          </a:prstGeom>
        </p:spPr>
      </p:pic>
      <p:sp>
        <p:nvSpPr>
          <p:cNvPr id="15" name="TextBox 15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31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32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4737468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客户/合同/订单变更流程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5385816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客户承诺不能只停留在业务口头沟通，必须进入评审和变更控制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Rectangle 8"/>
          <p:cNvSpPr/>
          <p:nvPr/>
        </p:nvSpPr>
        <p:spPr>
          <a:xfrm>
            <a:off x="8096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9" name="TextBox 9"/>
          <p:cNvSpPr txBox="1"/>
          <p:nvPr/>
        </p:nvSpPr>
        <p:spPr>
          <a:xfrm>
            <a:off x="15074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59649" y="2752725"/>
            <a:ext cx="1319203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客户需求 → 合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33145" y="3000375"/>
            <a:ext cx="137221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同/订单评审 →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848106" y="4282440"/>
            <a:ext cx="753008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规范字段：目的｜适用范围｜责任｜输入｜步骤｜输出｜记录｜控制点</a:t>
            </a:r>
          </a:p>
        </p:txBody>
      </p:sp>
      <p:sp>
        <p:nvSpPr>
          <p:cNvPr id="13" name="Rectangle 13"/>
          <p:cNvSpPr/>
          <p:nvPr/>
        </p:nvSpPr>
        <p:spPr>
          <a:xfrm>
            <a:off x="428625" y="1762125"/>
            <a:ext cx="11334750" cy="4095750"/>
          </a:xfrm>
          <a:prstGeom prst="roundRect">
            <a:avLst>
              <a:gd name="adj" fmla="val 2791"/>
            </a:avLst>
          </a:prstGeom>
          <a:solidFill>
            <a:srgbClr val="F7F9FC"/>
          </a:solidFill>
          <a:ln w="9525">
            <a:solidFill>
              <a:srgbClr val="D7E0EA"/>
            </a:solidFill>
          </a:ln>
        </p:spPr>
      </p:sp>
      <p:pic>
        <p:nvPicPr>
          <p:cNvPr id="14" name="Image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875" y="1857375"/>
            <a:ext cx="11144250" cy="3905250"/>
          </a:xfrm>
          <a:prstGeom prst="rect">
            <a:avLst/>
          </a:prstGeom>
        </p:spPr>
      </p:pic>
      <p:sp>
        <p:nvSpPr>
          <p:cNvPr id="15" name="TextBox 15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32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33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4546644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采购—供应商—入库—付款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5577650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采购制度的核心，是把质量、交付、价格和付款放进同一条控制链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Rectangle 8"/>
          <p:cNvSpPr/>
          <p:nvPr/>
        </p:nvSpPr>
        <p:spPr>
          <a:xfrm>
            <a:off x="8096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9" name="TextBox 9"/>
          <p:cNvSpPr txBox="1"/>
          <p:nvPr/>
        </p:nvSpPr>
        <p:spPr>
          <a:xfrm>
            <a:off x="15074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59649" y="2752725"/>
            <a:ext cx="1319203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需求提出 → 供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17243" y="3000375"/>
            <a:ext cx="1404014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应商选择/评价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848106" y="4282440"/>
            <a:ext cx="753008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规范字段：目的｜适用范围｜责任｜输入｜步骤｜输出｜记录｜控制点</a:t>
            </a:r>
          </a:p>
        </p:txBody>
      </p:sp>
      <p:sp>
        <p:nvSpPr>
          <p:cNvPr id="13" name="Rectangle 13"/>
          <p:cNvSpPr/>
          <p:nvPr/>
        </p:nvSpPr>
        <p:spPr>
          <a:xfrm>
            <a:off x="428625" y="1762125"/>
            <a:ext cx="11334750" cy="4095750"/>
          </a:xfrm>
          <a:prstGeom prst="roundRect">
            <a:avLst>
              <a:gd name="adj" fmla="val 2791"/>
            </a:avLst>
          </a:prstGeom>
          <a:solidFill>
            <a:srgbClr val="F7F9FC"/>
          </a:solidFill>
          <a:ln w="9525">
            <a:solidFill>
              <a:srgbClr val="D7E0EA"/>
            </a:solidFill>
          </a:ln>
        </p:spPr>
      </p:sp>
      <p:pic>
        <p:nvPicPr>
          <p:cNvPr id="14" name="Image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875" y="1857375"/>
            <a:ext cx="11144250" cy="3905250"/>
          </a:xfrm>
          <a:prstGeom prst="rect">
            <a:avLst/>
          </a:prstGeom>
        </p:spPr>
      </p:pic>
      <p:sp>
        <p:nvSpPr>
          <p:cNvPr id="15" name="TextBox 15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33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34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3846957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人员全生命周期管理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5385816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人员制度不仅是招聘，还包括能力确认、授权、替代和离职交接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Rectangle 8"/>
          <p:cNvSpPr/>
          <p:nvPr/>
        </p:nvSpPr>
        <p:spPr>
          <a:xfrm>
            <a:off x="8096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9" name="TextBox 9"/>
          <p:cNvSpPr txBox="1"/>
          <p:nvPr/>
        </p:nvSpPr>
        <p:spPr>
          <a:xfrm>
            <a:off x="15074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91452" y="2752725"/>
            <a:ext cx="1255595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需求与招聘 →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59649" y="3000375"/>
            <a:ext cx="1319203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入职建档 → 岗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848106" y="4282440"/>
            <a:ext cx="753008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规范字段：目的｜适用范围｜责任｜输入｜步骤｜输出｜记录｜控制点</a:t>
            </a:r>
          </a:p>
        </p:txBody>
      </p:sp>
      <p:sp>
        <p:nvSpPr>
          <p:cNvPr id="13" name="Rectangle 13"/>
          <p:cNvSpPr/>
          <p:nvPr/>
        </p:nvSpPr>
        <p:spPr>
          <a:xfrm>
            <a:off x="428625" y="1762125"/>
            <a:ext cx="11334750" cy="4095750"/>
          </a:xfrm>
          <a:prstGeom prst="roundRect">
            <a:avLst>
              <a:gd name="adj" fmla="val 2791"/>
            </a:avLst>
          </a:prstGeom>
          <a:solidFill>
            <a:srgbClr val="F7F9FC"/>
          </a:solidFill>
          <a:ln w="9525">
            <a:solidFill>
              <a:srgbClr val="D7E0EA"/>
            </a:solidFill>
          </a:ln>
        </p:spPr>
      </p:sp>
      <p:pic>
        <p:nvPicPr>
          <p:cNvPr id="14" name="Image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875" y="1857375"/>
            <a:ext cx="11144250" cy="3905250"/>
          </a:xfrm>
          <a:prstGeom prst="rect">
            <a:avLst/>
          </a:prstGeom>
        </p:spPr>
      </p:pic>
      <p:sp>
        <p:nvSpPr>
          <p:cNvPr id="15" name="TextBox 15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34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35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3846957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关键授权与审批矩阵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5577650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制度是否有效，最终要落到谁可以决定、谁必须复核、谁只能知会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Line 8"/>
          <p:cNvSpPr/>
          <p:nvPr/>
        </p:nvSpPr>
        <p:spPr>
          <a:xfrm>
            <a:off x="1666875" y="2514600"/>
            <a:ext cx="1352550" cy="9525"/>
          </a:xfrm>
          <a:custGeom>
            <a:avLst/>
            <a:gdLst/>
            <a:ahLst/>
            <a:cxnLst/>
            <a:rect l="l" t="t" r="r" b="b"/>
            <a:pathLst>
              <a:path w="1352550" h="9525">
                <a:moveTo>
                  <a:pt x="0" y="0"/>
                </a:moveTo>
                <a:lnTo>
                  <a:pt x="1352550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8096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15074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11230" y="2752725"/>
            <a:ext cx="161604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事项：战略/重大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17243" y="3000375"/>
            <a:ext cx="1404014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投资/高层任免</a:t>
            </a:r>
          </a:p>
        </p:txBody>
      </p:sp>
      <p:sp>
        <p:nvSpPr>
          <p:cNvPr id="13" name="Line 13"/>
          <p:cNvSpPr/>
          <p:nvPr/>
        </p:nvSpPr>
        <p:spPr>
          <a:xfrm>
            <a:off x="3781425" y="2514600"/>
            <a:ext cx="1352550" cy="9525"/>
          </a:xfrm>
          <a:custGeom>
            <a:avLst/>
            <a:gdLst/>
            <a:ahLst/>
            <a:cxnLst/>
            <a:rect l="l" t="t" r="r" b="b"/>
            <a:pathLst>
              <a:path w="1352550" h="9525">
                <a:moveTo>
                  <a:pt x="0" y="0"/>
                </a:moveTo>
                <a:lnTo>
                  <a:pt x="1352550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14" name="Rectangle 14"/>
          <p:cNvSpPr/>
          <p:nvPr/>
        </p:nvSpPr>
        <p:spPr>
          <a:xfrm>
            <a:off x="292417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15" name="TextBox 15"/>
          <p:cNvSpPr txBox="1"/>
          <p:nvPr/>
        </p:nvSpPr>
        <p:spPr>
          <a:xfrm>
            <a:off x="362198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2925780" y="2752725"/>
            <a:ext cx="161604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经营目标/跨部门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3031793" y="3000375"/>
            <a:ext cx="1404014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调度/一般人事</a:t>
            </a:r>
          </a:p>
        </p:txBody>
      </p:sp>
      <p:sp>
        <p:nvSpPr>
          <p:cNvPr id="18" name="Line 18"/>
          <p:cNvSpPr/>
          <p:nvPr/>
        </p:nvSpPr>
        <p:spPr>
          <a:xfrm>
            <a:off x="5895975" y="2514600"/>
            <a:ext cx="1352550" cy="9525"/>
          </a:xfrm>
          <a:custGeom>
            <a:avLst/>
            <a:gdLst/>
            <a:ahLst/>
            <a:cxnLst/>
            <a:rect l="l" t="t" r="r" b="b"/>
            <a:pathLst>
              <a:path w="1352550" h="9525">
                <a:moveTo>
                  <a:pt x="0" y="0"/>
                </a:moveTo>
                <a:lnTo>
                  <a:pt x="1352550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19" name="Rectangle 19"/>
          <p:cNvSpPr/>
          <p:nvPr/>
        </p:nvSpPr>
        <p:spPr>
          <a:xfrm>
            <a:off x="50387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20" name="TextBox 20"/>
          <p:cNvSpPr txBox="1"/>
          <p:nvPr/>
        </p:nvSpPr>
        <p:spPr>
          <a:xfrm>
            <a:off x="57365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5040330" y="2752725"/>
            <a:ext cx="161604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专业放行/质量判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5252356" y="3000375"/>
            <a:ext cx="1191987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定/文件受控</a:t>
            </a:r>
          </a:p>
        </p:txBody>
      </p:sp>
      <p:sp>
        <p:nvSpPr>
          <p:cNvPr id="23" name="Line 23"/>
          <p:cNvSpPr/>
          <p:nvPr/>
        </p:nvSpPr>
        <p:spPr>
          <a:xfrm>
            <a:off x="8010525" y="2514600"/>
            <a:ext cx="1352550" cy="9525"/>
          </a:xfrm>
          <a:custGeom>
            <a:avLst/>
            <a:gdLst/>
            <a:ahLst/>
            <a:cxnLst/>
            <a:rect l="l" t="t" r="r" b="b"/>
            <a:pathLst>
              <a:path w="1352550" h="9525">
                <a:moveTo>
                  <a:pt x="0" y="0"/>
                </a:moveTo>
                <a:lnTo>
                  <a:pt x="1352550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24" name="Rectangle 24"/>
          <p:cNvSpPr/>
          <p:nvPr/>
        </p:nvSpPr>
        <p:spPr>
          <a:xfrm>
            <a:off x="715327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25" name="TextBox 25"/>
          <p:cNvSpPr txBox="1"/>
          <p:nvPr/>
        </p:nvSpPr>
        <p:spPr>
          <a:xfrm>
            <a:off x="785108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7202586" y="2752725"/>
            <a:ext cx="1520628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付款/费用/合同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7684946" y="3000375"/>
            <a:ext cx="555908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/印章</a:t>
            </a:r>
          </a:p>
        </p:txBody>
      </p:sp>
      <p:sp>
        <p:nvSpPr>
          <p:cNvPr id="28" name="Rectangle 28"/>
          <p:cNvSpPr/>
          <p:nvPr/>
        </p:nvSpPr>
        <p:spPr>
          <a:xfrm>
            <a:off x="92678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29" name="TextBox 29"/>
          <p:cNvSpPr txBox="1"/>
          <p:nvPr/>
        </p:nvSpPr>
        <p:spPr>
          <a:xfrm>
            <a:off x="99656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9221724" y="2752725"/>
            <a:ext cx="171145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矩阵字段：申请、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9221724" y="3000375"/>
            <a:ext cx="171145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审核、批准、执行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848106" y="4282440"/>
            <a:ext cx="753008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规范字段：目的｜适用范围｜责任｜输入｜步骤｜输出｜记录｜控制点</a:t>
            </a:r>
          </a:p>
        </p:txBody>
      </p:sp>
      <p:sp>
        <p:nvSpPr>
          <p:cNvPr id="33" name="Rectangle 33"/>
          <p:cNvSpPr/>
          <p:nvPr/>
        </p:nvSpPr>
        <p:spPr>
          <a:xfrm>
            <a:off x="428625" y="1762125"/>
            <a:ext cx="11334750" cy="4095750"/>
          </a:xfrm>
          <a:prstGeom prst="roundRect">
            <a:avLst>
              <a:gd name="adj" fmla="val 2791"/>
            </a:avLst>
          </a:prstGeom>
          <a:solidFill>
            <a:srgbClr val="F7F9FC"/>
          </a:solidFill>
          <a:ln w="9525">
            <a:solidFill>
              <a:srgbClr val="D7E0EA"/>
            </a:solidFill>
          </a:ln>
        </p:spPr>
      </p:sp>
      <p:pic>
        <p:nvPicPr>
          <p:cNvPr id="34" name="Image 3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875" y="1857375"/>
            <a:ext cx="11144250" cy="3905250"/>
          </a:xfrm>
          <a:prstGeom prst="rect">
            <a:avLst/>
          </a:prstGeom>
        </p:spPr>
      </p:pic>
      <p:sp>
        <p:nvSpPr>
          <p:cNvPr id="35" name="TextBox 35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35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36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3846957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保密与信息权限控制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5577650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客户图纸、报价、工艺、质量和员工资料，都需要按角色控制访问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Rectangle 8"/>
          <p:cNvSpPr/>
          <p:nvPr/>
        </p:nvSpPr>
        <p:spPr>
          <a:xfrm>
            <a:off x="8096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9" name="TextBox 9"/>
          <p:cNvSpPr txBox="1"/>
          <p:nvPr/>
        </p:nvSpPr>
        <p:spPr>
          <a:xfrm>
            <a:off x="15074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59649" y="2752725"/>
            <a:ext cx="1319203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资料分级 → 权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59649" y="3000375"/>
            <a:ext cx="1319203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限申请 → 负责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848106" y="4282440"/>
            <a:ext cx="753008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规范字段：目的｜适用范围｜责任｜输入｜步骤｜输出｜记录｜控制点</a:t>
            </a:r>
          </a:p>
        </p:txBody>
      </p:sp>
      <p:sp>
        <p:nvSpPr>
          <p:cNvPr id="13" name="Rectangle 13"/>
          <p:cNvSpPr/>
          <p:nvPr/>
        </p:nvSpPr>
        <p:spPr>
          <a:xfrm>
            <a:off x="428625" y="1762125"/>
            <a:ext cx="11334750" cy="4095750"/>
          </a:xfrm>
          <a:prstGeom prst="roundRect">
            <a:avLst>
              <a:gd name="adj" fmla="val 2791"/>
            </a:avLst>
          </a:prstGeom>
          <a:solidFill>
            <a:srgbClr val="F7F9FC"/>
          </a:solidFill>
          <a:ln w="9525">
            <a:solidFill>
              <a:srgbClr val="D7E0EA"/>
            </a:solidFill>
          </a:ln>
        </p:spPr>
      </p:sp>
      <p:pic>
        <p:nvPicPr>
          <p:cNvPr id="14" name="Image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875" y="1857375"/>
            <a:ext cx="11144250" cy="3905250"/>
          </a:xfrm>
          <a:prstGeom prst="rect">
            <a:avLst/>
          </a:prstGeom>
        </p:spPr>
      </p:pic>
      <p:sp>
        <p:nvSpPr>
          <p:cNvPr id="15" name="TextBox 15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36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37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4271010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安全、环保与应急响应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5769483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客户看到的不只是效率，也包括企业对人员、设备和环境风险的责任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Rectangle 8"/>
          <p:cNvSpPr/>
          <p:nvPr/>
        </p:nvSpPr>
        <p:spPr>
          <a:xfrm>
            <a:off x="8096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9" name="TextBox 9"/>
          <p:cNvSpPr txBox="1"/>
          <p:nvPr/>
        </p:nvSpPr>
        <p:spPr>
          <a:xfrm>
            <a:off x="15074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59649" y="2752725"/>
            <a:ext cx="1319203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日常检查 → 风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59649" y="3000375"/>
            <a:ext cx="1319203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险发现 → 现场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848106" y="4282440"/>
            <a:ext cx="753008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规范字段：目的｜适用范围｜责任｜输入｜步骤｜输出｜记录｜控制点</a:t>
            </a:r>
          </a:p>
        </p:txBody>
      </p:sp>
      <p:sp>
        <p:nvSpPr>
          <p:cNvPr id="13" name="Rectangle 13"/>
          <p:cNvSpPr/>
          <p:nvPr/>
        </p:nvSpPr>
        <p:spPr>
          <a:xfrm>
            <a:off x="428625" y="1762125"/>
            <a:ext cx="11334750" cy="4095750"/>
          </a:xfrm>
          <a:prstGeom prst="roundRect">
            <a:avLst>
              <a:gd name="adj" fmla="val 2791"/>
            </a:avLst>
          </a:prstGeom>
          <a:solidFill>
            <a:srgbClr val="F7F9FC"/>
          </a:solidFill>
          <a:ln w="9525">
            <a:solidFill>
              <a:srgbClr val="D7E0EA"/>
            </a:solidFill>
          </a:ln>
        </p:spPr>
      </p:sp>
      <p:pic>
        <p:nvPicPr>
          <p:cNvPr id="14" name="Image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875" y="1857375"/>
            <a:ext cx="11144250" cy="3905250"/>
          </a:xfrm>
          <a:prstGeom prst="rect">
            <a:avLst/>
          </a:prstGeom>
        </p:spPr>
      </p:pic>
      <p:sp>
        <p:nvSpPr>
          <p:cNvPr id="15" name="TextBox 15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37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38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3846957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记录与档案生命周期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5002149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没有保存规则，记录就不能稳定支持追溯、审查和客户沟通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Rectangle 8"/>
          <p:cNvSpPr/>
          <p:nvPr/>
        </p:nvSpPr>
        <p:spPr>
          <a:xfrm>
            <a:off x="8096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9" name="TextBox 9"/>
          <p:cNvSpPr txBox="1"/>
          <p:nvPr/>
        </p:nvSpPr>
        <p:spPr>
          <a:xfrm>
            <a:off x="15074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59649" y="2752725"/>
            <a:ext cx="1319203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形成记录 → 审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59649" y="3000375"/>
            <a:ext cx="1319203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核确认 → 编码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848106" y="4282440"/>
            <a:ext cx="753008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规范字段：目的｜适用范围｜责任｜输入｜步骤｜输出｜记录｜控制点</a:t>
            </a:r>
          </a:p>
        </p:txBody>
      </p:sp>
      <p:sp>
        <p:nvSpPr>
          <p:cNvPr id="13" name="Rectangle 13"/>
          <p:cNvSpPr/>
          <p:nvPr/>
        </p:nvSpPr>
        <p:spPr>
          <a:xfrm>
            <a:off x="428625" y="1762125"/>
            <a:ext cx="11334750" cy="4095750"/>
          </a:xfrm>
          <a:prstGeom prst="roundRect">
            <a:avLst>
              <a:gd name="adj" fmla="val 2791"/>
            </a:avLst>
          </a:prstGeom>
          <a:solidFill>
            <a:srgbClr val="F7F9FC"/>
          </a:solidFill>
          <a:ln w="9525">
            <a:solidFill>
              <a:srgbClr val="D7E0EA"/>
            </a:solidFill>
          </a:ln>
        </p:spPr>
      </p:sp>
      <p:pic>
        <p:nvPicPr>
          <p:cNvPr id="14" name="Image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875" y="1857375"/>
            <a:ext cx="11144250" cy="3905250"/>
          </a:xfrm>
          <a:prstGeom prst="rect">
            <a:avLst/>
          </a:prstGeom>
        </p:spPr>
      </p:pic>
      <p:sp>
        <p:nvSpPr>
          <p:cNvPr id="15" name="TextBox 15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38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39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5119116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风险热力图：先识别再排序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5002149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风险管理不是罗列问题，而是按影响和发生可能性排序控制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TextBox 8"/>
          <p:cNvSpPr txBox="1"/>
          <p:nvPr/>
        </p:nvSpPr>
        <p:spPr>
          <a:xfrm>
            <a:off x="5864519" y="1997392"/>
            <a:ext cx="93921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影响程度 ↑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421892" y="5283518"/>
            <a:ext cx="1130036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发生可能性 →</a:t>
            </a:r>
          </a:p>
        </p:txBody>
      </p:sp>
      <p:sp>
        <p:nvSpPr>
          <p:cNvPr id="10" name="Rectangle 10"/>
          <p:cNvSpPr/>
          <p:nvPr/>
        </p:nvSpPr>
        <p:spPr>
          <a:xfrm>
            <a:off x="2381250" y="2476500"/>
            <a:ext cx="1524000" cy="666750"/>
          </a:xfrm>
          <a:prstGeom prst="roundRect">
            <a:avLst>
              <a:gd name="adj" fmla="val 20000"/>
            </a:avLst>
          </a:prstGeom>
          <a:solidFill>
            <a:srgbClr val="244A48"/>
          </a:solidFill>
          <a:ln w="9525">
            <a:solidFill>
              <a:srgbClr val="D7E0EA"/>
            </a:solidFill>
          </a:ln>
        </p:spPr>
      </p:sp>
      <p:sp>
        <p:nvSpPr>
          <p:cNvPr id="11" name="Rectangle 11"/>
          <p:cNvSpPr/>
          <p:nvPr/>
        </p:nvSpPr>
        <p:spPr>
          <a:xfrm>
            <a:off x="4095750" y="2476500"/>
            <a:ext cx="1524000" cy="666750"/>
          </a:xfrm>
          <a:prstGeom prst="roundRect">
            <a:avLst>
              <a:gd name="adj" fmla="val 20000"/>
            </a:avLst>
          </a:prstGeom>
          <a:solidFill>
            <a:srgbClr val="8A6D3B"/>
          </a:solidFill>
          <a:ln w="9525">
            <a:solidFill>
              <a:srgbClr val="D7E0EA"/>
            </a:solidFill>
          </a:ln>
        </p:spPr>
      </p:sp>
      <p:sp>
        <p:nvSpPr>
          <p:cNvPr id="12" name="Rectangle 12"/>
          <p:cNvSpPr/>
          <p:nvPr/>
        </p:nvSpPr>
        <p:spPr>
          <a:xfrm>
            <a:off x="5810250" y="2476500"/>
            <a:ext cx="1524000" cy="666750"/>
          </a:xfrm>
          <a:prstGeom prst="roundRect">
            <a:avLst>
              <a:gd name="adj" fmla="val 20000"/>
            </a:avLst>
          </a:prstGeom>
          <a:solidFill>
            <a:srgbClr val="7A3F45"/>
          </a:solidFill>
          <a:ln w="9525">
            <a:solidFill>
              <a:srgbClr val="D7E0EA"/>
            </a:solidFill>
          </a:ln>
        </p:spPr>
      </p:sp>
      <p:sp>
        <p:nvSpPr>
          <p:cNvPr id="13" name="Rectangle 13"/>
          <p:cNvSpPr/>
          <p:nvPr/>
        </p:nvSpPr>
        <p:spPr>
          <a:xfrm>
            <a:off x="2381250" y="3333750"/>
            <a:ext cx="1524000" cy="666750"/>
          </a:xfrm>
          <a:prstGeom prst="roundRect">
            <a:avLst>
              <a:gd name="adj" fmla="val 20000"/>
            </a:avLst>
          </a:prstGeom>
          <a:solidFill>
            <a:srgbClr val="1F514D"/>
          </a:solidFill>
          <a:ln w="9525">
            <a:solidFill>
              <a:srgbClr val="D7E0EA"/>
            </a:solidFill>
          </a:ln>
        </p:spPr>
      </p:sp>
      <p:sp>
        <p:nvSpPr>
          <p:cNvPr id="14" name="Rectangle 14"/>
          <p:cNvSpPr/>
          <p:nvPr/>
        </p:nvSpPr>
        <p:spPr>
          <a:xfrm>
            <a:off x="4095750" y="3333750"/>
            <a:ext cx="1524000" cy="666750"/>
          </a:xfrm>
          <a:prstGeom prst="roundRect">
            <a:avLst>
              <a:gd name="adj" fmla="val 20000"/>
            </a:avLst>
          </a:prstGeom>
          <a:solidFill>
            <a:srgbClr val="946A2F"/>
          </a:solidFill>
          <a:ln w="9525">
            <a:solidFill>
              <a:srgbClr val="D7E0EA"/>
            </a:solidFill>
          </a:ln>
        </p:spPr>
      </p:sp>
      <p:sp>
        <p:nvSpPr>
          <p:cNvPr id="15" name="Rectangle 15"/>
          <p:cNvSpPr/>
          <p:nvPr/>
        </p:nvSpPr>
        <p:spPr>
          <a:xfrm>
            <a:off x="5810250" y="3333750"/>
            <a:ext cx="1524000" cy="666750"/>
          </a:xfrm>
          <a:prstGeom prst="roundRect">
            <a:avLst>
              <a:gd name="adj" fmla="val 20000"/>
            </a:avLst>
          </a:prstGeom>
          <a:solidFill>
            <a:srgbClr val="A13E45"/>
          </a:solidFill>
          <a:ln w="9525">
            <a:solidFill>
              <a:srgbClr val="D7E0EA"/>
            </a:solidFill>
          </a:ln>
        </p:spPr>
      </p:sp>
      <p:sp>
        <p:nvSpPr>
          <p:cNvPr id="16" name="Rectangle 16"/>
          <p:cNvSpPr/>
          <p:nvPr/>
        </p:nvSpPr>
        <p:spPr>
          <a:xfrm>
            <a:off x="2381250" y="4191000"/>
            <a:ext cx="1524000" cy="666750"/>
          </a:xfrm>
          <a:prstGeom prst="roundRect">
            <a:avLst>
              <a:gd name="adj" fmla="val 20000"/>
            </a:avLst>
          </a:prstGeom>
          <a:solidFill>
            <a:srgbClr val="2A5B52"/>
          </a:solidFill>
          <a:ln w="9525">
            <a:solidFill>
              <a:srgbClr val="D7E0EA"/>
            </a:solidFill>
          </a:ln>
        </p:spPr>
      </p:sp>
      <p:sp>
        <p:nvSpPr>
          <p:cNvPr id="17" name="Rectangle 17"/>
          <p:cNvSpPr/>
          <p:nvPr/>
        </p:nvSpPr>
        <p:spPr>
          <a:xfrm>
            <a:off x="4095750" y="4191000"/>
            <a:ext cx="1524000" cy="666750"/>
          </a:xfrm>
          <a:prstGeom prst="roundRect">
            <a:avLst>
              <a:gd name="adj" fmla="val 20000"/>
            </a:avLst>
          </a:prstGeom>
          <a:solidFill>
            <a:srgbClr val="A4772E"/>
          </a:solidFill>
          <a:ln w="9525">
            <a:solidFill>
              <a:srgbClr val="D7E0EA"/>
            </a:solidFill>
          </a:ln>
        </p:spPr>
      </p:sp>
      <p:sp>
        <p:nvSpPr>
          <p:cNvPr id="18" name="Rectangle 18"/>
          <p:cNvSpPr/>
          <p:nvPr/>
        </p:nvSpPr>
        <p:spPr>
          <a:xfrm>
            <a:off x="5810250" y="4191000"/>
            <a:ext cx="1524000" cy="666750"/>
          </a:xfrm>
          <a:prstGeom prst="roundRect">
            <a:avLst>
              <a:gd name="adj" fmla="val 20000"/>
            </a:avLst>
          </a:prstGeom>
          <a:solidFill>
            <a:srgbClr val="C23E45"/>
          </a:solidFill>
          <a:ln w="9525">
            <a:solidFill>
              <a:srgbClr val="D7E0EA"/>
            </a:solidFill>
          </a:ln>
        </p:spPr>
      </p:sp>
      <p:sp>
        <p:nvSpPr>
          <p:cNvPr id="19" name="TextBox 19"/>
          <p:cNvSpPr txBox="1"/>
          <p:nvPr/>
        </p:nvSpPr>
        <p:spPr>
          <a:xfrm>
            <a:off x="7515606" y="2425065"/>
            <a:ext cx="295697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高影响/高可能：立即升级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7515606" y="3015615"/>
            <a:ext cx="3211407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高影响/低可能：预案与监控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7515606" y="3606165"/>
            <a:ext cx="3211407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低影响/高可能：标准化控制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7515606" y="4196715"/>
            <a:ext cx="295697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低影响/低可能：持续观察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39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40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3704539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PDCA持续改进闭环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5002149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管理体系的价值，不是文件齐全，而是能持续减少重复问题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Line 8"/>
          <p:cNvSpPr/>
          <p:nvPr/>
        </p:nvSpPr>
        <p:spPr>
          <a:xfrm>
            <a:off x="1905000" y="2286000"/>
            <a:ext cx="3048000" cy="952500"/>
          </a:xfrm>
          <a:custGeom>
            <a:avLst/>
            <a:gdLst/>
            <a:ahLst/>
            <a:cxnLst/>
            <a:rect l="l" t="t" r="r" b="b"/>
            <a:pathLst>
              <a:path w="3048000" h="952500">
                <a:moveTo>
                  <a:pt x="0" y="952500"/>
                </a:moveTo>
                <a:lnTo>
                  <a:pt x="3048000" y="0"/>
                </a:lnTo>
              </a:path>
            </a:pathLst>
          </a:custGeom>
          <a:noFill/>
          <a:ln w="47625">
            <a:solidFill>
              <a:srgbClr val="1C9C8C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952500" y="2809875"/>
            <a:ext cx="1905000" cy="857250"/>
          </a:xfrm>
          <a:prstGeom prst="roundRect">
            <a:avLst>
              <a:gd name="adj" fmla="val 15556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1042648" y="3028950"/>
            <a:ext cx="1724704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Plan：目标与风险</a:t>
            </a:r>
          </a:p>
        </p:txBody>
      </p:sp>
      <p:sp>
        <p:nvSpPr>
          <p:cNvPr id="11" name="Line 11"/>
          <p:cNvSpPr/>
          <p:nvPr/>
        </p:nvSpPr>
        <p:spPr>
          <a:xfrm>
            <a:off x="4953000" y="2286000"/>
            <a:ext cx="3048000" cy="952500"/>
          </a:xfrm>
          <a:custGeom>
            <a:avLst/>
            <a:gdLst/>
            <a:ahLst/>
            <a:cxnLst/>
            <a:rect l="l" t="t" r="r" b="b"/>
            <a:pathLst>
              <a:path w="3048000" h="952500">
                <a:moveTo>
                  <a:pt x="0" y="0"/>
                </a:moveTo>
                <a:lnTo>
                  <a:pt x="3048000" y="952500"/>
                </a:lnTo>
              </a:path>
            </a:pathLst>
          </a:custGeom>
          <a:noFill/>
          <a:ln w="47625">
            <a:solidFill>
              <a:srgbClr val="1C9C8C"/>
            </a:solidFill>
          </a:ln>
        </p:spPr>
      </p:sp>
      <p:sp>
        <p:nvSpPr>
          <p:cNvPr id="12" name="Rectangle 12"/>
          <p:cNvSpPr/>
          <p:nvPr/>
        </p:nvSpPr>
        <p:spPr>
          <a:xfrm>
            <a:off x="4000500" y="1857375"/>
            <a:ext cx="1905000" cy="857250"/>
          </a:xfrm>
          <a:prstGeom prst="roundRect">
            <a:avLst>
              <a:gd name="adj" fmla="val 15556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13" name="TextBox 13"/>
          <p:cNvSpPr txBox="1"/>
          <p:nvPr/>
        </p:nvSpPr>
        <p:spPr>
          <a:xfrm>
            <a:off x="4171383" y="2076450"/>
            <a:ext cx="1563233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Do：执行与记录</a:t>
            </a:r>
          </a:p>
        </p:txBody>
      </p:sp>
      <p:sp>
        <p:nvSpPr>
          <p:cNvPr id="14" name="Line 14"/>
          <p:cNvSpPr/>
          <p:nvPr/>
        </p:nvSpPr>
        <p:spPr>
          <a:xfrm>
            <a:off x="4953000" y="3238500"/>
            <a:ext cx="3048000" cy="1238250"/>
          </a:xfrm>
          <a:custGeom>
            <a:avLst/>
            <a:gdLst/>
            <a:ahLst/>
            <a:cxnLst/>
            <a:rect l="l" t="t" r="r" b="b"/>
            <a:pathLst>
              <a:path w="3048000" h="1238250">
                <a:moveTo>
                  <a:pt x="3048000" y="0"/>
                </a:moveTo>
                <a:lnTo>
                  <a:pt x="0" y="1238250"/>
                </a:lnTo>
              </a:path>
            </a:pathLst>
          </a:custGeom>
          <a:noFill/>
          <a:ln w="47625">
            <a:solidFill>
              <a:srgbClr val="1C9C8C"/>
            </a:solidFill>
          </a:ln>
        </p:spPr>
      </p:sp>
      <p:sp>
        <p:nvSpPr>
          <p:cNvPr id="15" name="Rectangle 15"/>
          <p:cNvSpPr/>
          <p:nvPr/>
        </p:nvSpPr>
        <p:spPr>
          <a:xfrm>
            <a:off x="7048500" y="2809875"/>
            <a:ext cx="1905000" cy="857250"/>
          </a:xfrm>
          <a:prstGeom prst="roundRect">
            <a:avLst>
              <a:gd name="adj" fmla="val 15556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16" name="TextBox 16"/>
          <p:cNvSpPr txBox="1"/>
          <p:nvPr/>
        </p:nvSpPr>
        <p:spPr>
          <a:xfrm>
            <a:off x="6411982" y="3028950"/>
            <a:ext cx="3178035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Check：指标、审核、客诉与复盘</a:t>
            </a:r>
          </a:p>
        </p:txBody>
      </p:sp>
      <p:sp>
        <p:nvSpPr>
          <p:cNvPr id="17" name="Line 17"/>
          <p:cNvSpPr/>
          <p:nvPr/>
        </p:nvSpPr>
        <p:spPr>
          <a:xfrm>
            <a:off x="1905000" y="3238500"/>
            <a:ext cx="3048000" cy="1238250"/>
          </a:xfrm>
          <a:custGeom>
            <a:avLst/>
            <a:gdLst/>
            <a:ahLst/>
            <a:cxnLst/>
            <a:rect l="l" t="t" r="r" b="b"/>
            <a:pathLst>
              <a:path w="3048000" h="1238250">
                <a:moveTo>
                  <a:pt x="3048000" y="1238250"/>
                </a:moveTo>
                <a:lnTo>
                  <a:pt x="0" y="0"/>
                </a:lnTo>
              </a:path>
            </a:pathLst>
          </a:custGeom>
          <a:noFill/>
          <a:ln w="47625">
            <a:solidFill>
              <a:srgbClr val="1C9C8C"/>
            </a:solidFill>
          </a:ln>
        </p:spPr>
      </p:sp>
      <p:sp>
        <p:nvSpPr>
          <p:cNvPr id="18" name="Rectangle 18"/>
          <p:cNvSpPr/>
          <p:nvPr/>
        </p:nvSpPr>
        <p:spPr>
          <a:xfrm>
            <a:off x="4000500" y="4048125"/>
            <a:ext cx="1905000" cy="857250"/>
          </a:xfrm>
          <a:prstGeom prst="roundRect">
            <a:avLst>
              <a:gd name="adj" fmla="val 15556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19" name="TextBox 19"/>
          <p:cNvSpPr txBox="1"/>
          <p:nvPr/>
        </p:nvSpPr>
        <p:spPr>
          <a:xfrm>
            <a:off x="3254969" y="4267200"/>
            <a:ext cx="3396063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Act：纠正、预防、标准化与再验证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4305490" y="3090862"/>
            <a:ext cx="1295019" cy="44005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250" b="1" dirty="0">
                <a:solidFill>
                  <a:srgbClr val="E27A21"/>
                </a:solidFill>
                <a:latin typeface="Arial"/>
                <a:ea typeface="Microsoft YaHei"/>
                <a:cs typeface="Arial"/>
              </a:rPr>
              <a:t>持续改进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40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41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3465309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90天治理落地路线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4618482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先把最关键的责任、授权和记录跑通，再扩展到全公司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Line 8"/>
          <p:cNvSpPr/>
          <p:nvPr/>
        </p:nvSpPr>
        <p:spPr>
          <a:xfrm>
            <a:off x="1666875" y="2514600"/>
            <a:ext cx="2762250" cy="9525"/>
          </a:xfrm>
          <a:custGeom>
            <a:avLst/>
            <a:gdLst/>
            <a:ahLst/>
            <a:cxnLst/>
            <a:rect l="l" t="t" r="r" b="b"/>
            <a:pathLst>
              <a:path w="2762250" h="9525">
                <a:moveTo>
                  <a:pt x="0" y="0"/>
                </a:moveTo>
                <a:lnTo>
                  <a:pt x="2762250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8096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15074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54348" y="2752725"/>
            <a:ext cx="1329804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0—30天：主数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63524" y="3000375"/>
            <a:ext cx="171145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据、架构、岗位、</a:t>
            </a:r>
          </a:p>
        </p:txBody>
      </p:sp>
      <p:sp>
        <p:nvSpPr>
          <p:cNvPr id="13" name="Line 13"/>
          <p:cNvSpPr/>
          <p:nvPr/>
        </p:nvSpPr>
        <p:spPr>
          <a:xfrm>
            <a:off x="5191125" y="2514600"/>
            <a:ext cx="2762250" cy="9525"/>
          </a:xfrm>
          <a:custGeom>
            <a:avLst/>
            <a:gdLst/>
            <a:ahLst/>
            <a:cxnLst/>
            <a:rect l="l" t="t" r="r" b="b"/>
            <a:pathLst>
              <a:path w="2762250" h="9525">
                <a:moveTo>
                  <a:pt x="0" y="0"/>
                </a:moveTo>
                <a:lnTo>
                  <a:pt x="2762250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14" name="Rectangle 14"/>
          <p:cNvSpPr/>
          <p:nvPr/>
        </p:nvSpPr>
        <p:spPr>
          <a:xfrm>
            <a:off x="433387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15" name="TextBox 15"/>
          <p:cNvSpPr txBox="1"/>
          <p:nvPr/>
        </p:nvSpPr>
        <p:spPr>
          <a:xfrm>
            <a:off x="503168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4526304" y="2752725"/>
            <a:ext cx="123439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31—60天：确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4287774" y="3000375"/>
            <a:ext cx="171145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认清单、会议机制</a:t>
            </a:r>
          </a:p>
        </p:txBody>
      </p:sp>
      <p:sp>
        <p:nvSpPr>
          <p:cNvPr id="18" name="Rectangle 18"/>
          <p:cNvSpPr/>
          <p:nvPr/>
        </p:nvSpPr>
        <p:spPr>
          <a:xfrm>
            <a:off x="78581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19" name="TextBox 19"/>
          <p:cNvSpPr txBox="1"/>
          <p:nvPr/>
        </p:nvSpPr>
        <p:spPr>
          <a:xfrm>
            <a:off x="85559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8050554" y="2752725"/>
            <a:ext cx="123439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61—90天：复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7812024" y="3000375"/>
            <a:ext cx="171145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盘、内审、持续改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848106" y="4282440"/>
            <a:ext cx="753008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规范字段：目的｜适用范围｜责任｜输入｜步骤｜输出｜记录｜控制点</a:t>
            </a:r>
          </a:p>
        </p:txBody>
      </p:sp>
      <p:sp>
        <p:nvSpPr>
          <p:cNvPr id="23" name="Rectangle 23"/>
          <p:cNvSpPr/>
          <p:nvPr/>
        </p:nvSpPr>
        <p:spPr>
          <a:xfrm>
            <a:off x="428625" y="1762125"/>
            <a:ext cx="11334750" cy="4095750"/>
          </a:xfrm>
          <a:prstGeom prst="roundRect">
            <a:avLst>
              <a:gd name="adj" fmla="val 2791"/>
            </a:avLst>
          </a:prstGeom>
          <a:solidFill>
            <a:srgbClr val="F7F9FC"/>
          </a:solidFill>
          <a:ln w="9525">
            <a:solidFill>
              <a:srgbClr val="D7E0EA"/>
            </a:solidFill>
          </a:ln>
        </p:spPr>
      </p:sp>
      <p:pic>
        <p:nvPicPr>
          <p:cNvPr id="24" name="Image 2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875" y="1857375"/>
            <a:ext cx="11144250" cy="3905250"/>
          </a:xfrm>
          <a:prstGeom prst="rect">
            <a:avLst/>
          </a:prstGeom>
        </p:spPr>
      </p:pic>
      <p:sp>
        <p:nvSpPr>
          <p:cNvPr id="25" name="TextBox 25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41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42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4271010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客户可见的治理证据包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3486664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把“我们有管理”变成客户看得懂的资料包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Rectangle 8"/>
          <p:cNvSpPr/>
          <p:nvPr/>
        </p:nvSpPr>
        <p:spPr>
          <a:xfrm>
            <a:off x="857250" y="20955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857250" y="20955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1C9C8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1117092" y="22545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562481" y="2244090"/>
            <a:ext cx="230817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公司介绍与组织边界</a:t>
            </a:r>
          </a:p>
        </p:txBody>
      </p:sp>
      <p:sp>
        <p:nvSpPr>
          <p:cNvPr id="12" name="Rectangle 12"/>
          <p:cNvSpPr/>
          <p:nvPr/>
        </p:nvSpPr>
        <p:spPr>
          <a:xfrm>
            <a:off x="6191250" y="20955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13" name="Rectangle 13"/>
          <p:cNvSpPr/>
          <p:nvPr/>
        </p:nvSpPr>
        <p:spPr>
          <a:xfrm>
            <a:off x="6191250" y="20955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E27A21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6451092" y="22545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896481" y="2244090"/>
            <a:ext cx="1684816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订单/变更评审</a:t>
            </a:r>
          </a:p>
        </p:txBody>
      </p:sp>
      <p:sp>
        <p:nvSpPr>
          <p:cNvPr id="16" name="Rectangle 16"/>
          <p:cNvSpPr/>
          <p:nvPr/>
        </p:nvSpPr>
        <p:spPr>
          <a:xfrm>
            <a:off x="857250" y="30480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17" name="Rectangle 17"/>
          <p:cNvSpPr/>
          <p:nvPr/>
        </p:nvSpPr>
        <p:spPr>
          <a:xfrm>
            <a:off x="857250" y="30480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1C9C8C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1117092" y="32070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562481" y="3196590"/>
            <a:ext cx="1799311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质量与异常闭环</a:t>
            </a:r>
          </a:p>
        </p:txBody>
      </p:sp>
      <p:sp>
        <p:nvSpPr>
          <p:cNvPr id="20" name="Rectangle 20"/>
          <p:cNvSpPr/>
          <p:nvPr/>
        </p:nvSpPr>
        <p:spPr>
          <a:xfrm>
            <a:off x="6191250" y="30480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21" name="Rectangle 21"/>
          <p:cNvSpPr/>
          <p:nvPr/>
        </p:nvSpPr>
        <p:spPr>
          <a:xfrm>
            <a:off x="6191250" y="30480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E27A21"/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6451092" y="32070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896481" y="3196590"/>
            <a:ext cx="1799311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模具与版本履历</a:t>
            </a:r>
          </a:p>
        </p:txBody>
      </p:sp>
      <p:sp>
        <p:nvSpPr>
          <p:cNvPr id="24" name="Rectangle 24"/>
          <p:cNvSpPr/>
          <p:nvPr/>
        </p:nvSpPr>
        <p:spPr>
          <a:xfrm>
            <a:off x="857250" y="40005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25" name="Rectangle 25"/>
          <p:cNvSpPr/>
          <p:nvPr/>
        </p:nvSpPr>
        <p:spPr>
          <a:xfrm>
            <a:off x="857250" y="40005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1C9C8C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1117092" y="41595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562481" y="4149090"/>
            <a:ext cx="1799311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会议与改善记录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42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7500" y="1835150"/>
            <a:ext cx="4953000" cy="2806700"/>
          </a:xfrm>
          <a:prstGeom prst="rect">
            <a:avLst/>
          </a:prstGeom>
        </p:spPr>
      </p:pic>
      <p:sp>
        <p:nvSpPr>
          <p:cNvPr id="3" name="Rectangle 3"/>
          <p:cNvSpPr/>
          <p:nvPr/>
        </p:nvSpPr>
        <p:spPr>
          <a:xfrm>
            <a:off x="6667500" y="762000"/>
            <a:ext cx="4953000" cy="4953000"/>
          </a:xfrm>
          <a:prstGeom prst="rect">
            <a:avLst/>
          </a:prstGeom>
          <a:solidFill>
            <a:srgbClr val="F7F9FC">
              <a:alpha val="45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7810500" cy="6858000"/>
          </a:xfrm>
          <a:prstGeom prst="rect">
            <a:avLst/>
          </a:prstGeom>
          <a:solidFill>
            <a:srgbClr val="F7F9FC">
              <a:alpha val="94000"/>
            </a:srgbClr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659892" y="806768"/>
            <a:ext cx="1848505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CUSTOMER PROMISE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47700" y="1672590"/>
            <a:ext cx="2752039" cy="9334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给客户的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47700" y="2321242"/>
            <a:ext cx="1691907" cy="11334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5850" b="1" dirty="0">
                <a:solidFill>
                  <a:srgbClr val="E27A21"/>
                </a:solidFill>
                <a:latin typeface="Arial"/>
                <a:ea typeface="Microsoft YaHei"/>
                <a:cs typeface="Arial"/>
              </a:rPr>
              <a:t>承诺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56082" y="3630930"/>
            <a:ext cx="8332775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鑫犇电子｜以受控的管理方法，支撑长期、透明、可验证的合作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57606" y="5139690"/>
            <a:ext cx="1956816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鑫犇电子有限公司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43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43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2026-10-07T10:57:09Z</dcterms:created>
  <dcterms:modified xsi:type="dcterms:W3CDTF">2026-10-07T10:57:09Z</dcterms:modified>
  <cp:category/>
  <cp:contentStatus/>
</cp:coreProperties>
</file>