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本页围绕“部门职责地图”展开。重点不是介绍概念本身，而是说明鑫犇如何把责任、流程和证据组织起来，让客户能够理解并验证我们的管理方式。下一页将继续把这一方法落到具体治理场景。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本页围绕“订单到交付总流程”展开。重点不是介绍概念本身，而是说明鑫犇如何把责任、流程和证据组织起来，让客户能够理解并验证我们的管理方式。下一页将继续把这一方法落到具体治理场景。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本页围绕“生产计划与任务下达”展开。重点不是介绍概念本身，而是说明鑫犇如何把责任、流程和证据组织起来，让客户能够理解并验证我们的管理方式。下一页将继续把这一方法落到具体治理场景。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本页围绕“采购到付款”展开。重点不是介绍概念本身，而是说明鑫犇如何把责任、流程和证据组织起来，让客户能够理解并验证我们的管理方式。下一页将继续把这一方法落到具体治理场景。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本页围绕“客诉与纠正措施”展开。重点不是介绍概念本身，而是说明鑫犇如何把责任、流程和证据组织起来，让客户能够理解并验证我们的管理方式。下一页将继续把这一方法落到具体治理场景。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本页围绕“跨部门交接标准”展开。重点不是介绍概念本身，而是说明鑫犇如何把责任、流程和证据组织起来，让客户能够理解并验证我们的管理方式。下一页将继续把这一方法落到具体治理场景。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本页围绕“文件编制与版本控制”展开。重点不是介绍概念本身，而是说明鑫犇如何把责任、流程和证据组织起来，让客户能够理解并验证我们的管理方式。下一页将继续把这一方法落到具体治理场景。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本页围绕“人员能力与岗位授权”展开。重点不是介绍概念本身，而是说明鑫犇如何把责任、流程和证据组织起来，让客户能够理解并验证我们的管理方式。下一页将继续把这一方法落到具体治理场景。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本页围绕“客户资料与信息权限”展开。重点不是介绍概念本身，而是说明鑫犇如何把责任、流程和证据组织起来，让客户能够理解并验证我们的管理方式。下一页将继续把这一方法落到具体治理场景。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本页围绕“管理指标看板”展开。重点不是介绍概念本身，而是说明鑫犇如何把责任、流程和证据组织起来，让客户能够理解并验证我们的管理方式。下一页将继续把这一方法落到具体治理场景。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本页围绕“风险登记与升级”展开。重点不是介绍概念本身，而是说明鑫犇如何把责任、流程和证据组织起来，让客户能够理解并验证我们的管理方式。下一页将继续把这一方法落到具体治理场景。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本页围绕“内部检查与管理评审”展开。重点不是介绍概念本身，而是说明鑫犇如何把责任、流程和证据组织起来，让客户能够理解并验证我们的管理方式。下一页将继续把这一方法落到具体治理场景。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本页围绕“不符合项与整改关闭”展开。重点不是介绍概念本身，而是说明鑫犇如何把责任、流程和证据组织起来，让客户能够理解并验证我们的管理方式。下一页将继续把这一方法落到具体治理场景。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本页围绕“管理体系证据链”展开。重点不是介绍概念本身，而是说明鑫犇如何把责任、流程和证据组织起来，让客户能够理解并验证我们的管理方式。下一页将继续把这一方法落到具体治理场景。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3206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08｜部门职责地图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5020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五个正式一级部门的输入、输出与协同接口；下属组织归属按受控矩阵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6131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本页是部门职责地图摘要：看输入、输出和协同接口；不替代岗位SOP或授权文件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476375"/>
            <a:ext cx="2152650" cy="3857625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476375"/>
            <a:ext cx="2152650" cy="495300"/>
          </a:xfrm>
          <a:prstGeom prst="roundRect">
            <a:avLst>
              <a:gd name="adj" fmla="val 19231"/>
            </a:avLst>
          </a:prstGeom>
          <a:solidFill>
            <a:srgbClr val="2F6B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311097" y="16611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生产部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1604" y="21374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输入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1604" y="23660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订单评审｜物料齐套｜质量要求</a:t>
            </a:r>
          </a:p>
        </p:txBody>
      </p:sp>
      <p:sp>
        <p:nvSpPr>
          <p:cNvPr id="11" name="Line 11"/>
          <p:cNvSpPr/>
          <p:nvPr/>
        </p:nvSpPr>
        <p:spPr>
          <a:xfrm>
            <a:off x="647700" y="276225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641604" y="29184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输出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1604" y="3147060"/>
            <a:ext cx="18780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生产任务｜产量/异常记录</a:t>
            </a:r>
          </a:p>
        </p:txBody>
      </p:sp>
      <p:sp>
        <p:nvSpPr>
          <p:cNvPr id="14" name="Line 14"/>
          <p:cNvSpPr/>
          <p:nvPr/>
        </p:nvSpPr>
        <p:spPr>
          <a:xfrm>
            <a:off x="647700" y="354330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41604" y="3699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协同接口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1604" y="392811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品质判定｜营运交期协同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09600" y="4429125"/>
            <a:ext cx="1924050" cy="66675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9704" y="45186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下属组织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9704" y="4747260"/>
            <a:ext cx="347731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工程技术组 / 冲压车间 / 模具维修组 / 清洗车间</a:t>
            </a:r>
          </a:p>
        </p:txBody>
      </p:sp>
      <p:sp>
        <p:nvSpPr>
          <p:cNvPr id="20" name="Rectangle 20"/>
          <p:cNvSpPr/>
          <p:nvPr/>
        </p:nvSpPr>
        <p:spPr>
          <a:xfrm>
            <a:off x="2762250" y="1476375"/>
            <a:ext cx="2152650" cy="3857625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2762250" y="1476375"/>
            <a:ext cx="2152650" cy="495300"/>
          </a:xfrm>
          <a:prstGeom prst="roundRect">
            <a:avLst>
              <a:gd name="adj" fmla="val 19231"/>
            </a:avLst>
          </a:prstGeom>
          <a:solidFill>
            <a:srgbClr val="7657B8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3578047" y="16611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品质部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908554" y="21374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输入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908554" y="2366010"/>
            <a:ext cx="20395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来料｜首件/制程｜成品待检</a:t>
            </a:r>
          </a:p>
        </p:txBody>
      </p:sp>
      <p:sp>
        <p:nvSpPr>
          <p:cNvPr id="25" name="Line 25"/>
          <p:cNvSpPr/>
          <p:nvPr/>
        </p:nvSpPr>
        <p:spPr>
          <a:xfrm>
            <a:off x="2914650" y="276225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2908554" y="29184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输出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908554" y="3147060"/>
            <a:ext cx="24353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检验记录｜不合格处置｜客诉闭环</a:t>
            </a:r>
          </a:p>
        </p:txBody>
      </p:sp>
      <p:sp>
        <p:nvSpPr>
          <p:cNvPr id="28" name="Line 28"/>
          <p:cNvSpPr/>
          <p:nvPr/>
        </p:nvSpPr>
        <p:spPr>
          <a:xfrm>
            <a:off x="2914650" y="354330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2908554" y="3699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协同接口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908554" y="3928110"/>
            <a:ext cx="220111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独立质量判断｜反馈营运/生产</a:t>
            </a:r>
          </a:p>
        </p:txBody>
      </p:sp>
      <p:sp>
        <p:nvSpPr>
          <p:cNvPr id="31" name="Rectangle 31"/>
          <p:cNvSpPr/>
          <p:nvPr/>
        </p:nvSpPr>
        <p:spPr>
          <a:xfrm>
            <a:off x="2876550" y="4429125"/>
            <a:ext cx="1924050" cy="66675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946654" y="45186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下属组织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946654" y="4747260"/>
            <a:ext cx="21364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制程巡检组 / 成品出货检验组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029200" y="1476375"/>
            <a:ext cx="2152650" cy="3857625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5029200" y="1476375"/>
            <a:ext cx="2152650" cy="495300"/>
          </a:xfrm>
          <a:prstGeom prst="roundRect">
            <a:avLst>
              <a:gd name="adj" fmla="val 19231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844997" y="16611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营运部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175504" y="21374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输入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175504" y="2366010"/>
            <a:ext cx="23626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客户订单｜产能/质量意见｜需求</a:t>
            </a:r>
          </a:p>
        </p:txBody>
      </p:sp>
      <p:sp>
        <p:nvSpPr>
          <p:cNvPr id="39" name="Line 39"/>
          <p:cNvSpPr/>
          <p:nvPr/>
        </p:nvSpPr>
        <p:spPr>
          <a:xfrm>
            <a:off x="5181600" y="276225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5175504" y="29184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输出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175504" y="3147060"/>
            <a:ext cx="28472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订单评审｜采购订单｜出入库/交付协同</a:t>
            </a:r>
          </a:p>
        </p:txBody>
      </p:sp>
      <p:sp>
        <p:nvSpPr>
          <p:cNvPr id="42" name="Line 42"/>
          <p:cNvSpPr/>
          <p:nvPr/>
        </p:nvSpPr>
        <p:spPr>
          <a:xfrm>
            <a:off x="5181600" y="354330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5175504" y="3699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协同接口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175504" y="392811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业务、采购、仓储分工执行</a:t>
            </a:r>
          </a:p>
        </p:txBody>
      </p:sp>
      <p:sp>
        <p:nvSpPr>
          <p:cNvPr id="45" name="Rectangle 45"/>
          <p:cNvSpPr/>
          <p:nvPr/>
        </p:nvSpPr>
        <p:spPr>
          <a:xfrm>
            <a:off x="5143500" y="4429125"/>
            <a:ext cx="1924050" cy="66675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5213604" y="45186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下属组织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213604" y="4747260"/>
            <a:ext cx="183763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业务组 / 采购组 / 仓储组</a:t>
            </a:r>
          </a:p>
        </p:txBody>
      </p:sp>
      <p:sp>
        <p:nvSpPr>
          <p:cNvPr id="48" name="Rectangle 48"/>
          <p:cNvSpPr/>
          <p:nvPr/>
        </p:nvSpPr>
        <p:spPr>
          <a:xfrm>
            <a:off x="7296150" y="1476375"/>
            <a:ext cx="2152650" cy="3857625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7296150" y="1476375"/>
            <a:ext cx="2152650" cy="495300"/>
          </a:xfrm>
          <a:prstGeom prst="roundRect">
            <a:avLst>
              <a:gd name="adj" fmla="val 19231"/>
            </a:avLst>
          </a:prstGeom>
          <a:solidFill>
            <a:srgbClr val="C56A25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8111947" y="16611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行政部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442454" y="21374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输入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442454" y="236601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用工需求｜制度与后勤事项</a:t>
            </a:r>
          </a:p>
        </p:txBody>
      </p:sp>
      <p:sp>
        <p:nvSpPr>
          <p:cNvPr id="53" name="Line 53"/>
          <p:cNvSpPr/>
          <p:nvPr/>
        </p:nvSpPr>
        <p:spPr>
          <a:xfrm>
            <a:off x="7448550" y="276225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7442454" y="29184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输出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442454" y="314706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人事档案｜入离职与后勤记录</a:t>
            </a:r>
          </a:p>
        </p:txBody>
      </p:sp>
      <p:sp>
        <p:nvSpPr>
          <p:cNvPr id="56" name="Line 56"/>
          <p:cNvSpPr/>
          <p:nvPr/>
        </p:nvSpPr>
        <p:spPr>
          <a:xfrm>
            <a:off x="7448550" y="354330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7442454" y="3699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协同接口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442454" y="39281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人员与保障协同</a:t>
            </a:r>
          </a:p>
        </p:txBody>
      </p:sp>
      <p:sp>
        <p:nvSpPr>
          <p:cNvPr id="59" name="Rectangle 59"/>
          <p:cNvSpPr/>
          <p:nvPr/>
        </p:nvSpPr>
        <p:spPr>
          <a:xfrm>
            <a:off x="7410450" y="4429125"/>
            <a:ext cx="1924050" cy="66675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60" name="TextBox 60"/>
          <p:cNvSpPr txBox="1"/>
          <p:nvPr/>
        </p:nvSpPr>
        <p:spPr>
          <a:xfrm>
            <a:off x="7480554" y="45186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下属组织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480554" y="4747260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人事组 / 后勤组</a:t>
            </a:r>
          </a:p>
        </p:txBody>
      </p:sp>
      <p:sp>
        <p:nvSpPr>
          <p:cNvPr id="62" name="Rectangle 62"/>
          <p:cNvSpPr/>
          <p:nvPr/>
        </p:nvSpPr>
        <p:spPr>
          <a:xfrm>
            <a:off x="9563100" y="1476375"/>
            <a:ext cx="2152650" cy="3857625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63" name="Rectangle 63"/>
          <p:cNvSpPr/>
          <p:nvPr/>
        </p:nvSpPr>
        <p:spPr>
          <a:xfrm>
            <a:off x="9563100" y="1476375"/>
            <a:ext cx="2152650" cy="495300"/>
          </a:xfrm>
          <a:prstGeom prst="roundRect">
            <a:avLst>
              <a:gd name="adj" fmla="val 19231"/>
            </a:avLst>
          </a:prstGeom>
          <a:solidFill>
            <a:srgbClr val="2F6BFF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10378897" y="16611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财务部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709404" y="21374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输入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709404" y="2366010"/>
            <a:ext cx="26857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业务单据｜费用/付款申请｜经营数据</a:t>
            </a:r>
          </a:p>
        </p:txBody>
      </p:sp>
      <p:sp>
        <p:nvSpPr>
          <p:cNvPr id="67" name="Line 67"/>
          <p:cNvSpPr/>
          <p:nvPr/>
        </p:nvSpPr>
        <p:spPr>
          <a:xfrm>
            <a:off x="9715500" y="276225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9709404" y="29184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输出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9709404" y="3147060"/>
            <a:ext cx="24353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会计凭证｜报表｜资金与付款记录</a:t>
            </a:r>
          </a:p>
        </p:txBody>
      </p:sp>
      <p:sp>
        <p:nvSpPr>
          <p:cNvPr id="70" name="Line 70"/>
          <p:cNvSpPr/>
          <p:nvPr/>
        </p:nvSpPr>
        <p:spPr>
          <a:xfrm>
            <a:off x="9715500" y="3543300"/>
            <a:ext cx="1847850" cy="9525"/>
          </a:xfrm>
          <a:custGeom>
            <a:avLst/>
            <a:gdLst/>
            <a:ahLst/>
            <a:cxnLst/>
            <a:rect l="l" t="t" r="r" b="b"/>
            <a:pathLst>
              <a:path w="1847850" h="9525">
                <a:moveTo>
                  <a:pt x="0" y="0"/>
                </a:moveTo>
                <a:lnTo>
                  <a:pt x="18478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9709404" y="3699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协同接口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9709404" y="3928110"/>
            <a:ext cx="23626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财务审核/执行｜按授权边界审批</a:t>
            </a:r>
          </a:p>
        </p:txBody>
      </p:sp>
      <p:sp>
        <p:nvSpPr>
          <p:cNvPr id="73" name="Rectangle 73"/>
          <p:cNvSpPr/>
          <p:nvPr/>
        </p:nvSpPr>
        <p:spPr>
          <a:xfrm>
            <a:off x="9677400" y="4429125"/>
            <a:ext cx="1924050" cy="666750"/>
          </a:xfrm>
          <a:prstGeom prst="roundRect">
            <a:avLst>
              <a:gd name="adj" fmla="val 8571"/>
            </a:avLst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9747504" y="45186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下属组织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747504" y="4747260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会计组 / 出纳组</a:t>
            </a:r>
          </a:p>
        </p:txBody>
      </p:sp>
      <p:sp>
        <p:nvSpPr>
          <p:cNvPr id="76" name="Rectangle 76"/>
          <p:cNvSpPr/>
          <p:nvPr/>
        </p:nvSpPr>
        <p:spPr>
          <a:xfrm>
            <a:off x="762000" y="5619750"/>
            <a:ext cx="10668000" cy="381000"/>
          </a:xfrm>
          <a:prstGeom prst="roundRect">
            <a:avLst>
              <a:gd name="adj" fmla="val 17500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77" name="TextBox 77"/>
          <p:cNvSpPr txBox="1"/>
          <p:nvPr/>
        </p:nvSpPr>
        <p:spPr>
          <a:xfrm>
            <a:off x="3137687" y="5728335"/>
            <a:ext cx="59166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待确认边界：具体时限、金额阈值、岗位替代与例外授权以正式制度/授权文件为准</a:t>
            </a:r>
          </a:p>
        </p:txBody>
      </p:sp>
      <p:sp>
        <p:nvSpPr>
          <p:cNvPr id="78" name="Line 78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6437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13｜订单到交付总流程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五泳道端到端流程：责任主体、交接、决策和异常回路分开表达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870585"/>
            <a:ext cx="430118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阅读方向：左→右；泳道表示责任主体，跨泳道连线表示交接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1430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1430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27735" y="1461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客户</a:t>
            </a:r>
          </a:p>
        </p:txBody>
      </p:sp>
      <p:sp>
        <p:nvSpPr>
          <p:cNvPr id="9" name="Rectangle 9"/>
          <p:cNvSpPr/>
          <p:nvPr/>
        </p:nvSpPr>
        <p:spPr>
          <a:xfrm>
            <a:off x="495300" y="192405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95300" y="192405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EAF7F4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46963" y="22421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营运部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95300" y="27051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95300" y="27051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2ECFF"/>
          </a:solidFill>
          <a:ln w="9525">
            <a:solidFill>
              <a:srgbClr val="D7E0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21766" y="30232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技术/工程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348615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95300" y="348615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46963" y="38042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生产部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95300" y="42672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95300" y="42672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FF2E7"/>
          </a:solidFill>
          <a:ln w="9525">
            <a:solidFill>
              <a:srgbClr val="D7E0EA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21766" y="45853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品质/仓储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857375" y="13049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087071" y="148399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需求/图纸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238500" y="20859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3503181" y="226504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需求确认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619625" y="28670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4884306" y="304609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工程评审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000750" y="36480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230446" y="382714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排产/制造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381875" y="44291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611571" y="460819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检验/入库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763000" y="20859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9027681" y="226504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交付确认</a:t>
            </a:r>
          </a:p>
        </p:txBody>
      </p:sp>
      <p:sp>
        <p:nvSpPr>
          <p:cNvPr id="33" name="Freeform 33"/>
          <p:cNvSpPr/>
          <p:nvPr/>
        </p:nvSpPr>
        <p:spPr>
          <a:xfrm>
            <a:off x="2905125" y="153352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34" name="Freeform 34"/>
          <p:cNvSpPr/>
          <p:nvPr/>
        </p:nvSpPr>
        <p:spPr>
          <a:xfrm>
            <a:off x="4286250" y="231457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5" name="Freeform 35"/>
          <p:cNvSpPr/>
          <p:nvPr/>
        </p:nvSpPr>
        <p:spPr>
          <a:xfrm>
            <a:off x="5667375" y="309562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36" name="Freeform 36"/>
          <p:cNvSpPr/>
          <p:nvPr/>
        </p:nvSpPr>
        <p:spPr>
          <a:xfrm>
            <a:off x="7048500" y="387667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7" name="Freeform 37"/>
          <p:cNvSpPr/>
          <p:nvPr/>
        </p:nvSpPr>
        <p:spPr>
          <a:xfrm>
            <a:off x="8429625" y="2314575"/>
            <a:ext cx="333375" cy="2343150"/>
          </a:xfrm>
          <a:custGeom>
            <a:avLst/>
            <a:gdLst/>
            <a:ahLst/>
            <a:cxnLst/>
            <a:rect l="l" t="t" r="r" b="b"/>
            <a:pathLst>
              <a:path w="333375" h="2343150">
                <a:moveTo>
                  <a:pt x="0" y="2343150"/>
                </a:moveTo>
                <a:cubicBezTo>
                  <a:pt x="190500" y="2343150"/>
                  <a:pt x="142875" y="0"/>
                  <a:pt x="333375" y="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8" name="Polygon 38"/>
          <p:cNvSpPr/>
          <p:nvPr/>
        </p:nvSpPr>
        <p:spPr>
          <a:xfrm>
            <a:off x="9525000" y="36385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333375" y="0"/>
                </a:moveTo>
                <a:lnTo>
                  <a:pt x="666750" y="333375"/>
                </a:lnTo>
                <a:lnTo>
                  <a:pt x="333375" y="666750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690735" y="38138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是否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46310" y="3947160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放行?</a:t>
            </a:r>
          </a:p>
        </p:txBody>
      </p:sp>
      <p:sp>
        <p:nvSpPr>
          <p:cNvPr id="41" name="Freeform 41"/>
          <p:cNvSpPr/>
          <p:nvPr/>
        </p:nvSpPr>
        <p:spPr>
          <a:xfrm>
            <a:off x="9810750" y="2314575"/>
            <a:ext cx="47625" cy="1323975"/>
          </a:xfrm>
          <a:custGeom>
            <a:avLst/>
            <a:gdLst/>
            <a:ahLst/>
            <a:cxnLst/>
            <a:rect l="l" t="t" r="r" b="b"/>
            <a:pathLst>
              <a:path w="47625" h="1323975">
                <a:moveTo>
                  <a:pt x="0" y="0"/>
                </a:moveTo>
                <a:lnTo>
                  <a:pt x="47625" y="1323975"/>
                </a:ln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42" name="Freeform 42"/>
          <p:cNvSpPr/>
          <p:nvPr/>
        </p:nvSpPr>
        <p:spPr>
          <a:xfrm>
            <a:off x="4000500" y="3876675"/>
            <a:ext cx="5524500" cy="1838325"/>
          </a:xfrm>
          <a:custGeom>
            <a:avLst/>
            <a:gdLst/>
            <a:ahLst/>
            <a:cxnLst/>
            <a:rect l="l" t="t" r="r" b="b"/>
            <a:pathLst>
              <a:path w="5524500" h="1838325">
                <a:moveTo>
                  <a:pt x="5524500" y="95250"/>
                </a:moveTo>
                <a:cubicBezTo>
                  <a:pt x="5048250" y="1409700"/>
                  <a:pt x="4095750" y="1838325"/>
                  <a:pt x="2190750" y="1838325"/>
                </a:cubicBezTo>
                <a:cubicBezTo>
                  <a:pt x="476250" y="1838325"/>
                  <a:pt x="0" y="1076325"/>
                  <a:pt x="95250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43" name="TextBox 43"/>
          <p:cNvSpPr txBox="1"/>
          <p:nvPr/>
        </p:nvSpPr>
        <p:spPr>
          <a:xfrm>
            <a:off x="7232904" y="5737860"/>
            <a:ext cx="39296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异常：隔离/补充资料/升级评审 → 回到工程或制造确认</a:t>
            </a:r>
          </a:p>
        </p:txBody>
      </p:sp>
      <p:sp>
        <p:nvSpPr>
          <p:cNvPr id="44" name="Rectangle 44"/>
          <p:cNvSpPr/>
          <p:nvPr/>
        </p:nvSpPr>
        <p:spPr>
          <a:xfrm>
            <a:off x="10287000" y="1143000"/>
            <a:ext cx="14097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10423779" y="12515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证据节点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23779" y="148971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订单/图纸版本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423779" y="16992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评审记录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423779" y="190881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检验记录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423779" y="211836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放行/交付记录</a:t>
            </a:r>
          </a:p>
        </p:txBody>
      </p:sp>
      <p:sp>
        <p:nvSpPr>
          <p:cNvPr id="50" name="Line 5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15｜生产计划与任务下达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4788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订单输入—能力确认—开工闸口—任务发布，并保留资源不足回路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343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先确认订单输入和资源能力，再经过开工决策闸口；条件不足不得直接开工</a:t>
            </a:r>
          </a:p>
        </p:txBody>
      </p:sp>
      <p:sp>
        <p:nvSpPr>
          <p:cNvPr id="6" name="Rectangle 6"/>
          <p:cNvSpPr/>
          <p:nvPr/>
        </p:nvSpPr>
        <p:spPr>
          <a:xfrm>
            <a:off x="666750" y="228600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385316" y="2556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订单输入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9912" y="29184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产品｜数量｜交期｜版本</a:t>
            </a:r>
          </a:p>
        </p:txBody>
      </p:sp>
      <p:sp>
        <p:nvSpPr>
          <p:cNvPr id="9" name="Line 9"/>
          <p:cNvSpPr/>
          <p:nvPr/>
        </p:nvSpPr>
        <p:spPr>
          <a:xfrm>
            <a:off x="2762250" y="2857500"/>
            <a:ext cx="4000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3333750" y="228600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052316" y="2556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能力确认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86912" y="29184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产能｜物料｜模具｜人员</a:t>
            </a:r>
          </a:p>
        </p:txBody>
      </p:sp>
      <p:sp>
        <p:nvSpPr>
          <p:cNvPr id="13" name="Line 13"/>
          <p:cNvSpPr/>
          <p:nvPr/>
        </p:nvSpPr>
        <p:spPr>
          <a:xfrm>
            <a:off x="5429250" y="2857500"/>
            <a:ext cx="4000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6000750" y="228600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A87519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719316" y="2556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风险清单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34684" y="291846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缺口｜责任｜补充期限</a:t>
            </a:r>
          </a:p>
        </p:txBody>
      </p:sp>
      <p:sp>
        <p:nvSpPr>
          <p:cNvPr id="17" name="Line 17"/>
          <p:cNvSpPr/>
          <p:nvPr/>
        </p:nvSpPr>
        <p:spPr>
          <a:xfrm>
            <a:off x="8096250" y="2857500"/>
            <a:ext cx="400050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8667750" y="2286000"/>
            <a:ext cx="2095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386316" y="25565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任务发布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01684" y="2918460"/>
            <a:ext cx="16276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受控版本｜责任｜节点</a:t>
            </a:r>
          </a:p>
        </p:txBody>
      </p:sp>
      <p:sp>
        <p:nvSpPr>
          <p:cNvPr id="21" name="Polygon 21"/>
          <p:cNvSpPr/>
          <p:nvPr/>
        </p:nvSpPr>
        <p:spPr>
          <a:xfrm>
            <a:off x="4476750" y="1809750"/>
            <a:ext cx="952500" cy="952500"/>
          </a:xfrm>
          <a:custGeom>
            <a:avLst/>
            <a:gdLst/>
            <a:ahLst/>
            <a:cxnLst/>
            <a:rect l="l" t="t" r="r" b="b"/>
            <a:pathLst>
              <a:path w="952500" h="952500">
                <a:moveTo>
                  <a:pt x="476250" y="0"/>
                </a:moveTo>
                <a:lnTo>
                  <a:pt x="952500" y="476250"/>
                </a:lnTo>
                <a:lnTo>
                  <a:pt x="476250" y="952500"/>
                </a:lnTo>
                <a:lnTo>
                  <a:pt x="0" y="47625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785360" y="21278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条件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04588" y="227076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满足？</a:t>
            </a:r>
          </a:p>
        </p:txBody>
      </p:sp>
      <p:sp>
        <p:nvSpPr>
          <p:cNvPr id="24" name="Line 24"/>
          <p:cNvSpPr/>
          <p:nvPr/>
        </p:nvSpPr>
        <p:spPr>
          <a:xfrm flipV="1">
            <a:off x="4381500" y="2286000"/>
            <a:ext cx="95250" cy="571500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5" name="Freeform 25"/>
          <p:cNvSpPr/>
          <p:nvPr/>
        </p:nvSpPr>
        <p:spPr>
          <a:xfrm>
            <a:off x="4953000" y="2762250"/>
            <a:ext cx="2095500" cy="1809750"/>
          </a:xfrm>
          <a:custGeom>
            <a:avLst/>
            <a:gdLst/>
            <a:ahLst/>
            <a:cxnLst/>
            <a:rect l="l" t="t" r="r" b="b"/>
            <a:pathLst>
              <a:path w="2095500" h="1809750">
                <a:moveTo>
                  <a:pt x="0" y="0"/>
                </a:moveTo>
                <a:cubicBezTo>
                  <a:pt x="0" y="1333500"/>
                  <a:pt x="1714500" y="1809750"/>
                  <a:pt x="2095500" y="66675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4445508" y="4347210"/>
            <a:ext cx="29199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否：形成风险清单，补充资源或升级承诺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04875" y="5048250"/>
            <a:ext cx="10382250" cy="571500"/>
          </a:xfrm>
          <a:prstGeom prst="roundRect">
            <a:avLst>
              <a:gd name="adj" fmla="val 13333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747516" y="526161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任务发布前必须完成能力确认；交期承诺不能绕过资源与版本检查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16｜采购到付款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8585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职责分离泳道：申请、下单、收货、对账和付款由不同责任主体承接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44627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同一笔采购至少经过申请、采购、收货、对账/付款的相互核对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38112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38112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42391" y="16706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需求部门</a:t>
            </a:r>
          </a:p>
        </p:txBody>
      </p:sp>
      <p:sp>
        <p:nvSpPr>
          <p:cNvPr id="9" name="Rectangle 9"/>
          <p:cNvSpPr/>
          <p:nvPr/>
        </p:nvSpPr>
        <p:spPr>
          <a:xfrm>
            <a:off x="495300" y="212407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95300" y="212407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EAF7F4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68731" y="2413635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 / 营运部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95300" y="286702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95300" y="286702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49503" y="31565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仓储 / 收货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3609975"/>
            <a:ext cx="11201400" cy="74295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95300" y="3609975"/>
            <a:ext cx="1352550" cy="742950"/>
          </a:xfrm>
          <a:prstGeom prst="roundRect">
            <a:avLst>
              <a:gd name="adj" fmla="val 5128"/>
            </a:avLst>
          </a:prstGeom>
          <a:solidFill>
            <a:srgbClr val="FFF2E7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68731" y="3899535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财务 / 授权人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095500" y="152400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337816" y="1584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采购申请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57044" y="17468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需求与规格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714750" y="226695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3864178" y="232791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询价 / 下单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95522" y="24898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供应商与价格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334000" y="300990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483428" y="307086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收货 / 入库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495544" y="32327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数量与状态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953250" y="3752850"/>
            <a:ext cx="1143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7102678" y="381381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对账 / 付款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114794" y="39757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授权与留痕</a:t>
            </a:r>
          </a:p>
        </p:txBody>
      </p:sp>
      <p:sp>
        <p:nvSpPr>
          <p:cNvPr id="30" name="Freeform 30"/>
          <p:cNvSpPr/>
          <p:nvPr/>
        </p:nvSpPr>
        <p:spPr>
          <a:xfrm>
            <a:off x="3238500" y="175260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31" name="Freeform 31"/>
          <p:cNvSpPr/>
          <p:nvPr/>
        </p:nvSpPr>
        <p:spPr>
          <a:xfrm>
            <a:off x="4857750" y="249555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2" name="Freeform 32"/>
          <p:cNvSpPr/>
          <p:nvPr/>
        </p:nvSpPr>
        <p:spPr>
          <a:xfrm>
            <a:off x="6477000" y="3238500"/>
            <a:ext cx="476250" cy="742950"/>
          </a:xfrm>
          <a:custGeom>
            <a:avLst/>
            <a:gdLst/>
            <a:ahLst/>
            <a:cxnLst/>
            <a:rect l="l" t="t" r="r" b="b"/>
            <a:pathLst>
              <a:path w="476250" h="742950">
                <a:moveTo>
                  <a:pt x="0" y="0"/>
                </a:moveTo>
                <a:cubicBezTo>
                  <a:pt x="228600" y="0"/>
                  <a:pt x="247650" y="742950"/>
                  <a:pt x="476250" y="742950"/>
                </a:cubicBez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3" name="Rectangle 33"/>
          <p:cNvSpPr/>
          <p:nvPr/>
        </p:nvSpPr>
        <p:spPr>
          <a:xfrm>
            <a:off x="8477250" y="1381125"/>
            <a:ext cx="32194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709279" y="15373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三类相互核对资料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709279" y="18230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申请 / 订单资料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709279" y="20897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收货 / 入库资料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709279" y="235648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发票 / 付款资料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709279" y="2642235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不得由同一角色独立完成全链路</a:t>
            </a:r>
          </a:p>
        </p:txBody>
      </p:sp>
      <p:sp>
        <p:nvSpPr>
          <p:cNvPr id="39" name="Freeform 39"/>
          <p:cNvSpPr/>
          <p:nvPr/>
        </p:nvSpPr>
        <p:spPr>
          <a:xfrm>
            <a:off x="2857500" y="3238500"/>
            <a:ext cx="5238750" cy="2190750"/>
          </a:xfrm>
          <a:custGeom>
            <a:avLst/>
            <a:gdLst/>
            <a:ahLst/>
            <a:cxnLst/>
            <a:rect l="l" t="t" r="r" b="b"/>
            <a:pathLst>
              <a:path w="5238750" h="2190750">
                <a:moveTo>
                  <a:pt x="5238750" y="742950"/>
                </a:moveTo>
                <a:cubicBezTo>
                  <a:pt x="4953000" y="1714500"/>
                  <a:pt x="2857500" y="2190750"/>
                  <a:pt x="1047750" y="1714500"/>
                </a:cubicBezTo>
                <a:cubicBezTo>
                  <a:pt x="190500" y="1476375"/>
                  <a:pt x="0" y="857250"/>
                  <a:pt x="104775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40" name="TextBox 40"/>
          <p:cNvSpPr txBox="1"/>
          <p:nvPr/>
        </p:nvSpPr>
        <p:spPr>
          <a:xfrm>
            <a:off x="4940960" y="5299710"/>
            <a:ext cx="34530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数量 / 质量 / 价格不一致：暂停付款并退回核对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57250" y="5334000"/>
            <a:ext cx="10287000" cy="514350"/>
          </a:xfrm>
          <a:prstGeom prst="roundRect">
            <a:avLst>
              <a:gd name="adj" fmla="val 11111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3006090" y="5442585"/>
            <a:ext cx="5989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具体金额、审批层级、例外授权：待正式授权文件确认；本页仅表达职责分离原则。</a:t>
            </a:r>
          </a:p>
        </p:txBody>
      </p:sp>
      <p:sp>
        <p:nvSpPr>
          <p:cNvPr id="43" name="Line 4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18｜客诉与纠正措施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从客户入口到临时遏制、根因、纠正、验证和回复的闭环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客户问题统一入口；内部处置与对外回复分开，验证有效后才关闭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6743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接收分级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8200" y="2918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入口｜影响判定</a:t>
            </a:r>
          </a:p>
        </p:txBody>
      </p:sp>
      <p:sp>
        <p:nvSpPr>
          <p:cNvPr id="9" name="Line 9"/>
          <p:cNvSpPr/>
          <p:nvPr/>
        </p:nvSpPr>
        <p:spPr>
          <a:xfrm>
            <a:off x="2266950" y="2886075"/>
            <a:ext cx="161925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47650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D95C5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89148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临时措施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62250" y="2918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隔离｜遏制风险</a:t>
            </a:r>
          </a:p>
        </p:txBody>
      </p:sp>
      <p:sp>
        <p:nvSpPr>
          <p:cNvPr id="13" name="Line 13"/>
          <p:cNvSpPr/>
          <p:nvPr/>
        </p:nvSpPr>
        <p:spPr>
          <a:xfrm>
            <a:off x="4191000" y="2886075"/>
            <a:ext cx="16192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40055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81553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原因分析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05528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事实｜根因｜证据</a:t>
            </a:r>
          </a:p>
        </p:txBody>
      </p:sp>
      <p:sp>
        <p:nvSpPr>
          <p:cNvPr id="17" name="Line 17"/>
          <p:cNvSpPr/>
          <p:nvPr/>
        </p:nvSpPr>
        <p:spPr>
          <a:xfrm>
            <a:off x="6115050" y="2886075"/>
            <a:ext cx="161925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632460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73958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纠正措施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29578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责任｜期限｜记录</a:t>
            </a:r>
          </a:p>
        </p:txBody>
      </p:sp>
      <p:sp>
        <p:nvSpPr>
          <p:cNvPr id="21" name="Line 21"/>
          <p:cNvSpPr/>
          <p:nvPr/>
        </p:nvSpPr>
        <p:spPr>
          <a:xfrm>
            <a:off x="8039100" y="2886075"/>
            <a:ext cx="16192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824865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66363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效果验证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53628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有效性｜复发控制</a:t>
            </a:r>
          </a:p>
        </p:txBody>
      </p:sp>
      <p:sp>
        <p:nvSpPr>
          <p:cNvPr id="25" name="Line 25"/>
          <p:cNvSpPr/>
          <p:nvPr/>
        </p:nvSpPr>
        <p:spPr>
          <a:xfrm>
            <a:off x="9963150" y="2886075"/>
            <a:ext cx="161925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10172700" y="2333625"/>
            <a:ext cx="171450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0587685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06 客户回复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58450" y="29184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结论｜关闭证据</a:t>
            </a:r>
          </a:p>
        </p:txBody>
      </p:sp>
      <p:sp>
        <p:nvSpPr>
          <p:cNvPr id="29" name="Freeform 29"/>
          <p:cNvSpPr/>
          <p:nvPr/>
        </p:nvSpPr>
        <p:spPr>
          <a:xfrm>
            <a:off x="3429000" y="4095750"/>
            <a:ext cx="7143750" cy="1476375"/>
          </a:xfrm>
          <a:custGeom>
            <a:avLst/>
            <a:gdLst/>
            <a:ahLst/>
            <a:cxnLst/>
            <a:rect l="l" t="t" r="r" b="b"/>
            <a:pathLst>
              <a:path w="7143750" h="1476375">
                <a:moveTo>
                  <a:pt x="7143750" y="0"/>
                </a:moveTo>
                <a:cubicBezTo>
                  <a:pt x="6381750" y="1238250"/>
                  <a:pt x="1524000" y="1476375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5367223" y="5442585"/>
            <a:ext cx="32673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未验证或重复发生：回到原因分析 / 纠正措施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AF7F4"/>
          </a:solidFill>
          <a:ln w="9525">
            <a:solidFill>
              <a:srgbClr val="A8DCD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3747516" y="15849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对外回复必须引用：事实、处置结论、验证证据和后续防复发安排</a:t>
            </a:r>
          </a:p>
        </p:txBody>
      </p:sp>
      <p:sp>
        <p:nvSpPr>
          <p:cNvPr id="33" name="Line 3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20｜跨部门交接标准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38327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用输入包—完整性闸口—验收包—受控执行表达责任转移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343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交接只有在完整性闸口通过后才进入下一部门；缺项或版本不一致必须退回</a:t>
            </a:r>
          </a:p>
        </p:txBody>
      </p:sp>
      <p:sp>
        <p:nvSpPr>
          <p:cNvPr id="6" name="Rectangle 6"/>
          <p:cNvSpPr/>
          <p:nvPr/>
        </p:nvSpPr>
        <p:spPr>
          <a:xfrm>
            <a:off x="6667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513713" y="22993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交出方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13713" y="2632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输入包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1190" y="2966085"/>
            <a:ext cx="18618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版本 / 数量 / 状态 / 期限</a:t>
            </a:r>
          </a:p>
        </p:txBody>
      </p:sp>
      <p:sp>
        <p:nvSpPr>
          <p:cNvPr id="10" name="Line 10"/>
          <p:cNvSpPr/>
          <p:nvPr/>
        </p:nvSpPr>
        <p:spPr>
          <a:xfrm>
            <a:off x="2857500" y="2809875"/>
            <a:ext cx="3238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1" name="Rectangle 11"/>
          <p:cNvSpPr/>
          <p:nvPr/>
        </p:nvSpPr>
        <p:spPr>
          <a:xfrm>
            <a:off x="33337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4019169" y="22993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完整性闸口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9994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四项检查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888361" y="2966085"/>
            <a:ext cx="30815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资料齐全｜版本一致｜责任期限｜验收标准</a:t>
            </a:r>
          </a:p>
        </p:txBody>
      </p:sp>
      <p:sp>
        <p:nvSpPr>
          <p:cNvPr id="15" name="Line 15"/>
          <p:cNvSpPr/>
          <p:nvPr/>
        </p:nvSpPr>
        <p:spPr>
          <a:xfrm>
            <a:off x="5524500" y="2809875"/>
            <a:ext cx="514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6" name="Rectangle 16"/>
          <p:cNvSpPr/>
          <p:nvPr/>
        </p:nvSpPr>
        <p:spPr>
          <a:xfrm>
            <a:off x="61912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038213" y="22993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接收方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38213" y="2632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验收包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87033" y="2966085"/>
            <a:ext cx="19991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确认 / 差异记录 / 受控任务</a:t>
            </a:r>
          </a:p>
        </p:txBody>
      </p:sp>
      <p:sp>
        <p:nvSpPr>
          <p:cNvPr id="20" name="Line 20"/>
          <p:cNvSpPr/>
          <p:nvPr/>
        </p:nvSpPr>
        <p:spPr>
          <a:xfrm>
            <a:off x="8382000" y="2809875"/>
            <a:ext cx="5143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1" name="Rectangle 21"/>
          <p:cNvSpPr/>
          <p:nvPr/>
        </p:nvSpPr>
        <p:spPr>
          <a:xfrm>
            <a:off x="9048750" y="2095500"/>
            <a:ext cx="219075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814941" y="22993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受控执行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1494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责任承接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82989" y="2966085"/>
            <a:ext cx="23222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异常升级 / 截止日期 / 输出证据</a:t>
            </a:r>
          </a:p>
        </p:txBody>
      </p:sp>
      <p:sp>
        <p:nvSpPr>
          <p:cNvPr id="25" name="Freeform 25"/>
          <p:cNvSpPr/>
          <p:nvPr/>
        </p:nvSpPr>
        <p:spPr>
          <a:xfrm>
            <a:off x="2095500" y="3524250"/>
            <a:ext cx="2333625" cy="1238250"/>
          </a:xfrm>
          <a:custGeom>
            <a:avLst/>
            <a:gdLst/>
            <a:ahLst/>
            <a:cxnLst/>
            <a:rect l="l" t="t" r="r" b="b"/>
            <a:pathLst>
              <a:path w="2333625" h="1238250">
                <a:moveTo>
                  <a:pt x="2333625" y="0"/>
                </a:moveTo>
                <a:cubicBezTo>
                  <a:pt x="2000250" y="1047750"/>
                  <a:pt x="285750" y="123825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2027377" y="4632960"/>
            <a:ext cx="21364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缺项 / 版本不一致：退回补齐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62000" y="1381125"/>
            <a:ext cx="10668000" cy="457200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9525">
            <a:solidFill>
              <a:srgbClr val="B7C9FF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101340" y="1537335"/>
            <a:ext cx="59893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交接证据：清单、版本号、接收确认、差异记录、责任人、截止日期、异常升级记录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21｜文件编制与版本控制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让新版本可追溯、可批准、可培训，旧版本可隔离和回收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主环表示受控文件生命周期；红色分支表示旧版隔离、回收和作废</a:t>
            </a:r>
          </a:p>
        </p:txBody>
      </p:sp>
      <p:sp>
        <p:nvSpPr>
          <p:cNvPr id="6" name="Rectangle 6"/>
          <p:cNvSpPr/>
          <p:nvPr/>
        </p:nvSpPr>
        <p:spPr>
          <a:xfrm>
            <a:off x="6191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356360" y="2604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起草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3272" y="29089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需求｜版本号</a:t>
            </a:r>
          </a:p>
        </p:txBody>
      </p:sp>
      <p:sp>
        <p:nvSpPr>
          <p:cNvPr id="9" name="Line 9"/>
          <p:cNvSpPr/>
          <p:nvPr/>
        </p:nvSpPr>
        <p:spPr>
          <a:xfrm>
            <a:off x="2428875" y="2857500"/>
            <a:ext cx="2857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7908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528060" y="2604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评审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66516" y="29089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专业意见</a:t>
            </a:r>
          </a:p>
        </p:txBody>
      </p:sp>
      <p:sp>
        <p:nvSpPr>
          <p:cNvPr id="13" name="Line 13"/>
          <p:cNvSpPr/>
          <p:nvPr/>
        </p:nvSpPr>
        <p:spPr>
          <a:xfrm>
            <a:off x="4600575" y="2857500"/>
            <a:ext cx="2857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9625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538216" y="26041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批准发布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38216" y="29089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受控清单</a:t>
            </a:r>
          </a:p>
        </p:txBody>
      </p:sp>
      <p:sp>
        <p:nvSpPr>
          <p:cNvPr id="17" name="Line 17"/>
          <p:cNvSpPr/>
          <p:nvPr/>
        </p:nvSpPr>
        <p:spPr>
          <a:xfrm>
            <a:off x="6772275" y="2857500"/>
            <a:ext cx="2857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71342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629144" y="26041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执行与培训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09916" y="29089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使用记录</a:t>
            </a:r>
          </a:p>
        </p:txBody>
      </p:sp>
      <p:sp>
        <p:nvSpPr>
          <p:cNvPr id="21" name="Line 21"/>
          <p:cNvSpPr/>
          <p:nvPr/>
        </p:nvSpPr>
        <p:spPr>
          <a:xfrm>
            <a:off x="8943975" y="2857500"/>
            <a:ext cx="2857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9305925" y="2333625"/>
            <a:ext cx="1809750" cy="104775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9837191" y="26041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复审/修订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00844" y="29089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触发新版本</a:t>
            </a:r>
          </a:p>
        </p:txBody>
      </p:sp>
      <p:sp>
        <p:nvSpPr>
          <p:cNvPr id="25" name="Freeform 25"/>
          <p:cNvSpPr/>
          <p:nvPr/>
        </p:nvSpPr>
        <p:spPr>
          <a:xfrm>
            <a:off x="3333750" y="3476625"/>
            <a:ext cx="4524375" cy="1666875"/>
          </a:xfrm>
          <a:custGeom>
            <a:avLst/>
            <a:gdLst/>
            <a:ahLst/>
            <a:cxnLst/>
            <a:rect l="l" t="t" r="r" b="b"/>
            <a:pathLst>
              <a:path w="4524375" h="1666875">
                <a:moveTo>
                  <a:pt x="4524375" y="0"/>
                </a:moveTo>
                <a:cubicBezTo>
                  <a:pt x="4476750" y="1285875"/>
                  <a:pt x="2381250" y="1666875"/>
                  <a:pt x="0" y="1190625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3836670" y="4966335"/>
            <a:ext cx="35661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旧版本：隔离、回收、标识、留痕，不回流主流程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AF7F4"/>
          </a:solidFill>
          <a:ln w="9525">
            <a:solidFill>
              <a:srgbClr val="A8DCD4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747516" y="15849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证据：版本清单｜审批记录｜发布通知｜培训记录｜旧版回收记录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23｜人员能力与岗位授权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5596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能力确认阶梯 + 授权生命周期：证据齐全后授权，变化触发复核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1816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培训不等于授权：能力确认是权限打开前的闸门，失效时立即暂停或回收</a:t>
            </a:r>
          </a:p>
        </p:txBody>
      </p:sp>
      <p:sp>
        <p:nvSpPr>
          <p:cNvPr id="6" name="Rectangle 6"/>
          <p:cNvSpPr/>
          <p:nvPr/>
        </p:nvSpPr>
        <p:spPr>
          <a:xfrm>
            <a:off x="666750" y="1809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546860" y="20612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培训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5316" y="2346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培训记录</a:t>
            </a:r>
          </a:p>
        </p:txBody>
      </p:sp>
      <p:sp>
        <p:nvSpPr>
          <p:cNvPr id="9" name="Line 9"/>
          <p:cNvSpPr/>
          <p:nvPr/>
        </p:nvSpPr>
        <p:spPr>
          <a:xfrm>
            <a:off x="2762250" y="2286000"/>
            <a:ext cx="4000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3333750" y="1809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052316" y="2061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能力确认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52316" y="2346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评价结果</a:t>
            </a:r>
          </a:p>
        </p:txBody>
      </p:sp>
      <p:sp>
        <p:nvSpPr>
          <p:cNvPr id="13" name="Line 13"/>
          <p:cNvSpPr/>
          <p:nvPr/>
        </p:nvSpPr>
        <p:spPr>
          <a:xfrm>
            <a:off x="5429250" y="2286000"/>
            <a:ext cx="4000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6000750" y="1809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719316" y="2061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岗位授权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19316" y="2346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授权批准</a:t>
            </a:r>
          </a:p>
        </p:txBody>
      </p:sp>
      <p:sp>
        <p:nvSpPr>
          <p:cNvPr id="17" name="Line 17"/>
          <p:cNvSpPr/>
          <p:nvPr/>
        </p:nvSpPr>
        <p:spPr>
          <a:xfrm>
            <a:off x="8096250" y="2286000"/>
            <a:ext cx="4000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8667750" y="1809750"/>
            <a:ext cx="2095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386316" y="20612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有效维护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86316" y="23469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复核日期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66750" y="3524250"/>
            <a:ext cx="1038225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46404" y="37757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授权生命周期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6404" y="4156710"/>
            <a:ext cx="53027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维护与复核 → 复训 / 调岗 / 替代 → 失效时暂停 → 离岗或不合格时回收权限</a:t>
            </a:r>
          </a:p>
        </p:txBody>
      </p:sp>
      <p:sp>
        <p:nvSpPr>
          <p:cNvPr id="24" name="Freeform 24"/>
          <p:cNvSpPr/>
          <p:nvPr/>
        </p:nvSpPr>
        <p:spPr>
          <a:xfrm>
            <a:off x="9620250" y="2762250"/>
            <a:ext cx="1428750" cy="1714500"/>
          </a:xfrm>
          <a:custGeom>
            <a:avLst/>
            <a:gdLst/>
            <a:ahLst/>
            <a:cxnLst/>
            <a:rect l="l" t="t" r="r" b="b"/>
            <a:pathLst>
              <a:path w="1428750" h="1714500">
                <a:moveTo>
                  <a:pt x="666750" y="0"/>
                </a:moveTo>
                <a:cubicBezTo>
                  <a:pt x="1428750" y="476250"/>
                  <a:pt x="1428750" y="1714500"/>
                  <a:pt x="0" y="171450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5" name="TextBox 25"/>
          <p:cNvSpPr txBox="1"/>
          <p:nvPr/>
        </p:nvSpPr>
        <p:spPr>
          <a:xfrm>
            <a:off x="8794318" y="5013960"/>
            <a:ext cx="16518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能力失效：暂停 / 回收</a:t>
            </a:r>
          </a:p>
        </p:txBody>
      </p:sp>
      <p:sp>
        <p:nvSpPr>
          <p:cNvPr id="26" name="Line 26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24｜客户资料与信息权限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权限矩阵与控制闭环：按需批准、使用留痕、变化即回收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5359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权限矩阵只回答“谁可以做什么”；申请、批准、留痕和回收另列为控制闭环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80516" y="1775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资料类型</a:t>
            </a:r>
          </a:p>
        </p:txBody>
      </p:sp>
      <p:sp>
        <p:nvSpPr>
          <p:cNvPr id="8" name="Rectangle 8"/>
          <p:cNvSpPr/>
          <p:nvPr/>
        </p:nvSpPr>
        <p:spPr>
          <a:xfrm>
            <a:off x="22669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2750591" y="177546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业务/营运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9814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465091" y="177546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技术/品质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695950" y="1619250"/>
            <a:ext cx="1714500" cy="457200"/>
          </a:xfrm>
          <a:prstGeom prst="rect">
            <a:avLst/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304788" y="177546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管理层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410450" y="1619250"/>
            <a:ext cx="2286000" cy="457200"/>
          </a:xfrm>
          <a:prstGeom prst="rect">
            <a:avLst/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224266" y="1775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控制动作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52450" y="207645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87628" y="22802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报价 / 订单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266950" y="20764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956560" y="22802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981450" y="2076450"/>
            <a:ext cx="17145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4590288" y="22802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需审批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695950" y="20764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385560" y="22802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410450" y="207645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973873" y="2280285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申请→批准→留痕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52450" y="262890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87628" y="283273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图纸 / 工艺</a:t>
            </a:r>
          </a:p>
        </p:txBody>
      </p:sp>
      <p:sp>
        <p:nvSpPr>
          <p:cNvPr id="28" name="Rectangle 28"/>
          <p:cNvSpPr/>
          <p:nvPr/>
        </p:nvSpPr>
        <p:spPr>
          <a:xfrm>
            <a:off x="2266950" y="2628900"/>
            <a:ext cx="17145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2875788" y="28327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按项目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981450" y="26289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671060" y="28327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695950" y="26289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385560" y="28327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410450" y="262890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018297" y="2832735"/>
            <a:ext cx="10703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项目结束→复核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52450" y="318135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87628" y="338518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质量 / 客诉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2669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29565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9814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46710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695950" y="318135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385560" y="33851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410450" y="318135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973873" y="3385185"/>
            <a:ext cx="1159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异常→上报→关闭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52450" y="3733800"/>
            <a:ext cx="1714500" cy="552450"/>
          </a:xfrm>
          <a:prstGeom prst="rect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87628" y="3937635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经营 / 人事</a:t>
            </a:r>
          </a:p>
        </p:txBody>
      </p:sp>
      <p:sp>
        <p:nvSpPr>
          <p:cNvPr id="48" name="Rectangle 48"/>
          <p:cNvSpPr/>
          <p:nvPr/>
        </p:nvSpPr>
        <p:spPr>
          <a:xfrm>
            <a:off x="2266950" y="3733800"/>
            <a:ext cx="1714500" cy="552450"/>
          </a:xfrm>
          <a:prstGeom prst="rect">
            <a:avLst/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2875788" y="39376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不可见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981450" y="3733800"/>
            <a:ext cx="1714500" cy="552450"/>
          </a:xfrm>
          <a:prstGeom prst="rect">
            <a:avLst/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590288" y="39376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不可见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695950" y="3733800"/>
            <a:ext cx="1714500" cy="552450"/>
          </a:xfrm>
          <a:prstGeom prst="rect">
            <a:avLst/>
          </a:prstGeom>
          <a:solidFill>
            <a:srgbClr val="EAF7F4"/>
          </a:solidFill>
          <a:ln w="9525">
            <a:solidFill>
              <a:srgbClr val="1C9C8C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6385560" y="39376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可见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410450" y="3733800"/>
            <a:ext cx="2286000" cy="552450"/>
          </a:xfrm>
          <a:prstGeom prst="rect">
            <a:avLst/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018297" y="3937635"/>
            <a:ext cx="10703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离岗→立即回收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52450" y="4524375"/>
            <a:ext cx="11144250" cy="112395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774954" y="4680585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权限控制闭环：四个动作对应矩阵中的每一次权限变化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81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1592504" y="5090160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 申请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38072" y="52520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说明业务需要</a:t>
            </a:r>
          </a:p>
        </p:txBody>
      </p:sp>
      <p:sp>
        <p:nvSpPr>
          <p:cNvPr id="61" name="Line 61"/>
          <p:cNvSpPr/>
          <p:nvPr/>
        </p:nvSpPr>
        <p:spPr>
          <a:xfrm>
            <a:off x="2876550" y="5248275"/>
            <a:ext cx="4762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62" name="Rectangle 62"/>
          <p:cNvSpPr/>
          <p:nvPr/>
        </p:nvSpPr>
        <p:spPr>
          <a:xfrm>
            <a:off x="3448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4259504" y="5090160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 批准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005072" y="525208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最小必要权限</a:t>
            </a:r>
          </a:p>
        </p:txBody>
      </p:sp>
      <p:sp>
        <p:nvSpPr>
          <p:cNvPr id="65" name="Line 65"/>
          <p:cNvSpPr/>
          <p:nvPr/>
        </p:nvSpPr>
        <p:spPr>
          <a:xfrm>
            <a:off x="5543550" y="5248275"/>
            <a:ext cx="4762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66" name="Rectangle 66"/>
          <p:cNvSpPr/>
          <p:nvPr/>
        </p:nvSpPr>
        <p:spPr>
          <a:xfrm>
            <a:off x="6115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6764960" y="50901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 使用留痕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752844" y="52520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访问可追溯</a:t>
            </a:r>
          </a:p>
        </p:txBody>
      </p:sp>
      <p:sp>
        <p:nvSpPr>
          <p:cNvPr id="69" name="Line 69"/>
          <p:cNvSpPr/>
          <p:nvPr/>
        </p:nvSpPr>
        <p:spPr>
          <a:xfrm>
            <a:off x="8210550" y="5248275"/>
            <a:ext cx="4762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70" name="Rectangle 70"/>
          <p:cNvSpPr/>
          <p:nvPr/>
        </p:nvSpPr>
        <p:spPr>
          <a:xfrm>
            <a:off x="8782050" y="5048250"/>
            <a:ext cx="2095500" cy="4000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D95C5C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9387535" y="5090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4 复核/回收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935212" y="525208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岗位变化或异常立即处理</a:t>
            </a:r>
          </a:p>
        </p:txBody>
      </p:sp>
      <p:sp>
        <p:nvSpPr>
          <p:cNvPr id="73" name="Line 7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3206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26｜管理指标看板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8908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用目标—实际—趋势—异常—决策组织经营指标，不以普通卡片代替看板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63124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看板阅读顺序：目标/实际 → 趋势 → 异常风险 → 管理决策；数值与责任人待正式口径确认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428750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428750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9704" y="16706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9704" y="1908810"/>
            <a:ext cx="12070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OTD / 准时交付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9704" y="2251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9704" y="24803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12" name="Polyline 12"/>
          <p:cNvSpPr/>
          <p:nvPr/>
        </p:nvSpPr>
        <p:spPr>
          <a:xfrm>
            <a:off x="2571750" y="2152650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2F6BFF"/>
            </a:solidFill>
          </a:ln>
        </p:spPr>
      </p:sp>
      <p:sp>
        <p:nvSpPr>
          <p:cNvPr id="13" name="Line 13"/>
          <p:cNvSpPr/>
          <p:nvPr/>
        </p:nvSpPr>
        <p:spPr>
          <a:xfrm>
            <a:off x="2495550" y="2619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210050" y="1428750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210050" y="1428750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7657B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394454" y="16706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质量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94454" y="19088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一次合格率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94454" y="2251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657B8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94454" y="24803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20" name="Polyline 20"/>
          <p:cNvSpPr/>
          <p:nvPr/>
        </p:nvSpPr>
        <p:spPr>
          <a:xfrm>
            <a:off x="6286500" y="2152650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7657B8"/>
            </a:solidFill>
          </a:ln>
        </p:spPr>
      </p:sp>
      <p:sp>
        <p:nvSpPr>
          <p:cNvPr id="21" name="Line 21"/>
          <p:cNvSpPr/>
          <p:nvPr/>
        </p:nvSpPr>
        <p:spPr>
          <a:xfrm>
            <a:off x="6210300" y="2619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7924800" y="1428750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7924800" y="1428750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1C9C8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109204" y="167068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采购/库存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09204" y="19088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交期与库存覆盖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09204" y="225171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09204" y="24803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28" name="Polyline 28"/>
          <p:cNvSpPr/>
          <p:nvPr/>
        </p:nvSpPr>
        <p:spPr>
          <a:xfrm>
            <a:off x="10001250" y="2152650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1C9C8C"/>
            </a:solidFill>
          </a:ln>
        </p:spPr>
      </p:sp>
      <p:sp>
        <p:nvSpPr>
          <p:cNvPr id="29" name="Line 29"/>
          <p:cNvSpPr/>
          <p:nvPr/>
        </p:nvSpPr>
        <p:spPr>
          <a:xfrm>
            <a:off x="9925050" y="2619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495300" y="3190875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495300" y="3190875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C56A25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79704" y="34328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现金/成本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9704" y="3670935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采购成本 / 回款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9704" y="40138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9704" y="42424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36" name="Polyline 36"/>
          <p:cNvSpPr/>
          <p:nvPr/>
        </p:nvSpPr>
        <p:spPr>
          <a:xfrm>
            <a:off x="2571750" y="3914775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C56A25"/>
            </a:solidFill>
          </a:ln>
        </p:spPr>
      </p:sp>
      <p:sp>
        <p:nvSpPr>
          <p:cNvPr id="37" name="Line 37"/>
          <p:cNvSpPr/>
          <p:nvPr/>
        </p:nvSpPr>
        <p:spPr>
          <a:xfrm>
            <a:off x="2495550" y="4381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4210050" y="3190875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4210050" y="3190875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4394454" y="34328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394454" y="36709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关键岗位覆盖率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394454" y="40138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394454" y="42424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44" name="Polyline 44"/>
          <p:cNvSpPr/>
          <p:nvPr/>
        </p:nvSpPr>
        <p:spPr>
          <a:xfrm>
            <a:off x="6286500" y="3914775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2F6BFF"/>
            </a:solidFill>
          </a:ln>
        </p:spPr>
      </p:sp>
      <p:sp>
        <p:nvSpPr>
          <p:cNvPr id="45" name="Line 45"/>
          <p:cNvSpPr/>
          <p:nvPr/>
        </p:nvSpPr>
        <p:spPr>
          <a:xfrm>
            <a:off x="6210300" y="4381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7924800" y="3190875"/>
            <a:ext cx="3333750" cy="140970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7924800" y="3190875"/>
            <a:ext cx="3333750" cy="95250"/>
          </a:xfrm>
          <a:prstGeom prst="roundRect">
            <a:avLst>
              <a:gd name="adj" fmla="val 50000"/>
            </a:avLst>
          </a:prstGeom>
          <a:solidFill>
            <a:srgbClr val="D95C5C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8109204" y="34328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整改闭环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109204" y="36709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逾期与复发项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109204" y="401383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待确认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109204" y="42424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目标｜实际｜趋势</a:t>
            </a:r>
          </a:p>
        </p:txBody>
      </p:sp>
      <p:sp>
        <p:nvSpPr>
          <p:cNvPr id="52" name="Polyline 52"/>
          <p:cNvSpPr/>
          <p:nvPr/>
        </p:nvSpPr>
        <p:spPr>
          <a:xfrm>
            <a:off x="10001250" y="3914775"/>
            <a:ext cx="990600" cy="342900"/>
          </a:xfrm>
          <a:custGeom>
            <a:avLst/>
            <a:gdLst/>
            <a:ahLst/>
            <a:cxnLst/>
            <a:rect l="l" t="t" r="r" b="b"/>
            <a:pathLst>
              <a:path w="990600" h="342900">
                <a:moveTo>
                  <a:pt x="0" y="342900"/>
                </a:moveTo>
                <a:lnTo>
                  <a:pt x="247650" y="152400"/>
                </a:lnTo>
                <a:lnTo>
                  <a:pt x="495300" y="266700"/>
                </a:lnTo>
                <a:lnTo>
                  <a:pt x="742950" y="0"/>
                </a:lnTo>
                <a:lnTo>
                  <a:pt x="990600" y="76200"/>
                </a:lnTo>
              </a:path>
            </a:pathLst>
          </a:custGeom>
          <a:noFill/>
          <a:ln w="28575">
            <a:solidFill>
              <a:srgbClr val="D95C5C"/>
            </a:solidFill>
          </a:ln>
        </p:spPr>
      </p:sp>
      <p:sp>
        <p:nvSpPr>
          <p:cNvPr id="53" name="Line 53"/>
          <p:cNvSpPr/>
          <p:nvPr/>
        </p:nvSpPr>
        <p:spPr>
          <a:xfrm>
            <a:off x="9925050" y="4381500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495300" y="5286375"/>
            <a:ext cx="5334000" cy="685800"/>
          </a:xfrm>
          <a:prstGeom prst="roundRect">
            <a:avLst>
              <a:gd name="adj" fmla="val 11111"/>
            </a:avLst>
          </a:prstGeom>
          <a:solidFill>
            <a:srgbClr val="FFF0F0"/>
          </a:solidFill>
          <a:ln w="9525">
            <a:solidFill>
              <a:srgbClr val="D95C5C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17804" y="5433060"/>
            <a:ext cx="11672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异常 / 需要关注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17804" y="56616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指标偏离目标、逾期或复发项：待确认后列入责任人和期限</a:t>
            </a:r>
          </a:p>
        </p:txBody>
      </p:sp>
      <p:sp>
        <p:nvSpPr>
          <p:cNvPr id="57" name="Rectangle 57"/>
          <p:cNvSpPr/>
          <p:nvPr/>
        </p:nvSpPr>
        <p:spPr>
          <a:xfrm>
            <a:off x="6096000" y="5286375"/>
            <a:ext cx="5600700" cy="685800"/>
          </a:xfrm>
          <a:prstGeom prst="roundRect">
            <a:avLst>
              <a:gd name="adj" fmla="val 11111"/>
            </a:avLst>
          </a:prstGeom>
          <a:solidFill>
            <a:srgbClr val="FFF7DF"/>
          </a:solidFill>
          <a:ln w="9525">
            <a:solidFill>
              <a:srgbClr val="C56A25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6318504" y="543306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56A25"/>
                </a:solidFill>
                <a:latin typeface="Segoe UI"/>
                <a:ea typeface="Microsoft YaHei"/>
                <a:cs typeface="Segoe UI"/>
              </a:rPr>
              <a:t>管理层决策区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318504" y="5661660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本周期需决策事项：资源、优先级、升级或目标调整（待确认）</a:t>
            </a:r>
          </a:p>
        </p:txBody>
      </p:sp>
      <p:sp>
        <p:nvSpPr>
          <p:cNvPr id="60" name="Line 6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27｜风险登记与升级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风险点先定位，再按编号直接映射到触发等级和责任层级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9704" y="11087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风险热力图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9704" y="1318260"/>
            <a:ext cx="183763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横轴：可能性 纵轴：影响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3352800"/>
            <a:ext cx="514350" cy="514350"/>
          </a:xfrm>
          <a:prstGeom prst="rect">
            <a:avLst/>
          </a:prstGeom>
          <a:solidFill>
            <a:srgbClr val="EAF7F4"/>
          </a:solidFill>
          <a:ln w="9525">
            <a:solidFill>
              <a:srgbClr val="FFFFFF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1390650" y="3352800"/>
            <a:ext cx="51435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FFFF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1905000" y="335280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2419350" y="33528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76300" y="2838450"/>
            <a:ext cx="51435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FFFFFF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1390650" y="283845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1905000" y="28384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419350" y="28384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876300" y="232410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139065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190500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241935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87630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139065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190500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241935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587932" y="39662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可能性 →</a:t>
            </a:r>
          </a:p>
        </p:txBody>
      </p:sp>
      <p:sp>
        <p:nvSpPr>
          <p:cNvPr id="24" name="TextBox 24"/>
          <p:cNvSpPr txBox="1"/>
          <p:nvPr/>
        </p:nvSpPr>
        <p:spPr>
          <a:xfrm rot="-5400000">
            <a:off x="180137" y="2740152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影响 ↑</a:t>
            </a:r>
          </a:p>
        </p:txBody>
      </p:sp>
      <p:sp>
        <p:nvSpPr>
          <p:cNvPr id="25" name="Ellipse 25"/>
          <p:cNvSpPr/>
          <p:nvPr/>
        </p:nvSpPr>
        <p:spPr>
          <a:xfrm>
            <a:off x="1485900" y="2933700"/>
            <a:ext cx="323850" cy="323850"/>
          </a:xfrm>
          <a:prstGeom prst="ellipse">
            <a:avLst/>
          </a:prstGeom>
          <a:solidFill>
            <a:srgbClr val="A8751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453972" y="300418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R-01</a:t>
            </a:r>
          </a:p>
        </p:txBody>
      </p:sp>
      <p:sp>
        <p:nvSpPr>
          <p:cNvPr id="27" name="Ellipse 27"/>
          <p:cNvSpPr/>
          <p:nvPr/>
        </p:nvSpPr>
        <p:spPr>
          <a:xfrm>
            <a:off x="2000250" y="2419350"/>
            <a:ext cx="323850" cy="32385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968322" y="248983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R-02</a:t>
            </a:r>
          </a:p>
        </p:txBody>
      </p:sp>
      <p:sp>
        <p:nvSpPr>
          <p:cNvPr id="29" name="Ellipse 29"/>
          <p:cNvSpPr/>
          <p:nvPr/>
        </p:nvSpPr>
        <p:spPr>
          <a:xfrm>
            <a:off x="2514600" y="1905000"/>
            <a:ext cx="323850" cy="323850"/>
          </a:xfrm>
          <a:prstGeom prst="ellipse">
            <a:avLst/>
          </a:prstGeom>
          <a:solidFill>
            <a:srgbClr val="D95C5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482672" y="197548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R-03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42950" y="4333875"/>
            <a:ext cx="23622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89254" y="442341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颜色仅表示风险等级分区；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89254" y="46139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正式阈值、时限和岗位待确认。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89254" y="480441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编号用于右侧责任映射。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524250" y="1143000"/>
            <a:ext cx="8096250" cy="45720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3803904" y="1375410"/>
            <a:ext cx="23222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风险编号 → 触发等级 → 责任层级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803904" y="16230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不使用长曲线推断；每个风险编号直接落到一条责任路径。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810000" y="2143125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A8751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057612" y="2345531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R-01</a:t>
            </a:r>
          </a:p>
        </p:txBody>
      </p:sp>
      <p:sp>
        <p:nvSpPr>
          <p:cNvPr id="40" name="Line 40"/>
          <p:cNvSpPr/>
          <p:nvPr/>
        </p:nvSpPr>
        <p:spPr>
          <a:xfrm>
            <a:off x="4762500" y="2400300"/>
            <a:ext cx="333375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41" name="Rectangle 41"/>
          <p:cNvSpPr/>
          <p:nvPr/>
        </p:nvSpPr>
        <p:spPr>
          <a:xfrm>
            <a:off x="5191125" y="2143125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A87519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5502935" y="2337435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低/中</a:t>
            </a:r>
          </a:p>
        </p:txBody>
      </p:sp>
      <p:sp>
        <p:nvSpPr>
          <p:cNvPr id="43" name="Line 43"/>
          <p:cNvSpPr/>
          <p:nvPr/>
        </p:nvSpPr>
        <p:spPr>
          <a:xfrm>
            <a:off x="6315075" y="2400300"/>
            <a:ext cx="333375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44" name="Rectangle 44"/>
          <p:cNvSpPr/>
          <p:nvPr/>
        </p:nvSpPr>
        <p:spPr>
          <a:xfrm>
            <a:off x="6743700" y="2143125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A87519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253097" y="23374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业务线自处置</a:t>
            </a:r>
          </a:p>
        </p:txBody>
      </p:sp>
      <p:sp>
        <p:nvSpPr>
          <p:cNvPr id="46" name="Rectangle 46"/>
          <p:cNvSpPr/>
          <p:nvPr/>
        </p:nvSpPr>
        <p:spPr>
          <a:xfrm>
            <a:off x="8953500" y="214312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061704" y="223266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登记、设责任人、按期验证</a:t>
            </a:r>
          </a:p>
        </p:txBody>
      </p:sp>
      <p:sp>
        <p:nvSpPr>
          <p:cNvPr id="48" name="Rectangle 48"/>
          <p:cNvSpPr/>
          <p:nvPr/>
        </p:nvSpPr>
        <p:spPr>
          <a:xfrm>
            <a:off x="3810000" y="3048000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C56A25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057612" y="3250406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R-02</a:t>
            </a:r>
          </a:p>
        </p:txBody>
      </p:sp>
      <p:sp>
        <p:nvSpPr>
          <p:cNvPr id="50" name="Line 50"/>
          <p:cNvSpPr/>
          <p:nvPr/>
        </p:nvSpPr>
        <p:spPr>
          <a:xfrm>
            <a:off x="4762500" y="3305175"/>
            <a:ext cx="3333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51" name="Rectangle 51"/>
          <p:cNvSpPr/>
          <p:nvPr/>
        </p:nvSpPr>
        <p:spPr>
          <a:xfrm>
            <a:off x="5191125" y="3048000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C56A25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5502935" y="3242310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中/高</a:t>
            </a:r>
          </a:p>
        </p:txBody>
      </p:sp>
      <p:sp>
        <p:nvSpPr>
          <p:cNvPr id="53" name="Line 53"/>
          <p:cNvSpPr/>
          <p:nvPr/>
        </p:nvSpPr>
        <p:spPr>
          <a:xfrm>
            <a:off x="6315075" y="3305175"/>
            <a:ext cx="3333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54" name="Rectangle 54"/>
          <p:cNvSpPr/>
          <p:nvPr/>
        </p:nvSpPr>
        <p:spPr>
          <a:xfrm>
            <a:off x="6743700" y="3048000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253097" y="32423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职能部门复核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953500" y="3048000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061704" y="3137535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评估影响、设期限、必要时升级</a:t>
            </a:r>
          </a:p>
        </p:txBody>
      </p:sp>
      <p:sp>
        <p:nvSpPr>
          <p:cNvPr id="58" name="Rectangle 58"/>
          <p:cNvSpPr/>
          <p:nvPr/>
        </p:nvSpPr>
        <p:spPr>
          <a:xfrm>
            <a:off x="3810000" y="3952875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D95C5C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057612" y="4155281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R-03</a:t>
            </a:r>
          </a:p>
        </p:txBody>
      </p:sp>
      <p:sp>
        <p:nvSpPr>
          <p:cNvPr id="60" name="Line 60"/>
          <p:cNvSpPr/>
          <p:nvPr/>
        </p:nvSpPr>
        <p:spPr>
          <a:xfrm>
            <a:off x="4762500" y="4210050"/>
            <a:ext cx="3333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61" name="Rectangle 61"/>
          <p:cNvSpPr/>
          <p:nvPr/>
        </p:nvSpPr>
        <p:spPr>
          <a:xfrm>
            <a:off x="5191125" y="3952875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D95C5C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5628132" y="4147185"/>
            <a:ext cx="1737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高</a:t>
            </a:r>
          </a:p>
        </p:txBody>
      </p:sp>
      <p:sp>
        <p:nvSpPr>
          <p:cNvPr id="63" name="Line 63"/>
          <p:cNvSpPr/>
          <p:nvPr/>
        </p:nvSpPr>
        <p:spPr>
          <a:xfrm>
            <a:off x="6315075" y="4210050"/>
            <a:ext cx="3333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64" name="Rectangle 64"/>
          <p:cNvSpPr/>
          <p:nvPr/>
        </p:nvSpPr>
        <p:spPr>
          <a:xfrm>
            <a:off x="6743700" y="3952875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D95C5C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7333869" y="41471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管理层介入</a:t>
            </a:r>
          </a:p>
        </p:txBody>
      </p:sp>
      <p:sp>
        <p:nvSpPr>
          <p:cNvPr id="66" name="Rectangle 66"/>
          <p:cNvSpPr/>
          <p:nvPr/>
        </p:nvSpPr>
        <p:spPr>
          <a:xfrm>
            <a:off x="8953500" y="395287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9061704" y="40424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决策资源、确认措施、监督关闭</a:t>
            </a:r>
          </a:p>
        </p:txBody>
      </p:sp>
      <p:sp>
        <p:nvSpPr>
          <p:cNvPr id="68" name="Freeform 68"/>
          <p:cNvSpPr/>
          <p:nvPr/>
        </p:nvSpPr>
        <p:spPr>
          <a:xfrm>
            <a:off x="5191125" y="4857750"/>
            <a:ext cx="3552825" cy="571500"/>
          </a:xfrm>
          <a:custGeom>
            <a:avLst/>
            <a:gdLst/>
            <a:ahLst/>
            <a:cxnLst/>
            <a:rect l="l" t="t" r="r" b="b"/>
            <a:pathLst>
              <a:path w="3552825" h="571500">
                <a:moveTo>
                  <a:pt x="3552825" y="0"/>
                </a:moveTo>
                <a:cubicBezTo>
                  <a:pt x="2905125" y="571500"/>
                  <a:pt x="714375" y="57150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69" name="TextBox 69"/>
          <p:cNvSpPr txBox="1"/>
          <p:nvPr/>
        </p:nvSpPr>
        <p:spPr>
          <a:xfrm>
            <a:off x="5528310" y="5490210"/>
            <a:ext cx="43738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验证失败：返回对应编号重新登记；验证通过：形成关闭证据</a:t>
            </a:r>
          </a:p>
        </p:txBody>
      </p:sp>
      <p:sp>
        <p:nvSpPr>
          <p:cNvPr id="70" name="Line 7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6437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28｜安全、环保与应急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1719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发现—处置—上报—调查—整改—验证，现场与管理层共同承接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8585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现场先控制人身与环境风险，再按分级要求上报、调查、整改和验证</a:t>
            </a:r>
          </a:p>
        </p:txBody>
      </p:sp>
      <p:sp>
        <p:nvSpPr>
          <p:cNvPr id="6" name="Rectangle 6"/>
          <p:cNvSpPr/>
          <p:nvPr/>
        </p:nvSpPr>
        <p:spPr>
          <a:xfrm>
            <a:off x="523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76592" y="2604135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发现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5241" y="2918460"/>
            <a:ext cx="8441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检查 / 事件</a:t>
            </a:r>
          </a:p>
        </p:txBody>
      </p:sp>
      <p:sp>
        <p:nvSpPr>
          <p:cNvPr id="9" name="Line 9"/>
          <p:cNvSpPr/>
          <p:nvPr/>
        </p:nvSpPr>
        <p:spPr>
          <a:xfrm>
            <a:off x="2190750" y="2867025"/>
            <a:ext cx="180975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428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D95C5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820048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现场处置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33128" y="2918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隔离风险</a:t>
            </a:r>
          </a:p>
        </p:txBody>
      </p:sp>
      <p:sp>
        <p:nvSpPr>
          <p:cNvPr id="13" name="Line 13"/>
          <p:cNvSpPr/>
          <p:nvPr/>
        </p:nvSpPr>
        <p:spPr>
          <a:xfrm>
            <a:off x="4095750" y="2867025"/>
            <a:ext cx="1809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333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725048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逐级上报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38128" y="2918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按级报告</a:t>
            </a:r>
          </a:p>
        </p:txBody>
      </p:sp>
      <p:sp>
        <p:nvSpPr>
          <p:cNvPr id="17" name="Line 17"/>
          <p:cNvSpPr/>
          <p:nvPr/>
        </p:nvSpPr>
        <p:spPr>
          <a:xfrm>
            <a:off x="6000750" y="2867025"/>
            <a:ext cx="1809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6238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630048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责任调查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95809" y="2918460"/>
            <a:ext cx="135300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 / 原因 / 证据</a:t>
            </a:r>
          </a:p>
        </p:txBody>
      </p:sp>
      <p:sp>
        <p:nvSpPr>
          <p:cNvPr id="21" name="Line 21"/>
          <p:cNvSpPr/>
          <p:nvPr/>
        </p:nvSpPr>
        <p:spPr>
          <a:xfrm>
            <a:off x="7905750" y="2867025"/>
            <a:ext cx="180975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8143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696592" y="2604135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整改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00809" y="2918460"/>
            <a:ext cx="135300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措施 / 责任 / 记录</a:t>
            </a:r>
          </a:p>
        </p:txBody>
      </p:sp>
      <p:sp>
        <p:nvSpPr>
          <p:cNvPr id="25" name="Line 25"/>
          <p:cNvSpPr/>
          <p:nvPr/>
        </p:nvSpPr>
        <p:spPr>
          <a:xfrm>
            <a:off x="9810750" y="2867025"/>
            <a:ext cx="180975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10048875" y="2333625"/>
            <a:ext cx="166687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0440048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06 验证关闭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79469" y="2918460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效果 / 防复发</a:t>
            </a:r>
          </a:p>
        </p:txBody>
      </p:sp>
      <p:sp>
        <p:nvSpPr>
          <p:cNvPr id="29" name="Freeform 29"/>
          <p:cNvSpPr/>
          <p:nvPr/>
        </p:nvSpPr>
        <p:spPr>
          <a:xfrm>
            <a:off x="3333750" y="3905250"/>
            <a:ext cx="7143750" cy="1619250"/>
          </a:xfrm>
          <a:custGeom>
            <a:avLst/>
            <a:gdLst/>
            <a:ahLst/>
            <a:cxnLst/>
            <a:rect l="l" t="t" r="r" b="b"/>
            <a:pathLst>
              <a:path w="7143750" h="1619250">
                <a:moveTo>
                  <a:pt x="7143750" y="0"/>
                </a:moveTo>
                <a:cubicBezTo>
                  <a:pt x="6191250" y="1428750"/>
                  <a:pt x="1428750" y="161925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5789752" y="5394960"/>
            <a:ext cx="21364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未通过 / 复发：再调查或升级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3828288" y="1584960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响应级别、通知时限和责任岗位：待确认，以正式应急文件为准</a:t>
            </a:r>
          </a:p>
        </p:txBody>
      </p:sp>
      <p:sp>
        <p:nvSpPr>
          <p:cNvPr id="33" name="Line 3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29｜内部检查与管理评审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2446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计划—检查—分级—评审—跟踪，形成可回到下一轮的管理回路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48585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按过程检查证据，再由管理评审形成决策；跟踪结果进入下一轮检查</a:t>
            </a:r>
          </a:p>
        </p:txBody>
      </p:sp>
      <p:sp>
        <p:nvSpPr>
          <p:cNvPr id="6" name="Rectangle 6"/>
          <p:cNvSpPr/>
          <p:nvPr/>
        </p:nvSpPr>
        <p:spPr>
          <a:xfrm>
            <a:off x="714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248423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制定计划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8416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范围｜过程｜证据</a:t>
            </a:r>
          </a:p>
        </p:txBody>
      </p:sp>
      <p:sp>
        <p:nvSpPr>
          <p:cNvPr id="9" name="Line 9"/>
          <p:cNvSpPr/>
          <p:nvPr/>
        </p:nvSpPr>
        <p:spPr>
          <a:xfrm>
            <a:off x="2667000" y="2867025"/>
            <a:ext cx="257175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3000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534423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过程检查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24416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现场｜记录｜访谈</a:t>
            </a:r>
          </a:p>
        </p:txBody>
      </p:sp>
      <p:sp>
        <p:nvSpPr>
          <p:cNvPr id="13" name="Line 13"/>
          <p:cNvSpPr/>
          <p:nvPr/>
        </p:nvSpPr>
        <p:spPr>
          <a:xfrm>
            <a:off x="4953000" y="2867025"/>
            <a:ext cx="257175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5286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820423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发现分级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10416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事实｜风险｜整改</a:t>
            </a:r>
          </a:p>
        </p:txBody>
      </p:sp>
      <p:sp>
        <p:nvSpPr>
          <p:cNvPr id="17" name="Line 17"/>
          <p:cNvSpPr/>
          <p:nvPr/>
        </p:nvSpPr>
        <p:spPr>
          <a:xfrm>
            <a:off x="7239000" y="2867025"/>
            <a:ext cx="2571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7572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106423" y="2604135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管理评审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96416" y="29184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输入｜决策｜资源</a:t>
            </a:r>
          </a:p>
        </p:txBody>
      </p:sp>
      <p:sp>
        <p:nvSpPr>
          <p:cNvPr id="21" name="Line 21"/>
          <p:cNvSpPr/>
          <p:nvPr/>
        </p:nvSpPr>
        <p:spPr>
          <a:xfrm>
            <a:off x="9525000" y="2867025"/>
            <a:ext cx="257175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9858375" y="2333625"/>
            <a:ext cx="1952625" cy="10668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0553967" y="2604135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跟踪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05503" y="291846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关闭证据</a:t>
            </a:r>
          </a:p>
        </p:txBody>
      </p:sp>
      <p:sp>
        <p:nvSpPr>
          <p:cNvPr id="25" name="Freeform 25"/>
          <p:cNvSpPr/>
          <p:nvPr/>
        </p:nvSpPr>
        <p:spPr>
          <a:xfrm>
            <a:off x="2095500" y="3905250"/>
            <a:ext cx="8858250" cy="1524000"/>
          </a:xfrm>
          <a:custGeom>
            <a:avLst/>
            <a:gdLst/>
            <a:ahLst/>
            <a:cxnLst/>
            <a:rect l="l" t="t" r="r" b="b"/>
            <a:pathLst>
              <a:path w="8858250" h="1524000">
                <a:moveTo>
                  <a:pt x="8858250" y="0"/>
                </a:moveTo>
                <a:cubicBezTo>
                  <a:pt x="8191500" y="1333500"/>
                  <a:pt x="1238250" y="1524000"/>
                  <a:pt x="0" y="0"/>
                </a:cubicBezTo>
              </a:path>
            </a:pathLst>
          </a:custGeom>
          <a:noFill/>
          <a:ln w="28575">
            <a:solidFill>
              <a:srgbClr val="1C9C8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5354574" y="5252085"/>
            <a:ext cx="24353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跟踪结果：进入下一轮检查与评审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5250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4151376" y="158496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管理评审输入、输出和频次：待确认，以正式机制为准</a:t>
            </a:r>
          </a:p>
        </p:txBody>
      </p:sp>
      <p:sp>
        <p:nvSpPr>
          <p:cNvPr id="29" name="Line 29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30｜不符合项与整改关闭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38488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登记—升级—找根因—措施—验证—关闭，并保留失败回路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75360"/>
            <a:ext cx="5359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不符合项不能只记录“已整改”；必须证明原因、措施、验证有效并控制复发</a:t>
            </a:r>
          </a:p>
        </p:txBody>
      </p:sp>
      <p:sp>
        <p:nvSpPr>
          <p:cNvPr id="6" name="Rectangle 6"/>
          <p:cNvSpPr/>
          <p:nvPr/>
        </p:nvSpPr>
        <p:spPr>
          <a:xfrm>
            <a:off x="552450" y="219075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538935" y="2423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01 发现登记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8928" y="27089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事实｜证据｜来源</a:t>
            </a:r>
          </a:p>
        </p:txBody>
      </p:sp>
      <p:sp>
        <p:nvSpPr>
          <p:cNvPr id="9" name="Line 9"/>
          <p:cNvSpPr/>
          <p:nvPr/>
        </p:nvSpPr>
        <p:spPr>
          <a:xfrm flipH="1">
            <a:off x="419100" y="2667000"/>
            <a:ext cx="2990850" cy="1619250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552450" y="38100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538935" y="404241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02 分级升级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8928" y="43281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风险｜责任｜期限</a:t>
            </a:r>
          </a:p>
        </p:txBody>
      </p:sp>
      <p:sp>
        <p:nvSpPr>
          <p:cNvPr id="13" name="Line 13"/>
          <p:cNvSpPr/>
          <p:nvPr/>
        </p:nvSpPr>
        <p:spPr>
          <a:xfrm flipV="1">
            <a:off x="1981200" y="2057400"/>
            <a:ext cx="3714750" cy="2705100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4267200" y="219075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253685" y="2423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03 原因分析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24450" y="270891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根因｜复发控制</a:t>
            </a:r>
          </a:p>
        </p:txBody>
      </p:sp>
      <p:sp>
        <p:nvSpPr>
          <p:cNvPr id="17" name="Line 17"/>
          <p:cNvSpPr/>
          <p:nvPr/>
        </p:nvSpPr>
        <p:spPr>
          <a:xfrm flipH="1">
            <a:off x="4133850" y="2667000"/>
            <a:ext cx="2990850" cy="1619250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4267200" y="38100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253685" y="404241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 制定措施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43678" y="43281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责任｜期限｜记录</a:t>
            </a:r>
          </a:p>
        </p:txBody>
      </p:sp>
      <p:sp>
        <p:nvSpPr>
          <p:cNvPr id="21" name="Line 21"/>
          <p:cNvSpPr/>
          <p:nvPr/>
        </p:nvSpPr>
        <p:spPr>
          <a:xfrm flipV="1">
            <a:off x="5695950" y="2057400"/>
            <a:ext cx="3714750" cy="2705100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7981950" y="219075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968435" y="24231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05 效果验证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919972" y="27089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证据｜有效性</a:t>
            </a:r>
          </a:p>
        </p:txBody>
      </p:sp>
      <p:sp>
        <p:nvSpPr>
          <p:cNvPr id="25" name="Line 25"/>
          <p:cNvSpPr/>
          <p:nvPr/>
        </p:nvSpPr>
        <p:spPr>
          <a:xfrm flipH="1">
            <a:off x="7848600" y="2667000"/>
            <a:ext cx="2990850" cy="1619250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7981950" y="3810000"/>
            <a:ext cx="2857500" cy="952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129979" y="4042410"/>
            <a:ext cx="5614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06 关闭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000744" y="432816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批准｜留痕</a:t>
            </a:r>
          </a:p>
        </p:txBody>
      </p:sp>
      <p:sp>
        <p:nvSpPr>
          <p:cNvPr id="29" name="Freeform 29"/>
          <p:cNvSpPr/>
          <p:nvPr/>
        </p:nvSpPr>
        <p:spPr>
          <a:xfrm>
            <a:off x="7239000" y="3810000"/>
            <a:ext cx="4000500" cy="1619250"/>
          </a:xfrm>
          <a:custGeom>
            <a:avLst/>
            <a:gdLst/>
            <a:ahLst/>
            <a:cxnLst/>
            <a:rect l="l" t="t" r="r" b="b"/>
            <a:pathLst>
              <a:path w="4000500" h="1619250">
                <a:moveTo>
                  <a:pt x="3238500" y="0"/>
                </a:moveTo>
                <a:cubicBezTo>
                  <a:pt x="4000500" y="285750"/>
                  <a:pt x="4000500" y="1619250"/>
                  <a:pt x="2381250" y="1619250"/>
                </a:cubicBezTo>
                <a:cubicBezTo>
                  <a:pt x="952500" y="1619250"/>
                  <a:pt x="0" y="1238250"/>
                  <a:pt x="0" y="28575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7879232" y="5680710"/>
            <a:ext cx="329153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验证失败 / 逾期 / 复发：再升级，不直接关闭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52450" y="5286375"/>
            <a:ext cx="6191250" cy="523875"/>
          </a:xfrm>
          <a:prstGeom prst="roundRect">
            <a:avLst>
              <a:gd name="adj" fmla="val 12727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1703451" y="547116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责任岗位、整改期限和关闭权限：待正式授权文件确认</a:t>
            </a:r>
          </a:p>
        </p:txBody>
      </p:sp>
      <p:sp>
        <p:nvSpPr>
          <p:cNvPr id="33" name="Line 33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33｜管理体系证据链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从要求到执行、检查、整改和改进，形成可追溯的治理证据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证据链不是信息罗列，而是从要求到复盘的可追溯关系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566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制度要求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22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制度/标准</a:t>
            </a:r>
          </a:p>
        </p:txBody>
      </p:sp>
      <p:sp>
        <p:nvSpPr>
          <p:cNvPr id="9" name="Line 9"/>
          <p:cNvSpPr/>
          <p:nvPr/>
        </p:nvSpPr>
        <p:spPr>
          <a:xfrm>
            <a:off x="2000250" y="2895600"/>
            <a:ext cx="1333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1717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5568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责任活动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124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岗位/部门</a:t>
            </a:r>
          </a:p>
        </p:txBody>
      </p:sp>
      <p:sp>
        <p:nvSpPr>
          <p:cNvPr id="13" name="Line 13"/>
          <p:cNvSpPr/>
          <p:nvPr/>
        </p:nvSpPr>
        <p:spPr>
          <a:xfrm>
            <a:off x="3600450" y="2895600"/>
            <a:ext cx="1333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37719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570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执行记录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126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表单/台账</a:t>
            </a:r>
          </a:p>
        </p:txBody>
      </p:sp>
      <p:sp>
        <p:nvSpPr>
          <p:cNvPr id="17" name="Line 17"/>
          <p:cNvSpPr/>
          <p:nvPr/>
        </p:nvSpPr>
        <p:spPr>
          <a:xfrm>
            <a:off x="5200650" y="2895600"/>
            <a:ext cx="1333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53721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7572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检查结果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128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测量/审核</a:t>
            </a:r>
          </a:p>
        </p:txBody>
      </p:sp>
      <p:sp>
        <p:nvSpPr>
          <p:cNvPr id="21" name="Line 21"/>
          <p:cNvSpPr/>
          <p:nvPr/>
        </p:nvSpPr>
        <p:spPr>
          <a:xfrm>
            <a:off x="6800850" y="2895600"/>
            <a:ext cx="133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69723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D95C5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3574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整改证据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130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问题/措施</a:t>
            </a:r>
          </a:p>
        </p:txBody>
      </p:sp>
      <p:sp>
        <p:nvSpPr>
          <p:cNvPr id="25" name="Line 25"/>
          <p:cNvSpPr/>
          <p:nvPr/>
        </p:nvSpPr>
        <p:spPr>
          <a:xfrm>
            <a:off x="8401050" y="2895600"/>
            <a:ext cx="133350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85725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9576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评审结论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9132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会议/决定</a:t>
            </a:r>
          </a:p>
        </p:txBody>
      </p:sp>
      <p:sp>
        <p:nvSpPr>
          <p:cNvPr id="29" name="Line 29"/>
          <p:cNvSpPr/>
          <p:nvPr/>
        </p:nvSpPr>
        <p:spPr>
          <a:xfrm>
            <a:off x="10001250" y="2895600"/>
            <a:ext cx="133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0" name="Rectangle 30"/>
          <p:cNvSpPr/>
          <p:nvPr/>
        </p:nvSpPr>
        <p:spPr>
          <a:xfrm>
            <a:off x="101727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05578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改进证据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5134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验证/更新</a:t>
            </a:r>
          </a:p>
        </p:txBody>
      </p:sp>
      <p:sp>
        <p:nvSpPr>
          <p:cNvPr id="33" name="Line 33"/>
          <p:cNvSpPr/>
          <p:nvPr/>
        </p:nvSpPr>
        <p:spPr>
          <a:xfrm>
            <a:off x="12858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7429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143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证据：制度条款</a:t>
            </a:r>
          </a:p>
        </p:txBody>
      </p:sp>
      <p:sp>
        <p:nvSpPr>
          <p:cNvPr id="36" name="Line 36"/>
          <p:cNvSpPr/>
          <p:nvPr/>
        </p:nvSpPr>
        <p:spPr>
          <a:xfrm>
            <a:off x="28860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23431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23145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证据：责任记录</a:t>
            </a:r>
          </a:p>
        </p:txBody>
      </p:sp>
      <p:sp>
        <p:nvSpPr>
          <p:cNvPr id="39" name="Line 39"/>
          <p:cNvSpPr/>
          <p:nvPr/>
        </p:nvSpPr>
        <p:spPr>
          <a:xfrm>
            <a:off x="44862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39433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9147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证据：执行台账</a:t>
            </a:r>
          </a:p>
        </p:txBody>
      </p:sp>
      <p:sp>
        <p:nvSpPr>
          <p:cNvPr id="42" name="Line 42"/>
          <p:cNvSpPr/>
          <p:nvPr/>
        </p:nvSpPr>
        <p:spPr>
          <a:xfrm>
            <a:off x="60864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55435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55149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证据：检查报告</a:t>
            </a:r>
          </a:p>
        </p:txBody>
      </p:sp>
      <p:sp>
        <p:nvSpPr>
          <p:cNvPr id="45" name="Line 45"/>
          <p:cNvSpPr/>
          <p:nvPr/>
        </p:nvSpPr>
        <p:spPr>
          <a:xfrm>
            <a:off x="76866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71437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71151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证据：整改闭环</a:t>
            </a:r>
          </a:p>
        </p:txBody>
      </p:sp>
      <p:sp>
        <p:nvSpPr>
          <p:cNvPr id="48" name="Line 48"/>
          <p:cNvSpPr/>
          <p:nvPr/>
        </p:nvSpPr>
        <p:spPr>
          <a:xfrm>
            <a:off x="92868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87439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87153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证据：会议纪要</a:t>
            </a:r>
          </a:p>
        </p:txBody>
      </p:sp>
      <p:sp>
        <p:nvSpPr>
          <p:cNvPr id="51" name="Line 51"/>
          <p:cNvSpPr/>
          <p:nvPr/>
        </p:nvSpPr>
        <p:spPr>
          <a:xfrm>
            <a:off x="108870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103441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03155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证据：版本更新</a:t>
            </a:r>
          </a:p>
        </p:txBody>
      </p:sp>
      <p:sp>
        <p:nvSpPr>
          <p:cNvPr id="54" name="Freeform 54"/>
          <p:cNvSpPr/>
          <p:nvPr/>
        </p:nvSpPr>
        <p:spPr>
          <a:xfrm>
            <a:off x="1285875" y="4095750"/>
            <a:ext cx="9286875" cy="1000125"/>
          </a:xfrm>
          <a:custGeom>
            <a:avLst/>
            <a:gdLst/>
            <a:ahLst/>
            <a:cxnLst/>
            <a:rect l="l" t="t" r="r" b="b"/>
            <a:pathLst>
              <a:path w="9286875" h="1000125">
                <a:moveTo>
                  <a:pt x="0" y="0"/>
                </a:moveTo>
                <a:cubicBezTo>
                  <a:pt x="0" y="1000125"/>
                  <a:pt x="9286875" y="1000125"/>
                  <a:pt x="9286875" y="0"/>
                </a:cubicBezTo>
              </a:path>
            </a:pathLst>
          </a:custGeom>
          <a:noFill/>
          <a:ln w="28575">
            <a:solidFill>
              <a:srgbClr val="1C9C8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55" name="TextBox 55"/>
          <p:cNvSpPr txBox="1"/>
          <p:nvPr/>
        </p:nvSpPr>
        <p:spPr>
          <a:xfrm>
            <a:off x="3799332" y="525208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复盘反馈：改进结果反向更新制度、责任、表单或检查方式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5725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9525">
            <a:solidFill>
              <a:srgbClr val="B7C9FF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3975354" y="1584960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每一段都应能回答：谁负责？留下什么记录？由谁验证？</a:t>
            </a:r>
          </a:p>
        </p:txBody>
      </p:sp>
      <p:sp>
        <p:nvSpPr>
          <p:cNvPr id="58" name="Rectangle 58"/>
          <p:cNvSpPr/>
          <p:nvPr/>
        </p:nvSpPr>
        <p:spPr>
          <a:xfrm>
            <a:off x="857250" y="5619750"/>
            <a:ext cx="10287000" cy="400050"/>
          </a:xfrm>
          <a:prstGeom prst="roundRect">
            <a:avLst>
              <a:gd name="adj" fmla="val 14286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652266" y="57378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待确认：正式表单编号、记录保存期限、评审频次和证据归档位置</a:t>
            </a:r>
          </a:p>
        </p:txBody>
      </p:sp>
      <p:sp>
        <p:nvSpPr>
          <p:cNvPr id="60" name="Line 6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2026-10-16T02:24:37Z</dcterms:created>
  <dcterms:modified xsi:type="dcterms:W3CDTF">2026-10-16T02:24:37Z</dcterms:modified>
  <cp:category/>
  <cp:contentStatus/>
</cp:coreProperties>
</file>