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  <Relationship Id="rId3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本页围绕“公司治理与管理方法”展开。重点不是介绍概念本身，而是说明鑫犇如何把责任、流程和证据组织起来，让客户能够理解并验证我们的管理方式。下一页将继续把这一方法落到具体治理场景。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本页围绕“这不是“部门介绍””展开。重点不是介绍概念本身，而是说明鑫犇如何把责任、流程和证据组织起来，让客户能够理解并验证我们的管理方式。下一页将继续把这一方法落到具体治理场景。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本页围绕“鑫犇是谁”展开。重点不是介绍概念本身，而是说明鑫犇如何把责任、流程和证据组织起来，让客户能够理解并验证我们的管理方式。下一页将继续把这一方法落到具体治理场景。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本页围绕“客户为什么要看治理”展开。重点不是介绍概念本身，而是说明鑫犇如何把责任、流程和证据组织起来，让客户能够理解并验证我们的管理方式。下一页将继续把这一方法落到具体治理场景。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本页围绕“我们的治理观”展开。重点不是介绍概念本身，而是说明鑫犇如何把责任、流程和证据组织起来，让客户能够理解并验证我们的管理方式。下一页将继续把这一方法落到具体治理场景。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本页围绕“治理模型总览”展开。重点不是介绍概念本身，而是说明鑫犇如何把责任、流程和证据组织起来，让客户能够理解并验证我们的管理方式。下一页将继续把这一方法落到具体治理场景。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本页围绕“组织架构：公司—部门—班组”展开。重点不是介绍概念本身，而是说明鑫犇如何把责任、流程和证据组织起来，让客户能够理解并验证我们的管理方式。下一页将继续把这一方法落到具体治理场景。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本页围绕“董事长与总经理的边界”展开。重点不是介绍概念本身，而是说明鑫犇如何把责任、流程和证据组织起来，让客户能够理解并验证我们的管理方式。下一页将继续把这一方法落到具体治理场景。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本页围绕“一级部门如何承接治理”展开。重点不是介绍概念本身，而是说明鑫犇如何把责任、流程和证据组织起来，让客户能够理解并验证我们的管理方式。下一页将继续把这一方法落到具体治理场景。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本页围绕“品质部的治理职责”展开。重点不是介绍概念本身，而是说明鑫犇如何把责任、流程和证据组织起来，让客户能够理解并验证我们的管理方式。下一页将继续把这一方法落到具体治理场景。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本页围绕“营运部的治理职责”展开。重点不是介绍概念本身，而是说明鑫犇如何把责任、流程和证据组织起来，让客户能够理解并验证我们的管理方式。下一页将继续把这一方法落到具体治理场景。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本页围绕“行政部与财务部的治理职责”展开。重点不是介绍概念本身，而是说明鑫犇如何把责任、流程和证据组织起来，让客户能够理解并验证我们的管理方式。下一页将继续把这一方法落到具体治理场景。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字典：让岗位成为管理单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本页围绕“RACI：一项事项只能有一个A”展开。重点不是介绍概念本身，而是说明鑫犇如何把责任、流程和证据组织起来，让客户能够理解并验证我们的管理方式。下一页将继续把这一方法落到具体治理场景。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本页围绕“客户订单评审如何治理”展开。重点不是介绍概念本身，而是说明鑫犇如何把责任、流程和证据组织起来，让客户能够理解并验证我们的管理方式。下一页将继续把这一方法落到具体治理场景。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本页围绕“生产任务下达如何治理”展开。重点不是介绍概念本身，而是说明鑫犇如何把责任、流程和证据组织起来，让客户能够理解并验证我们的管理方式。下一页将继续把这一方法落到具体治理场景。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本页围绕“首件与异常放行”展开。重点不是介绍概念本身，而是说明鑫犇如何把责任、流程和证据组织起来，让客户能够理解并验证我们的管理方式。下一页将继续把这一方法落到具体治理场景。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本页围绕“来料检验如何治理”展开。重点不是介绍概念本身，而是说明鑫犇如何把责任、流程和证据组织起来，让客户能够理解并验证我们的管理方式。下一页将继续把这一方法落到具体治理场景。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本页围绕“客户投诉如何闭环”展开。重点不是介绍概念本身，而是说明鑫犇如何把责任、流程和证据组织起来，让客户能够理解并验证我们的管理方式。下一页将继续把这一方法落到具体治理场景。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本页围绕“模具管理如何治理”展开。重点不是介绍概念本身，而是说明鑫犇如何把责任、流程和证据组织起来，让客户能够理解并验证我们的管理方式。下一页将继续把这一方法落到具体治理场景。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本页围绕“文件和版本控制”展开。重点不是介绍概念本身，而是说明鑫犇如何把责任、流程和证据组织起来，让客户能够理解并验证我们的管理方式。下一页将继续把这一方法落到具体治理场景。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管理：没有证据就没有完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本页围绕“经营会议如何做成治理机制”展开。重点不是介绍概念本身，而是说明鑫犇如何把责任、流程和证据组织起来，让客户能够理解并验证我们的管理方式。下一页将继续把这一方法落到具体治理场景。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本页围绕“管理层看什么”展开。重点不是介绍概念本身，而是说明鑫犇如何把责任、流程和证据组织起来，让客户能够理解并验证我们的管理方式。下一页将继续把这一方法落到具体治理场景。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本页围绕“授权与审批边界”展开。重点不是介绍概念本身，而是说明鑫犇如何把责任、流程和证据组织起来，让客户能够理解并验证我们的管理方式。下一页将继续把这一方法落到具体治理场景。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本页围绕“风险管理：先识别，再控制”展开。重点不是介绍概念本身，而是说明鑫犇如何把责任、流程和证据组织起来，让客户能够理解并验证我们的管理方式。下一页将继续把这一方法落到具体治理场景。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本页围绕“利益相关方沟通”展开。重点不是介绍概念本身，而是说明鑫犇如何把责任、流程和证据组织起来，让客户能够理解并验证我们的管理方式。下一页将继续把这一方法落到具体治理场景。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本页围绕“治理成熟度：从人治到机制”展开。重点不是介绍概念本身，而是说明鑫犇如何把责任、流程和证据组织起来，让客户能够理解并验证我们的管理方式。下一页将继续把这一方法落到具体治理场景。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本页围绕“90天治理落地路线”展开。重点不是介绍概念本身，而是说明鑫犇如何把责任、流程和证据组织起来，让客户能够理解并验证我们的管理方式。下一页将继续把这一方法落到具体治理场景。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本页围绕“客户可见的治理证据包”展开。重点不是介绍概念本身，而是说明鑫犇如何把责任、流程和证据组织起来，让客户能够理解并验证我们的管理方式。下一页将继续把这一方法落到具体治理场景。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本页围绕“给客户的承诺”展开。重点不是介绍概念本身，而是说明鑫犇如何把责任、流程和证据组织起来，让客户能够理解并验证我们的管理方式。下一页将继续把这一方法落到具体治理场景。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3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0B1220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0B1220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客户与公司介绍版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这不是“部门介绍”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治理的核心，是把承诺变成可验证的责任、流程和证据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6330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客户关心的不是组织名称，而��：谁负责、如何决策、出了问题如何闭环。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鑫犇是谁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以制造为基础，以治理为保障，以长期合作为目标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电子零件与金属件制造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冲压、清洗、模具维护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465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及配套管理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客户为什么要看治理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稳定交付背后，必须有稳定的组织与决策机制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四个客户判断点：承诺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是否有依据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变更是否受控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异常是否有人负责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5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记录是否能够追溯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我们的治理观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895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把“说得清楚”变成“做得到、查得到、改得动”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993907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客户承诺 · 责任边界 · 过程控制 · 证据留存 · 持续改进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治理模型总览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一个公司治理系统，至少回答五个问题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方向由谁定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权责如何分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事项如何决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结果如何看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问题如何改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6152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组织架构：公司—部门—班组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组织架构不是名单，而是责任传递的路径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公司层：董事长、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部门层：生产、品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质、营运、行政、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班组层：执行与反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41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董事长与总经理的边界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战略监督与日常经营，必须既衔接又不混淆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董事长：战略、重大事项、重大风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险与授权监督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总经理：经营目标、日常管理、跨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部门协调与结果负责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一级部门如何承接治理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6216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部门负责人不是“信息中转站”，而是结果责任人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每个部门明确：定位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主要输出物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月度汇报对象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汇报周期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把计划、调度、记录和现场问题统一到一条责任线上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管理输出：生产任务单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、日产量报表、设备点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检汇总、生产异常记录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质量不是末端检验，而是独立的判断与放行机制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管理输出：来料检验、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4481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制程/终检、不合格处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置、客诉闭环、量具校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6706" y="3901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准、受控文件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营运部的治理职责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订单、客户、采购、仓储必须在同一个承诺链上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管理输出：订单评审、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采购申购、仓储盘点、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6706" y="3568065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出货检测报告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行政部与财务部的治理职责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后台职能的价值，是把规则、资源和风险管住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17263A"/>
          </a:solidFill>
          <a:ln w="9525">
            <a:solidFill>
              <a:srgbClr val="FF8A3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行政：制度、人事、培训、安全台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94" y="3313748"/>
            <a:ext cx="2954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财务：核算、资金、税务、成本和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8094" y="331374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付款审批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岗位字典：让岗位成为管理单元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岗位不是一个称呼，而是目的、职责、权限和能力的组合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每个岗位至少写清：岗位目的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任职能力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6311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RACI：一项事项只能有一个A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197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RACI让“大家负责”变成“责���可定位”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4740" y="2752725"/>
            <a:ext cx="144901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 最终负责/批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准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291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 执行责任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97462" y="2752725"/>
            <a:ext cx="110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C 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0016" y="275272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I 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745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每行只能1个A，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10573" y="3000375"/>
            <a:ext cx="93375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至少1个R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客户订单评审如何治理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先确认能不能承诺，再确认谁来承诺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输入：订单、图纸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、交期、材料、客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输出：订单评审记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78816" y="2752725"/>
            <a:ext cx="10345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A：营运部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1199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R：业务、生产、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78799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品质、技术、采购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生产任务下达如何治理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开工前把产品、材料、模具、设备和交期说清楚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关键动作：确认版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本</a:t>
            </a:r>
          </a:p>
        </p:txBody>
      </p:sp>
      <p:sp>
        <p:nvSpPr>
          <p:cNvPr id="13" name="Line 13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确认材料</a:t>
            </a:r>
          </a:p>
        </p:txBody>
      </p:sp>
      <p:sp>
        <p:nvSpPr>
          <p:cNvPr id="17" name="Line 17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确认模具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确认设备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确认交期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741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形成生产任务确认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162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首件与异常放行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650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异常发生时，最重要的不是“先做完”，而是“先判断”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品质部承担最终判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生产与技术提供事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实</a:t>
            </a:r>
          </a:p>
        </p:txBody>
      </p:sp>
      <p:sp>
        <p:nvSpPr>
          <p:cNvPr id="18" name="Line 18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84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不合格隔离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恢复生产必须留下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02852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批准依据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来料检验如何治理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供应商来料是否可用，要有标准、有记录、有处置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662" y="2752725"/>
            <a:ext cx="11071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到料 → 检验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145" y="3000375"/>
            <a:ext cx="13722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→ 合格入库/异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客户投诉如何闭环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客户问题进入公司后，要有统一入口和明确时限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接收与分级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865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止血与隔离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07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改善措施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模具管理如何治理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35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模具���制造能力的一部分，必须有台账、有履历、有责任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7243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新模/改模评审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模具编号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维修保养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上机状态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异常记录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技术文件归档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文件和版本控制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客户拿到的承诺，必须对应到受控版本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文件编码</a:t>
            </a:r>
          </a:p>
        </p:txBody>
      </p:sp>
      <p:sp>
        <p:nvSpPr>
          <p:cNvPr id="12" name="Line 12"/>
          <p:cNvSpPr/>
          <p:nvPr/>
        </p:nvSpPr>
        <p:spPr>
          <a:xfrm>
            <a:off x="29813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240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218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80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版本号</a:t>
            </a:r>
          </a:p>
        </p:txBody>
      </p:sp>
      <p:sp>
        <p:nvSpPr>
          <p:cNvPr id="16" name="Line 16"/>
          <p:cNvSpPr/>
          <p:nvPr/>
        </p:nvSpPr>
        <p:spPr>
          <a:xfrm>
            <a:off x="42957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438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36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249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审批人</a:t>
            </a:r>
          </a:p>
        </p:txBody>
      </p:sp>
      <p:sp>
        <p:nvSpPr>
          <p:cNvPr id="20" name="Line 20"/>
          <p:cNvSpPr/>
          <p:nvPr/>
        </p:nvSpPr>
        <p:spPr>
          <a:xfrm>
            <a:off x="56102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7529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507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9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生效日期</a:t>
            </a:r>
          </a:p>
        </p:txBody>
      </p:sp>
      <p:sp>
        <p:nvSpPr>
          <p:cNvPr id="24" name="Line 24"/>
          <p:cNvSpPr/>
          <p:nvPr/>
        </p:nvSpPr>
        <p:spPr>
          <a:xfrm>
            <a:off x="69246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67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65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453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发放范围</a:t>
            </a:r>
          </a:p>
        </p:txBody>
      </p:sp>
      <p:sp>
        <p:nvSpPr>
          <p:cNvPr id="28" name="Line 28"/>
          <p:cNvSpPr/>
          <p:nvPr/>
        </p:nvSpPr>
        <p:spPr>
          <a:xfrm>
            <a:off x="823912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381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79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59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旧版回收</a:t>
            </a:r>
          </a:p>
        </p:txBody>
      </p:sp>
      <p:sp>
        <p:nvSpPr>
          <p:cNvPr id="32" name="Line 32"/>
          <p:cNvSpPr/>
          <p:nvPr/>
        </p:nvSpPr>
        <p:spPr>
          <a:xfrm>
            <a:off x="9553575" y="25146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8696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394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74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变更原因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0107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7085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887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变更记录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9672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记录管理：没有证据就没有完成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记录不是为了填表，而是为了证明过程真实发生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190750"/>
            <a:ext cx="10477500" cy="2381250"/>
          </a:xfrm>
          <a:prstGeom prst="roundRect">
            <a:avLst>
              <a:gd name="adj" fmla="val 5600"/>
            </a:avLst>
          </a:prstGeom>
          <a:solidFill>
            <a:srgbClr val="121D2E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19200" y="2192655"/>
            <a:ext cx="551204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85772" y="2787968"/>
            <a:ext cx="1332301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记录要能回答：谁做的｜何时做的｜依据是什么｜结果怎样｜异常怎么处理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1106" y="35204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5C6B0"/>
                </a:solidFill>
                <a:latin typeface="Arial"/>
                <a:ea typeface="Microsoft YaHei"/>
                <a:cs typeface="Arial"/>
              </a:rPr>
              <a:t>把管理方法变成客户可以验证的合作能力。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经营会议如何做成治理机制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7033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会议不以“开过”为完成，而以事项关闭为完成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输入：部门月度结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13" name="Line 13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0194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讨论：偏差与风险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403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决定：责任人与期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8246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限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78799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输出：会议纪要、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4812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重点事项跟踪表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管理层看什么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管理层要看趋势、风险和需要决策的事项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组织：架构与岗位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经营：目标与重点事项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质量：异常与客诉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资源：资金与关键能力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整改：逾期事项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授权与审批边界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权限不写清楚，组织就会靠经验运行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重大事项：董事长监督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706" y="3234690"/>
            <a:ext cx="667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/审批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465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日常经营：总经理统筹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2606" y="29013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专业判断：部门负责人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2346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在授权范围内负责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556" y="2901315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超边界事项升级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风险管理：先识别，再控制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治理不是等问题发生，而是提前定义触发条件和升级路径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风险登记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关闭证据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利益相关方沟通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客户、员工、供应商和管理层，都需要可预期的沟通方式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782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670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客户：承诺与变化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5052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7261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4656" y="2901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员工：职责与反馈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5315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413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260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供应商：要求与异常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801100" y="2238375"/>
            <a:ext cx="2381250" cy="2190750"/>
          </a:xfrm>
          <a:prstGeom prst="roundRect">
            <a:avLst>
              <a:gd name="adj" fmla="val 6087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22080" y="2505075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0556" y="2901315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管理层：数据与决策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511911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治理成熟度：从人治到机制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成熟不是文件越多，而是关键事项越来越不依赖个人记忆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54" y="2752725"/>
            <a:ext cx="1223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1 口头约定 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368" y="3000375"/>
            <a:ext cx="10117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2 有表单 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653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90天治理落地路线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先把最关键的责任、授权和记录跑通，再扩展到全公司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0—30天：主数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35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据、架构、岗位、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2A3B52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35C6B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31—60天：确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8777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认清单、会议机制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17263A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8A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4" y="3000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盘、内审、持续改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344" y="4266248"/>
            <a:ext cx="68450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治理要求：每一个步骤都应有责任人、输出物和完成证据。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客户可见的治理证据包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8666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把“我们有管理”变成客户看得懂的资料包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2A3B5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公司介绍与组织边界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684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订单/变更评审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质量与异常闭环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FF8A3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模具与版本履历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17263A"/>
          </a:solidFill>
          <a:ln w="9525">
            <a:solidFill>
              <a:srgbClr val="2A3B5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35C6B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会议与改善记录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835150"/>
            <a:ext cx="4953000" cy="28067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667500" y="762000"/>
            <a:ext cx="4953000" cy="4953000"/>
          </a:xfrm>
          <a:prstGeom prst="rect">
            <a:avLst/>
          </a:prstGeom>
          <a:solidFill>
            <a:srgbClr val="0B1220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810500" cy="6858000"/>
          </a:xfrm>
          <a:prstGeom prst="rect">
            <a:avLst/>
          </a:prstGeom>
          <a:solidFill>
            <a:srgbClr val="0B1220">
              <a:alpha val="9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485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5C6B0"/>
                </a:solidFill>
                <a:latin typeface="Arial"/>
                <a:ea typeface="Arial"/>
                <a:cs typeface="Arial"/>
              </a:rPr>
              <a:t>CUSTOMER PROMISE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672590"/>
            <a:ext cx="275203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给客户的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321242"/>
            <a:ext cx="1691907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FF8A34"/>
                </a:solidFill>
                <a:latin typeface="Arial"/>
                <a:ea typeface="Microsoft YaHei"/>
                <a:cs typeface="Arial"/>
              </a:rPr>
              <a:t>承诺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082" y="3630930"/>
            <a:ext cx="833277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4F7FB"/>
                </a:solidFill>
                <a:latin typeface="Arial"/>
                <a:ea typeface="Microsoft YaHei"/>
                <a:cs typeface="Arial"/>
              </a:rPr>
              <a:t>鑫犇电子｜以受控的管理方法，支撑长期、透明、可验证的合作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606" y="51396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AB7C8"/>
                </a:solidFill>
                <a:latin typeface="Arial"/>
                <a:ea typeface="Microsoft YaHei"/>
                <a:cs typeface="Arial"/>
              </a:rPr>
              <a:t>鑫犇电子有限公司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4859B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4859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2026-10-07T10:27:21Z</dcterms:created>
  <dcterms:modified xsi:type="dcterms:W3CDTF">2026-10-07T10:27:21Z</dcterms:modified>
  <cp:category/>
  <cp:contentStatus/>
</cp:coreProperties>
</file>