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1"/>
          </a:solidFill>
          <a:ln>
            <a:solidFill>
              <a:srgbClr val="14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A6991"/>
          </a:solidFill>
          <a:ln>
            <a:solidFill>
              <a:srgbClr val="2A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E88C32"/>
          </a:solidFill>
          <a:ln>
            <a:solidFill>
              <a:srgbClr val="E8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45720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XINBEN / WORK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8046720" cy="1371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鑫犇电子有限公司
岗位操作与知识手册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246120"/>
            <a:ext cx="685800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DCE8EC"/>
                </a:solidFill>
                <a:latin typeface="Microsoft YaHei"/>
              </a:rPr>
              <a:t>给新员工看的公司工作地图
认识部门｜看懂流程｜知道遇到问题找谁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417320"/>
            <a:ext cx="2971800" cy="2971800"/>
          </a:xfrm>
          <a:prstGeom prst="rect">
            <a:avLst/>
          </a:prstGeom>
          <a:solidFill>
            <a:srgbClr val="1B435B"/>
          </a:solidFill>
          <a:ln>
            <a:solidFill>
              <a:srgbClr val="4B9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828800"/>
            <a:ext cx="22860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客户订单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267712"/>
            <a:ext cx="9144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800" b="1">
                <a:solidFill>
                  <a:srgbClr val="E88C32"/>
                </a:solidFill>
                <a:latin typeface="Microsoft YaHei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788920"/>
            <a:ext cx="214884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生产｜模具
↓
首件｜量产
↓
完工交付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82512"/>
            <a:ext cx="36576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142B41"/>
                </a:solidFill>
                <a:latin typeface="Microsoft YaHei"/>
              </a:rPr>
              <a:t>第二版｜实用版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8983"/>
          </a:solidFill>
          <a:ln>
            <a:solidFill>
              <a:srgbClr val="298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6576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A6991"/>
                </a:solidFill>
                <a:latin typeface="Microsoft YaHei"/>
              </a:rPr>
              <a:t>鑫犇电子｜岗位操作与知识手册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B41"/>
                </a:solidFill>
                <a:latin typeface="Microsoft YaHei"/>
              </a:rPr>
              <a:t>使用说明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5F6B74"/>
                </a:solidFill>
                <a:latin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5F6B74"/>
                </a:solidFill>
                <a:latin typeface="Microsoft YaHei"/>
              </a:rPr>
              <a:t>这不是大厂制度汇编，而是新员工的工作地图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B74"/>
                </a:solidFill>
                <a:latin typeface="Microsoft YaHei"/>
              </a:rPr>
              <a:t>鑫犇电子有限公司｜岗位操作与知识手册 第二版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10744200" cy="3977639"/>
          </a:xfrm>
          <a:prstGeom prst="roundRect">
            <a:avLst/>
          </a:prstGeom>
          <a:solidFill>
            <a:srgbClr val="EEF5F7"/>
          </a:solidFill>
          <a:ln>
            <a:solidFill>
              <a:srgbClr val="EE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100126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先看第一册：知道公司做什么、三个部门怎么配合。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再看自己所在部门：知道本岗位负责什么、遇到问题找谁。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附件是现场速查表，现场需要时直接拿来填。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8983"/>
          </a:solidFill>
          <a:ln>
            <a:solidFill>
              <a:srgbClr val="298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6576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A6991"/>
                </a:solidFill>
                <a:latin typeface="Microsoft YaHei"/>
              </a:rPr>
              <a:t>鑫犇电子｜岗位操作与知识手册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B41"/>
                </a:solidFill>
                <a:latin typeface="Microsoft YaHei"/>
              </a:rPr>
              <a:t>公司目前的三个部门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5F6B74"/>
                </a:solidFill>
                <a:latin typeface="Microsoft Ya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5F6B74"/>
                </a:solidFill>
                <a:latin typeface="Microsoft YaHei"/>
              </a:rPr>
              <a:t>三部门各管一段，互相接上才完成一张订单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B74"/>
                </a:solidFill>
                <a:latin typeface="Microsoft YaHei"/>
              </a:rPr>
              <a:t>鑫犇电子有限公司｜岗位操作与知识手册 第二版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438912" cy="438912"/>
          </a:xfrm>
          <a:prstGeom prst="roundRect">
            <a:avLst/>
          </a:prstGeom>
          <a:solidFill>
            <a:srgbClr val="E88C32"/>
          </a:solidFill>
          <a:ln>
            <a:solidFill>
              <a:srgbClr val="E8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47672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42B41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856231"/>
            <a:ext cx="9784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32C34"/>
                </a:solidFill>
                <a:latin typeface="Microsoft YaHei"/>
              </a:rPr>
              <a:t>生产部：把正确的产品做出来，并负责现场检查与记录。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24327"/>
            <a:ext cx="438912" cy="438912"/>
          </a:xfrm>
          <a:prstGeom prst="roundRect">
            <a:avLst/>
          </a:prstGeom>
          <a:solidFill>
            <a:srgbClr val="E88C32"/>
          </a:solidFill>
          <a:ln>
            <a:solidFill>
              <a:srgbClr val="E8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97479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42B41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06039"/>
            <a:ext cx="9784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C34"/>
                </a:solidFill>
                <a:latin typeface="Microsoft YaHei"/>
              </a:rPr>
              <a:t>模具部：让模具可用、好用，处理模具造成的异常。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74135"/>
            <a:ext cx="438912" cy="438912"/>
          </a:xfrm>
          <a:prstGeom prst="roundRect">
            <a:avLst/>
          </a:prstGeom>
          <a:solidFill>
            <a:srgbClr val="E88C32"/>
          </a:solidFill>
          <a:ln>
            <a:solidFill>
              <a:srgbClr val="E8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47287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42B41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355847"/>
            <a:ext cx="9784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C34"/>
                </a:solidFill>
                <a:latin typeface="Microsoft YaHei"/>
              </a:rPr>
              <a:t>行政管理部：负责订单和资料流转、人员及日常综合事务。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8983"/>
          </a:solidFill>
          <a:ln>
            <a:solidFill>
              <a:srgbClr val="298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6576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A6991"/>
                </a:solidFill>
                <a:latin typeface="Microsoft YaHei"/>
              </a:rPr>
              <a:t>鑫犇电子｜岗位操作与知识手册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B41"/>
                </a:solidFill>
                <a:latin typeface="Microsoft YaHei"/>
              </a:rPr>
              <a:t>一张客户订单怎样完成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5F6B74"/>
                </a:solidFill>
                <a:latin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5F6B74"/>
                </a:solidFill>
                <a:latin typeface="Microsoft YaHei"/>
              </a:rPr>
              <a:t>一条线看懂公司工作从哪里开始、到哪里结束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B74"/>
                </a:solidFill>
                <a:latin typeface="Microsoft YaHei"/>
              </a:rPr>
              <a:t>鑫犇电子有限公司｜岗位操作与知识手册 第二版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1234440" cy="960120"/>
          </a:xfrm>
          <a:prstGeom prst="roundRect">
            <a:avLst/>
          </a:prstGeom>
          <a:solidFill>
            <a:srgbClr val="2A6991"/>
          </a:solidFill>
          <a:ln>
            <a:solidFill>
              <a:srgbClr val="2A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404872"/>
            <a:ext cx="108813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客户订单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2536" y="2404872"/>
            <a:ext cx="3200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E88C32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30552" y="2148840"/>
            <a:ext cx="1234440" cy="960120"/>
          </a:xfrm>
          <a:prstGeom prst="roundRect">
            <a:avLst/>
          </a:prstGeom>
          <a:solidFill>
            <a:srgbClr val="298983"/>
          </a:solidFill>
          <a:ln>
            <a:solidFill>
              <a:srgbClr val="2A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03704" y="2404872"/>
            <a:ext cx="108813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生产确认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404872"/>
            <a:ext cx="3200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E88C32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9584" y="2148840"/>
            <a:ext cx="1234440" cy="960120"/>
          </a:xfrm>
          <a:prstGeom prst="roundRect">
            <a:avLst/>
          </a:prstGeom>
          <a:solidFill>
            <a:srgbClr val="2A6991"/>
          </a:solidFill>
          <a:ln>
            <a:solidFill>
              <a:srgbClr val="2A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2736" y="2404872"/>
            <a:ext cx="108813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材料准备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404872"/>
            <a:ext cx="3200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E88C32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28616" y="2148840"/>
            <a:ext cx="1234440" cy="960120"/>
          </a:xfrm>
          <a:prstGeom prst="roundRect">
            <a:avLst/>
          </a:prstGeom>
          <a:solidFill>
            <a:srgbClr val="298983"/>
          </a:solidFill>
          <a:ln>
            <a:solidFill>
              <a:srgbClr val="2A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1768" y="2404872"/>
            <a:ext cx="108813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模具准备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404872"/>
            <a:ext cx="3200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E88C32"/>
                </a:solidFill>
                <a:latin typeface="Microsoft Ya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2148840"/>
            <a:ext cx="1234440" cy="960120"/>
          </a:xfrm>
          <a:prstGeom prst="roundRect">
            <a:avLst/>
          </a:prstGeom>
          <a:solidFill>
            <a:srgbClr val="2A6991"/>
          </a:solidFill>
          <a:ln>
            <a:solidFill>
              <a:srgbClr val="2A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404872"/>
            <a:ext cx="108813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首件确认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2404872"/>
            <a:ext cx="3200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E88C32"/>
                </a:solidFill>
                <a:latin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80" y="2148840"/>
            <a:ext cx="1234440" cy="960120"/>
          </a:xfrm>
          <a:prstGeom prst="roundRect">
            <a:avLst/>
          </a:prstGeom>
          <a:solidFill>
            <a:srgbClr val="298983"/>
          </a:solidFill>
          <a:ln>
            <a:solidFill>
              <a:srgbClr val="2A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9832" y="2404872"/>
            <a:ext cx="108813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批量生产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2404872"/>
            <a:ext cx="3200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E88C32"/>
                </a:solidFill>
                <a:latin typeface="Microsoft YaHe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25712" y="2148840"/>
            <a:ext cx="1234440" cy="960120"/>
          </a:xfrm>
          <a:prstGeom prst="roundRect">
            <a:avLst/>
          </a:prstGeom>
          <a:solidFill>
            <a:srgbClr val="2A6991"/>
          </a:solidFill>
          <a:ln>
            <a:solidFill>
              <a:srgbClr val="2A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8864" y="2404872"/>
            <a:ext cx="108813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异常处理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96728" y="2404872"/>
            <a:ext cx="3200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E88C32"/>
                </a:solidFill>
                <a:latin typeface="Microsoft YaHe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24744" y="2148840"/>
            <a:ext cx="1234440" cy="960120"/>
          </a:xfrm>
          <a:prstGeom prst="roundRect">
            <a:avLst/>
          </a:prstGeom>
          <a:solidFill>
            <a:srgbClr val="298983"/>
          </a:solidFill>
          <a:ln>
            <a:solidFill>
              <a:srgbClr val="2A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97896" y="2404872"/>
            <a:ext cx="108813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完工交付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886200"/>
            <a:ext cx="1056132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232C34"/>
                </a:solidFill>
                <a:latin typeface="Microsoft YaHei"/>
              </a:rPr>
              <a:t>收到客户订单→行政管理部｜生产确认→生产部+模具部｜准备材料→生产部｜准备模具→模具部｜首件确认→生产部+模具部｜批量生产→生产部｜异常处理→生产部+模具部｜完工、记录和交付→生产部+行政管理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983480"/>
            <a:ext cx="99669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5F6B74"/>
                </a:solidFill>
                <a:latin typeface="Microsoft YaHei"/>
              </a:rPr>
              <a:t>具体接单人、交付人和确认权限以鑫犇实际安排为准。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8983"/>
          </a:solidFill>
          <a:ln>
            <a:solidFill>
              <a:srgbClr val="298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6576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A6991"/>
                </a:solidFill>
                <a:latin typeface="Microsoft YaHei"/>
              </a:rPr>
              <a:t>鑫犇电子｜岗位操作与知识手册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B41"/>
                </a:solidFill>
                <a:latin typeface="Microsoft YaHei"/>
              </a:rPr>
              <a:t>订单流程中，问题在哪一段就找谁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5F6B74"/>
                </a:solidFill>
                <a:latin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5F6B74"/>
                </a:solidFill>
                <a:latin typeface="Microsoft YaHei"/>
              </a:rPr>
              <a:t>不绕圈，不让新员工自己猜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B74"/>
                </a:solidFill>
                <a:latin typeface="Microsoft YaHei"/>
              </a:rPr>
              <a:t>鑫犇电子有限公司｜岗位操作与知识手册 第二版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10744200" cy="3977639"/>
          </a:xfrm>
          <a:prstGeom prst="roundRect">
            <a:avLst/>
          </a:prstGeom>
          <a:solidFill>
            <a:srgbClr val="EEF5F7"/>
          </a:solidFill>
          <a:ln>
            <a:solidFill>
              <a:srgbClr val="EE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100126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产品、材料、数量、排产：先找生产部。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模具、工位、试模、修模：先找模具部。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订单资料、文件、考勤、用品：先找行政管理部。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跨部门或说不清：先保留现场和记录，找公司负责人（具体人待确认）。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8983"/>
          </a:solidFill>
          <a:ln>
            <a:solidFill>
              <a:srgbClr val="298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6576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A6991"/>
                </a:solidFill>
                <a:latin typeface="Microsoft YaHei"/>
              </a:rPr>
              <a:t>鑫犇电子｜岗位操作与知识手册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B41"/>
                </a:solidFill>
                <a:latin typeface="Microsoft YaHei"/>
              </a:rPr>
              <a:t>生产部负责什么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5F6B74"/>
                </a:solidFill>
                <a:latin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5F6B74"/>
                </a:solidFill>
                <a:latin typeface="Microsoft YaHei"/>
              </a:rPr>
              <a:t>生产部的结果不只是“机器开了”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B74"/>
                </a:solidFill>
                <a:latin typeface="Microsoft YaHei"/>
              </a:rPr>
              <a:t>鑫犇电子有限公司｜岗位操作与知识手册 第二版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10744200" cy="3977639"/>
          </a:xfrm>
          <a:prstGeom prst="roundRect">
            <a:avLst/>
          </a:prstGeom>
          <a:solidFill>
            <a:srgbClr val="EEF5F7"/>
          </a:solidFill>
          <a:ln>
            <a:solidFill>
              <a:srgbClr val="EE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100126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产品做对：客户、型号、图纸和材料对应。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过程看住：首件、关键尺寸、外观和数量。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状态分清：合格品、不良品、待判品不混放。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异常说清：什么时候发现、影响多少、需要谁处理。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8983"/>
          </a:solidFill>
          <a:ln>
            <a:solidFill>
              <a:srgbClr val="298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6576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A6991"/>
                </a:solidFill>
                <a:latin typeface="Microsoft YaHei"/>
              </a:rPr>
              <a:t>鑫犇电子｜岗位操作与知识手册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B41"/>
                </a:solidFill>
                <a:latin typeface="Microsoft YaHei"/>
              </a:rPr>
              <a:t>生产部：开工前四确认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5F6B74"/>
                </a:solidFill>
                <a:latin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5F6B74"/>
                </a:solidFill>
                <a:latin typeface="Microsoft YaHei"/>
              </a:rPr>
              <a:t>四项对不上，不凭经验开机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B74"/>
                </a:solidFill>
                <a:latin typeface="Microsoft YaHei"/>
              </a:rPr>
              <a:t>鑫犇电子有限公司｜岗位操作与知识手册 第二版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10744200" cy="3977639"/>
          </a:xfrm>
          <a:prstGeom prst="roundRect">
            <a:avLst/>
          </a:prstGeom>
          <a:solidFill>
            <a:srgbClr val="EEF5F7"/>
          </a:solidFill>
          <a:ln>
            <a:solidFill>
              <a:srgbClr val="EE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100126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工单对产品：客户、产品名称、型号、数量。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图纸对版本：图号和当前版本。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材料对标签：牌号、厚度、宽度和批次。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模具对编号：模具、产品和工位对应。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8983"/>
          </a:solidFill>
          <a:ln>
            <a:solidFill>
              <a:srgbClr val="298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6576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A6991"/>
                </a:solidFill>
                <a:latin typeface="Microsoft YaHei"/>
              </a:rPr>
              <a:t>鑫犇电子｜岗位操作与知识手册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B41"/>
                </a:solidFill>
                <a:latin typeface="Microsoft YaHei"/>
              </a:rPr>
              <a:t>生产部：首件与巡检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5F6B74"/>
                </a:solidFill>
                <a:latin typeface="Microsoft YaHe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5F6B74"/>
                </a:solidFill>
                <a:latin typeface="Microsoft YaHei"/>
              </a:rPr>
              <a:t>先确认，再连续做；发现趋势就处理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B74"/>
                </a:solidFill>
                <a:latin typeface="Microsoft YaHei"/>
              </a:rPr>
              <a:t>鑫犇电子有限公司｜岗位操作与知识手册 第二版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10744200" cy="3977639"/>
          </a:xfrm>
          <a:prstGeom prst="roundRect">
            <a:avLst/>
          </a:prstGeom>
          <a:solidFill>
            <a:srgbClr val="EEF5F7"/>
          </a:solidFill>
          <a:ln>
            <a:solidFill>
              <a:srgbClr val="EE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100126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首件重点：★尺寸、孔位、折弯/成型、外观、单重。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生产中重点：毛刺是否变大、尺寸是否飘、送料和卸料是否正常。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首件不合格，不进入正常生产。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频次按公司和产品实际要求确认，不在手册里硬编。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8983"/>
          </a:solidFill>
          <a:ln>
            <a:solidFill>
              <a:srgbClr val="298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6576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A6991"/>
                </a:solidFill>
                <a:latin typeface="Microsoft YaHei"/>
              </a:rPr>
              <a:t>鑫犇电子｜岗位操作与知识手册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B41"/>
                </a:solidFill>
                <a:latin typeface="Microsoft YaHei"/>
              </a:rPr>
              <a:t>生产部：异常处理四句话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5F6B74"/>
                </a:solidFill>
                <a:latin typeface="Microsoft YaHe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5F6B74"/>
                </a:solidFill>
                <a:latin typeface="Microsoft YaHei"/>
              </a:rPr>
              <a:t>现场卡片只记最有用的四件事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B74"/>
                </a:solidFill>
                <a:latin typeface="Microsoft YaHei"/>
              </a:rPr>
              <a:t>鑫犇电子有限公司｜岗位操作与知识手册 第二版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10744200" cy="3977639"/>
          </a:xfrm>
          <a:prstGeom prst="roundRect">
            <a:avLst/>
          </a:prstGeom>
          <a:solidFill>
            <a:srgbClr val="EEF5F7"/>
          </a:solidFill>
          <a:ln>
            <a:solidFill>
              <a:srgbClr val="EE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100126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先做什么：停机、复测或保留样件。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隔离多少：从最近一次确认合格之后追溯。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通知谁：生产负责人或模具部。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何时恢复：处理后重新首件或试模确认。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8983"/>
          </a:solidFill>
          <a:ln>
            <a:solidFill>
              <a:srgbClr val="298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6576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A6991"/>
                </a:solidFill>
                <a:latin typeface="Microsoft YaHei"/>
              </a:rPr>
              <a:t>鑫犇电子｜岗位操作与知识手册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B41"/>
                </a:solidFill>
                <a:latin typeface="Microsoft YaHei"/>
              </a:rPr>
              <a:t>生产部：容易混淆的材料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5F6B74"/>
                </a:solidFill>
                <a:latin typeface="Microsoft Ya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5F6B74"/>
                </a:solidFill>
                <a:latin typeface="Microsoft YaHei"/>
              </a:rPr>
              <a:t>看标签，不看颜色；看客户和型号，不只看型号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B74"/>
                </a:solidFill>
                <a:latin typeface="Microsoft YaHei"/>
              </a:rPr>
              <a:t>鑫犇电子有限公司｜岗位操作与知识手册 第二版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438912" cy="438912"/>
          </a:xfrm>
          <a:prstGeom prst="roundRect">
            <a:avLst/>
          </a:prstGeom>
          <a:solidFill>
            <a:srgbClr val="E88C32"/>
          </a:solidFill>
          <a:ln>
            <a:solidFill>
              <a:srgbClr val="E8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47672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42B41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856231"/>
            <a:ext cx="9784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32C34"/>
                </a:solidFill>
                <a:latin typeface="Microsoft YaHei"/>
              </a:rPr>
              <a:t>同型号不同客户，材料可能不同。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24327"/>
            <a:ext cx="438912" cy="438912"/>
          </a:xfrm>
          <a:prstGeom prst="roundRect">
            <a:avLst/>
          </a:prstGeom>
          <a:solidFill>
            <a:srgbClr val="E88C32"/>
          </a:solidFill>
          <a:ln>
            <a:solidFill>
              <a:srgbClr val="E8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97479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42B41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06039"/>
            <a:ext cx="9784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C34"/>
                </a:solidFill>
                <a:latin typeface="Microsoft YaHei"/>
              </a:rPr>
              <a:t>同客户不同零件，上机壳、下机壳、磁栅和制动片也可能不同。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74135"/>
            <a:ext cx="438912" cy="438912"/>
          </a:xfrm>
          <a:prstGeom prst="roundRect">
            <a:avLst/>
          </a:prstGeom>
          <a:solidFill>
            <a:srgbClr val="E88C32"/>
          </a:solidFill>
          <a:ln>
            <a:solidFill>
              <a:srgbClr val="E8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47287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42B41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355847"/>
            <a:ext cx="9784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C34"/>
                </a:solidFill>
                <a:latin typeface="Microsoft YaHei"/>
              </a:rPr>
              <a:t>0825、0832、1027、1234不能只看型号。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123944"/>
            <a:ext cx="438912" cy="438912"/>
          </a:xfrm>
          <a:prstGeom prst="roundRect">
            <a:avLst/>
          </a:prstGeom>
          <a:solidFill>
            <a:srgbClr val="E88C32"/>
          </a:solidFill>
          <a:ln>
            <a:solidFill>
              <a:srgbClr val="E8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97096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42B41"/>
                </a:solidFill>
                <a:latin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105656"/>
            <a:ext cx="9784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C34"/>
                </a:solidFill>
                <a:latin typeface="Microsoft YaHei"/>
              </a:rPr>
              <a:t>制动片要区分硬料、软料和料宽。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8983"/>
          </a:solidFill>
          <a:ln>
            <a:solidFill>
              <a:srgbClr val="298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6576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A6991"/>
                </a:solidFill>
                <a:latin typeface="Microsoft YaHei"/>
              </a:rPr>
              <a:t>鑫犇电子｜岗位操作与知识手册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B41"/>
                </a:solidFill>
                <a:latin typeface="Microsoft YaHei"/>
              </a:rPr>
              <a:t>模具部负责什么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5F6B74"/>
                </a:solidFill>
                <a:latin typeface="Microsoft Ya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5F6B74"/>
                </a:solidFill>
                <a:latin typeface="Microsoft YaHei"/>
              </a:rPr>
              <a:t>让模具能生产、出问题能找到原因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B74"/>
                </a:solidFill>
                <a:latin typeface="Microsoft YaHei"/>
              </a:rPr>
              <a:t>鑫犇电子有限公司｜岗位操作与知识手册 第二版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10744200" cy="3977639"/>
          </a:xfrm>
          <a:prstGeom prst="roundRect">
            <a:avLst/>
          </a:prstGeom>
          <a:solidFill>
            <a:srgbClr val="EEF5F7"/>
          </a:solidFill>
          <a:ln>
            <a:solidFill>
              <a:srgbClr val="EE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100126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准备模具、装配和试模。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建立模具、工位、镶件和BOM资料。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处理断冲、崩刃、毛刺、送料、导正、折弯和卸料异常。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管理常用镶件和备品。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8983"/>
          </a:solidFill>
          <a:ln>
            <a:solidFill>
              <a:srgbClr val="298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6576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A6991"/>
                </a:solidFill>
                <a:latin typeface="Microsoft YaHei"/>
              </a:rPr>
              <a:t>鑫犇电子｜岗位操作与知识手册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B41"/>
                </a:solidFill>
                <a:latin typeface="Microsoft YaHei"/>
              </a:rPr>
              <a:t>级进模：料带按工位往前走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5F6B74"/>
                </a:solidFill>
                <a:latin typeface="Microsoft Ya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5F6B74"/>
                </a:solidFill>
                <a:latin typeface="Microsoft YaHei"/>
              </a:rPr>
              <a:t>先看排样图，再看单个镶件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B74"/>
                </a:solidFill>
                <a:latin typeface="Microsoft YaHei"/>
              </a:rPr>
              <a:t>鑫犇电子有限公司｜岗位操作与知识手册 第二版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438912" cy="438912"/>
          </a:xfrm>
          <a:prstGeom prst="roundRect">
            <a:avLst/>
          </a:prstGeom>
          <a:solidFill>
            <a:srgbClr val="E88C32"/>
          </a:solidFill>
          <a:ln>
            <a:solidFill>
              <a:srgbClr val="E8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47672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42B41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856231"/>
            <a:ext cx="9784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32C34"/>
                </a:solidFill>
                <a:latin typeface="Microsoft YaHei"/>
              </a:rPr>
              <a:t>OP10：导正孔、预冲孔。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24327"/>
            <a:ext cx="438912" cy="438912"/>
          </a:xfrm>
          <a:prstGeom prst="roundRect">
            <a:avLst/>
          </a:prstGeom>
          <a:solidFill>
            <a:srgbClr val="E88C32"/>
          </a:solidFill>
          <a:ln>
            <a:solidFill>
              <a:srgbClr val="E8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97479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42B41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06039"/>
            <a:ext cx="9784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C34"/>
                </a:solidFill>
                <a:latin typeface="Microsoft YaHei"/>
              </a:rPr>
              <a:t>OP20：小孔、端子槽。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74135"/>
            <a:ext cx="438912" cy="438912"/>
          </a:xfrm>
          <a:prstGeom prst="roundRect">
            <a:avLst/>
          </a:prstGeom>
          <a:solidFill>
            <a:srgbClr val="E88C32"/>
          </a:solidFill>
          <a:ln>
            <a:solidFill>
              <a:srgbClr val="E8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47287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42B41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355847"/>
            <a:ext cx="9784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C34"/>
                </a:solidFill>
                <a:latin typeface="Microsoft YaHei"/>
              </a:rPr>
              <a:t>OP30：外形预切。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123944"/>
            <a:ext cx="438912" cy="438912"/>
          </a:xfrm>
          <a:prstGeom prst="roundRect">
            <a:avLst/>
          </a:prstGeom>
          <a:solidFill>
            <a:srgbClr val="E88C32"/>
          </a:solidFill>
          <a:ln>
            <a:solidFill>
              <a:srgbClr val="E8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97096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42B41"/>
                </a:solidFill>
                <a:latin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105656"/>
            <a:ext cx="9784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C34"/>
                </a:solidFill>
                <a:latin typeface="Microsoft YaHei"/>
              </a:rPr>
              <a:t>OP40：压印、压筋、预成型。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873752"/>
            <a:ext cx="438912" cy="438912"/>
          </a:xfrm>
          <a:prstGeom prst="roundRect">
            <a:avLst/>
          </a:prstGeom>
          <a:solidFill>
            <a:srgbClr val="E88C32"/>
          </a:solidFill>
          <a:ln>
            <a:solidFill>
              <a:srgbClr val="E8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946904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42B41"/>
                </a:solidFill>
                <a:latin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855464"/>
            <a:ext cx="9784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C34"/>
                </a:solidFill>
                <a:latin typeface="Microsoft YaHei"/>
              </a:rPr>
              <a:t>OP50：折弯、翻孔。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623559"/>
            <a:ext cx="438912" cy="438912"/>
          </a:xfrm>
          <a:prstGeom prst="roundRect">
            <a:avLst/>
          </a:prstGeom>
          <a:solidFill>
            <a:srgbClr val="E88C32"/>
          </a:solidFill>
          <a:ln>
            <a:solidFill>
              <a:srgbClr val="E8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96712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42B41"/>
                </a:solidFill>
                <a:latin typeface="Microsoft YaHe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605272"/>
            <a:ext cx="9784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C34"/>
                </a:solidFill>
                <a:latin typeface="Microsoft YaHei"/>
              </a:rPr>
              <a:t>OP60整形 → OP70落料。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8983"/>
          </a:solidFill>
          <a:ln>
            <a:solidFill>
              <a:srgbClr val="298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6576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A6991"/>
                </a:solidFill>
                <a:latin typeface="Microsoft YaHei"/>
              </a:rPr>
              <a:t>鑫犇电子｜岗位操作与知识手册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B41"/>
                </a:solidFill>
                <a:latin typeface="Microsoft YaHei"/>
              </a:rPr>
              <a:t>镶件识别：冲头类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5F6B74"/>
                </a:solidFill>
                <a:latin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5F6B74"/>
                </a:solidFill>
                <a:latin typeface="Microsoft YaHei"/>
              </a:rPr>
              <a:t>看到外形，先判断它在做什么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B74"/>
                </a:solidFill>
                <a:latin typeface="Microsoft YaHei"/>
              </a:rPr>
              <a:t>鑫犇电子有限公司｜岗位操作与知识手册 第二版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10744200" cy="3977639"/>
          </a:xfrm>
          <a:prstGeom prst="roundRect">
            <a:avLst/>
          </a:prstGeom>
          <a:solidFill>
            <a:srgbClr val="EEF5F7"/>
          </a:solidFill>
          <a:ln>
            <a:solidFill>
              <a:srgbClr val="EE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100126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圆形小孔冲头：小孔、导正孔。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台阶式圆冲：翻孔、拉伸、局部成型。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C型开口筒式镶件：大圆弧、外形预切、避让载体。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异形方冲/扁冲：长槽、端子槽、直边切边。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8983"/>
          </a:solidFill>
          <a:ln>
            <a:solidFill>
              <a:srgbClr val="298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6576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A6991"/>
                </a:solidFill>
                <a:latin typeface="Microsoft YaHei"/>
              </a:rPr>
              <a:t>鑫犇电子｜岗位操作与知识手册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B41"/>
                </a:solidFill>
                <a:latin typeface="Microsoft YaHei"/>
              </a:rPr>
              <a:t>镶件识别：成型与辅助类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5F6B74"/>
                </a:solidFill>
                <a:latin typeface="Microsoft Ya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5F6B74"/>
                </a:solidFill>
                <a:latin typeface="Microsoft YaHei"/>
              </a:rPr>
              <a:t>这些零件看似不冲孔，但决定模具能否稳定工作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B74"/>
                </a:solidFill>
                <a:latin typeface="Microsoft YaHei"/>
              </a:rPr>
              <a:t>鑫犇电子有限公司｜岗位操作与知识手册 第二版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10744200" cy="3977639"/>
          </a:xfrm>
          <a:prstGeom prst="roundRect">
            <a:avLst/>
          </a:prstGeom>
          <a:solidFill>
            <a:srgbClr val="EEF5F7"/>
          </a:solidFill>
          <a:ln>
            <a:solidFill>
              <a:srgbClr val="EE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100126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带凸台成型冲：预压、压筋、压印、折弯前成型。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凹模镶块：承接冲头，磨损后单独更换。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导柱导套：保证合模导向。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弹簧与等高套筒：提供卸料力、限制行程。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导正销：进入导正孔，修正送料误差。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8983"/>
          </a:solidFill>
          <a:ln>
            <a:solidFill>
              <a:srgbClr val="298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6576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A6991"/>
                </a:solidFill>
                <a:latin typeface="Microsoft YaHei"/>
              </a:rPr>
              <a:t>鑫犇电子｜岗位操作与知识手册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B41"/>
                </a:solidFill>
                <a:latin typeface="Microsoft YaHei"/>
              </a:rPr>
              <a:t>镶件记录：一件零件一条记录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5F6B74"/>
                </a:solidFill>
                <a:latin typeface="Microsoft Ya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5F6B74"/>
                </a:solidFill>
                <a:latin typeface="Microsoft YaHei"/>
              </a:rPr>
              <a:t>不要把一套模具写成一句话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B74"/>
                </a:solidFill>
                <a:latin typeface="Microsoft YaHei"/>
              </a:rPr>
              <a:t>鑫犇电子有限公司｜岗位操作与知识手册 第二版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10744200" cy="3977639"/>
          </a:xfrm>
          <a:prstGeom prst="roundRect">
            <a:avLst/>
          </a:prstGeom>
          <a:solidFill>
            <a:srgbClr val="EEF5F7"/>
          </a:solidFill>
          <a:ln>
            <a:solidFill>
              <a:srgbClr val="EE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100126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零件ID、名称、类型。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模具编号、工位号、装配位置。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材料、热处理要求、关键尺寸。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刃口、挂台、方向特征、图纸和版本。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备品数量、存放位置和状态。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8983"/>
          </a:solidFill>
          <a:ln>
            <a:solidFill>
              <a:srgbClr val="298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6576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A6991"/>
                </a:solidFill>
                <a:latin typeface="Microsoft YaHei"/>
              </a:rPr>
              <a:t>鑫犇电子｜岗位操作与知识手册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B41"/>
                </a:solidFill>
                <a:latin typeface="Microsoft YaHei"/>
              </a:rPr>
              <a:t>SolidWorks建模最小规范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5F6B74"/>
                </a:solidFill>
                <a:latin typeface="Microsoft Ya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5F6B74"/>
                </a:solidFill>
                <a:latin typeface="Microsoft YaHei"/>
              </a:rPr>
              <a:t>六步够用，关键是基准一致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B74"/>
                </a:solidFill>
                <a:latin typeface="Microsoft YaHei"/>
              </a:rPr>
              <a:t>鑫犇电子有限公司｜岗位操作与知识手册 第二版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10744200" cy="3977639"/>
          </a:xfrm>
          <a:prstGeom prst="roundRect">
            <a:avLst/>
          </a:prstGeom>
          <a:solidFill>
            <a:srgbClr val="EEF5F7"/>
          </a:solidFill>
          <a:ln>
            <a:solidFill>
              <a:srgbClr val="EE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100126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1 先画料带排样，定步距和送料方向。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2 建总装配和模板基准。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3 按工位建立镶件，文件名带零件ID。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4 按实际结构做装配约束。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5 检查干涉、合模和卸料板行程。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6 出工程图和BOM，和零件台账核对。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8983"/>
          </a:solidFill>
          <a:ln>
            <a:solidFill>
              <a:srgbClr val="298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6576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A6991"/>
                </a:solidFill>
                <a:latin typeface="Microsoft YaHei"/>
              </a:rPr>
              <a:t>鑫犇电子｜岗位操作与知识手册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B41"/>
                </a:solidFill>
                <a:latin typeface="Microsoft YaHei"/>
              </a:rPr>
              <a:t>模具：拆、装、试不能跳步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5F6B74"/>
                </a:solidFill>
                <a:latin typeface="Microsoft YaHe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5F6B74"/>
                </a:solidFill>
                <a:latin typeface="Microsoft YaHei"/>
              </a:rPr>
              <a:t>不是增加手续，是避免同一个问题重复发生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B74"/>
                </a:solidFill>
                <a:latin typeface="Microsoft YaHei"/>
              </a:rPr>
              <a:t>鑫犇电子有限公司｜岗位操作与知识手册 第二版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10744200" cy="3977639"/>
          </a:xfrm>
          <a:prstGeom prst="roundRect">
            <a:avLst/>
          </a:prstGeom>
          <a:solidFill>
            <a:srgbClr val="EEF5F7"/>
          </a:solidFill>
          <a:ln>
            <a:solidFill>
              <a:srgbClr val="EE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100126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拆前拍照，零件按工位摆放。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相似镶件标方向，刃口和配合面保护好。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装配核对挂台、开口、刃口和导正方向。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手动或低速确认，再进入试模。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试模记录调整前后数据和样件结果。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8983"/>
          </a:solidFill>
          <a:ln>
            <a:solidFill>
              <a:srgbClr val="298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6576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A6991"/>
                </a:solidFill>
                <a:latin typeface="Microsoft YaHei"/>
              </a:rPr>
              <a:t>鑫犇电子｜岗位操作与知识手册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B41"/>
                </a:solidFill>
                <a:latin typeface="Microsoft YaHei"/>
              </a:rPr>
              <a:t>修模报告要回答什么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5F6B74"/>
                </a:solidFill>
                <a:latin typeface="Microsoft YaHe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5F6B74"/>
                </a:solidFill>
                <a:latin typeface="Microsoft YaHei"/>
              </a:rPr>
              <a:t>“换了一个冲头”不是完整原因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B74"/>
                </a:solidFill>
                <a:latin typeface="Microsoft YaHei"/>
              </a:rPr>
              <a:t>鑫犇电子有限公司｜岗位操作与知识手册 第二版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10744200" cy="3977639"/>
          </a:xfrm>
          <a:prstGeom prst="roundRect">
            <a:avLst/>
          </a:prstGeom>
          <a:solidFill>
            <a:srgbClr val="EEF5F7"/>
          </a:solidFill>
          <a:ln>
            <a:solidFill>
              <a:srgbClr val="EE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100126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发生了什么：工位和故障现象。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为什么发生：刃口、偏载、送料、材料或装配状态。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怎么处理：维修、调整或更换什么。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是否恢复：关联试模编号和结果。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下次怎么少出：补检查点、备品或资料。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8983"/>
          </a:solidFill>
          <a:ln>
            <a:solidFill>
              <a:srgbClr val="298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6576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A6991"/>
                </a:solidFill>
                <a:latin typeface="Microsoft YaHei"/>
              </a:rPr>
              <a:t>鑫犇电子｜岗位操作与知识手册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B41"/>
                </a:solidFill>
                <a:latin typeface="Microsoft YaHei"/>
              </a:rPr>
              <a:t>行政管理部负责什么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5F6B74"/>
                </a:solidFill>
                <a:latin typeface="Microsoft YaHe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5F6B74"/>
                </a:solidFill>
                <a:latin typeface="Microsoft YaHei"/>
              </a:rPr>
              <a:t>小公司行政重点是让信息和人不掉线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B74"/>
                </a:solidFill>
                <a:latin typeface="Microsoft YaHei"/>
              </a:rPr>
              <a:t>鑫犇电子有限公司｜岗位操作与知识手册 第二版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10744200" cy="3977639"/>
          </a:xfrm>
          <a:prstGeom prst="roundRect">
            <a:avLst/>
          </a:prstGeom>
          <a:solidFill>
            <a:srgbClr val="EEF5F7"/>
          </a:solidFill>
          <a:ln>
            <a:solidFill>
              <a:srgbClr val="EE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100126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订单和资料接收、转交（具体接单职责待确认）。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入职、转岗、离职资料。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考勤、请假和加班资料。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文件、表格、通知、培训和综合协调。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8983"/>
          </a:solidFill>
          <a:ln>
            <a:solidFill>
              <a:srgbClr val="298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6576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A6991"/>
                </a:solidFill>
                <a:latin typeface="Microsoft YaHei"/>
              </a:rPr>
              <a:t>鑫犇电子｜岗位操作与知识手册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B41"/>
                </a:solidFill>
                <a:latin typeface="Microsoft YaHei"/>
              </a:rPr>
              <a:t>行政：文件和人员资料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5F6B74"/>
                </a:solidFill>
                <a:latin typeface="Microsoft YaHe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5F6B74"/>
                </a:solidFill>
                <a:latin typeface="Microsoft YaHei"/>
              </a:rPr>
              <a:t>一件事有记录，下一位接手才不会重新猜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B74"/>
                </a:solidFill>
                <a:latin typeface="Microsoft YaHei"/>
              </a:rPr>
              <a:t>鑫犇电子有限公司｜岗位操作与知识手册 第二版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10744200" cy="3977639"/>
          </a:xfrm>
          <a:prstGeom prst="roundRect">
            <a:avLst/>
          </a:prstGeom>
          <a:solidFill>
            <a:srgbClr val="EEF5F7"/>
          </a:solidFill>
          <a:ln>
            <a:solidFill>
              <a:srgbClr val="EE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100126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新版文件写清名称、版本、生效日期和发放位置。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旧版回收或标记作废。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培训记录写清谁、学了什么、依据哪个版本。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合同、工资、社保和审批按公司正式制度执行。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8983"/>
          </a:solidFill>
          <a:ln>
            <a:solidFill>
              <a:srgbClr val="298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6576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A6991"/>
                </a:solidFill>
                <a:latin typeface="Microsoft YaHei"/>
              </a:rPr>
              <a:t>鑫犇电子｜岗位操作与知识手册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B41"/>
                </a:solidFill>
                <a:latin typeface="Microsoft YaHei"/>
              </a:rPr>
              <a:t>现场速查表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5F6B74"/>
                </a:solidFill>
                <a:latin typeface="Microsoft YaHe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5F6B74"/>
                </a:solidFill>
                <a:latin typeface="Microsoft YaHei"/>
              </a:rPr>
              <a:t>把复杂内容压缩成现场能用的一页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B74"/>
                </a:solidFill>
                <a:latin typeface="Microsoft YaHei"/>
              </a:rPr>
              <a:t>鑫犇电子有限公司｜岗位操作与知识手册 第二版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438912" cy="438912"/>
          </a:xfrm>
          <a:prstGeom prst="roundRect">
            <a:avLst/>
          </a:prstGeom>
          <a:solidFill>
            <a:srgbClr val="E88C32"/>
          </a:solidFill>
          <a:ln>
            <a:solidFill>
              <a:srgbClr val="E8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47672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42B41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856231"/>
            <a:ext cx="9784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32C34"/>
                </a:solidFill>
                <a:latin typeface="Microsoft YaHei"/>
              </a:rPr>
              <a:t>任务确认单：订单、产品、图纸、材料、模具、设备。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24327"/>
            <a:ext cx="438912" cy="438912"/>
          </a:xfrm>
          <a:prstGeom prst="roundRect">
            <a:avLst/>
          </a:prstGeom>
          <a:solidFill>
            <a:srgbClr val="E88C32"/>
          </a:solidFill>
          <a:ln>
            <a:solidFill>
              <a:srgbClr val="E8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97479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42B41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06039"/>
            <a:ext cx="9784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C34"/>
                </a:solidFill>
                <a:latin typeface="Microsoft YaHei"/>
              </a:rPr>
              <a:t>首件/巡检单：标准、实测、结果和确认人。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74135"/>
            <a:ext cx="438912" cy="438912"/>
          </a:xfrm>
          <a:prstGeom prst="roundRect">
            <a:avLst/>
          </a:prstGeom>
          <a:solidFill>
            <a:srgbClr val="E88C32"/>
          </a:solidFill>
          <a:ln>
            <a:solidFill>
              <a:srgbClr val="E8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47287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42B41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355847"/>
            <a:ext cx="9784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C34"/>
                </a:solidFill>
                <a:latin typeface="Microsoft YaHei"/>
              </a:rPr>
              <a:t>异常处理卡：先做什么、隔离多少、找谁、何时恢复。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123944"/>
            <a:ext cx="438912" cy="438912"/>
          </a:xfrm>
          <a:prstGeom prst="roundRect">
            <a:avLst/>
          </a:prstGeom>
          <a:solidFill>
            <a:srgbClr val="E88C32"/>
          </a:solidFill>
          <a:ln>
            <a:solidFill>
              <a:srgbClr val="E8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97096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42B41"/>
                </a:solidFill>
                <a:latin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105656"/>
            <a:ext cx="9784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C34"/>
                </a:solidFill>
                <a:latin typeface="Microsoft YaHei"/>
              </a:rPr>
              <a:t>镶件/试模/修机表：让模具经验留下来。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8983"/>
          </a:solidFill>
          <a:ln>
            <a:solidFill>
              <a:srgbClr val="298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6576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A6991"/>
                </a:solidFill>
                <a:latin typeface="Microsoft YaHei"/>
              </a:rPr>
              <a:t>鑫犇电子｜岗位操作与知识手册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B41"/>
                </a:solidFill>
                <a:latin typeface="Microsoft YaHei"/>
              </a:rPr>
              <a:t>未来扩展，不影响现在使用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5F6B74"/>
                </a:solidFill>
                <a:latin typeface="Microsoft YaHe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5F6B74"/>
                </a:solidFill>
                <a:latin typeface="Microsoft YaHei"/>
              </a:rPr>
              <a:t>先把三个部门跑顺，再逐步加部门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B74"/>
                </a:solidFill>
                <a:latin typeface="Microsoft YaHei"/>
              </a:rPr>
              <a:t>鑫犇电子有限公司｜岗位操作与知识手册 第二版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438912" cy="438912"/>
          </a:xfrm>
          <a:prstGeom prst="roundRect">
            <a:avLst/>
          </a:prstGeom>
          <a:solidFill>
            <a:srgbClr val="E88C32"/>
          </a:solidFill>
          <a:ln>
            <a:solidFill>
              <a:srgbClr val="E8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47672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42B41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856231"/>
            <a:ext cx="9784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232C34"/>
                </a:solidFill>
                <a:latin typeface="Microsoft YaHei"/>
              </a:rPr>
              <a:t>质量管理、工程研发、采购供应链、仓储物��、业务项目、设备机修、财务。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24327"/>
            <a:ext cx="438912" cy="438912"/>
          </a:xfrm>
          <a:prstGeom prst="roundRect">
            <a:avLst/>
          </a:prstGeom>
          <a:solidFill>
            <a:srgbClr val="E88C32"/>
          </a:solidFill>
          <a:ln>
            <a:solidFill>
              <a:srgbClr val="E8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97479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42B41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06039"/>
            <a:ext cx="9784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C34"/>
                </a:solidFill>
                <a:latin typeface="Microsoft YaHei"/>
              </a:rPr>
              <a:t>新增部门只补职责、交接点和速查表。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74135"/>
            <a:ext cx="438912" cy="438912"/>
          </a:xfrm>
          <a:prstGeom prst="roundRect">
            <a:avLst/>
          </a:prstGeom>
          <a:solidFill>
            <a:srgbClr val="E88C32"/>
          </a:solidFill>
          <a:ln>
            <a:solidFill>
              <a:srgbClr val="E8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47287"/>
            <a:ext cx="43891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42B41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355847"/>
            <a:ext cx="9784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C34"/>
                </a:solidFill>
                <a:latin typeface="Microsoft YaHei"/>
              </a:rPr>
              <a:t>现有订单主流程不重写。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8983"/>
          </a:solidFill>
          <a:ln>
            <a:solidFill>
              <a:srgbClr val="2989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36576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A6991"/>
                </a:solidFill>
                <a:latin typeface="Microsoft YaHei"/>
              </a:rPr>
              <a:t>鑫犇电子｜岗位操作与知识手册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42B41"/>
                </a:solidFill>
                <a:latin typeface="Microsoft YaHei"/>
              </a:rPr>
              <a:t>今天先记住三件事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5F6B74"/>
                </a:solidFill>
                <a:latin typeface="Microsoft YaHe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5F6B74"/>
                </a:solidFill>
                <a:latin typeface="Microsoft YaHei"/>
              </a:rPr>
              <a:t>新员工能说清这三件事，就已经找到工作入口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F6B74"/>
                </a:solidFill>
                <a:latin typeface="Microsoft YaHei"/>
              </a:rPr>
              <a:t>鑫犇电子有限公司｜岗位操作与知识手册 第二版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10744200" cy="3977639"/>
          </a:xfrm>
          <a:prstGeom prst="roundRect">
            <a:avLst/>
          </a:prstGeom>
          <a:solidFill>
            <a:srgbClr val="EEF5F7"/>
          </a:solidFill>
          <a:ln>
            <a:solidFill>
              <a:srgbClr val="EE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100126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我所在的部门负责哪一段。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我手上的产品、材料、图纸和模具是否对应。</a:t>
            </a:r>
          </a:p>
          <a:p>
            <a:pPr>
              <a:spcAft>
                <a:spcPts val="1000"/>
              </a:spcAft>
              <a:defRPr sz="2000">
                <a:solidFill>
                  <a:srgbClr val="232C34"/>
                </a:solidFill>
                <a:latin typeface="Microsoft YaHei"/>
              </a:defRPr>
            </a:pPr>
            <a:r>
              <a:t>发现问题时，我先控制现场，再找对的人。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