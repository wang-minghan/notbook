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08｜部门职责地图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五个正式一级部门的输入、输出与协同接口；下属组织归属按受控矩阵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131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本页是部门职责地图摘要：看输入、输出和协同接口；不替代岗位SOP或授权文件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110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16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6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订单评审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1604" y="2461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物料齐套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16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质量要求</a:t>
            </a:r>
          </a:p>
        </p:txBody>
      </p:sp>
      <p:sp>
        <p:nvSpPr>
          <p:cNvPr id="13" name="Line 13"/>
          <p:cNvSpPr/>
          <p:nvPr/>
        </p:nvSpPr>
        <p:spPr>
          <a:xfrm>
            <a:off x="6477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16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6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生产任务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604" y="33566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产量/异常记录</a:t>
            </a:r>
          </a:p>
        </p:txBody>
      </p:sp>
      <p:sp>
        <p:nvSpPr>
          <p:cNvPr id="17" name="Line 17"/>
          <p:cNvSpPr/>
          <p:nvPr/>
        </p:nvSpPr>
        <p:spPr>
          <a:xfrm>
            <a:off x="6477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4160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1604" y="3947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品质判定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1604" y="41090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营运交期协同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70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9704" y="463296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工程技术组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9704" y="47567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冲压车间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9704" y="4880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模具维修组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9704" y="50044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清洗车间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7622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27622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5780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品质部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0855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08554" y="2299335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来料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08554" y="24612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首件 / 制程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0855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成品待检</a:t>
            </a:r>
          </a:p>
        </p:txBody>
      </p:sp>
      <p:sp>
        <p:nvSpPr>
          <p:cNvPr id="34" name="Line 34"/>
          <p:cNvSpPr/>
          <p:nvPr/>
        </p:nvSpPr>
        <p:spPr>
          <a:xfrm>
            <a:off x="291465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90855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0855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08554" y="3356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不合格处置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08554" y="35185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客诉闭环</a:t>
            </a:r>
          </a:p>
        </p:txBody>
      </p:sp>
      <p:sp>
        <p:nvSpPr>
          <p:cNvPr id="39" name="Line 39"/>
          <p:cNvSpPr/>
          <p:nvPr/>
        </p:nvSpPr>
        <p:spPr>
          <a:xfrm>
            <a:off x="291465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90855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08554" y="3947160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独立质量判断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908554" y="41090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反馈营运 / 生产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87655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94665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946654" y="463296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制程巡检组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46654" y="475678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成品出货检验组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0292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0292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8449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55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55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客户订单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5504" y="24612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产能 / 质量意见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1755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客户需求</a:t>
            </a:r>
          </a:p>
        </p:txBody>
      </p:sp>
      <p:sp>
        <p:nvSpPr>
          <p:cNvPr id="54" name="Line 54"/>
          <p:cNvSpPr/>
          <p:nvPr/>
        </p:nvSpPr>
        <p:spPr>
          <a:xfrm>
            <a:off x="51816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1755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1755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订单评审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175504" y="33566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采购订单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75504" y="35185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出入库 / 交付</a:t>
            </a:r>
          </a:p>
        </p:txBody>
      </p:sp>
      <p:sp>
        <p:nvSpPr>
          <p:cNvPr id="59" name="Line 59"/>
          <p:cNvSpPr/>
          <p:nvPr/>
        </p:nvSpPr>
        <p:spPr>
          <a:xfrm>
            <a:off x="51816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517550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175504" y="3947160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业务、采购、仓储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175504" y="4109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分工执行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14350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521360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213604" y="46329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13604" y="47567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采购组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13604" y="48806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仓储组</a:t>
            </a:r>
          </a:p>
        </p:txBody>
      </p:sp>
      <p:sp>
        <p:nvSpPr>
          <p:cNvPr id="68" name="Rectangle 68"/>
          <p:cNvSpPr/>
          <p:nvPr/>
        </p:nvSpPr>
        <p:spPr>
          <a:xfrm>
            <a:off x="72961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72961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81119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行政部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44245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44245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用工需求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442454" y="2461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制度事项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4245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后勤事项</a:t>
            </a:r>
          </a:p>
        </p:txBody>
      </p:sp>
      <p:sp>
        <p:nvSpPr>
          <p:cNvPr id="75" name="Line 75"/>
          <p:cNvSpPr/>
          <p:nvPr/>
        </p:nvSpPr>
        <p:spPr>
          <a:xfrm>
            <a:off x="744855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744245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44245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人事档案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42454" y="3356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入离职记录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442454" y="35185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后勤记录</a:t>
            </a:r>
          </a:p>
        </p:txBody>
      </p:sp>
      <p:sp>
        <p:nvSpPr>
          <p:cNvPr id="80" name="Line 80"/>
          <p:cNvSpPr/>
          <p:nvPr/>
        </p:nvSpPr>
        <p:spPr>
          <a:xfrm>
            <a:off x="744855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744245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442454" y="3947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人员协同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42454" y="4109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保障协同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41045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748055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480554" y="46329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人事组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480554" y="47567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后勤组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5631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89" name="Rectangle 89"/>
          <p:cNvSpPr/>
          <p:nvPr/>
        </p:nvSpPr>
        <p:spPr>
          <a:xfrm>
            <a:off x="95631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103788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财务部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7094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7094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业务单据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709404" y="24612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费用 / 付款申请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7094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经营数据</a:t>
            </a:r>
          </a:p>
        </p:txBody>
      </p:sp>
      <p:sp>
        <p:nvSpPr>
          <p:cNvPr id="95" name="Line 95"/>
          <p:cNvSpPr/>
          <p:nvPr/>
        </p:nvSpPr>
        <p:spPr>
          <a:xfrm>
            <a:off x="97155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97094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7094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会计凭证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709404" y="33566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经营报表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9709404" y="35185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资金 / 付款记录</a:t>
            </a:r>
          </a:p>
        </p:txBody>
      </p:sp>
      <p:sp>
        <p:nvSpPr>
          <p:cNvPr id="100" name="Line 100"/>
          <p:cNvSpPr/>
          <p:nvPr/>
        </p:nvSpPr>
        <p:spPr>
          <a:xfrm>
            <a:off x="97155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970940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709404" y="3947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财务审核 / 执行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709404" y="410908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按授权边界审批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967740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974750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747504" y="46329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会计组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747504" y="47567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出纳组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762000" y="5619750"/>
            <a:ext cx="10668000" cy="381000"/>
          </a:xfrm>
          <a:prstGeom prst="roundRect">
            <a:avLst>
              <a:gd name="adj" fmla="val 175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3137687" y="5728335"/>
            <a:ext cx="59166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待确认边界：具体时限、金额阈值、岗位替代与例外授权以正式制度/授权文件为准</a:t>
            </a:r>
          </a:p>
        </p:txBody>
      </p:sp>
      <p:sp>
        <p:nvSpPr>
          <p:cNvPr id="110" name="Line 11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15｜生产计划与任务下达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478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订单输入—能力确认—开工闸口—任务发布，并保留资源不足回路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先确认订单输入和资源能力，再经过开工决策闸口；条件不足不得直接开工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85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9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产品｜数量｜交期｜版本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857500"/>
            <a:ext cx="4000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6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产能｜物料｜模具｜人员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857500"/>
            <a:ext cx="4000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A8751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风险清单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4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缺口｜责任｜补充期限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857500"/>
            <a:ext cx="400050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任务发布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1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受控版本｜责任｜节点</a:t>
            </a:r>
          </a:p>
        </p:txBody>
      </p:sp>
      <p:sp>
        <p:nvSpPr>
          <p:cNvPr id="21" name="Polygon 21"/>
          <p:cNvSpPr/>
          <p:nvPr/>
        </p:nvSpPr>
        <p:spPr>
          <a:xfrm>
            <a:off x="4476750" y="180975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952500" y="476250"/>
                </a:lnTo>
                <a:lnTo>
                  <a:pt x="476250" y="95250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85360" y="21278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条件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4588" y="22707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满足？</a:t>
            </a:r>
          </a:p>
        </p:txBody>
      </p:sp>
      <p:sp>
        <p:nvSpPr>
          <p:cNvPr id="24" name="Line 24"/>
          <p:cNvSpPr/>
          <p:nvPr/>
        </p:nvSpPr>
        <p:spPr>
          <a:xfrm flipV="1">
            <a:off x="4381500" y="2286000"/>
            <a:ext cx="95250" cy="5715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4953000" y="2762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0" y="0"/>
                </a:moveTo>
                <a:cubicBezTo>
                  <a:pt x="0" y="1333500"/>
                  <a:pt x="1714500" y="1809750"/>
                  <a:pt x="2095500" y="666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4445508" y="434721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否：形成风险清单，补充资源或升级承诺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04875" y="5048250"/>
            <a:ext cx="10382250" cy="5715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526161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任务发布前必须完成能力确认；交期承诺不能绕过资源与版本检查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18｜客诉与纠正措施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从客户入口到临时遏制、根因、纠正、验证和回复的闭环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客户问题统一入口；内部处置与对外回复分开，验证有效后才关闭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74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接收分级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入口｜影响判定</a:t>
            </a:r>
          </a:p>
        </p:txBody>
      </p:sp>
      <p:sp>
        <p:nvSpPr>
          <p:cNvPr id="9" name="Line 9"/>
          <p:cNvSpPr/>
          <p:nvPr/>
        </p:nvSpPr>
        <p:spPr>
          <a:xfrm>
            <a:off x="2266950" y="2886075"/>
            <a:ext cx="16192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765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914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临时措施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2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隔离｜遏制风险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191000" y="2886075"/>
            <a:ext cx="16192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4005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55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55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事实｜根因｜证据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115050" y="2886075"/>
            <a:ext cx="16192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3246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395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纠正措施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957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2886075"/>
            <a:ext cx="16192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2486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36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36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有效性｜复发控制</a:t>
            </a:r>
          </a:p>
        </p:txBody>
      </p:sp>
      <p:sp>
        <p:nvSpPr>
          <p:cNvPr id="25" name="Line 25"/>
          <p:cNvSpPr/>
          <p:nvPr/>
        </p:nvSpPr>
        <p:spPr>
          <a:xfrm>
            <a:off x="9963150" y="2886075"/>
            <a:ext cx="16192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1727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876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客户回复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584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结论｜关闭证据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4095750"/>
            <a:ext cx="7143750" cy="1476375"/>
          </a:xfrm>
          <a:custGeom>
            <a:avLst/>
            <a:gdLst/>
            <a:ahLst/>
            <a:cxnLst/>
            <a:rect l="l" t="t" r="r" b="b"/>
            <a:pathLst>
              <a:path w="7143750" h="1476375">
                <a:moveTo>
                  <a:pt x="7143750" y="0"/>
                </a:moveTo>
                <a:cubicBezTo>
                  <a:pt x="6381750" y="1238250"/>
                  <a:pt x="1524000" y="1476375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367223" y="5442585"/>
            <a:ext cx="3267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未验证或重复发生：回到原因分析 / 纠正措施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对外回复必须引用：事实、处置结论、验证证据和后续防复发安排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20｜跨部门交接标准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32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用输入包—完整性闸口—验收包—受控执行表达责任转移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交接只有在完整性闸口通过后才进入下一部门；缺项或版本不一致必须退回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137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交出方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37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90" y="2966085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版本 / 数量 / 状态 / 期限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2809875"/>
            <a:ext cx="3238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1" name="Rectangle 11"/>
          <p:cNvSpPr/>
          <p:nvPr/>
        </p:nvSpPr>
        <p:spPr>
          <a:xfrm>
            <a:off x="3333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19169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完整性闸口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9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四项检查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8361" y="29660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资料齐全｜版本一致｜责任期限｜验收标准</a:t>
            </a:r>
          </a:p>
        </p:txBody>
      </p:sp>
      <p:sp>
        <p:nvSpPr>
          <p:cNvPr id="15" name="Line 15"/>
          <p:cNvSpPr/>
          <p:nvPr/>
        </p:nvSpPr>
        <p:spPr>
          <a:xfrm>
            <a:off x="5524500" y="2809875"/>
            <a:ext cx="514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61912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2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2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验收包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7033" y="29660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确认 / 差异记录 / 受控任务</a:t>
            </a:r>
          </a:p>
        </p:txBody>
      </p:sp>
      <p:sp>
        <p:nvSpPr>
          <p:cNvPr id="20" name="Line 20"/>
          <p:cNvSpPr/>
          <p:nvPr/>
        </p:nvSpPr>
        <p:spPr>
          <a:xfrm>
            <a:off x="8382000" y="2809875"/>
            <a:ext cx="514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9048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814941" y="2299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4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责任承接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2989" y="2966085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异常升级 / 截止日期 / 输出证据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524250"/>
            <a:ext cx="2333625" cy="1238250"/>
          </a:xfrm>
          <a:custGeom>
            <a:avLst/>
            <a:gdLst/>
            <a:ahLst/>
            <a:cxnLst/>
            <a:rect l="l" t="t" r="r" b="b"/>
            <a:pathLst>
              <a:path w="2333625" h="1238250">
                <a:moveTo>
                  <a:pt x="2333625" y="0"/>
                </a:moveTo>
                <a:cubicBezTo>
                  <a:pt x="2000250" y="1047750"/>
                  <a:pt x="285750" y="1238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2027377" y="4632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缺项 / 版本不一致：退回补齐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1381125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101340" y="153733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交接证据：清单、版本号、接收确认、差异记录、责任人、截止日期、异常升级记录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21｜文件编制与版本控制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让新版本可追溯、可批准、可培训，旧版本可隔离和回收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主环表示受控文件生命周期；红色分支表示旧版隔离、回收和作废</a:t>
            </a:r>
          </a:p>
        </p:txBody>
      </p:sp>
      <p:sp>
        <p:nvSpPr>
          <p:cNvPr id="6" name="Rectangle 6"/>
          <p:cNvSpPr/>
          <p:nvPr/>
        </p:nvSpPr>
        <p:spPr>
          <a:xfrm>
            <a:off x="6191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563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起草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272" y="2908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需求｜版本号</a:t>
            </a:r>
          </a:p>
        </p:txBody>
      </p:sp>
      <p:sp>
        <p:nvSpPr>
          <p:cNvPr id="9" name="Line 9"/>
          <p:cNvSpPr/>
          <p:nvPr/>
        </p:nvSpPr>
        <p:spPr>
          <a:xfrm>
            <a:off x="2428875" y="2857500"/>
            <a:ext cx="2857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7908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280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665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专业意见</a:t>
            </a:r>
          </a:p>
        </p:txBody>
      </p:sp>
      <p:sp>
        <p:nvSpPr>
          <p:cNvPr id="13" name="Line 13"/>
          <p:cNvSpPr/>
          <p:nvPr/>
        </p:nvSpPr>
        <p:spPr>
          <a:xfrm>
            <a:off x="4600575" y="2857500"/>
            <a:ext cx="2857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9625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38216" y="26041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批准发布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82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受控清单</a:t>
            </a:r>
          </a:p>
        </p:txBody>
      </p:sp>
      <p:sp>
        <p:nvSpPr>
          <p:cNvPr id="17" name="Line 17"/>
          <p:cNvSpPr/>
          <p:nvPr/>
        </p:nvSpPr>
        <p:spPr>
          <a:xfrm>
            <a:off x="6772275" y="2857500"/>
            <a:ext cx="2857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1342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29144" y="26041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执行与培训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99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使用记录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943975" y="2857500"/>
            <a:ext cx="2857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3059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837191" y="26041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复审/修订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0844" y="29089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触发新版本</a:t>
            </a:r>
          </a:p>
        </p:txBody>
      </p:sp>
      <p:sp>
        <p:nvSpPr>
          <p:cNvPr id="25" name="Freeform 25"/>
          <p:cNvSpPr/>
          <p:nvPr/>
        </p:nvSpPr>
        <p:spPr>
          <a:xfrm>
            <a:off x="3333750" y="3476625"/>
            <a:ext cx="4524375" cy="1666875"/>
          </a:xfrm>
          <a:custGeom>
            <a:avLst/>
            <a:gdLst/>
            <a:ahLst/>
            <a:cxnLst/>
            <a:rect l="l" t="t" r="r" b="b"/>
            <a:pathLst>
              <a:path w="4524375" h="1666875">
                <a:moveTo>
                  <a:pt x="4524375" y="0"/>
                </a:moveTo>
                <a:cubicBezTo>
                  <a:pt x="4476750" y="1285875"/>
                  <a:pt x="2381250" y="1666875"/>
                  <a:pt x="0" y="1190625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3836670" y="4966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旧版本：隔离、回收、标识、留痕，不回流主流程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证据：版本清单｜审批记录｜发布通知｜培训记录｜旧版回收记录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23｜人员能力与岗位授权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596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能力确认阶梯 + 授权生命周期：证据齐全后授权，变化触发复核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181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培训不等于授权：能力确认是权限打开前的闸门，失效时立即暂停或回收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46860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培训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5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培训记录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2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评价结果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岗位授权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19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授权批准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286000"/>
            <a:ext cx="4000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有效维护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6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复核日期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" y="3524250"/>
            <a:ext cx="10382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6404" y="37757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授权生命周期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" y="4156710"/>
            <a:ext cx="53027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维护与复核 → 复训 / 调岗 / 替代 → 失效时暂停 → 离岗或不合格时回收权限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9620250" y="2762250"/>
            <a:ext cx="1428750" cy="1714500"/>
          </a:xfrm>
          <a:custGeom>
            <a:avLst/>
            <a:gdLst/>
            <a:ahLst/>
            <a:cxnLst/>
            <a:rect l="l" t="t" r="r" b="b"/>
            <a:pathLst>
              <a:path w="1428750" h="1714500">
                <a:moveTo>
                  <a:pt x="666750" y="0"/>
                </a:moveTo>
                <a:cubicBezTo>
                  <a:pt x="1428750" y="476250"/>
                  <a:pt x="1428750" y="1714500"/>
                  <a:pt x="0" y="171450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5" name="TextBox 25"/>
          <p:cNvSpPr txBox="1"/>
          <p:nvPr/>
        </p:nvSpPr>
        <p:spPr>
          <a:xfrm>
            <a:off x="8794318" y="501396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能力失效：暂停 / 回收</a:t>
            </a:r>
          </a:p>
        </p:txBody>
      </p:sp>
      <p:sp>
        <p:nvSpPr>
          <p:cNvPr id="26" name="Line 26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26｜管理指标看板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用目标—实际—趋势—异常—决策组织经营指标，不以普通卡片代替看板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看板阅读顺序：目标/实际 → 趋势 → 异常风险 → 管理决策；数值与责任人待正式口径确认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970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1908810"/>
            <a:ext cx="1207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OTD / 准时交付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7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12" name="Polyline 12"/>
          <p:cNvSpPr/>
          <p:nvPr/>
        </p:nvSpPr>
        <p:spPr>
          <a:xfrm>
            <a:off x="25717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955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005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1005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45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54" y="1908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一次合格率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445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445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0" name="Polyline 20"/>
          <p:cNvSpPr/>
          <p:nvPr/>
        </p:nvSpPr>
        <p:spPr>
          <a:xfrm>
            <a:off x="628650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7657B8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9248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09204" y="167068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采购/库存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09204" y="1908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交期与库存覆盖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92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92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8" name="Polyline 28"/>
          <p:cNvSpPr/>
          <p:nvPr/>
        </p:nvSpPr>
        <p:spPr>
          <a:xfrm>
            <a:off x="100012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1C9C8C"/>
            </a:solidFill>
          </a:ln>
        </p:spPr>
      </p:sp>
      <p:sp>
        <p:nvSpPr>
          <p:cNvPr id="29" name="Line 29"/>
          <p:cNvSpPr/>
          <p:nvPr/>
        </p:nvSpPr>
        <p:spPr>
          <a:xfrm>
            <a:off x="99250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953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704" y="34328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现金/成本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9704" y="36709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采购成本 / 回款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97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97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36" name="Polyline 36"/>
          <p:cNvSpPr/>
          <p:nvPr/>
        </p:nvSpPr>
        <p:spPr>
          <a:xfrm>
            <a:off x="25717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C56A25"/>
            </a:solidFill>
          </a:ln>
        </p:spPr>
      </p:sp>
      <p:sp>
        <p:nvSpPr>
          <p:cNvPr id="37" name="Line 37"/>
          <p:cNvSpPr/>
          <p:nvPr/>
        </p:nvSpPr>
        <p:spPr>
          <a:xfrm>
            <a:off x="24955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21005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21005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394454" y="3432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94454" y="3670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关键岗位覆盖率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9445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9445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44" name="Polyline 44"/>
          <p:cNvSpPr/>
          <p:nvPr/>
        </p:nvSpPr>
        <p:spPr>
          <a:xfrm>
            <a:off x="628650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1030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248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9248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09204" y="3432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09204" y="3670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逾期与复发项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92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92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52" name="Polyline 52"/>
          <p:cNvSpPr/>
          <p:nvPr/>
        </p:nvSpPr>
        <p:spPr>
          <a:xfrm>
            <a:off x="100012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D95C5C"/>
            </a:solidFill>
          </a:ln>
        </p:spPr>
      </p:sp>
      <p:sp>
        <p:nvSpPr>
          <p:cNvPr id="53" name="Line 53"/>
          <p:cNvSpPr/>
          <p:nvPr/>
        </p:nvSpPr>
        <p:spPr>
          <a:xfrm>
            <a:off x="99250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95300" y="5286375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804" y="54330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 / 需要关注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804" y="56616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指标偏离目标、逾期或复发项：待确认后列入责任人和期限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5286375"/>
            <a:ext cx="5600700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18504" y="5433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管理层决策区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18504" y="56616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本周期需决策事项：资源、优先级、升级或目标调整（待确认）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28｜安全、环保与应急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171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发现—处置—上报—调查—整改—验证，现场与管理层共同承接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现场先控制人身与环境风险，再按分级要求上报、调查、整改和验证</a:t>
            </a:r>
          </a:p>
        </p:txBody>
      </p:sp>
      <p:sp>
        <p:nvSpPr>
          <p:cNvPr id="6" name="Rectangle 6"/>
          <p:cNvSpPr/>
          <p:nvPr/>
        </p:nvSpPr>
        <p:spPr>
          <a:xfrm>
            <a:off x="52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7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241" y="29184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检查 / 事件</a:t>
            </a:r>
          </a:p>
        </p:txBody>
      </p:sp>
      <p:sp>
        <p:nvSpPr>
          <p:cNvPr id="9" name="Line 9"/>
          <p:cNvSpPr/>
          <p:nvPr/>
        </p:nvSpPr>
        <p:spPr>
          <a:xfrm>
            <a:off x="2190750" y="2867025"/>
            <a:ext cx="1809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2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2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现场处置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33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2867025"/>
            <a:ext cx="1809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33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725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逐级上报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8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按级报告</a:t>
            </a:r>
          </a:p>
        </p:txBody>
      </p:sp>
      <p:sp>
        <p:nvSpPr>
          <p:cNvPr id="17" name="Line 17"/>
          <p:cNvSpPr/>
          <p:nvPr/>
        </p:nvSpPr>
        <p:spPr>
          <a:xfrm>
            <a:off x="6000750" y="2867025"/>
            <a:ext cx="1809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23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63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责任调查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95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 / 原因 / 证据</a:t>
            </a:r>
          </a:p>
        </p:txBody>
      </p:sp>
      <p:sp>
        <p:nvSpPr>
          <p:cNvPr id="21" name="Line 21"/>
          <p:cNvSpPr/>
          <p:nvPr/>
        </p:nvSpPr>
        <p:spPr>
          <a:xfrm>
            <a:off x="7905750" y="2867025"/>
            <a:ext cx="1809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14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9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整改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00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措施 / 责任 / 记录</a:t>
            </a:r>
          </a:p>
        </p:txBody>
      </p:sp>
      <p:sp>
        <p:nvSpPr>
          <p:cNvPr id="25" name="Line 25"/>
          <p:cNvSpPr/>
          <p:nvPr/>
        </p:nvSpPr>
        <p:spPr>
          <a:xfrm>
            <a:off x="9810750" y="2867025"/>
            <a:ext cx="1809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04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4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验证关闭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79469" y="2918460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效果 / 防复发</a:t>
            </a:r>
          </a:p>
        </p:txBody>
      </p:sp>
      <p:sp>
        <p:nvSpPr>
          <p:cNvPr id="29" name="Freeform 29"/>
          <p:cNvSpPr/>
          <p:nvPr/>
        </p:nvSpPr>
        <p:spPr>
          <a:xfrm>
            <a:off x="3333750" y="3905250"/>
            <a:ext cx="7143750" cy="1619250"/>
          </a:xfrm>
          <a:custGeom>
            <a:avLst/>
            <a:gdLst/>
            <a:ahLst/>
            <a:cxnLst/>
            <a:rect l="l" t="t" r="r" b="b"/>
            <a:pathLst>
              <a:path w="7143750" h="1619250">
                <a:moveTo>
                  <a:pt x="7143750" y="0"/>
                </a:moveTo>
                <a:cubicBezTo>
                  <a:pt x="6191250" y="1428750"/>
                  <a:pt x="1428750" y="1619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789752" y="5394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未通过 / 复发：再调查或升级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828288" y="1584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响应级别、通知时限和责任岗位：待确认，以正式应急文件为准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29｜内部检查与管理评审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44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计划—检查—分级—评审—跟踪，形成可回到下一轮的管理回路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按过程检查证据，再由管理评审形成决策；跟踪结果进入下一轮检查</a:t>
            </a:r>
          </a:p>
        </p:txBody>
      </p:sp>
      <p:sp>
        <p:nvSpPr>
          <p:cNvPr id="6" name="Rectangle 6"/>
          <p:cNvSpPr/>
          <p:nvPr/>
        </p:nvSpPr>
        <p:spPr>
          <a:xfrm>
            <a:off x="714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48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制定计划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8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范围｜过程｜证据</a:t>
            </a:r>
          </a:p>
        </p:txBody>
      </p:sp>
      <p:sp>
        <p:nvSpPr>
          <p:cNvPr id="9" name="Line 9"/>
          <p:cNvSpPr/>
          <p:nvPr/>
        </p:nvSpPr>
        <p:spPr>
          <a:xfrm>
            <a:off x="2667000" y="2867025"/>
            <a:ext cx="2571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000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34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过程检查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4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现场｜记录｜访谈</a:t>
            </a:r>
          </a:p>
        </p:txBody>
      </p:sp>
      <p:sp>
        <p:nvSpPr>
          <p:cNvPr id="13" name="Line 13"/>
          <p:cNvSpPr/>
          <p:nvPr/>
        </p:nvSpPr>
        <p:spPr>
          <a:xfrm>
            <a:off x="4953000" y="2867025"/>
            <a:ext cx="2571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286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20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发现分级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0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事实｜风险｜整改</a:t>
            </a:r>
          </a:p>
        </p:txBody>
      </p:sp>
      <p:sp>
        <p:nvSpPr>
          <p:cNvPr id="17" name="Line 17"/>
          <p:cNvSpPr/>
          <p:nvPr/>
        </p:nvSpPr>
        <p:spPr>
          <a:xfrm>
            <a:off x="7239000" y="2867025"/>
            <a:ext cx="2571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572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106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管理评审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96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输入｜决策｜资源</a:t>
            </a:r>
          </a:p>
        </p:txBody>
      </p:sp>
      <p:sp>
        <p:nvSpPr>
          <p:cNvPr id="21" name="Line 21"/>
          <p:cNvSpPr/>
          <p:nvPr/>
        </p:nvSpPr>
        <p:spPr>
          <a:xfrm>
            <a:off x="9525000" y="2867025"/>
            <a:ext cx="2571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858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553967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跟踪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05503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关闭证据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905250"/>
            <a:ext cx="8858250" cy="1524000"/>
          </a:xfrm>
          <a:custGeom>
            <a:avLst/>
            <a:gdLst/>
            <a:ahLst/>
            <a:cxnLst/>
            <a:rect l="l" t="t" r="r" b="b"/>
            <a:pathLst>
              <a:path w="8858250" h="1524000">
                <a:moveTo>
                  <a:pt x="8858250" y="0"/>
                </a:moveTo>
                <a:cubicBezTo>
                  <a:pt x="8191500" y="1333500"/>
                  <a:pt x="1238250" y="152400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5354574" y="52520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跟踪结果：进入下一轮检查与评审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151376" y="15849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管理评审输入、输出和频次：待确认，以正式机制为准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30｜不符合项与整改关闭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48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登记—升级—找根因—措施—验证—关闭，并保留失败回路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不符合项不能只记录“已整改”；必须证明原因、措施、验证有效并控制复发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89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发现登记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928" y="27089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事实｜证据｜来源</a:t>
            </a:r>
          </a:p>
        </p:txBody>
      </p:sp>
      <p:sp>
        <p:nvSpPr>
          <p:cNvPr id="9" name="Line 9"/>
          <p:cNvSpPr/>
          <p:nvPr/>
        </p:nvSpPr>
        <p:spPr>
          <a:xfrm flipH="1">
            <a:off x="419100" y="2667000"/>
            <a:ext cx="2990850" cy="1619250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5524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893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分级升级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92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风险｜责任｜期限</a:t>
            </a:r>
          </a:p>
        </p:txBody>
      </p:sp>
      <p:sp>
        <p:nvSpPr>
          <p:cNvPr id="13" name="Line 13"/>
          <p:cNvSpPr/>
          <p:nvPr/>
        </p:nvSpPr>
        <p:spPr>
          <a:xfrm flipV="1">
            <a:off x="1981200" y="2057400"/>
            <a:ext cx="3714750" cy="2705100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26720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5368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4450" y="2708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根因｜复发控制</a:t>
            </a:r>
          </a:p>
        </p:txBody>
      </p:sp>
      <p:sp>
        <p:nvSpPr>
          <p:cNvPr id="17" name="Line 17"/>
          <p:cNvSpPr/>
          <p:nvPr/>
        </p:nvSpPr>
        <p:spPr>
          <a:xfrm flipH="1">
            <a:off x="4133850" y="2667000"/>
            <a:ext cx="2990850" cy="1619250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426720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5368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制定措施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367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 flipV="1">
            <a:off x="5695950" y="2057400"/>
            <a:ext cx="3714750" cy="27051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9819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684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9972" y="2708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证据｜有效性</a:t>
            </a:r>
          </a:p>
        </p:txBody>
      </p:sp>
      <p:sp>
        <p:nvSpPr>
          <p:cNvPr id="25" name="Line 25"/>
          <p:cNvSpPr/>
          <p:nvPr/>
        </p:nvSpPr>
        <p:spPr>
          <a:xfrm flipH="1">
            <a:off x="7848600" y="2667000"/>
            <a:ext cx="2990850" cy="161925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79819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29979" y="4042410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00744" y="4328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批准｜留痕</a:t>
            </a:r>
          </a:p>
        </p:txBody>
      </p:sp>
      <p:sp>
        <p:nvSpPr>
          <p:cNvPr id="29" name="Freeform 29"/>
          <p:cNvSpPr/>
          <p:nvPr/>
        </p:nvSpPr>
        <p:spPr>
          <a:xfrm>
            <a:off x="7239000" y="3810000"/>
            <a:ext cx="4000500" cy="1619250"/>
          </a:xfrm>
          <a:custGeom>
            <a:avLst/>
            <a:gdLst/>
            <a:ahLst/>
            <a:cxnLst/>
            <a:rect l="l" t="t" r="r" b="b"/>
            <a:pathLst>
              <a:path w="4000500" h="1619250">
                <a:moveTo>
                  <a:pt x="3238500" y="0"/>
                </a:moveTo>
                <a:cubicBezTo>
                  <a:pt x="4000500" y="285750"/>
                  <a:pt x="4000500" y="1619250"/>
                  <a:pt x="2381250" y="1619250"/>
                </a:cubicBezTo>
                <a:cubicBezTo>
                  <a:pt x="952500" y="1619250"/>
                  <a:pt x="0" y="1238250"/>
                  <a:pt x="0" y="285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7879232" y="5680710"/>
            <a:ext cx="3291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 / 逾期 / 复发：再升级，不直接关闭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" y="5286375"/>
            <a:ext cx="6191250" cy="523875"/>
          </a:xfrm>
          <a:prstGeom prst="roundRect">
            <a:avLst>
              <a:gd name="adj" fmla="val 1272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03451" y="54711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责任岗位、整改期限和关闭权限：待正式授权文件确认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2026-10-16T02:31:28Z</dcterms:created>
  <dcterms:modified xsi:type="dcterms:W3CDTF">2026-10-16T02:31:28Z</dcterms:modified>
  <cp:category/>
  <cp:contentStatus/>
</cp:coreProperties>
</file>